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>
  <p:sldMasterIdLst>
    <p:sldMasterId id="2147483648" r:id="rId1"/>
    <p:sldMasterId id="2147483666" r:id="rId2"/>
  </p:sldMasterIdLst>
  <p:notesMasterIdLst>
    <p:notesMasterId r:id="rId23"/>
  </p:notesMasterIdLst>
  <p:sldIdLst>
    <p:sldId id="266" r:id="rId3"/>
    <p:sldId id="267" r:id="rId4"/>
    <p:sldId id="293" r:id="rId5"/>
    <p:sldId id="315" r:id="rId6"/>
    <p:sldId id="316" r:id="rId7"/>
    <p:sldId id="317" r:id="rId8"/>
    <p:sldId id="318" r:id="rId9"/>
    <p:sldId id="314" r:id="rId10"/>
    <p:sldId id="298" r:id="rId11"/>
    <p:sldId id="299" r:id="rId12"/>
    <p:sldId id="312" r:id="rId13"/>
    <p:sldId id="313" r:id="rId14"/>
    <p:sldId id="294" r:id="rId15"/>
    <p:sldId id="309" r:id="rId16"/>
    <p:sldId id="310" r:id="rId17"/>
    <p:sldId id="311" r:id="rId18"/>
    <p:sldId id="308" r:id="rId19"/>
    <p:sldId id="304" r:id="rId20"/>
    <p:sldId id="305" r:id="rId21"/>
    <p:sldId id="30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0" autoAdjust="0"/>
    <p:restoredTop sz="93861" autoAdjust="0"/>
  </p:normalViewPr>
  <p:slideViewPr>
    <p:cSldViewPr snapToGrid="0" showGuides="1">
      <p:cViewPr varScale="1">
        <p:scale>
          <a:sx n="67" d="100"/>
          <a:sy n="67" d="100"/>
        </p:scale>
        <p:origin x="858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55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7E296-0428-41DA-B2FD-629865C14C9A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D3839-9FE5-42F2-BECC-1535DA6E108D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3/11/2026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EB2C1-3CEE-41D9-9027-001A41D0B6A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71BDA-3A19-4C68-B388-AA927C043E3D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1097280"/>
            <a:ext cx="91440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6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 Day </a:t>
            </a:r>
            <a:r>
              <a:rPr lang="ar-EG" altLang="en-US" sz="6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91440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3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853440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 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48640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Task: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3034665"/>
            <a:ext cx="9509760" cy="3291840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b="1" dirty="0"/>
              <a:t>Hospital Management System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• Doctor (Doctor_id, Specialization, Qualification, Name[First, Middle, Last])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• Patient (Patient_id, Age[derived], DOB, Address[Locality, Town/City])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• Medicine (Code, Price, Quantity)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Relationships: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• Doctor 1 — treats — n Patient =&gt; doctor m – m patient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• Patient m — bill — n Medicine</a:t>
            </a:r>
          </a:p>
        </p:txBody>
      </p:sp>
      <p:sp>
        <p:nvSpPr>
          <p:cNvPr id="13" name="Text 11"/>
          <p:cNvSpPr/>
          <p:nvPr/>
        </p:nvSpPr>
        <p:spPr>
          <a:xfrm>
            <a:off x="731520" y="6278880"/>
            <a:ext cx="8534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✏️  Write your SQL before turning the page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35635" y="28892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 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35635" y="1506220"/>
            <a:ext cx="9509760" cy="5119370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GB" altLang="en-US" sz="1900" b="1" dirty="0">
                <a:sym typeface="+mn-ea"/>
              </a:rPr>
              <a:t>First run this queries:</a:t>
            </a:r>
            <a:endParaRPr lang="en-GB" altLang="en-US" sz="1900" b="1" dirty="0"/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/>
              <a:t>INSERT INTO Doctor (Doctor_id, Specialization, Qualification, Name_First, Name_Middle, Name_Last)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VALUES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(1, 'Cardiology', 'MD', 'Ahmed', 'Ali', 'Hassan'),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(2, 'Neurology', 'PhD', 'Mona', 'Mohamed', 'Fahmy'),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(3, 'Orthopedics', 'MBBS', 'Khaled', NULL, 'Saeed'),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(4, 'Pediatrics', 'MD', 'Sara', 'Ahmed', 'Nabil'),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(5, 'Dermatology', 'MD', 'Omar', 'Hassan', 'Farouk');</a:t>
            </a:r>
            <a:br>
              <a:rPr lang="en-US" altLang="en-GB" sz="1900" dirty="0"/>
            </a:br>
            <a:endParaRPr lang="en-US" altLang="en-GB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6278880"/>
            <a:ext cx="8534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✏️  Write your SQL before turning the page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35635" y="28892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 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35635" y="1506220"/>
            <a:ext cx="9509760" cy="5119370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dirty="0"/>
              <a:t>INSERT INTO Patient (Patient_id, DOB, Address_Locality, Address_City)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VALUES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(101, '1990-05-12', 'Heliopolis', 'Cairo'),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(102, '1985-11-23', 'Zamalek', 'Cairo'),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(103, '2000-01-30', 'Nasr City', 'Cairo'),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(104, '2010-07-15', 'Maadi', 'Cairo'),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(105, '1975-09-10', 'Dokki', 'Giza');</a:t>
            </a:r>
          </a:p>
        </p:txBody>
      </p:sp>
      <p:sp>
        <p:nvSpPr>
          <p:cNvPr id="13" name="Text 11"/>
          <p:cNvSpPr/>
          <p:nvPr/>
        </p:nvSpPr>
        <p:spPr>
          <a:xfrm>
            <a:off x="731520" y="6278880"/>
            <a:ext cx="8534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✏️  Write your SQL before turning the page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35635" y="28892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 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35635" y="1506220"/>
            <a:ext cx="9509760" cy="5119370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dirty="0"/>
              <a:t>INSERT INTO Medicine (Code, Price, Quantity)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VALUES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('M001', 150.50, 20),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('M002', 75.00, 50),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('M003', 300.25, 10),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('M004', 120.00, 30),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('M005', 50.75, 100);</a:t>
            </a:r>
          </a:p>
        </p:txBody>
      </p:sp>
      <p:sp>
        <p:nvSpPr>
          <p:cNvPr id="13" name="Text 11"/>
          <p:cNvSpPr/>
          <p:nvPr/>
        </p:nvSpPr>
        <p:spPr>
          <a:xfrm>
            <a:off x="731520" y="6278880"/>
            <a:ext cx="8534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✏️  Write your SQL before turning the page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35635" y="28892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 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35635" y="1506220"/>
            <a:ext cx="9509760" cy="5119370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dirty="0"/>
              <a:t>-- Doctor 1 treats Patients 101, 102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INSERT INTO Doctor_Treats_Patient (Doctor_id, Patient_id)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VALUES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(1, 101),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(1, 102),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(2, 103),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(3, 104),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(4, 105),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(2, 101);</a:t>
            </a:r>
          </a:p>
        </p:txBody>
      </p:sp>
      <p:sp>
        <p:nvSpPr>
          <p:cNvPr id="13" name="Text 11"/>
          <p:cNvSpPr/>
          <p:nvPr/>
        </p:nvSpPr>
        <p:spPr>
          <a:xfrm>
            <a:off x="731520" y="6278880"/>
            <a:ext cx="8534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✏️  Write your SQL before turning the page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35635" y="28892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 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35635" y="1506220"/>
            <a:ext cx="9509760" cy="5119370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dirty="0"/>
              <a:t>INSERT INTO Patient_Bills_Medicine (Patient_id, Medicine_Code, Quantity)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VALUES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(101, 'M001', 2),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(101, 'M002', 1),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(102, 'M003', 1),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(103, 'M002', 3),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(104, 'M004', 2),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(105, 'M005', 5);</a:t>
            </a:r>
          </a:p>
        </p:txBody>
      </p:sp>
      <p:sp>
        <p:nvSpPr>
          <p:cNvPr id="13" name="Text 11"/>
          <p:cNvSpPr/>
          <p:nvPr/>
        </p:nvSpPr>
        <p:spPr>
          <a:xfrm>
            <a:off x="731520" y="6278880"/>
            <a:ext cx="8534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✏️  Write your SQL before turning the page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35635" y="28892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 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35635" y="1506220"/>
            <a:ext cx="9509760" cy="5119370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dirty="0"/>
              <a:t>1</a:t>
            </a:r>
            <a:r>
              <a:rPr lang="en-GB" altLang="en-US" sz="1900" dirty="0"/>
              <a:t>.</a:t>
            </a:r>
            <a:r>
              <a:rPr lang="en-US" altLang="en-GB" sz="1900" dirty="0"/>
              <a:t>A patient was added by mistake with patient_id = 5.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Remove this patient from the system.</a:t>
            </a:r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/>
              <a:t>2</a:t>
            </a:r>
            <a:r>
              <a:rPr lang="en-GB" altLang="en-US" sz="1900" dirty="0"/>
              <a:t>.</a:t>
            </a:r>
            <a:r>
              <a:rPr lang="en-US" altLang="en-GB" sz="1900" dirty="0"/>
              <a:t>Display all doctors who work in Cardiology department and their salary is greater than 12000.</a:t>
            </a:r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/>
              <a:t>3</a:t>
            </a:r>
            <a:r>
              <a:rPr lang="en-GB" altLang="en-US" sz="1900" dirty="0"/>
              <a:t>.</a:t>
            </a:r>
            <a:r>
              <a:rPr lang="en-US" altLang="en-GB" sz="1900" dirty="0"/>
              <a:t>Display all patients whose name starts with the letter "M".</a:t>
            </a:r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/>
              <a:t>4</a:t>
            </a:r>
            <a:r>
              <a:rPr lang="en-GB" altLang="en-US" sz="1900" dirty="0"/>
              <a:t>.</a:t>
            </a:r>
            <a:r>
              <a:rPr lang="en-US" altLang="en-GB" sz="1900" dirty="0"/>
              <a:t>Show doctors whose salary is between 10000 and 20000.</a:t>
            </a:r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/>
              <a:t>5</a:t>
            </a:r>
            <a:r>
              <a:rPr lang="en-GB" altLang="en-US" sz="1900" dirty="0"/>
              <a:t>.</a:t>
            </a:r>
            <a:r>
              <a:rPr lang="en-US" altLang="en-GB" sz="1900" dirty="0"/>
              <a:t>Display doctors who specialize in Cardiology or Dermatology.</a:t>
            </a:r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/>
              <a:t>6</a:t>
            </a:r>
            <a:r>
              <a:rPr lang="en-GB" altLang="en-US" sz="1900" dirty="0"/>
              <a:t>.</a:t>
            </a:r>
            <a:r>
              <a:rPr lang="en-US" altLang="en-GB" sz="1900" dirty="0"/>
              <a:t>Display doctors who do not work in the Neurology department.</a:t>
            </a:r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endParaRPr lang="en-US" altLang="en-GB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6278880"/>
            <a:ext cx="8534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✏️  Write your SQL before turning the page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35635" y="28892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 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35635" y="1506220"/>
            <a:ext cx="9509760" cy="5027930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dirty="0">
                <a:sym typeface="+mn-ea"/>
              </a:rPr>
              <a:t>7</a:t>
            </a:r>
            <a:r>
              <a:rPr lang="en-GB" altLang="en-US" sz="1900" dirty="0">
                <a:sym typeface="+mn-ea"/>
              </a:rPr>
              <a:t>.</a:t>
            </a:r>
            <a:r>
              <a:rPr lang="en-US" altLang="en-GB" sz="1900" dirty="0">
                <a:sym typeface="+mn-ea"/>
              </a:rPr>
              <a:t>Find all patients who did not enter their phone number.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>
                <a:sym typeface="+mn-ea"/>
              </a:rPr>
              <a:t>8</a:t>
            </a:r>
            <a:r>
              <a:rPr lang="en-GB" altLang="en-US" sz="1900" dirty="0">
                <a:sym typeface="+mn-ea"/>
              </a:rPr>
              <a:t>.</a:t>
            </a:r>
            <a:r>
              <a:rPr lang="en-US" altLang="en-GB" sz="1900" dirty="0">
                <a:sym typeface="+mn-ea"/>
              </a:rPr>
              <a:t>Display doctor name and salary, and create a new column called salary_status: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>
                <a:sym typeface="+mn-ea"/>
              </a:rPr>
              <a:t>If salary &gt; 15000 </a:t>
            </a:r>
            <a:r>
              <a:rPr lang="en-US" altLang="en-US" sz="1900" dirty="0">
                <a:sym typeface="+mn-ea"/>
              </a:rPr>
              <a:t>→</a:t>
            </a:r>
            <a:r>
              <a:rPr lang="en-US" altLang="en-GB" sz="1900" dirty="0">
                <a:sym typeface="+mn-ea"/>
              </a:rPr>
              <a:t> "High Salary"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>
                <a:sym typeface="+mn-ea"/>
              </a:rPr>
              <a:t>Otherwise </a:t>
            </a:r>
            <a:r>
              <a:rPr lang="en-US" altLang="en-US" sz="1900" dirty="0">
                <a:sym typeface="+mn-ea"/>
              </a:rPr>
              <a:t>→</a:t>
            </a:r>
            <a:r>
              <a:rPr lang="en-US" altLang="en-GB" sz="1900" dirty="0">
                <a:sym typeface="+mn-ea"/>
              </a:rPr>
              <a:t> "Normal Salary"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>
                <a:sym typeface="+mn-ea"/>
              </a:rPr>
              <a:t>9</a:t>
            </a:r>
            <a:r>
              <a:rPr lang="en-GB" altLang="en-US" sz="1900" dirty="0">
                <a:sym typeface="+mn-ea"/>
              </a:rPr>
              <a:t>.</a:t>
            </a:r>
            <a:r>
              <a:rPr lang="en-US" altLang="en-GB" sz="1900" dirty="0">
                <a:sym typeface="+mn-ea"/>
              </a:rPr>
              <a:t>Display all patients who have appointments with doctor_id = 1.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>
                <a:sym typeface="+mn-ea"/>
              </a:rPr>
              <a:t>10</a:t>
            </a:r>
            <a:r>
              <a:rPr lang="en-GB" altLang="en-US" sz="1900" dirty="0">
                <a:sym typeface="+mn-ea"/>
              </a:rPr>
              <a:t>.</a:t>
            </a:r>
            <a:r>
              <a:rPr lang="en-US" altLang="en-GB" sz="1900" dirty="0">
                <a:sym typeface="+mn-ea"/>
              </a:rPr>
              <a:t>Create a new table called high_salary_doctors and insert doctors whose salary is greater than 15000.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>
                <a:sym typeface="+mn-ea"/>
              </a:rPr>
              <a:t>11</a:t>
            </a:r>
            <a:r>
              <a:rPr lang="en-GB" altLang="en-US" sz="1900" dirty="0">
                <a:sym typeface="+mn-ea"/>
              </a:rPr>
              <a:t>.</a:t>
            </a:r>
            <a:r>
              <a:rPr lang="en-US" altLang="en-GB" sz="1900" dirty="0">
                <a:sym typeface="+mn-ea"/>
              </a:rPr>
              <a:t>Display the doctors who have at least one appointment with a patient in the system.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endParaRPr lang="en-US" altLang="en-GB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6278880"/>
            <a:ext cx="8534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✏️  Write your SQL before turning the page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35635" y="28892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 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35635" y="1506220"/>
            <a:ext cx="9509760" cy="535114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dirty="0">
                <a:sym typeface="+mn-ea"/>
              </a:rPr>
              <a:t>12</a:t>
            </a:r>
            <a:r>
              <a:rPr lang="en-GB" altLang="en-US" sz="1900" dirty="0">
                <a:sym typeface="+mn-ea"/>
              </a:rPr>
              <a:t>.</a:t>
            </a:r>
            <a:r>
              <a:rPr lang="en-US" altLang="en-GB" sz="1900" dirty="0">
                <a:sym typeface="+mn-ea"/>
              </a:rPr>
              <a:t>Display doctors whose salary is greater than the salary of at least one doctor in the Cardiology department.</a:t>
            </a:r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/>
              <a:t>13</a:t>
            </a:r>
            <a:r>
              <a:rPr lang="en-GB" altLang="en-US" sz="1900" dirty="0"/>
              <a:t>.</a:t>
            </a:r>
            <a:r>
              <a:rPr lang="en-US" altLang="en-GB" sz="1900" dirty="0"/>
              <a:t>SIMILAR TO / Regex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Display all patients whose name starts with "A" or "M" using pattern matching.</a:t>
            </a:r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/>
              <a:t>14</a:t>
            </a:r>
            <a:r>
              <a:rPr lang="en-GB" altLang="en-US" sz="1900" dirty="0"/>
              <a:t>.</a:t>
            </a:r>
            <a:r>
              <a:rPr lang="en-US" altLang="en-GB" sz="1900" dirty="0"/>
              <a:t>DISTINCT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Show a list of all unique doctor specializations.</a:t>
            </a:r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/>
              <a:t>15</a:t>
            </a:r>
            <a:r>
              <a:rPr lang="en-GB" altLang="en-US" sz="1900" dirty="0"/>
              <a:t>.</a:t>
            </a:r>
            <a:r>
              <a:rPr lang="en-US" altLang="en-GB" sz="1900" dirty="0"/>
              <a:t>Calculated Columns</a:t>
            </a:r>
          </a:p>
          <a:p>
            <a:pPr>
              <a:spcAft>
                <a:spcPts val="800"/>
              </a:spcAft>
            </a:pPr>
            <a:r>
              <a:rPr lang="en-US" altLang="en-GB" sz="1900" dirty="0"/>
              <a:t>Display patient name and age (calculated from dob assuming today’s date).</a:t>
            </a:r>
            <a:endParaRPr lang="ar-SA" alt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6278880"/>
            <a:ext cx="8534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✏️  Write your SQL before turning the page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35635" y="28892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 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35635" y="1506220"/>
            <a:ext cx="9509760" cy="535114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dirty="0">
                <a:sym typeface="+mn-ea"/>
              </a:rPr>
              <a:t>16</a:t>
            </a:r>
            <a:r>
              <a:rPr lang="en-GB" altLang="en-US" sz="1900" dirty="0">
                <a:sym typeface="+mn-ea"/>
              </a:rPr>
              <a:t>.</a:t>
            </a:r>
            <a:r>
              <a:rPr lang="en-US" altLang="en-GB" sz="1900" dirty="0">
                <a:sym typeface="+mn-ea"/>
              </a:rPr>
              <a:t>UPPER / LOWER / INITCAP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>
                <a:sym typeface="+mn-ea"/>
              </a:rPr>
              <a:t>Display all patient names in uppercase, lowercase, and capitalized format (first letter of each word uppercase).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>
                <a:sym typeface="+mn-ea"/>
              </a:rPr>
              <a:t>17</a:t>
            </a:r>
            <a:r>
              <a:rPr lang="en-GB" altLang="en-US" sz="1900" dirty="0">
                <a:sym typeface="+mn-ea"/>
              </a:rPr>
              <a:t>.</a:t>
            </a:r>
            <a:r>
              <a:rPr lang="en-US" altLang="en-GB" sz="1900" dirty="0">
                <a:sym typeface="+mn-ea"/>
              </a:rPr>
              <a:t>TRIM / LTRIM / RTRIM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>
                <a:sym typeface="+mn-ea"/>
              </a:rPr>
              <a:t>Clean up the phone column by removing leading and trailing spaces.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>
                <a:sym typeface="+mn-ea"/>
              </a:rPr>
              <a:t>18</a:t>
            </a:r>
            <a:r>
              <a:rPr lang="en-GB" altLang="en-US" sz="1900" dirty="0">
                <a:sym typeface="+mn-ea"/>
              </a:rPr>
              <a:t>.</a:t>
            </a:r>
            <a:r>
              <a:rPr lang="en-US" altLang="en-GB" sz="1900" dirty="0">
                <a:sym typeface="+mn-ea"/>
              </a:rPr>
              <a:t>CONCAT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>
                <a:sym typeface="+mn-ea"/>
              </a:rPr>
              <a:t>Display full patient info combining name and phone as a single column called contact_info.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>
                <a:sym typeface="+mn-ea"/>
              </a:rPr>
              <a:t>19</a:t>
            </a:r>
            <a:r>
              <a:rPr lang="en-GB" altLang="en-US" sz="1900" dirty="0">
                <a:sym typeface="+mn-ea"/>
              </a:rPr>
              <a:t>.</a:t>
            </a:r>
            <a:r>
              <a:rPr lang="en-US" altLang="en-GB" sz="1900" dirty="0">
                <a:sym typeface="+mn-ea"/>
              </a:rPr>
              <a:t>SUBSTRING / POSITION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>
                <a:sym typeface="+mn-ea"/>
              </a:rPr>
              <a:t>Extract the first 3 letters of patient names and find the position of letter "a" in the name.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endParaRPr lang="ar-SA" alt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6278880"/>
            <a:ext cx="8534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✏️  Write your SQL before turning the page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35635" y="28892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 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35635" y="1506220"/>
            <a:ext cx="9509760" cy="535114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dirty="0">
                <a:sym typeface="+mn-ea"/>
              </a:rPr>
              <a:t>20</a:t>
            </a:r>
            <a:r>
              <a:rPr lang="en-GB" altLang="en-US" sz="1900" dirty="0">
                <a:sym typeface="+mn-ea"/>
              </a:rPr>
              <a:t>.</a:t>
            </a:r>
            <a:r>
              <a:rPr lang="en-US" altLang="en-GB" sz="1900" dirty="0">
                <a:sym typeface="+mn-ea"/>
              </a:rPr>
              <a:t>REPLACE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>
                <a:sym typeface="+mn-ea"/>
              </a:rPr>
              <a:t>In doctor names, replace "Ahmed" with "Ahmad".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>
                <a:sym typeface="+mn-ea"/>
              </a:rPr>
              <a:t>21</a:t>
            </a:r>
            <a:r>
              <a:rPr lang="en-GB" altLang="en-US" sz="1900" dirty="0">
                <a:sym typeface="+mn-ea"/>
              </a:rPr>
              <a:t>.</a:t>
            </a:r>
            <a:r>
              <a:rPr lang="en-US" altLang="en-GB" sz="1900" dirty="0">
                <a:sym typeface="+mn-ea"/>
              </a:rPr>
              <a:t>CASTING</a:t>
            </a:r>
            <a:endParaRPr lang="en-US" altLang="en-GB" sz="1900" dirty="0"/>
          </a:p>
          <a:p>
            <a:pPr>
              <a:spcAft>
                <a:spcPts val="800"/>
              </a:spcAft>
            </a:pPr>
            <a:r>
              <a:rPr lang="en-US" altLang="en-GB" sz="1900" dirty="0">
                <a:sym typeface="+mn-ea"/>
              </a:rPr>
              <a:t>Display doctor salary as integer and as text in separate columns.</a:t>
            </a:r>
            <a:endParaRPr lang="ar-SA" alt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6278880"/>
            <a:ext cx="853440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✏️  Write your SQL before turning the page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48069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GB" sz="5600" dirty="0"/>
              <a:t>Assignment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65785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1537970"/>
            <a:ext cx="9509760" cy="493077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GB" altLang="en-US" sz="1900" b="1" dirty="0"/>
              <a:t>First run this queries:</a:t>
            </a:r>
          </a:p>
          <a:p>
            <a:pPr>
              <a:spcAft>
                <a:spcPts val="800"/>
              </a:spcAft>
            </a:pPr>
            <a:br>
              <a:rPr lang="en-GB" altLang="en-US" sz="1900" b="1" dirty="0"/>
            </a:br>
            <a:r>
              <a:rPr lang="en-US" altLang="en-GB" sz="1900" b="1" dirty="0"/>
              <a:t>INSERT INTO Department (dept_id, dept_name, location) VALUES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(1, 'IT', 'New York'),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(2, 'HR', 'London'),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(3, 'Finance', 'Tokyo'),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(4, 'Marketing', 'Paris'),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(5, 'Operations', 'Dubai');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48069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GB" sz="5600" dirty="0"/>
              <a:t>Assignment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65785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1537970"/>
            <a:ext cx="9509760" cy="493077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GB" altLang="en-US" sz="1900" b="1" dirty="0"/>
              <a:t>First run this queries:</a:t>
            </a:r>
          </a:p>
          <a:p>
            <a:pPr>
              <a:spcAft>
                <a:spcPts val="800"/>
              </a:spcAft>
            </a:pPr>
            <a:br>
              <a:rPr lang="en-GB" altLang="en-US" sz="1900" b="1" dirty="0"/>
            </a:br>
            <a:r>
              <a:rPr lang="en-US" altLang="en-GB" sz="1900" b="1" dirty="0"/>
              <a:t>INSERT INTO Employee (emp_id, emp_name, salary, hire_date, dept_id) VALUES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(101, 'Alice Johnson', 7500, '2022-01-15', 1),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(102, 'Bob Smith', 5000, '2021-03-20', 2),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(103, 'Charlie Brown', 9000, '2020-07-10', 1),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(104, 'David Lee', 3500, '2023-05-01', 3),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(105, 'Eva Green', 12000, '2019-11-25', 4),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(106, 'Frank White', 4000, '2022-08-12', NULL),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(107, 'Grace Kim', 6000, '2021-12-30', 5);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48069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GB" sz="5600" dirty="0"/>
              <a:t>Assignment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65785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1537970"/>
            <a:ext cx="9509760" cy="493077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GB" altLang="en-US" sz="1900" b="1" dirty="0"/>
              <a:t>First run this queries:</a:t>
            </a:r>
          </a:p>
          <a:p>
            <a:pPr>
              <a:spcAft>
                <a:spcPts val="800"/>
              </a:spcAft>
            </a:pPr>
            <a:br>
              <a:rPr lang="en-GB" altLang="en-US" sz="1900" b="1" dirty="0"/>
            </a:br>
            <a:r>
              <a:rPr lang="en-US" altLang="en-GB" sz="1900" b="1" dirty="0"/>
              <a:t>INSERT INTO Project (project_id, project_name, budget) VALUES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(201, 'Project Alpha', 50000),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(202, 'Project Beta', 75000),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(203, 'Project Gamma', 100000),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(204, 'Project Delta', 25000),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(205, 'Project Epsilon', 80000);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48069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GB" sz="5600" dirty="0"/>
              <a:t>Assignment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65785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1537970"/>
            <a:ext cx="9509760" cy="493077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GB" altLang="en-US" sz="1900" b="1" dirty="0"/>
              <a:t>First run this queries:</a:t>
            </a:r>
          </a:p>
          <a:p>
            <a:pPr>
              <a:spcAft>
                <a:spcPts val="800"/>
              </a:spcAft>
            </a:pPr>
            <a:br>
              <a:rPr lang="en-GB" altLang="en-US" sz="1900" b="1" dirty="0"/>
            </a:br>
            <a:r>
              <a:rPr lang="en-US" altLang="en-GB" sz="1900" b="1" dirty="0"/>
              <a:t>INSERT INTO Works_On (emp_id, project_id, hours) VALUES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(101, 201, 120),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(101, 202, 80),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(102, 203, 150),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(103, 201, 100),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(104, 204, 90),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(105, 205, 200),</a:t>
            </a:r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(107, 202, 50);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48069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GB" sz="5600" dirty="0"/>
              <a:t>Assignment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65785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1537970"/>
            <a:ext cx="9509760" cy="493077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b="1" dirty="0"/>
              <a:t>Display all employees who work in the IT department</a:t>
            </a:r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Display employees whose salary is BETWEEN 4000 AND 9000</a:t>
            </a:r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Display employees whose name starts with 'A' using SIMILAR TO (PostgreSQL Regex Operators)</a:t>
            </a:r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Display employees who do NOT belong to any department</a:t>
            </a:r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Display employees who work in departments 1, 2, or 3 using IN</a:t>
            </a:r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48069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GB" sz="5600" dirty="0"/>
              <a:t>Assignment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65785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1537970"/>
            <a:ext cx="9509760" cy="493077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Display employee name and salary level using CASE WHEN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High if salary &gt; 8000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Medium if salary BETWEEN 4000 AND 8000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Low if salary &lt; 4000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Display employees who are assigned to at least one project using EXISTS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Display employees whose salary is greater than ANY salary in department 2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Display the employee who has the HIGHEST salary using a subquery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Create a table called High_Salary_Employees and insert employees whose salary &gt; 8000 using INSERT INTO … SELECT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48069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GB" sz="5600" dirty="0"/>
              <a:t>Assignment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65785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1537970"/>
            <a:ext cx="9509760" cy="493077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Delete employees who are NOT assigned to any project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Display departments that do NOT have any employees using NOT EXISTS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Display all DISTINCT department locations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Create a calculated column showing salary after 10% bonus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Display employee names in UPPER, LOWER, and INITCAP formats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Remove spaces from employee names using TRIM, LTRIM, and RTRIM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Concatenate first_name and last_name into a single column using CONCAT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48069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GB" sz="5600" dirty="0"/>
              <a:t>Assignment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65785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1537970"/>
            <a:ext cx="9509760" cy="493077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Extract a substring of employee names using SUBSTRING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Find the POSITION of a character or substring in employee names using POSITION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Replace a part of employee name using REPLACE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Change the data type of salary to INTEGER using CAST</a:t>
            </a:r>
            <a:endParaRPr lang="en-US" altLang="en-GB" sz="19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</TotalTime>
  <Words>1483</Words>
  <Application>Microsoft Office PowerPoint</Application>
  <PresentationFormat>Widescreen</PresentationFormat>
  <Paragraphs>222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Trebuchet MS</vt:lpstr>
      <vt:lpstr>Wingdings 3</vt:lpstr>
      <vt:lpstr>Facet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Day 1</dc:title>
  <dc:creator>Petra</dc:creator>
  <cp:lastModifiedBy>sandy maged</cp:lastModifiedBy>
  <cp:revision>943</cp:revision>
  <dcterms:created xsi:type="dcterms:W3CDTF">2026-01-26T08:52:00Z</dcterms:created>
  <dcterms:modified xsi:type="dcterms:W3CDTF">2026-03-11T10:31:21Z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97E1217AF2A344429EBF110EF7E8548B_12</vt:lpwstr>
  </property>
  <property fmtid="{D5CDD505-2E9C-101B-9397-08002B2CF9AE}" pid="3" name="KSOProductBuildVer">
    <vt:lpwstr>2057-12.2.0.23196</vt:lpwstr>
  </property>
</Properties>
</file>