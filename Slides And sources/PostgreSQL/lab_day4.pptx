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>
  <p:sldMasterIdLst>
    <p:sldMasterId id="2147483648" r:id="rId1"/>
    <p:sldMasterId id="2147483666" r:id="rId2"/>
  </p:sldMasterIdLst>
  <p:notesMasterIdLst>
    <p:notesMasterId r:id="rId9"/>
  </p:notesMasterIdLst>
  <p:sldIdLst>
    <p:sldId id="266" r:id="rId3"/>
    <p:sldId id="308" r:id="rId4"/>
    <p:sldId id="304" r:id="rId5"/>
    <p:sldId id="305" r:id="rId6"/>
    <p:sldId id="306" r:id="rId7"/>
    <p:sldId id="320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5000" autoAdjust="0"/>
    <p:restoredTop sz="93861" autoAdjust="0"/>
  </p:normalViewPr>
  <p:slideViewPr>
    <p:cSldViewPr snapToGrid="0" showGuides="1">
      <p:cViewPr varScale="1">
        <p:scale>
          <a:sx n="67" d="100"/>
          <a:sy n="67" d="100"/>
        </p:scale>
        <p:origin x="858" y="54"/>
      </p:cViewPr>
      <p:guideLst>
        <p:guide orient="horz" pos="2159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6" d="100"/>
          <a:sy n="96" d="100"/>
        </p:scale>
        <p:origin x="3558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B7E296-0428-41DA-B2FD-629865C14C9A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CD3839-9FE5-42F2-BECC-1535DA6E108D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0965" indent="0">
              <a:buNone/>
              <a:defRPr sz="1000"/>
            </a:lvl4pPr>
            <a:lvl5pPr marL="1828165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130" indent="0">
              <a:buNone/>
              <a:defRPr sz="1000"/>
            </a:lvl8pPr>
            <a:lvl9pPr marL="365633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3/12/2026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”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”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1BDA-3A19-4C68-B388-AA927C043E3D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724D-5708-428A-A351-EB4628D41725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1BDA-3A19-4C68-B388-AA927C043E3D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724D-5708-428A-A351-EB4628D41725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1BDA-3A19-4C68-B388-AA927C043E3D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724D-5708-428A-A351-EB4628D41725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1BDA-3A19-4C68-B388-AA927C043E3D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724D-5708-428A-A351-EB4628D41725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1BDA-3A19-4C68-B388-AA927C043E3D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724D-5708-428A-A351-EB4628D41725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1BDA-3A19-4C68-B388-AA927C043E3D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724D-5708-428A-A351-EB4628D41725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1BDA-3A19-4C68-B388-AA927C043E3D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724D-5708-428A-A351-EB4628D41725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1BDA-3A19-4C68-B388-AA927C043E3D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724D-5708-428A-A351-EB4628D41725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1BDA-3A19-4C68-B388-AA927C043E3D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724D-5708-428A-A351-EB4628D41725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1BDA-3A19-4C68-B388-AA927C043E3D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724D-5708-428A-A351-EB4628D41725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1BDA-3A19-4C68-B388-AA927C043E3D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724D-5708-428A-A351-EB4628D41725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9EB2C1-3CEE-41D9-9027-001A41D0B6A2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C71BDA-3A19-4C68-B388-AA927C043E3D}" type="datetimeFigureOut">
              <a:rPr lang="en-GB" smtClean="0"/>
              <a:t>12/03/2026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11724D-5708-428A-A351-EB4628D41725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6"/>
          <p:cNvSpPr/>
          <p:nvPr/>
        </p:nvSpPr>
        <p:spPr>
          <a:xfrm>
            <a:off x="731520" y="1097280"/>
            <a:ext cx="9144000" cy="1219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69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Lab Day </a:t>
            </a:r>
            <a:r>
              <a:rPr lang="en-GB" altLang="ar-EG" sz="6900" b="1" dirty="0">
                <a:solidFill>
                  <a:srgbClr val="1F386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</a:p>
        </p:txBody>
      </p:sp>
      <p:sp>
        <p:nvSpPr>
          <p:cNvPr id="9" name="Text 7"/>
          <p:cNvSpPr/>
          <p:nvPr/>
        </p:nvSpPr>
        <p:spPr>
          <a:xfrm>
            <a:off x="731520" y="2377440"/>
            <a:ext cx="9144000" cy="792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endParaRPr lang="en-US" sz="3500" dirty="0"/>
          </a:p>
        </p:txBody>
      </p:sp>
      <p:sp>
        <p:nvSpPr>
          <p:cNvPr id="2" name="Text Box 1"/>
          <p:cNvSpPr txBox="1"/>
          <p:nvPr/>
        </p:nvSpPr>
        <p:spPr>
          <a:xfrm>
            <a:off x="4355465" y="176149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6"/>
          <p:cNvSpPr/>
          <p:nvPr/>
        </p:nvSpPr>
        <p:spPr>
          <a:xfrm>
            <a:off x="731520" y="480695"/>
            <a:ext cx="8534400" cy="792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altLang="en-GB" sz="5600" dirty="0"/>
              <a:t>Assignment</a:t>
            </a:r>
          </a:p>
        </p:txBody>
      </p:sp>
      <p:sp>
        <p:nvSpPr>
          <p:cNvPr id="9" name="Text 7"/>
          <p:cNvSpPr/>
          <p:nvPr/>
        </p:nvSpPr>
        <p:spPr>
          <a:xfrm>
            <a:off x="731520" y="1731264"/>
            <a:ext cx="9144000" cy="670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731520" y="2657856"/>
            <a:ext cx="9144000" cy="4632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31520" y="1537970"/>
            <a:ext cx="9509760" cy="4930775"/>
          </a:xfrm>
          <a:prstGeom prst="rect">
            <a:avLst/>
          </a:prstGeom>
          <a:noFill/>
        </p:spPr>
        <p:txBody>
          <a:bodyPr wrap="square" lIns="121917" tIns="60958" rIns="121917" bIns="60958" rtlCol="0" anchor="t"/>
          <a:lstStyle/>
          <a:p>
            <a:pPr>
              <a:spcAft>
                <a:spcPts val="800"/>
              </a:spcAft>
            </a:pPr>
            <a:r>
              <a:rPr lang="en-US" altLang="en-GB" sz="1900" b="1" dirty="0"/>
              <a:t>Display employees whose salary is BETWEEN 4000 AND 9000</a:t>
            </a:r>
          </a:p>
          <a:p>
            <a:pPr>
              <a:spcAft>
                <a:spcPts val="800"/>
              </a:spcAft>
            </a:pPr>
            <a:endParaRPr lang="en-US" altLang="en-GB" sz="1900" b="1" dirty="0"/>
          </a:p>
          <a:p>
            <a:pPr>
              <a:spcAft>
                <a:spcPts val="800"/>
              </a:spcAft>
            </a:pPr>
            <a:r>
              <a:rPr lang="en-US" altLang="en-GB" sz="1900" b="1" dirty="0"/>
              <a:t>Display employees whose name starts with 'A' using SIMILAR TO (PostgreSQL Regex Operators)</a:t>
            </a:r>
          </a:p>
          <a:p>
            <a:pPr>
              <a:spcAft>
                <a:spcPts val="800"/>
              </a:spcAft>
            </a:pPr>
            <a:endParaRPr lang="en-US" altLang="en-GB" sz="1900" b="1" dirty="0"/>
          </a:p>
          <a:p>
            <a:pPr>
              <a:spcAft>
                <a:spcPts val="800"/>
              </a:spcAft>
            </a:pPr>
            <a:r>
              <a:rPr lang="en-US" altLang="en-GB" sz="1900" b="1" dirty="0"/>
              <a:t>Display employees who do NOT belong to any department</a:t>
            </a:r>
          </a:p>
          <a:p>
            <a:pPr>
              <a:spcAft>
                <a:spcPts val="800"/>
              </a:spcAft>
            </a:pPr>
            <a:endParaRPr lang="en-US" altLang="en-GB" sz="1900" b="1" dirty="0"/>
          </a:p>
          <a:p>
            <a:pPr>
              <a:spcAft>
                <a:spcPts val="800"/>
              </a:spcAft>
            </a:pPr>
            <a:r>
              <a:rPr lang="en-US" altLang="en-GB" sz="1900" b="1" dirty="0"/>
              <a:t>Display employees who work in departments 1, 2, or 3 using IN</a:t>
            </a:r>
          </a:p>
          <a:p>
            <a:pPr>
              <a:spcAft>
                <a:spcPts val="800"/>
              </a:spcAft>
            </a:pPr>
            <a:endParaRPr lang="en-US" altLang="en-GB" sz="1900" b="1" dirty="0"/>
          </a:p>
          <a:p>
            <a:pPr>
              <a:spcAft>
                <a:spcPts val="800"/>
              </a:spcAft>
            </a:pPr>
            <a:endParaRPr lang="en-US" altLang="en-GB" sz="1900" b="1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6"/>
          <p:cNvSpPr/>
          <p:nvPr/>
        </p:nvSpPr>
        <p:spPr>
          <a:xfrm>
            <a:off x="731520" y="480695"/>
            <a:ext cx="8534400" cy="792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altLang="en-GB" sz="5600" dirty="0"/>
              <a:t>Assignment</a:t>
            </a:r>
          </a:p>
        </p:txBody>
      </p:sp>
      <p:sp>
        <p:nvSpPr>
          <p:cNvPr id="9" name="Text 7"/>
          <p:cNvSpPr/>
          <p:nvPr/>
        </p:nvSpPr>
        <p:spPr>
          <a:xfrm>
            <a:off x="731520" y="1731264"/>
            <a:ext cx="9144000" cy="670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731520" y="2657856"/>
            <a:ext cx="9144000" cy="4632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31520" y="1537970"/>
            <a:ext cx="9509760" cy="4930775"/>
          </a:xfrm>
          <a:prstGeom prst="rect">
            <a:avLst/>
          </a:prstGeom>
          <a:noFill/>
        </p:spPr>
        <p:txBody>
          <a:bodyPr wrap="square" lIns="121917" tIns="60958" rIns="121917" bIns="60958" rtlCol="0" anchor="t"/>
          <a:lstStyle/>
          <a:p>
            <a:pPr>
              <a:spcAft>
                <a:spcPts val="800"/>
              </a:spcAft>
            </a:pPr>
            <a:r>
              <a:rPr lang="en-US" altLang="en-GB" sz="1900" b="1" dirty="0">
                <a:sym typeface="+mn-ea"/>
              </a:rPr>
              <a:t>Display employee name and salary level using CASE WHEN</a:t>
            </a:r>
            <a:endParaRPr lang="en-US" altLang="en-GB" sz="1900" b="1" dirty="0"/>
          </a:p>
          <a:p>
            <a:pPr>
              <a:spcAft>
                <a:spcPts val="800"/>
              </a:spcAft>
            </a:pPr>
            <a:r>
              <a:rPr lang="en-US" altLang="en-GB" sz="1900" b="1" dirty="0">
                <a:sym typeface="+mn-ea"/>
              </a:rPr>
              <a:t>High if salary &gt; 8000</a:t>
            </a:r>
          </a:p>
          <a:p>
            <a:pPr>
              <a:spcAft>
                <a:spcPts val="800"/>
              </a:spcAft>
            </a:pPr>
            <a:endParaRPr lang="en-US" altLang="en-GB" sz="1900" b="1" dirty="0"/>
          </a:p>
          <a:p>
            <a:pPr>
              <a:spcAft>
                <a:spcPts val="800"/>
              </a:spcAft>
            </a:pPr>
            <a:r>
              <a:rPr lang="en-US" altLang="en-GB" sz="1900" b="1" dirty="0">
                <a:sym typeface="+mn-ea"/>
              </a:rPr>
              <a:t>Medium if salary BETWEEN 4000 AND 8000</a:t>
            </a:r>
            <a:endParaRPr lang="en-US" altLang="en-GB" sz="1900" b="1" dirty="0"/>
          </a:p>
          <a:p>
            <a:pPr>
              <a:spcAft>
                <a:spcPts val="800"/>
              </a:spcAft>
            </a:pPr>
            <a:r>
              <a:rPr lang="en-US" altLang="en-GB" sz="1900" b="1" dirty="0">
                <a:sym typeface="+mn-ea"/>
              </a:rPr>
              <a:t>Low if salary &lt; 4000</a:t>
            </a:r>
            <a:endParaRPr lang="en-US" altLang="en-GB" sz="1900" b="1" dirty="0"/>
          </a:p>
          <a:p>
            <a:pPr>
              <a:spcAft>
                <a:spcPts val="800"/>
              </a:spcAft>
            </a:pPr>
            <a:endParaRPr lang="en-US" altLang="en-GB" sz="1900" b="1" dirty="0"/>
          </a:p>
          <a:p>
            <a:pPr>
              <a:spcAft>
                <a:spcPts val="800"/>
              </a:spcAft>
            </a:pPr>
            <a:r>
              <a:rPr lang="en-US" altLang="en-GB" sz="1900" b="1" dirty="0">
                <a:sym typeface="+mn-ea"/>
              </a:rPr>
              <a:t>Display employees who are assigned to at least one project using EXISTS</a:t>
            </a:r>
            <a:endParaRPr lang="en-US" altLang="en-GB" sz="1900" b="1" dirty="0"/>
          </a:p>
          <a:p>
            <a:pPr>
              <a:spcAft>
                <a:spcPts val="800"/>
              </a:spcAft>
            </a:pPr>
            <a:endParaRPr lang="en-US" altLang="en-GB" sz="1900" b="1" dirty="0"/>
          </a:p>
          <a:p>
            <a:pPr>
              <a:spcAft>
                <a:spcPts val="800"/>
              </a:spcAft>
            </a:pPr>
            <a:r>
              <a:rPr lang="en-US" altLang="en-GB" sz="1900" b="1" dirty="0">
                <a:sym typeface="+mn-ea"/>
              </a:rPr>
              <a:t>Display employees whose salary is greater than ANY salary in department 2</a:t>
            </a:r>
            <a:endParaRPr lang="en-US" altLang="en-GB" sz="1900" b="1" dirty="0"/>
          </a:p>
          <a:p>
            <a:pPr>
              <a:spcAft>
                <a:spcPts val="800"/>
              </a:spcAft>
            </a:pPr>
            <a:endParaRPr lang="en-US" altLang="en-GB" sz="1900" b="1" dirty="0"/>
          </a:p>
          <a:p>
            <a:pPr>
              <a:spcAft>
                <a:spcPts val="800"/>
              </a:spcAft>
            </a:pPr>
            <a:r>
              <a:rPr lang="en-US" altLang="en-GB" sz="1900" b="1" dirty="0">
                <a:sym typeface="+mn-ea"/>
              </a:rPr>
              <a:t>Create a table called High_Salary_Employees and insert employees whose salary &gt; 8000 using INSERT INTO … SELECT</a:t>
            </a:r>
            <a:endParaRPr lang="en-US" altLang="en-GB" sz="1900" b="1" dirty="0"/>
          </a:p>
          <a:p>
            <a:pPr>
              <a:spcAft>
                <a:spcPts val="800"/>
              </a:spcAft>
            </a:pPr>
            <a:endParaRPr lang="en-US" altLang="en-GB" sz="1900" b="1" dirty="0"/>
          </a:p>
          <a:p>
            <a:pPr>
              <a:spcAft>
                <a:spcPts val="800"/>
              </a:spcAft>
            </a:pPr>
            <a:endParaRPr lang="en-US" altLang="en-GB" sz="1900" b="1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6"/>
          <p:cNvSpPr/>
          <p:nvPr/>
        </p:nvSpPr>
        <p:spPr>
          <a:xfrm>
            <a:off x="731520" y="480695"/>
            <a:ext cx="8534400" cy="792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altLang="en-GB" sz="5600" dirty="0"/>
              <a:t>Assignment</a:t>
            </a:r>
          </a:p>
        </p:txBody>
      </p:sp>
      <p:sp>
        <p:nvSpPr>
          <p:cNvPr id="9" name="Text 7"/>
          <p:cNvSpPr/>
          <p:nvPr/>
        </p:nvSpPr>
        <p:spPr>
          <a:xfrm>
            <a:off x="731520" y="1731264"/>
            <a:ext cx="9144000" cy="670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731520" y="2657856"/>
            <a:ext cx="9144000" cy="4632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31520" y="1537970"/>
            <a:ext cx="9509760" cy="4930775"/>
          </a:xfrm>
          <a:prstGeom prst="rect">
            <a:avLst/>
          </a:prstGeom>
          <a:noFill/>
        </p:spPr>
        <p:txBody>
          <a:bodyPr wrap="square" lIns="121917" tIns="60958" rIns="121917" bIns="60958" rtlCol="0" anchor="t"/>
          <a:lstStyle/>
          <a:p>
            <a:pPr>
              <a:spcAft>
                <a:spcPts val="800"/>
              </a:spcAft>
            </a:pPr>
            <a:r>
              <a:rPr lang="en-US" altLang="en-GB" sz="1900" b="1" dirty="0">
                <a:sym typeface="+mn-ea"/>
              </a:rPr>
              <a:t>Delete employees who are NOT assigned to any project</a:t>
            </a:r>
            <a:endParaRPr lang="en-US" altLang="en-GB" sz="1900" b="1" dirty="0"/>
          </a:p>
          <a:p>
            <a:pPr>
              <a:spcAft>
                <a:spcPts val="800"/>
              </a:spcAft>
            </a:pPr>
            <a:endParaRPr lang="en-US" altLang="en-GB" sz="1900" b="1" dirty="0"/>
          </a:p>
          <a:p>
            <a:pPr>
              <a:spcAft>
                <a:spcPts val="800"/>
              </a:spcAft>
            </a:pPr>
            <a:r>
              <a:rPr lang="en-US" altLang="en-GB" sz="1900" b="1" dirty="0">
                <a:sym typeface="+mn-ea"/>
              </a:rPr>
              <a:t>Display all DISTINCT department locations</a:t>
            </a:r>
            <a:endParaRPr lang="en-US" altLang="en-GB" sz="1900" b="1" dirty="0"/>
          </a:p>
          <a:p>
            <a:pPr>
              <a:spcAft>
                <a:spcPts val="800"/>
              </a:spcAft>
            </a:pPr>
            <a:endParaRPr lang="en-US" altLang="en-GB" sz="1900" b="1" dirty="0"/>
          </a:p>
          <a:p>
            <a:pPr>
              <a:spcAft>
                <a:spcPts val="800"/>
              </a:spcAft>
            </a:pPr>
            <a:r>
              <a:rPr lang="en-US" altLang="en-GB" sz="1900" b="1" dirty="0">
                <a:sym typeface="+mn-ea"/>
              </a:rPr>
              <a:t>Create a calculated column showing salary after 10% bonus</a:t>
            </a:r>
            <a:endParaRPr lang="en-US" altLang="en-GB" sz="1900" b="1" dirty="0"/>
          </a:p>
          <a:p>
            <a:pPr>
              <a:spcAft>
                <a:spcPts val="800"/>
              </a:spcAft>
            </a:pPr>
            <a:endParaRPr lang="en-US" altLang="en-GB" sz="1900" b="1" dirty="0"/>
          </a:p>
          <a:p>
            <a:pPr>
              <a:spcAft>
                <a:spcPts val="800"/>
              </a:spcAft>
            </a:pPr>
            <a:r>
              <a:rPr lang="en-US" altLang="en-GB" sz="1900" b="1" dirty="0">
                <a:sym typeface="+mn-ea"/>
              </a:rPr>
              <a:t>Concatenate first_name and last_name into a single column using CONCAT</a:t>
            </a:r>
            <a:endParaRPr lang="en-US" altLang="en-GB" sz="1900" b="1" dirty="0"/>
          </a:p>
          <a:p>
            <a:pPr>
              <a:spcAft>
                <a:spcPts val="800"/>
              </a:spcAft>
            </a:pPr>
            <a:endParaRPr lang="en-US" altLang="en-GB" sz="1900" b="1" dirty="0"/>
          </a:p>
          <a:p>
            <a:pPr>
              <a:spcAft>
                <a:spcPts val="800"/>
              </a:spcAft>
            </a:pPr>
            <a:endParaRPr lang="en-US" altLang="en-GB" sz="1900" b="1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6"/>
          <p:cNvSpPr/>
          <p:nvPr/>
        </p:nvSpPr>
        <p:spPr>
          <a:xfrm>
            <a:off x="731520" y="480695"/>
            <a:ext cx="8534400" cy="792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altLang="en-GB" sz="5600" dirty="0"/>
              <a:t>Assignment</a:t>
            </a:r>
          </a:p>
        </p:txBody>
      </p:sp>
      <p:sp>
        <p:nvSpPr>
          <p:cNvPr id="9" name="Text 7"/>
          <p:cNvSpPr/>
          <p:nvPr/>
        </p:nvSpPr>
        <p:spPr>
          <a:xfrm>
            <a:off x="731520" y="1731264"/>
            <a:ext cx="9144000" cy="670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731520" y="2657856"/>
            <a:ext cx="9144000" cy="4632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31520" y="1537970"/>
            <a:ext cx="9509760" cy="4930775"/>
          </a:xfrm>
          <a:prstGeom prst="rect">
            <a:avLst/>
          </a:prstGeom>
          <a:noFill/>
        </p:spPr>
        <p:txBody>
          <a:bodyPr wrap="square" lIns="121917" tIns="60958" rIns="121917" bIns="60958" rtlCol="0" anchor="t"/>
          <a:lstStyle/>
          <a:p>
            <a:pPr>
              <a:spcAft>
                <a:spcPts val="800"/>
              </a:spcAft>
            </a:pPr>
            <a:r>
              <a:rPr lang="en-US" altLang="en-GB" sz="1900" b="1" dirty="0">
                <a:sym typeface="+mn-ea"/>
              </a:rPr>
              <a:t>Find the POSITION of a character or substring in employee names using POSITION</a:t>
            </a:r>
            <a:endParaRPr lang="en-US" altLang="en-GB" sz="1900" b="1" dirty="0"/>
          </a:p>
          <a:p>
            <a:pPr>
              <a:spcAft>
                <a:spcPts val="800"/>
              </a:spcAft>
            </a:pPr>
            <a:endParaRPr lang="en-US" altLang="en-GB" sz="1900" b="1" dirty="0"/>
          </a:p>
          <a:p>
            <a:pPr>
              <a:spcAft>
                <a:spcPts val="800"/>
              </a:spcAft>
            </a:pPr>
            <a:r>
              <a:rPr lang="en-US" altLang="en-GB" sz="1900" b="1" dirty="0">
                <a:sym typeface="+mn-ea"/>
              </a:rPr>
              <a:t>Replace a part of employee name using REPLACE</a:t>
            </a:r>
            <a:endParaRPr lang="en-US" altLang="en-GB" sz="1900" b="1" dirty="0"/>
          </a:p>
          <a:p>
            <a:pPr>
              <a:spcAft>
                <a:spcPts val="800"/>
              </a:spcAft>
            </a:pPr>
            <a:endParaRPr lang="en-US" altLang="en-GB" sz="1900" b="1" dirty="0"/>
          </a:p>
          <a:p>
            <a:pPr>
              <a:spcAft>
                <a:spcPts val="800"/>
              </a:spcAft>
            </a:pPr>
            <a:r>
              <a:rPr lang="en-US" altLang="en-GB" sz="1900" b="1" dirty="0">
                <a:sym typeface="+mn-ea"/>
              </a:rPr>
              <a:t>Change the data type of salary to INTEGER using CAST</a:t>
            </a:r>
            <a:br>
              <a:rPr lang="en-US" altLang="en-GB" sz="1900" b="1" dirty="0">
                <a:sym typeface="+mn-ea"/>
              </a:rPr>
            </a:br>
            <a:br>
              <a:rPr lang="en-US" altLang="en-GB" sz="1900" b="1" dirty="0">
                <a:sym typeface="+mn-ea"/>
              </a:rPr>
            </a:br>
            <a:r>
              <a:rPr lang="en-GB" altLang="en-US" sz="1900" b="1" dirty="0">
                <a:sym typeface="+mn-ea"/>
              </a:rPr>
              <a:t>New:</a:t>
            </a:r>
            <a:br>
              <a:rPr lang="en-GB" altLang="en-US" sz="1900" b="1" dirty="0">
                <a:sym typeface="+mn-ea"/>
              </a:rPr>
            </a:br>
            <a:br>
              <a:rPr lang="en-GB" altLang="en-US" sz="1900" b="1" dirty="0">
                <a:sym typeface="+mn-ea"/>
              </a:rPr>
            </a:br>
            <a:r>
              <a:rPr lang="en-US" altLang="en-GB" sz="1900" b="1" dirty="0">
                <a:sym typeface="+mn-ea"/>
              </a:rPr>
              <a:t>1</a:t>
            </a:r>
            <a:r>
              <a:rPr lang="en-GB" altLang="en-US" sz="1900" b="1" dirty="0">
                <a:sym typeface="+mn-ea"/>
              </a:rPr>
              <a:t>.</a:t>
            </a:r>
            <a:r>
              <a:rPr lang="en-US" altLang="en-GB" sz="1900" b="1" dirty="0">
                <a:sym typeface="+mn-ea"/>
              </a:rPr>
              <a:t>Display employee names with their department names</a:t>
            </a:r>
          </a:p>
          <a:p>
            <a:pPr>
              <a:spcAft>
                <a:spcPts val="800"/>
              </a:spcAft>
            </a:pPr>
            <a:r>
              <a:rPr lang="en-GB" altLang="en-US" sz="1900" b="1" dirty="0">
                <a:sym typeface="+mn-ea"/>
              </a:rPr>
              <a:t>2.</a:t>
            </a:r>
            <a:r>
              <a:rPr lang="en-US" altLang="en-GB" sz="1900" b="1" dirty="0">
                <a:sym typeface="+mn-ea"/>
              </a:rPr>
              <a:t>Count employees in each department (more than 1 employee)</a:t>
            </a:r>
          </a:p>
          <a:p>
            <a:pPr>
              <a:spcAft>
                <a:spcPts val="800"/>
              </a:spcAft>
            </a:pPr>
            <a:r>
              <a:rPr lang="en-GB" altLang="en-US" sz="1900" b="1" dirty="0">
                <a:sym typeface="+mn-ea"/>
              </a:rPr>
              <a:t>3.</a:t>
            </a:r>
            <a:r>
              <a:rPr lang="en-US" altLang="en-GB" sz="1900" b="1" dirty="0">
                <a:sym typeface="+mn-ea"/>
              </a:rPr>
              <a:t>Top 3 highest paid employees with department names</a:t>
            </a:r>
            <a:br>
              <a:rPr lang="en-US" altLang="en-GB" sz="1900" b="1" dirty="0">
                <a:sym typeface="+mn-ea"/>
              </a:rPr>
            </a:br>
            <a:r>
              <a:rPr lang="en-GB" altLang="en-US" sz="1900" b="1" dirty="0">
                <a:sym typeface="+mn-ea"/>
              </a:rPr>
              <a:t>4.</a:t>
            </a:r>
            <a:r>
              <a:rPr lang="en-US" altLang="en-GB" sz="1900" b="1" dirty="0">
                <a:sym typeface="+mn-ea"/>
              </a:rPr>
              <a:t>Display all departments and the employees working in them, including departments that do not have employees.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6"/>
          <p:cNvSpPr/>
          <p:nvPr/>
        </p:nvSpPr>
        <p:spPr>
          <a:xfrm>
            <a:off x="731520" y="480695"/>
            <a:ext cx="8534400" cy="792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altLang="en-GB" sz="5600" dirty="0"/>
              <a:t>Assignment</a:t>
            </a:r>
          </a:p>
        </p:txBody>
      </p:sp>
      <p:sp>
        <p:nvSpPr>
          <p:cNvPr id="9" name="Text 7"/>
          <p:cNvSpPr/>
          <p:nvPr/>
        </p:nvSpPr>
        <p:spPr>
          <a:xfrm>
            <a:off x="731520" y="1731264"/>
            <a:ext cx="9144000" cy="670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731520" y="2657856"/>
            <a:ext cx="9144000" cy="4632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31520" y="1537970"/>
            <a:ext cx="9509760" cy="4930775"/>
          </a:xfrm>
          <a:prstGeom prst="rect">
            <a:avLst/>
          </a:prstGeom>
          <a:noFill/>
        </p:spPr>
        <p:txBody>
          <a:bodyPr wrap="square" lIns="121917" tIns="60958" rIns="121917" bIns="60958" rtlCol="0" anchor="t"/>
          <a:lstStyle/>
          <a:p>
            <a:pPr>
              <a:spcAft>
                <a:spcPts val="800"/>
              </a:spcAft>
            </a:pPr>
            <a:r>
              <a:rPr lang="en-US" altLang="en-GB" sz="1900" b="1" dirty="0">
                <a:sym typeface="+mn-ea"/>
              </a:rPr>
              <a:t>1</a:t>
            </a:r>
            <a:r>
              <a:rPr lang="en-GB" altLang="en-US" sz="1900" b="1" dirty="0">
                <a:sym typeface="+mn-ea"/>
              </a:rPr>
              <a:t>.</a:t>
            </a:r>
            <a:r>
              <a:rPr lang="en-US" altLang="en-GB" sz="1900" b="1" dirty="0">
                <a:sym typeface="+mn-ea"/>
              </a:rPr>
              <a:t>Display all employees with their department names, including employees who do not belong to any department.</a:t>
            </a:r>
          </a:p>
          <a:p>
            <a:pPr>
              <a:spcAft>
                <a:spcPts val="800"/>
              </a:spcAft>
            </a:pPr>
            <a:endParaRPr lang="en-US" altLang="en-GB" sz="1900" b="1" dirty="0">
              <a:sym typeface="+mn-ea"/>
            </a:endParaRPr>
          </a:p>
          <a:p>
            <a:pPr>
              <a:spcAft>
                <a:spcPts val="800"/>
              </a:spcAft>
            </a:pPr>
            <a:r>
              <a:rPr lang="en-GB" altLang="en-US" sz="1900" b="1" dirty="0">
                <a:sym typeface="+mn-ea"/>
              </a:rPr>
              <a:t>2.</a:t>
            </a:r>
            <a:r>
              <a:rPr lang="en-US" altLang="en-GB" sz="1900" b="1" dirty="0">
                <a:sym typeface="+mn-ea"/>
              </a:rPr>
              <a:t>Total hours worked on each project ordered by highest hours</a:t>
            </a:r>
          </a:p>
          <a:p>
            <a:pPr>
              <a:spcAft>
                <a:spcPts val="800"/>
              </a:spcAft>
            </a:pPr>
            <a:endParaRPr lang="en-US" altLang="en-GB" sz="1900" b="1" dirty="0">
              <a:sym typeface="+mn-ea"/>
            </a:endParaRPr>
          </a:p>
          <a:p>
            <a:pPr>
              <a:spcAft>
                <a:spcPts val="800"/>
              </a:spcAft>
            </a:pPr>
            <a:r>
              <a:rPr lang="en-GB" altLang="en-US" sz="1900" b="1" dirty="0">
                <a:sym typeface="+mn-ea"/>
              </a:rPr>
              <a:t>3.</a:t>
            </a:r>
            <a:r>
              <a:rPr lang="en-US" altLang="en-GB" sz="1900" b="1" dirty="0">
                <a:sym typeface="+mn-ea"/>
              </a:rPr>
              <a:t>Average salary per department (avg &gt; 6000)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Facet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</TotalTime>
  <Words>304</Words>
  <Application>Microsoft Office PowerPoint</Application>
  <PresentationFormat>Widescreen</PresentationFormat>
  <Paragraphs>49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Calibri</vt:lpstr>
      <vt:lpstr>Calibri Light</vt:lpstr>
      <vt:lpstr>Trebuchet MS</vt:lpstr>
      <vt:lpstr>Wingdings 3</vt:lpstr>
      <vt:lpstr>Facet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Day 1</dc:title>
  <dc:creator>Petra</dc:creator>
  <cp:lastModifiedBy>sandy maged</cp:lastModifiedBy>
  <cp:revision>963</cp:revision>
  <dcterms:created xsi:type="dcterms:W3CDTF">2026-01-26T08:52:00Z</dcterms:created>
  <dcterms:modified xsi:type="dcterms:W3CDTF">2026-03-12T09:37:55Z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97E1217AF2A344429EBF110EF7E8548B_12</vt:lpwstr>
  </property>
  <property fmtid="{D5CDD505-2E9C-101B-9397-08002B2CF9AE}" pid="3" name="KSOProductBuildVer">
    <vt:lpwstr>2057-12.2.0.23196</vt:lpwstr>
  </property>
</Properties>
</file>