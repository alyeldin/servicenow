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1" r:id="rId1"/>
    <p:sldMasterId id="2147483748" r:id="rId2"/>
  </p:sldMasterIdLst>
  <p:notesMasterIdLst>
    <p:notesMasterId r:id="rId45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29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7E296-0428-41DA-B2FD-629865C14C9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3839-9FE5-42F2-BECC-1535DA6E1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0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71"/>
      </p:ext>
    </p:extLst>
  </p:cSld>
  <p:clrMapOvr>
    <a:masterClrMapping/>
  </p:clrMapOvr>
  <p:transition spd="slow" advTm="3892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37272"/>
      </p:ext>
    </p:extLst>
  </p:cSld>
  <p:clrMapOvr>
    <a:masterClrMapping/>
  </p:clrMapOvr>
  <p:transition spd="slow" advTm="3892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52551"/>
      </p:ext>
    </p:extLst>
  </p:cSld>
  <p:clrMapOvr>
    <a:masterClrMapping/>
  </p:clrMapOvr>
  <p:transition spd="slow" advTm="3892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09609"/>
      </p:ext>
    </p:extLst>
  </p:cSld>
  <p:clrMapOvr>
    <a:masterClrMapping/>
  </p:clrMapOvr>
  <p:transition spd="slow" advTm="3892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93563"/>
      </p:ext>
    </p:extLst>
  </p:cSld>
  <p:clrMapOvr>
    <a:masterClrMapping/>
  </p:clrMapOvr>
  <p:transition spd="slow" advTm="3892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39470"/>
      </p:ext>
    </p:extLst>
  </p:cSld>
  <p:clrMapOvr>
    <a:masterClrMapping/>
  </p:clrMapOvr>
  <p:transition spd="slow" advTm="3892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91053"/>
      </p:ext>
    </p:extLst>
  </p:cSld>
  <p:clrMapOvr>
    <a:masterClrMapping/>
  </p:clrMapOvr>
  <p:transition spd="slow" advTm="3892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76505"/>
      </p:ext>
    </p:extLst>
  </p:cSld>
  <p:clrMapOvr>
    <a:masterClrMapping/>
  </p:clrMapOvr>
  <p:transition spd="slow" advTm="3892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18026"/>
      </p:ext>
    </p:extLst>
  </p:cSld>
  <p:clrMapOvr>
    <a:masterClrMapping/>
  </p:clrMapOvr>
  <p:transition spd="slow" advTm="3892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18164"/>
      </p:ext>
    </p:extLst>
  </p:cSld>
  <p:clrMapOvr>
    <a:masterClrMapping/>
  </p:clrMapOvr>
  <p:transition spd="slow" advTm="3892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9798886"/>
      </p:ext>
    </p:extLst>
  </p:cSld>
  <p:clrMapOvr>
    <a:masterClrMapping/>
  </p:clrMapOvr>
  <p:transition spd="slow" advTm="3892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10140"/>
      </p:ext>
    </p:extLst>
  </p:cSld>
  <p:clrMapOvr>
    <a:masterClrMapping/>
  </p:clrMapOvr>
  <p:transition spd="slow" advTm="3892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578559"/>
      </p:ext>
    </p:extLst>
  </p:cSld>
  <p:clrMapOvr>
    <a:masterClrMapping/>
  </p:clrMapOvr>
  <p:transition spd="slow" advTm="3892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36841"/>
      </p:ext>
    </p:extLst>
  </p:cSld>
  <p:clrMapOvr>
    <a:masterClrMapping/>
  </p:clrMapOvr>
  <p:transition spd="slow" advTm="3892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10752"/>
      </p:ext>
    </p:extLst>
  </p:cSld>
  <p:clrMapOvr>
    <a:masterClrMapping/>
  </p:clrMapOvr>
  <p:transition spd="slow" advTm="3892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65253"/>
      </p:ext>
    </p:extLst>
  </p:cSld>
  <p:clrMapOvr>
    <a:masterClrMapping/>
  </p:clrMapOvr>
  <p:transition spd="slow" advTm="3892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904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8854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4C05-9696-BEBD-7362-5C88FF3B6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093AE-3464-57D7-9AC8-8F6D5485A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3810A-7863-2CAE-A291-9C3FEE18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3BAD-98FC-16EF-B78A-9E15DA1F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FECF4-2B3C-EBF0-7FA7-D5A6371E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111721"/>
      </p:ext>
    </p:extLst>
  </p:cSld>
  <p:clrMapOvr>
    <a:masterClrMapping/>
  </p:clrMapOvr>
  <p:transition spd="slow" advTm="3892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C052-8807-FB2B-F760-A6C34285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0031-2C25-A794-9BCB-F84AE6BFB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A0056-6F21-78BC-CD0C-D3AE8AB8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2762E-1E65-B2E2-5A48-74889369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8A673-FC5C-5DA3-4D90-22D4C6F2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02479"/>
      </p:ext>
    </p:extLst>
  </p:cSld>
  <p:clrMapOvr>
    <a:masterClrMapping/>
  </p:clrMapOvr>
  <p:transition spd="slow" advTm="3892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A849-60EF-B006-2F22-3985ACD07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0AAD3-850E-5052-F25E-95A8A67AB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23601-2075-6ACA-DFCA-5C5BCBAB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3FB7F-AF21-00E7-279A-CA1AEFAD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AF13D-2C0E-64B5-E7A9-6BEF035F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1028"/>
      </p:ext>
    </p:extLst>
  </p:cSld>
  <p:clrMapOvr>
    <a:masterClrMapping/>
  </p:clrMapOvr>
  <p:transition spd="slow" advTm="3892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4482-9AF1-3A73-6298-00EF41CD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6968-9CB3-813E-2692-BA801CEF8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A5136-2B4D-73C2-22BD-BB455001F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5755A-30CE-7F1C-4683-F507EA77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55C21-5BF2-105C-2FEA-07E3F2B8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09443-C309-26E2-C471-5E437CE9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742191"/>
      </p:ext>
    </p:extLst>
  </p:cSld>
  <p:clrMapOvr>
    <a:masterClrMapping/>
  </p:clrMapOvr>
  <p:transition spd="slow" advTm="3892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ADD4-18F9-9597-EECE-98C21AB2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496A9-65E4-AD8D-EADC-A65B65001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FC373-4D6F-68D4-0C12-06CE51E8A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735FA-F7D6-278E-9780-8E91FDBB2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BC14D-D3FD-1773-5B62-08DF280E9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BAD2E-E2EE-ECCE-8BA9-92686782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9E8F1-D316-889F-F7FF-B3041B16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B5863-AA6C-54CA-2ED7-2827A37D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588525"/>
      </p:ext>
    </p:extLst>
  </p:cSld>
  <p:clrMapOvr>
    <a:masterClrMapping/>
  </p:clrMapOvr>
  <p:transition spd="slow" advTm="3892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DE7E-CAAE-46DC-EBA7-D376525D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FC342-6B1E-A899-0AC0-7179CBF1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CE001-2DAE-92B0-6625-1190253B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CDCE7-1FEA-AE1D-5A86-3AADEEB9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74359"/>
      </p:ext>
    </p:extLst>
  </p:cSld>
  <p:clrMapOvr>
    <a:masterClrMapping/>
  </p:clrMapOvr>
  <p:transition spd="slow" advTm="3892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038C8-D53B-A186-1A3B-68343A4D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37522-AF1A-36A1-CDBC-F6CD468A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45AA9-91CE-DAD3-1468-1B4D6990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926453"/>
      </p:ext>
    </p:extLst>
  </p:cSld>
  <p:clrMapOvr>
    <a:masterClrMapping/>
  </p:clrMapOvr>
  <p:transition spd="slow" advTm="3892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D843-EC0F-70ED-0C7F-EA16DB3A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13193-D853-04FA-7829-607C85F5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1CC16-0CEC-C434-BB6F-37998454E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E8119-876E-0597-A150-EBFEDCBF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432E6-8E71-952C-5BD2-A544097F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7DBFA-6354-65D6-057D-E4934DBD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368833"/>
      </p:ext>
    </p:extLst>
  </p:cSld>
  <p:clrMapOvr>
    <a:masterClrMapping/>
  </p:clrMapOvr>
  <p:transition spd="slow" advTm="3892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7C2D-2AC8-F729-E57E-74AFCC4C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F5E9-6925-635A-B995-13375BD1E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E4612-ECC5-387D-290F-B204253EA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29A5D-A4D7-D0A4-36C4-B6B68D32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A99D9-F393-52B2-AB41-48305F3B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16B71-A785-4927-BC42-CB3A9329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746463"/>
      </p:ext>
    </p:extLst>
  </p:cSld>
  <p:clrMapOvr>
    <a:masterClrMapping/>
  </p:clrMapOvr>
  <p:transition spd="slow" advTm="3892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A1A9-CF48-3810-4950-16842703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C0171-9295-C4A0-3C54-2231615E0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8C2C7-AD69-814F-1B16-FE4C09FF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AA943-52B4-2D49-FBA2-91C0098E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C9569-50F4-4F62-A4D4-980C227E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917255"/>
      </p:ext>
    </p:extLst>
  </p:cSld>
  <p:clrMapOvr>
    <a:masterClrMapping/>
  </p:clrMapOvr>
  <p:transition spd="slow" advTm="3892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A05D2-C145-3A7C-947C-A4F5C91E6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3354D-E4E5-A40F-5A6F-8C847C318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40079-5E12-3CB4-DF15-D1B15821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0D9D9-0089-238F-F78A-6FED727C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65DB6-AF59-30F2-25FF-1534DAFC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018698"/>
      </p:ext>
    </p:extLst>
  </p:cSld>
  <p:clrMapOvr>
    <a:masterClrMapping/>
  </p:clrMapOvr>
  <p:transition spd="slow" advTm="3892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EB2C1-3CEE-41D9-9027-001A41D0B6A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60" r:id="rId17"/>
    <p:sldLayoutId id="2147483761" r:id="rId18"/>
  </p:sldLayoutIdLst>
  <p:transition spd="slow" advTm="3892">
    <p:fade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D2985-A48A-4FCE-5D51-E8E176F2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C2E1-540F-5A5B-8259-B51FB6F86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94273-7860-81C7-8174-DE3F24445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1BDA-3A19-4C68-B388-AA927C043E3D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E18E7-D115-4B1D-1330-0731ABB73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B25B6-B513-E9E3-6780-9126B4B0C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81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ransition spd="slow" advTm="3892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31520" y="1463040"/>
            <a:ext cx="10972800" cy="2316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Introduction to PostgreSQL</a:t>
            </a:r>
          </a:p>
          <a:p>
            <a:r>
              <a:rPr lang="en-US" sz="48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&amp; SQL Basics</a:t>
            </a:r>
          </a:p>
        </p:txBody>
      </p:sp>
    </p:spTree>
    <p:extLst>
      <p:ext uri="{BB962C8B-B14F-4D97-AF65-F5344CB8AC3E}">
        <p14:creationId xmlns:p14="http://schemas.microsoft.com/office/powerpoint/2010/main" val="410133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828800"/>
            <a:ext cx="11216640" cy="1706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Section 1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79520"/>
            <a:ext cx="1036320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Database &amp; Why We Use It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5974080"/>
            <a:ext cx="112166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— Introduction to PostgreSQL &amp; SQL Basics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0033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Database?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036320"/>
            <a:ext cx="11094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an organized collection of structured data stored electronically, designed for efficient access, management, and updating.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6720" y="2011680"/>
            <a:ext cx="3657600" cy="426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6720" y="2011680"/>
            <a:ext cx="3657600" cy="670560"/>
          </a:xfrm>
          <a:prstGeom prst="rect">
            <a:avLst/>
          </a:prstGeom>
          <a:solidFill>
            <a:srgbClr val="1A2744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48256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Store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600" y="28041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large amounts of information in an organized way — text, numbers, images, files.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50080" y="2011680"/>
            <a:ext cx="3657600" cy="426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50080" y="2011680"/>
            <a:ext cx="3657600" cy="670560"/>
          </a:xfrm>
          <a:prstGeom prst="rect">
            <a:avLst/>
          </a:prstGeom>
          <a:solidFill>
            <a:srgbClr val="1A2744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2048256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Retrieve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32960" y="28041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find specific data using queries — even across millions of records instantly.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473440" y="2011680"/>
            <a:ext cx="3657600" cy="426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73440" y="2011680"/>
            <a:ext cx="3657600" cy="670560"/>
          </a:xfrm>
          <a:prstGeom prst="rect">
            <a:avLst/>
          </a:prstGeom>
          <a:solidFill>
            <a:srgbClr val="1A2744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95360" y="2048256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Protect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56320" y="28041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who can read, edit, or delete data with roles, permissions, and backups.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77968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of a Database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5608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36320"/>
            <a:ext cx="85344" cy="164592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1158240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Data Organization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5216" y="162153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in structured formats — tables, rows, and columns — making it easy to find and manage.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5608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85344" cy="164592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" y="3048000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 Access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5216" y="351129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and query optimizers allow retrieval of millions of records in milliseconds.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4815840"/>
            <a:ext cx="5608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4815840"/>
            <a:ext cx="85344" cy="164592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4937760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&amp; Access Control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5216" y="540105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 ensure only authorized users can view or modify sensitive data.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39840" y="1036320"/>
            <a:ext cx="5608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39840" y="1036320"/>
            <a:ext cx="85344" cy="164592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59296" y="1158240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Data Integrity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59296" y="162153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(PRIMARY KEY, NOT NULL, UNIQUE) prevent invalid or duplicate data from being stored.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39840" y="2926080"/>
            <a:ext cx="5608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39840" y="2926080"/>
            <a:ext cx="85344" cy="164592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59296" y="3048000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Concurrency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59296" y="351129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can read/write simultaneously without data corruption — handled by transactions.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39840" y="4815840"/>
            <a:ext cx="5608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39840" y="4815840"/>
            <a:ext cx="85344" cy="164592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59296" y="4937760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Backup &amp; Recovery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59296" y="540105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support point-in-time recovery, replication, and automatic backups to prevent data loss.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35935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for Storing Data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36320"/>
            <a:ext cx="3657600" cy="609600"/>
          </a:xfrm>
          <a:prstGeom prst="rect">
            <a:avLst/>
          </a:prstGeom>
          <a:solidFill>
            <a:srgbClr val="F59E0B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3296" y="112166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Flat Files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7680" y="1767840"/>
            <a:ext cx="341376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TXT files. Simple but no relationships, no indexing, hard to query large volumes.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06240" y="103632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0" y="1036320"/>
            <a:ext cx="3657600" cy="609600"/>
          </a:xfrm>
          <a:prstGeom prst="rect">
            <a:avLst/>
          </a:prstGeom>
          <a:solidFill>
            <a:srgbClr val="10B981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03776" y="112166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Spreadsheets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28160" y="1767840"/>
            <a:ext cx="341376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Excel/Google Sheets. Good for small datasets but not scalable for applications.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03632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0" y="1036320"/>
            <a:ext cx="3657600" cy="60960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44256" y="112166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Relational DB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68640" y="1767840"/>
            <a:ext cx="341376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PostgreSQL. Tables with relationships, SQL queries, ACID transactions.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3657600" cy="609600"/>
          </a:xfrm>
          <a:prstGeom prst="rect">
            <a:avLst/>
          </a:prstGeom>
          <a:solidFill>
            <a:srgbClr val="8B5CF6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3296" y="392582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NoSQL DB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7680" y="4572000"/>
            <a:ext cx="341376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MongoDB, Redis. Document, key-value, graph stores — flexible schema, high scale.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06240" y="38404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06240" y="3840480"/>
            <a:ext cx="3657600" cy="609600"/>
          </a:xfrm>
          <a:prstGeom prst="rect">
            <a:avLst/>
          </a:prstGeom>
          <a:solidFill>
            <a:srgbClr val="EF4444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03776" y="392582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Storage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28160" y="4572000"/>
            <a:ext cx="341376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GCS. Object storage for files, images, videos — not for structured queries.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46720" y="38404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3840480"/>
            <a:ext cx="3657600" cy="609600"/>
          </a:xfrm>
          <a:prstGeom prst="rect">
            <a:avLst/>
          </a:prstGeom>
          <a:solidFill>
            <a:srgbClr val="0096C7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44256" y="392582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In-Memory DB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68640" y="4572000"/>
            <a:ext cx="341376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Redis, Memcached. Extremely fast (RAM-based) — great for caching, sessions.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2450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in Real Life — Real Examples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560832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36320"/>
            <a:ext cx="85344" cy="176784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1158240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Amazon / Shopify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5216" y="1645920"/>
            <a:ext cx="51206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catalog, orders, inventory, customer accounts, payments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8880" y="1036320"/>
            <a:ext cx="560832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78880" y="1036320"/>
            <a:ext cx="85344" cy="176784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8336" y="1158240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Netflix / YouTube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8336" y="1645920"/>
            <a:ext cx="51206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profiles, watch history, recommendations, video metadata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560832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85344" cy="176784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3084576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Banks / PayPal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5216" y="3572256"/>
            <a:ext cx="51206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balances, transactions, fraud detection, audit logs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78880" y="2962656"/>
            <a:ext cx="560832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78880" y="2962656"/>
            <a:ext cx="85344" cy="176784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8336" y="3084576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Hospitals / EMR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8336" y="3572256"/>
            <a:ext cx="51206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prescriptions, lab results, appointments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4888992"/>
            <a:ext cx="560832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888992"/>
            <a:ext cx="85344" cy="176784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" y="5010912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 / Telegram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85216" y="5498592"/>
            <a:ext cx="51206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Messages, contacts, group memberships, delivery receipts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78880" y="4888992"/>
            <a:ext cx="560832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78880" y="4888992"/>
            <a:ext cx="85344" cy="1767840"/>
          </a:xfrm>
          <a:prstGeom prst="rect">
            <a:avLst/>
          </a:prstGeom>
          <a:solidFill>
            <a:srgbClr val="00B4D8"/>
          </a:solidFill>
          <a:ln/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8336" y="5010912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Airlines / Booking.com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98336" y="5498592"/>
            <a:ext cx="51206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schedules, seat reservations, passenger manifests, pricing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648990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828800"/>
            <a:ext cx="11216640" cy="1706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300" b="1" dirty="0">
                <a:solidFill>
                  <a:schemeClr val="tx2">
                    <a:lumMod val="75000"/>
                  </a:schemeClr>
                </a:solidFill>
              </a:rPr>
              <a:t>Section 2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79520"/>
            <a:ext cx="1036320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1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Management System (DBMS)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5974080"/>
            <a:ext cx="112166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— Introduction to PostgreSQL &amp; SQL Basics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4408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DBMS? — Definition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11460480" cy="1280160"/>
          </a:xfrm>
          <a:prstGeom prst="rect">
            <a:avLst/>
          </a:prstGeom>
          <a:solidFill>
            <a:srgbClr val="1A2744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600" y="1072896"/>
            <a:ext cx="10972800" cy="1036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900" i="1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Database Management System (DBMS) is software that enables users and applications to define, create, maintain, and control access to a database.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09600" y="2499360"/>
            <a:ext cx="10972800" cy="1097280"/>
          </a:xfrm>
          <a:prstGeom prst="rect">
            <a:avLst/>
          </a:prstGeom>
          <a:solidFill>
            <a:srgbClr val="8B5CF6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3440" y="2548128"/>
            <a:ext cx="48768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Application 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0" y="2596896"/>
            <a:ext cx="585216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app, website, or script sends SQL queries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30240" y="3657600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3840480"/>
            <a:ext cx="10972800" cy="1097280"/>
          </a:xfrm>
          <a:prstGeom prst="rect">
            <a:avLst/>
          </a:prstGeom>
          <a:solidFill>
            <a:srgbClr val="00B4D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3440" y="3889248"/>
            <a:ext cx="48768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DBMS Engine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0" y="3938016"/>
            <a:ext cx="585216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Parses queries, optimizes execution plans, enforces rules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30240" y="4998720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5181600"/>
            <a:ext cx="10972800" cy="1097280"/>
          </a:xfrm>
          <a:prstGeom prst="rect">
            <a:avLst/>
          </a:prstGeom>
          <a:solidFill>
            <a:srgbClr val="0096C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3440" y="5230368"/>
            <a:ext cx="48768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Storage Layer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0" y="5279136"/>
            <a:ext cx="585216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files, indexes, logs stored on disk or SSD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07173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is a DBMS Important?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3596640" cy="2621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1182624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dirty="0">
                <a:solidFill>
                  <a:srgbClr val="000000"/>
                </a:solidFill>
              </a:rPr>
              <a:t>🔒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12064" y="1865376"/>
            <a:ext cx="32918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Security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2064" y="2316480"/>
            <a:ext cx="329184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Controls who can see, edit, or delete data. Passwords, roles, and audit logs are built 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06240" y="1036320"/>
            <a:ext cx="3596640" cy="2621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28160" y="1182624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dirty="0">
                <a:solidFill>
                  <a:srgbClr val="000000"/>
                </a:solidFill>
              </a:rPr>
              <a:t>🔄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352544" y="1865376"/>
            <a:ext cx="32918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Consistency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52544" y="2316480"/>
            <a:ext cx="329184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 ensure all-or-nothing operations. A bank transfer either fully completes or fully rolls back.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036320"/>
            <a:ext cx="3596640" cy="2621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68640" y="1182624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dirty="0">
                <a:solidFill>
                  <a:srgbClr val="000000"/>
                </a:solidFill>
              </a:rPr>
              <a:t>⚡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8193024" y="1865376"/>
            <a:ext cx="32918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93024" y="2316480"/>
            <a:ext cx="329184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optimizers, indexes, and caching let you query billions of rows in seconds.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901440"/>
            <a:ext cx="3596640" cy="2621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680" y="4047744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dirty="0">
                <a:solidFill>
                  <a:srgbClr val="000000"/>
                </a:solidFill>
              </a:rPr>
              <a:t>👥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512064" y="4730496"/>
            <a:ext cx="32918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Multi-User Access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2064" y="5181600"/>
            <a:ext cx="329184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Thousands of users can query simultaneously without overwriting each other's data.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06240" y="3901440"/>
            <a:ext cx="3596640" cy="2621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28160" y="4047744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dirty="0">
                <a:solidFill>
                  <a:srgbClr val="000000"/>
                </a:solidFill>
              </a:rPr>
              <a:t>💾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4352544" y="4730496"/>
            <a:ext cx="32918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&amp; Recovery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352544" y="5181600"/>
            <a:ext cx="329184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backups, WAL logs, and point-in-time recovery protect against disasters.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46720" y="3901440"/>
            <a:ext cx="3596640" cy="2621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68640" y="4047744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dirty="0">
                <a:solidFill>
                  <a:srgbClr val="000000"/>
                </a:solidFill>
              </a:rPr>
              <a:t>📊</a:t>
            </a:r>
            <a:endParaRPr lang="en-US" sz="2900" dirty="0"/>
          </a:p>
        </p:txBody>
      </p:sp>
      <p:sp>
        <p:nvSpPr>
          <p:cNvPr id="27" name="Text 25"/>
          <p:cNvSpPr/>
          <p:nvPr/>
        </p:nvSpPr>
        <p:spPr>
          <a:xfrm>
            <a:off x="8193024" y="4730496"/>
            <a:ext cx="32918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Independence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193024" y="5181600"/>
            <a:ext cx="329184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code doesn't need to know how data is physically stored or organized on disk.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36319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Popular DBMS Software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268224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36320"/>
            <a:ext cx="2682240" cy="54864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097280"/>
            <a:ext cx="256032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296" y="1670304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(Open Source)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3296" y="2133600"/>
            <a:ext cx="2438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features, ACID, extensions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55264" y="1036320"/>
            <a:ext cx="268224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55264" y="1036320"/>
            <a:ext cx="2682240" cy="548640"/>
          </a:xfrm>
          <a:prstGeom prst="rect">
            <a:avLst/>
          </a:prstGeom>
          <a:solidFill>
            <a:srgbClr val="0096C7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8416" y="1097280"/>
            <a:ext cx="256032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2800" y="1670304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96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(Open Source)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2800" y="2133600"/>
            <a:ext cx="2438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Fast, widely used in web apps (LAMP stack)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44768" y="1036320"/>
            <a:ext cx="268224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1036320"/>
            <a:ext cx="2682240" cy="548640"/>
          </a:xfrm>
          <a:prstGeom prst="rect">
            <a:avLst/>
          </a:prstGeom>
          <a:solidFill>
            <a:srgbClr val="8B5CF6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097280"/>
            <a:ext cx="256032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2304" y="1670304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(Microsoft)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42304" y="2133600"/>
            <a:ext cx="2438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Enterprise, deep .NET &amp; Azure integration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34272" y="1036320"/>
            <a:ext cx="268224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34272" y="1036320"/>
            <a:ext cx="2682240" cy="548640"/>
          </a:xfrm>
          <a:prstGeom prst="rect">
            <a:avLst/>
          </a:prstGeom>
          <a:solidFill>
            <a:srgbClr val="F59E0B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07424" y="1097280"/>
            <a:ext cx="256032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Oracle DB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31808" y="1670304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(Commercial)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31808" y="2133600"/>
            <a:ext cx="2438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giant — banking, ERP, very expensive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962400"/>
            <a:ext cx="268224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962400"/>
            <a:ext cx="2682240" cy="548640"/>
          </a:xfrm>
          <a:prstGeom prst="rect">
            <a:avLst/>
          </a:prstGeom>
          <a:solidFill>
            <a:srgbClr val="10B981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8912" y="4023360"/>
            <a:ext cx="256032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3296" y="4596384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 (NoSQL)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3296" y="5059680"/>
            <a:ext cx="2438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JSON-like documents, flexible schema, Node.js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55264" y="3962400"/>
            <a:ext cx="268224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55264" y="3962400"/>
            <a:ext cx="2682240" cy="548640"/>
          </a:xfrm>
          <a:prstGeom prst="rect">
            <a:avLst/>
          </a:prstGeom>
          <a:solidFill>
            <a:srgbClr val="EF44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28416" y="4023360"/>
            <a:ext cx="256032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52800" y="4596384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Key-Value (In-Memory)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52800" y="5059680"/>
            <a:ext cx="2438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Sub-millisecond speed — caching, sessions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44768" y="3962400"/>
            <a:ext cx="268224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44768" y="3962400"/>
            <a:ext cx="2682240" cy="548640"/>
          </a:xfrm>
          <a:prstGeom prst="rect">
            <a:avLst/>
          </a:prstGeom>
          <a:solidFill>
            <a:srgbClr val="64748B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17920" y="4023360"/>
            <a:ext cx="256032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42304" y="4596384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Embedded Relational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42304" y="5059680"/>
            <a:ext cx="2438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Zero-config, used in mobile apps &amp; browsers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034272" y="3962400"/>
            <a:ext cx="268224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034272" y="3962400"/>
            <a:ext cx="2682240" cy="548640"/>
          </a:xfrm>
          <a:prstGeom prst="rect">
            <a:avLst/>
          </a:prstGeom>
          <a:solidFill>
            <a:srgbClr val="7C3AED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07424" y="4023360"/>
            <a:ext cx="256032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Cassandra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1808" y="4596384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Wide-Column (NoSQL)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31808" y="5059680"/>
            <a:ext cx="2438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Massive scale, high availability — Facebook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36674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828800"/>
            <a:ext cx="11216640" cy="1706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300" b="1" dirty="0">
                <a:solidFill>
                  <a:schemeClr val="tx2">
                    <a:lumMod val="75000"/>
                  </a:schemeClr>
                </a:solidFill>
              </a:rPr>
              <a:t>Section 3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79520"/>
            <a:ext cx="10363200" cy="975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Types of Databases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5974080"/>
            <a:ext cx="112166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— Introduction to PostgreSQL &amp; SQL Basics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94599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Types of Databases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41376" y="1036320"/>
            <a:ext cx="365760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1376" y="1036320"/>
            <a:ext cx="3657600" cy="585216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10947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(SQL)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3296" y="1719072"/>
            <a:ext cx="341376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PostgreSQL, MySQL, SQLite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3296" y="2084832"/>
            <a:ext cx="341376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 tables with rows &amp; columns. Use SQL to query. Best for structured, consistent data.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18432" y="1036320"/>
            <a:ext cx="365760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18432" y="1036320"/>
            <a:ext cx="3657600" cy="585216"/>
          </a:xfrm>
          <a:prstGeom prst="rect">
            <a:avLst/>
          </a:prstGeom>
          <a:solidFill>
            <a:srgbClr val="10B981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15968" y="110947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40352" y="1719072"/>
            <a:ext cx="341376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MongoDB, CouchDB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0352" y="2084832"/>
            <a:ext cx="341376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JSON-like documents. Flexible schema — each document can have different fields.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95488" y="1036320"/>
            <a:ext cx="365760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95488" y="1036320"/>
            <a:ext cx="3657600" cy="585216"/>
          </a:xfrm>
          <a:prstGeom prst="rect">
            <a:avLst/>
          </a:prstGeom>
          <a:solidFill>
            <a:srgbClr val="F59E0B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93024" y="110947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Key-Value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17408" y="1719072"/>
            <a:ext cx="341376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Redis, DynamoDB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17408" y="2084832"/>
            <a:ext cx="341376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Simplest model — key maps to a value. Lightning fast — great for caching &amp; sessions.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1376" y="3938016"/>
            <a:ext cx="365760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1376" y="3938016"/>
            <a:ext cx="3657600" cy="585216"/>
          </a:xfrm>
          <a:prstGeom prst="rect">
            <a:avLst/>
          </a:prstGeom>
          <a:solidFill>
            <a:srgbClr val="8B5CF6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401116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Wide-Column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3296" y="4620768"/>
            <a:ext cx="341376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Cassandra, HBase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3296" y="4986528"/>
            <a:ext cx="341376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 with dynamic columns. Used for analytics and massive write-heavy workloads.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218432" y="3938016"/>
            <a:ext cx="365760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18432" y="3938016"/>
            <a:ext cx="3657600" cy="585216"/>
          </a:xfrm>
          <a:prstGeom prst="rect">
            <a:avLst/>
          </a:prstGeom>
          <a:solidFill>
            <a:srgbClr val="EF44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15968" y="401116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340352" y="4620768"/>
            <a:ext cx="341376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Neo4j, Amazon Neptune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40352" y="4986528"/>
            <a:ext cx="341376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Nodes and edges. Perfect for relationships — social networks, fraud detection, recommendations.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95488" y="3938016"/>
            <a:ext cx="3657600" cy="2682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95488" y="3938016"/>
            <a:ext cx="3657600" cy="585216"/>
          </a:xfrm>
          <a:prstGeom prst="rect">
            <a:avLst/>
          </a:prstGeom>
          <a:solidFill>
            <a:srgbClr val="0096C7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93024" y="401116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Time-Series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217408" y="4620768"/>
            <a:ext cx="341376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96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InfluxDB, TimescaleDB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17408" y="4986528"/>
            <a:ext cx="341376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Optimized for data with timestamps — IoT sensors, stock prices, monitoring metrics.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2767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828800"/>
            <a:ext cx="11216640" cy="1706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300" b="1" dirty="0">
                <a:solidFill>
                  <a:schemeClr val="tx2">
                    <a:lumMod val="75000"/>
                  </a:schemeClr>
                </a:solidFill>
              </a:rPr>
              <a:t>Section 4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79520"/>
            <a:ext cx="1036320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vs NoSQL — Importance &amp; Comparison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5974080"/>
            <a:ext cx="112166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— Introduction to PostgreSQL &amp; SQL Basics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7877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SQL is Important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87680" y="999744"/>
            <a:ext cx="11216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(Structured Query Language) is the universal language for working with relational databases — used by virtually every major software system.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26720" y="1828800"/>
            <a:ext cx="11338560" cy="106070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6720" y="1828800"/>
            <a:ext cx="792480" cy="1060704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6720" y="1877568"/>
            <a:ext cx="79248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65504" y="1901952"/>
            <a:ext cx="101193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Universal Standard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65504" y="2316480"/>
            <a:ext cx="1011936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 standard since 1987 — the same SQL concepts work across PostgreSQL, MySQL, Oracle, SQL Server, and more.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6720" y="3011424"/>
            <a:ext cx="11338560" cy="106070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6720" y="3011424"/>
            <a:ext cx="792480" cy="1060704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6720" y="3060192"/>
            <a:ext cx="79248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65504" y="3084576"/>
            <a:ext cx="101193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Massive Industry Adoption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65504" y="3499104"/>
            <a:ext cx="1011936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is among the top skills in data engineering, backend development, and data analysis job listings worldwide.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6720" y="4194048"/>
            <a:ext cx="11338560" cy="106070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6720" y="4194048"/>
            <a:ext cx="792480" cy="1060704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6720" y="4242816"/>
            <a:ext cx="79248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65504" y="4267200"/>
            <a:ext cx="101193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Powerful Data Retrieval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65504" y="4681728"/>
            <a:ext cx="1011936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JOINs, aggregations, window functions, and subqueries let you answer complex business questions in one statement.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6720" y="5376672"/>
            <a:ext cx="11338560" cy="106070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6720" y="5376672"/>
            <a:ext cx="792480" cy="1060704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6720" y="5425440"/>
            <a:ext cx="79248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65504" y="5449824"/>
            <a:ext cx="101193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ACID Transactions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65504" y="5864352"/>
            <a:ext cx="1011936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databases guarantee Atomicity, Consistency, Isolation, Durability — critical for financial and medical systems.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034948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NoSQL is Important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87680" y="999744"/>
            <a:ext cx="11216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NoSQL databases emerged to handle the massive scale, flexibility, and speed requirements that traditional relational databases struggled with.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26720" y="1828800"/>
            <a:ext cx="11338560" cy="106070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6720" y="1828800"/>
            <a:ext cx="792480" cy="1060704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6720" y="1877568"/>
            <a:ext cx="79248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65504" y="1901952"/>
            <a:ext cx="101193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Flexible Schema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65504" y="2316480"/>
            <a:ext cx="1011936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fixed table structure — add new fields at any time without altering the whole table. Great for agile development.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6720" y="3011424"/>
            <a:ext cx="11338560" cy="106070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6720" y="3011424"/>
            <a:ext cx="792480" cy="1060704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6720" y="3060192"/>
            <a:ext cx="79248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65504" y="3084576"/>
            <a:ext cx="101193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Horizontal Scaling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65504" y="3499104"/>
            <a:ext cx="1011936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NoSQL databases can scale across thousands of servers (sharding) — handling petabytes of data like Netflix and Twitter.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6720" y="4194048"/>
            <a:ext cx="11338560" cy="106070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6720" y="4194048"/>
            <a:ext cx="792480" cy="1060704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6720" y="4242816"/>
            <a:ext cx="79248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65504" y="4267200"/>
            <a:ext cx="101193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Write Throughput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65504" y="4681728"/>
            <a:ext cx="1011936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Cassandra and DynamoDB can handle millions of writes per second — critical for real-time logging and IoT.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6720" y="5376672"/>
            <a:ext cx="11338560" cy="106070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6720" y="5376672"/>
            <a:ext cx="792480" cy="1060704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6720" y="5425440"/>
            <a:ext cx="79248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65504" y="5449824"/>
            <a:ext cx="101193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Diverse Data Models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65504" y="5864352"/>
            <a:ext cx="1011936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Documents, graphs, key-value — choose the model that fits your data, not the other way around.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292649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vs NoSQL — Side-by-Side Comparison</a:t>
            </a:r>
            <a:endParaRPr lang="en-US" sz="2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26720" y="999744"/>
          <a:ext cx="11338560" cy="5071872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SQL (Relational)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NoSQL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Schema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 — defined in advance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Dynamic — flexible, can change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Query Language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SQL (standardized)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Varies by DB (no universal standard)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Scaling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Vertical (bigger server)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Horizontal (more servers)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Model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Tables, rows, columns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Documents, key-value, graph, etc.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ACID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 ACID guarantees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Often eventual consistency (BASE)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Best For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Financial, ERP, reporting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Big data, real-time, flexible apps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PostgreSQL, MySQL, Oracle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MongoDB, Redis, Cassandra, DynamoDB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205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828800"/>
            <a:ext cx="11216640" cy="1706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300" b="1" dirty="0">
                <a:solidFill>
                  <a:schemeClr val="tx2">
                    <a:lumMod val="75000"/>
                  </a:schemeClr>
                </a:solidFill>
              </a:rPr>
              <a:t>Section 5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79520"/>
            <a:ext cx="1036320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Database Concepts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5974080"/>
            <a:ext cx="112166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— Introduction to PostgreSQL &amp; SQL Basics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32696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Tables, Rows, Columns &amp; Keys — Core Concepts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6949440" cy="512064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6720" y="1048512"/>
            <a:ext cx="1341120" cy="414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customer_id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67840" y="1048512"/>
            <a:ext cx="1706880" cy="414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048512"/>
            <a:ext cx="2438400" cy="414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email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13120" y="1048512"/>
            <a:ext cx="1463040" cy="414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511808"/>
            <a:ext cx="694944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6720" y="1548384"/>
            <a:ext cx="1341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67840" y="1548384"/>
            <a:ext cx="170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Ahmed Ali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548384"/>
            <a:ext cx="2438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ahmed@mail.com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13120" y="1548384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Cairo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023872"/>
            <a:ext cx="6949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6720" y="2060448"/>
            <a:ext cx="1341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67840" y="2060448"/>
            <a:ext cx="170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Sara Hassan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2060448"/>
            <a:ext cx="2438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sara@mail.com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13120" y="2060448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Dubai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2535936"/>
            <a:ext cx="694944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6720" y="2572512"/>
            <a:ext cx="1341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67840" y="2572512"/>
            <a:ext cx="170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John Smith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2572512"/>
            <a:ext cx="2438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john@mail.com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13120" y="2572512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London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0" y="1645920"/>
            <a:ext cx="4511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Primary Key (unique per row)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1121664"/>
            <a:ext cx="4511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Column (field/attribute)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2170176"/>
            <a:ext cx="4511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Row / Record / Tuple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3169920"/>
            <a:ext cx="85344" cy="682752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5216" y="3194304"/>
            <a:ext cx="170688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5216" y="3535680"/>
            <a:ext cx="112166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named collection of related data organized in rows and columns (like a spreadsheet). E.g. customers, orders, products.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65760" y="4047744"/>
            <a:ext cx="85344" cy="682752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5216" y="4072128"/>
            <a:ext cx="170688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5216" y="4413504"/>
            <a:ext cx="112166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record / entry in the table. E.g. one customer. Also called a 'tuple' or 'record'.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65760" y="4925568"/>
            <a:ext cx="85344" cy="682752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5216" y="4949952"/>
            <a:ext cx="170688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5216" y="5291328"/>
            <a:ext cx="112166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attribute/field shared by all rows. E.g. 'email' column exists for every customer.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65760" y="5803392"/>
            <a:ext cx="85344" cy="682752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5216" y="5827776"/>
            <a:ext cx="170688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Key: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5216" y="6169152"/>
            <a:ext cx="112166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column (or combination) that uniquely identifies each row. Cannot be NULL or duplicate. E.g. customer_id.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64843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Foreign Keys &amp; Relationships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04800" y="999744"/>
            <a:ext cx="4998720" cy="463296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6720" y="103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04800" y="1463040"/>
            <a:ext cx="4998720" cy="463296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6720" y="149961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customer_id (PK)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48000" y="149961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800" y="1926336"/>
            <a:ext cx="499872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6720" y="196291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48000" y="19629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Ahmed Ali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4800" y="2389632"/>
            <a:ext cx="4998720" cy="46329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6720" y="242620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48000" y="24262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Sara Hassan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88480" y="999744"/>
            <a:ext cx="4998720" cy="463296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10400" y="103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888480" y="1463040"/>
            <a:ext cx="4998720" cy="463296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73824" y="149961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order_id (PK)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10016" y="1499616"/>
            <a:ext cx="1950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customer_id (FK)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85120" y="1499616"/>
            <a:ext cx="1341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88480" y="1926336"/>
            <a:ext cx="499872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73824" y="196291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10016" y="1962912"/>
            <a:ext cx="1950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85120" y="1962912"/>
            <a:ext cx="1341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$250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88480" y="2389632"/>
            <a:ext cx="4998720" cy="46329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73824" y="242620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10016" y="2426208"/>
            <a:ext cx="1950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85120" y="2426208"/>
            <a:ext cx="1341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$180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88480" y="2852928"/>
            <a:ext cx="499872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73824" y="2889504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10016" y="2889504"/>
            <a:ext cx="1950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485120" y="2889504"/>
            <a:ext cx="1341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$390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64480" y="18897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300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FK references PK 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3718560"/>
            <a:ext cx="85344" cy="79248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5216" y="3742944"/>
            <a:ext cx="304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Foreign Key (FK):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5216" y="4145280"/>
            <a:ext cx="112166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column in one table that references the Primary Key of another table, creating a relationship between tables.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65760" y="4718304"/>
            <a:ext cx="85344" cy="79248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5216" y="4742688"/>
            <a:ext cx="304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One-to-Many: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5216" y="5145024"/>
            <a:ext cx="112166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customer can have MANY orders. The FK (customer_id) in orders points to the PK in customers.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65760" y="5718048"/>
            <a:ext cx="85344" cy="79248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5216" y="5742432"/>
            <a:ext cx="304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Referential Integrity: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5216" y="6144768"/>
            <a:ext cx="112166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DBMS ensures you cannot add an order for customer_id=99 if customer 99 does not exist.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2141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828800"/>
            <a:ext cx="11216640" cy="1706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300" b="1" dirty="0">
                <a:solidFill>
                  <a:schemeClr val="tx2">
                    <a:lumMod val="75000"/>
                  </a:schemeClr>
                </a:solidFill>
              </a:rPr>
              <a:t>Section 6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79520"/>
            <a:ext cx="1036320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PostgreSQL — History, Features &amp; Advantages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5974080"/>
            <a:ext cx="112166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— Introduction to PostgreSQL &amp; SQL Basics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65431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— History &amp; Background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1219200" cy="91440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60704"/>
            <a:ext cx="12192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1986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45920" y="1036320"/>
            <a:ext cx="10119360" cy="853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0" y="1036320"/>
            <a:ext cx="73152" cy="85344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53184" y="1060704"/>
            <a:ext cx="963168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 project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53184" y="1438656"/>
            <a:ext cx="963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Started at UC Berkeley by Prof. Michael Stonebraker as a research project.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1219200" cy="914400"/>
          </a:xfrm>
          <a:prstGeom prst="rect">
            <a:avLst/>
          </a:prstGeom>
          <a:solidFill>
            <a:srgbClr val="0096C7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182368"/>
            <a:ext cx="12192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1994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645920" y="2157984"/>
            <a:ext cx="10119360" cy="853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0" y="2157984"/>
            <a:ext cx="73152" cy="853440"/>
          </a:xfrm>
          <a:prstGeom prst="rect">
            <a:avLst/>
          </a:prstGeom>
          <a:solidFill>
            <a:srgbClr val="0096C7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53184" y="2182368"/>
            <a:ext cx="963168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Added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53184" y="2560320"/>
            <a:ext cx="963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Developers added SQL interpreter — renamed to Postgres95.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243072"/>
            <a:ext cx="1219200" cy="914400"/>
          </a:xfrm>
          <a:prstGeom prst="rect">
            <a:avLst/>
          </a:prstGeom>
          <a:solidFill>
            <a:srgbClr val="10B981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304032"/>
            <a:ext cx="12192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1996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45920" y="3279648"/>
            <a:ext cx="10119360" cy="853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45920" y="3279648"/>
            <a:ext cx="73152" cy="853440"/>
          </a:xfrm>
          <a:prstGeom prst="rect">
            <a:avLst/>
          </a:prstGeom>
          <a:solidFill>
            <a:srgbClr val="10B981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53184" y="3304032"/>
            <a:ext cx="963168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Born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853184" y="3681984"/>
            <a:ext cx="963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changed to PostgreSQL. First open-source public release.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" y="4364736"/>
            <a:ext cx="1219200" cy="914400"/>
          </a:xfrm>
          <a:prstGeom prst="rect">
            <a:avLst/>
          </a:prstGeom>
          <a:solidFill>
            <a:srgbClr val="F59E0B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425696"/>
            <a:ext cx="12192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2010s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645920" y="4401312"/>
            <a:ext cx="10119360" cy="853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45920" y="4401312"/>
            <a:ext cx="73152" cy="853440"/>
          </a:xfrm>
          <a:prstGeom prst="rect">
            <a:avLst/>
          </a:prstGeom>
          <a:solidFill>
            <a:srgbClr val="F59E0B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53184" y="4425696"/>
            <a:ext cx="963168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Rise to Prominence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853184" y="4803648"/>
            <a:ext cx="963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support, extensions, logical replication — became enterprise-grade.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5760" y="5486400"/>
            <a:ext cx="1219200" cy="914400"/>
          </a:xfrm>
          <a:prstGeom prst="rect">
            <a:avLst/>
          </a:prstGeom>
          <a:solidFill>
            <a:srgbClr val="8B5CF6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5547360"/>
            <a:ext cx="12192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645920" y="5522976"/>
            <a:ext cx="10119360" cy="853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645920" y="5522976"/>
            <a:ext cx="73152" cy="853440"/>
          </a:xfrm>
          <a:prstGeom prst="rect">
            <a:avLst/>
          </a:prstGeom>
          <a:solidFill>
            <a:srgbClr val="8B5CF6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53184" y="5547360"/>
            <a:ext cx="963168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17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853184" y="5925312"/>
            <a:ext cx="963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Latest major version with incremental backup, performance improvements, new SQL features.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99293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— Key Features &amp; Advantages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5608320" cy="1341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99744"/>
            <a:ext cx="73152" cy="134112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0832" y="10972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 ACID Compliant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0832" y="1536192"/>
            <a:ext cx="5242560" cy="682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transactional safety — Atomicity, Consistency, Isolation, Durability guaranteed on every write.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8880" y="999744"/>
            <a:ext cx="5608320" cy="1341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78880" y="999744"/>
            <a:ext cx="73152" cy="134112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3952" y="10972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 Rich Data Types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73952" y="1536192"/>
            <a:ext cx="5242560" cy="682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INTEGER, TEXT, JSONB, ARRAY, UUID, HSTORE, geometric types, custom types — far beyond standard SQL.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462784"/>
            <a:ext cx="5608320" cy="1341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462784"/>
            <a:ext cx="73152" cy="134112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0832" y="2560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🔌  Extensible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0832" y="2999232"/>
            <a:ext cx="5242560" cy="682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PostGIS (geospatial), pgvector (AI embeddings), TimescaleDB (time-series) — PostgreSQL is a platform.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78880" y="2462784"/>
            <a:ext cx="5608320" cy="1341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78880" y="2462784"/>
            <a:ext cx="73152" cy="134112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73952" y="2560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 Advanced Indexing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73952" y="2999232"/>
            <a:ext cx="5242560" cy="682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B-Tree, GiST, GIN, BRIN, partial indexes, expression indexes — highly tunable performance.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925824"/>
            <a:ext cx="5608320" cy="1341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925824"/>
            <a:ext cx="73152" cy="134112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0832" y="40233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🔄  Replication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60832" y="4462272"/>
            <a:ext cx="5242560" cy="682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Built-in streaming replication, logical replication, and support for multi-master via extensions.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78880" y="3925824"/>
            <a:ext cx="5608320" cy="1341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78880" y="3925824"/>
            <a:ext cx="73152" cy="134112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73952" y="40233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📜  Full SQL Standard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73952" y="4462272"/>
            <a:ext cx="5242560" cy="682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Window functions, CTEs, recursive queries, lateral joins — one of the most standards-compliant databases.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5760" y="5388864"/>
            <a:ext cx="5608320" cy="1341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5388864"/>
            <a:ext cx="73152" cy="134112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0832" y="54864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🆓  Open Source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0832" y="5925312"/>
            <a:ext cx="5242560" cy="682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forever under the PostgreSQL License. No per-core licensing costs unlike Oracle or SQL Server.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78880" y="5388864"/>
            <a:ext cx="5608320" cy="1341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78880" y="5388864"/>
            <a:ext cx="73152" cy="134112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73952" y="54864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🌍  Community &amp; Ecosystem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473952" y="5925312"/>
            <a:ext cx="5242560" cy="682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25+ years of development, massive community, extensive documentation, AWS/Azure/GCP native support.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55426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828800"/>
            <a:ext cx="11216640" cy="1706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300" b="1" dirty="0">
                <a:solidFill>
                  <a:schemeClr val="tx2">
                    <a:lumMod val="75000"/>
                  </a:schemeClr>
                </a:solidFill>
              </a:rPr>
              <a:t>Section 7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79520"/>
            <a:ext cx="1036320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vs MySQL vs SQL Server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5974080"/>
            <a:ext cx="112166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— Introduction to PostgreSQL &amp; SQL Basics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77945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vs MySQL vs SQL Server — Comparison</a:t>
            </a:r>
            <a:endParaRPr lang="en-US" sz="2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304800" y="999744"/>
          <a:ext cx="11582400" cy="5266944"/>
        </p:xfrm>
        <a:graphic>
          <a:graphicData uri="http://schemas.openxmlformats.org/drawingml/2006/table">
            <a:tbl>
              <a:tblPr/>
              <a:tblGrid>
                <a:gridCol w="207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PostgreSQL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MySQL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SQL Server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License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Open Source (free)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Open Source / Commercial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Commercial (Microsoft)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ACID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 ACID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 ACID (InnoDB)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 ACID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JSON Support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JSONB (powerful)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Basic JSON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JSON support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Performance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Complex queries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Simple reads (fast)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Enterprise workloads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Extensions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Massive ecosystem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Limited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T-SQL extensions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Replication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Streaming + logical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Master-slave, group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Always On, AG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Best For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Complex apps, analytics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Web apps (LAMP/LEMP)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Microsoft/.NET ecosystem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Used By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Instagram, Apple, Skype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Facebook, Twitter, Airbnb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Banks, large enterprises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5295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828800"/>
            <a:ext cx="11216640" cy="1706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300" b="1" dirty="0">
                <a:solidFill>
                  <a:schemeClr val="tx2">
                    <a:lumMod val="75000"/>
                  </a:schemeClr>
                </a:solidFill>
              </a:rPr>
              <a:t>Section 8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79520"/>
            <a:ext cx="1036320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Installing PostgreSQL &amp; pgAdmin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5974080"/>
            <a:ext cx="112166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— Introduction to PostgreSQL &amp; SQL Basics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0218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0F1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⌨  Installing PostgreSQL on Windows — Step by Step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04800" y="999744"/>
            <a:ext cx="731520" cy="950976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4800" y="1072896"/>
            <a:ext cx="73152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33856" y="999744"/>
            <a:ext cx="10728960" cy="950976"/>
          </a:xfrm>
          <a:prstGeom prst="rect">
            <a:avLst/>
          </a:prstGeom>
          <a:solidFill>
            <a:srgbClr val="161B2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16736" y="1060704"/>
            <a:ext cx="1036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Download Installer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16736" y="1463040"/>
            <a:ext cx="1036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7EC8E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 to  postgresql.org/download/windows  → click 'Download the installer'  (EnterpriseDB)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800" y="2133600"/>
            <a:ext cx="731520" cy="950976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4800" y="2206752"/>
            <a:ext cx="73152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33856" y="2133600"/>
            <a:ext cx="10728960" cy="950976"/>
          </a:xfrm>
          <a:prstGeom prst="rect">
            <a:avLst/>
          </a:prstGeom>
          <a:solidFill>
            <a:srgbClr val="161B2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16736" y="2194560"/>
            <a:ext cx="1036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 the Setup Wizard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16736" y="2596896"/>
            <a:ext cx="1036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7EC8E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Choose components: PostgreSQL Server ✓  pgAdmin 4 ✓  Command Line Tools ✓  Stack Builder (optional)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4800" y="3267456"/>
            <a:ext cx="731520" cy="950976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4800" y="3340608"/>
            <a:ext cx="73152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33856" y="3267456"/>
            <a:ext cx="10728960" cy="950976"/>
          </a:xfrm>
          <a:prstGeom prst="rect">
            <a:avLst/>
          </a:prstGeom>
          <a:solidFill>
            <a:srgbClr val="161B2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16736" y="3328416"/>
            <a:ext cx="1036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 Password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16736" y="3730752"/>
            <a:ext cx="1036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7EC8E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 a password for the superuser 'postgres'. Remember this — you need it to connect!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04800" y="4401312"/>
            <a:ext cx="731520" cy="950976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4800" y="4474464"/>
            <a:ext cx="73152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33856" y="4401312"/>
            <a:ext cx="10728960" cy="950976"/>
          </a:xfrm>
          <a:prstGeom prst="rect">
            <a:avLst/>
          </a:prstGeom>
          <a:solidFill>
            <a:srgbClr val="161B2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16736" y="4462272"/>
            <a:ext cx="1036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 Port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16736" y="4864608"/>
            <a:ext cx="1036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7EC8E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Default port is 5432. Keep it unless you have a conflict. Click Next → Next → Finish.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04800" y="5535168"/>
            <a:ext cx="731520" cy="950976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4800" y="5608320"/>
            <a:ext cx="73152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133856" y="5535168"/>
            <a:ext cx="10728960" cy="950976"/>
          </a:xfrm>
          <a:prstGeom prst="rect">
            <a:avLst/>
          </a:prstGeom>
          <a:solidFill>
            <a:srgbClr val="161B2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16736" y="5596128"/>
            <a:ext cx="1036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Verify Installation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316736" y="5998464"/>
            <a:ext cx="1036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7EC8E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 Command Prompt:  psql -U postgres -c "SELECT version();"  → should show PostgreSQL version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22049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0F1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⌨  Installing PostgreSQL on macOS — Step by Step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6720" y="999744"/>
            <a:ext cx="11338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Method 1: Using Homebrew (Recommended)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487424"/>
            <a:ext cx="5608320" cy="426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09344"/>
            <a:ext cx="5303520" cy="4023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Install Homebrew if not installed: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/bin/bash -c "$(curl -fsSL https://raw.githubusercontent.com/Homebrew/install/HEAD/install.sh)"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Install PostgreSQL: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brew install postgresql@16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Start PostgreSQL service: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brew services start postgresql@16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Connect to verify: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psql postgres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999744"/>
            <a:ext cx="57302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Method 2: Postgres.app (GUI way)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17920" y="1487424"/>
            <a:ext cx="5608320" cy="426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609344"/>
            <a:ext cx="5303520" cy="4023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Go to  postgresapp.com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Download Postgres.app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 Move to /Applications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 Open app → click Initialize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 Click on a database to open psql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 Add to PATH (shown in app):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export PATH=$PATH:/Applications/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Postgres.app/Contents/Versions/</a:t>
            </a:r>
            <a:endParaRPr lang="en-US" sz="1500" dirty="0"/>
          </a:p>
          <a:p>
            <a:r>
              <a:rPr lang="en-US" sz="15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latest/bin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1528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pgAdmin 4 as a GUI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41376" y="999744"/>
            <a:ext cx="3657600" cy="1584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1376" y="999744"/>
            <a:ext cx="3657600" cy="51206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3296" y="1036320"/>
            <a:ext cx="34137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Panel (Left)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296" y="1584960"/>
            <a:ext cx="3413760" cy="926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Tree view of Servers → Databases → Schemas → Tables. Expand to explore everything visually.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42816" y="999744"/>
            <a:ext cx="3657600" cy="1584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42816" y="999744"/>
            <a:ext cx="3657600" cy="512064"/>
          </a:xfrm>
          <a:prstGeom prst="rect">
            <a:avLst/>
          </a:prstGeom>
          <a:solidFill>
            <a:srgbClr val="10B981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64736" y="1036320"/>
            <a:ext cx="34137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Tool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64736" y="1584960"/>
            <a:ext cx="3413760" cy="926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with: right-click Database → Query Tool. Write SQL, execute with F5, see results below.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44256" y="999744"/>
            <a:ext cx="3657600" cy="1584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44256" y="999744"/>
            <a:ext cx="3657600" cy="512064"/>
          </a:xfrm>
          <a:prstGeom prst="rect">
            <a:avLst/>
          </a:prstGeom>
          <a:solidFill>
            <a:srgbClr val="F59E0B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66176" y="1036320"/>
            <a:ext cx="34137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66176" y="1584960"/>
            <a:ext cx="3413760" cy="926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Server-level metrics: active connections, TPS, disk I/O, locks. Great for monitoring performance.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6720" y="2779776"/>
            <a:ext cx="11338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to Connect a Server in pgAdmin 4: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65760" y="3267456"/>
            <a:ext cx="11460480" cy="3322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9600" y="3389376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Open pgAdmin 4  →  click  Add New Server  (or right-click Servers → Register → Server)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3998976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General Tab:  Name = </a:t>
            </a:r>
            <a:r>
              <a:rPr lang="en-US" sz="1600" dirty="0" err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MyLocalServer</a:t>
            </a:r>
            <a:r>
              <a:rPr lang="en-US" sz="16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(any name you choose)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608576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Connection Tab:  Host = localhost  |  Port = 5432  |  Username = postgres  |  Password = (your password)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5218176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Click  Save  →  expand the server in the browser tree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827776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Right-click a server → Create → Database Name=</a:t>
            </a:r>
            <a:r>
              <a:rPr lang="en-US" sz="1600" dirty="0" err="1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MyLocalDB</a:t>
            </a:r>
            <a:r>
              <a:rPr lang="en-US" sz="16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(any name you choose)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655497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0F1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⌨  Connecting via psql Command 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6720" y="999744"/>
            <a:ext cx="113385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Basic Syntax: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438656"/>
            <a:ext cx="11460480" cy="670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60576"/>
            <a:ext cx="1109472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psql -U &lt;username&gt; -d &lt;database_name&gt; -h &lt;host&gt; -p &lt;port&gt;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6720" y="2255520"/>
            <a:ext cx="113385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Common Connection Examples: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65760" y="2779776"/>
            <a:ext cx="11460480" cy="877824"/>
          </a:xfrm>
          <a:prstGeom prst="rect">
            <a:avLst/>
          </a:prstGeom>
          <a:solidFill>
            <a:srgbClr val="161B2E"/>
          </a:solidFill>
          <a:ln w="635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9600" y="2828544"/>
            <a:ext cx="10972800" cy="316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B72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Connect as postgres (default)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600" y="3169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psql -U postgres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755136"/>
            <a:ext cx="11460480" cy="877824"/>
          </a:xfrm>
          <a:prstGeom prst="rect">
            <a:avLst/>
          </a:prstGeom>
          <a:solidFill>
            <a:srgbClr val="161B2E"/>
          </a:solidFill>
          <a:ln w="635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600" y="3803904"/>
            <a:ext cx="10972800" cy="316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B72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Connect to specific database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4145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psql -U postgres -d myapp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4730496"/>
            <a:ext cx="11460480" cy="877824"/>
          </a:xfrm>
          <a:prstGeom prst="rect">
            <a:avLst/>
          </a:prstGeom>
          <a:solidFill>
            <a:srgbClr val="161B2E"/>
          </a:solidFill>
          <a:ln w="635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600" y="4779264"/>
            <a:ext cx="10972800" cy="316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B72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Connect to remote server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5120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psql -U admin -d production -h 10.0.0.5 -p 5432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5705856"/>
            <a:ext cx="11460480" cy="877824"/>
          </a:xfrm>
          <a:prstGeom prst="rect">
            <a:avLst/>
          </a:prstGeom>
          <a:solidFill>
            <a:srgbClr val="161B2E"/>
          </a:solidFill>
          <a:ln w="635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9600" y="5754624"/>
            <a:ext cx="10972800" cy="316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B72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Run a single query and exit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6096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psql -U postgres -d myapp -c "SELECT COUNT(*) FROM users;"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47021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828800"/>
            <a:ext cx="11216640" cy="1706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300" b="1" dirty="0">
                <a:solidFill>
                  <a:schemeClr val="tx2">
                    <a:lumMod val="75000"/>
                  </a:schemeClr>
                </a:solidFill>
              </a:rPr>
              <a:t>Section 9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79520"/>
            <a:ext cx="1036320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Data Types in PostgreSQL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5974080"/>
            <a:ext cx="112166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— Introduction to PostgreSQL &amp; SQL Basics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08010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Data Types — Complete Reference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41376" y="999744"/>
            <a:ext cx="2731008" cy="487680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36320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1376" y="1560576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633728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INTEGER / 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2023872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Whole numbers: -2B to +2B. e.g. age, count, quantity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376" y="2609088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2682240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BIGINT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3072384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whole numbers: ±9 quintillion. e.g. user IDs at scale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1376" y="3657600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3730752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SERIAL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" y="4120896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Auto-incrementing integer. Shorthand for sequence + NOT NULL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1376" y="4706112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4779264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NUMERIC(p,s)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5169408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decimal — p digits total, s after point. For money!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1376" y="5754624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5827776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FLOAT / REAL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" y="6217920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Approximate decimal. Fast but can have rounding errors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3072" y="999744"/>
            <a:ext cx="2731008" cy="487680"/>
          </a:xfrm>
          <a:prstGeom prst="rect">
            <a:avLst/>
          </a:prstGeom>
          <a:solidFill>
            <a:srgbClr val="10B981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40608" y="1036320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43072" y="1560576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40608" y="1633728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VARCHAR(n)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40608" y="2023872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text, max n characters. e.g. VARCHAR(100) for name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43072" y="2609088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40608" y="2682240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40608" y="3072384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Unlimited length text. No performance penalty vs VARCHAR in PG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43072" y="3657600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40608" y="3730752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CHAR(n)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40608" y="4120896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Fixed-length text — pads with spaces. Rarely used today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44768" y="999744"/>
            <a:ext cx="2731008" cy="487680"/>
          </a:xfrm>
          <a:prstGeom prst="rect">
            <a:avLst/>
          </a:prstGeom>
          <a:solidFill>
            <a:srgbClr val="F59E0B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42304" y="1036320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&amp; Time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44768" y="1560576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42304" y="1633728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42304" y="2023872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Calendar date: '2024-01-15'. No time component.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44768" y="2609088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42304" y="2682240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TIMESTAMP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42304" y="3072384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+ time: '2024-01-15 14:30:00'. No timezone.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44768" y="3657600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42304" y="3730752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TIMESTAMPTZ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42304" y="4120896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 WITH timezone. Stored as UTC, displayed in local TZ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046464" y="999744"/>
            <a:ext cx="2731008" cy="487680"/>
          </a:xfrm>
          <a:prstGeom prst="rect">
            <a:avLst/>
          </a:prstGeom>
          <a:solidFill>
            <a:srgbClr val="8B5CF6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144000" y="1036320"/>
            <a:ext cx="2560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46464" y="1560576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144000" y="1633728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8B5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BOOLEAN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44000" y="2023872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or FALSE (also accepts 't', 'f', '1', '0')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046464" y="2609088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144000" y="2682240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8B5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JSON / JSONB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144000" y="3072384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Semi-structured data. JSONB is binary — faster to query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046464" y="3657600"/>
            <a:ext cx="273100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144000" y="3730752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8B5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UUID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144000" y="4120896"/>
            <a:ext cx="256032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Universally unique ID: '550e8400-e29b-41d4-a716-...' 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18697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0F1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⌨  Data Types — Examples in Practice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11460480" cy="463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121664"/>
            <a:ext cx="11094720" cy="4389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Using correct data types in a real table: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employees (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emp_id      SERIAL          PRIMARY KEY,       -- auto-increment integer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full_name   VARCHAR(150)    NOT NULL,           -- max 150 chars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bio         TEXT,                               -- unlimited text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salary      NUMERIC(10, 2)  NOT NULL,           -- e.g. 85000.00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600" dirty="0" err="1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is_active</a:t>
            </a:r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BOOLEAN         DEFAULT TRUE,       -- true/false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hired_at    DATE            DEFAULT CURRENT_DATE,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last_login  TIMESTAMPTZ,                        -- with timezone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profile     JSONB                               -- flexible metadata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6720" y="5754624"/>
            <a:ext cx="113385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Correct Type Selection Tips: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6720" y="6193536"/>
            <a:ext cx="1133856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 Money amounts → NUMERIC(10,2), never FLOAT   </a:t>
            </a:r>
            <a:r>
              <a:rPr lang="en-US" sz="15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|  </a:t>
            </a:r>
            <a:r>
              <a:rPr lang="en-US" sz="15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 Auto IDs → SERIAL or BIGSERIAL   </a:t>
            </a:r>
            <a:r>
              <a:rPr lang="en-US" sz="15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|  </a:t>
            </a:r>
            <a:r>
              <a:rPr lang="en-US" sz="15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🕐  Dates with TZ → TIMESTAMPTZ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94486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828800"/>
            <a:ext cx="11216640" cy="1706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300" b="1" dirty="0">
                <a:solidFill>
                  <a:schemeClr val="tx2">
                    <a:lumMod val="75000"/>
                  </a:schemeClr>
                </a:solidFill>
              </a:rPr>
              <a:t>Section 10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79520"/>
            <a:ext cx="1036320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DDL — CREATE, ALTER, DROP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5974080"/>
            <a:ext cx="112166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— Introduction to PostgreSQL &amp; SQL Basics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80749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DDL: CREATE DATABASE &amp; CREATE TABLE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999744"/>
            <a:ext cx="11460480" cy="256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99744"/>
            <a:ext cx="2682240" cy="256032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3296" y="1182624"/>
            <a:ext cx="24993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DATABASE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30880" y="1146048"/>
            <a:ext cx="8290560" cy="1158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new, empty database. You need superuser or CREATEDB privilege to run this.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30880" y="2365248"/>
            <a:ext cx="829056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One database per project is typical. Databases are isolated namespaces.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803904"/>
            <a:ext cx="11460480" cy="256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3803904"/>
            <a:ext cx="2682240" cy="256032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3296" y="3986784"/>
            <a:ext cx="24993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30880" y="3950208"/>
            <a:ext cx="8290560" cy="1158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Defines a new table with column names, data types, and constraints. This is where your data will live.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30880" y="5169408"/>
            <a:ext cx="829056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Choose column types carefully — harder to change later at scale.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6315456"/>
            <a:ext cx="11460480" cy="26822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7680" y="6339840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the next slide for full code examples →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688667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0F1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⌨  CREATE DATABASE &amp; CREATE TABLE — Examples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999743"/>
            <a:ext cx="11460480" cy="54996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21664"/>
            <a:ext cx="11094720" cy="530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Example 1: Create a new database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DATABASE ecommerce;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Example 2: Connect to it (in psql)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\c ecommerce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Example 3: Create a simple table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products (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product_id   SERIAL          PRIMARY KEY,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name         VARCHAR(200)    NOT NULL,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price        NUMERIC(10, 2)  NOT NULL  CHECK (price &gt;= 0),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stock        INTEGER         DEFAULT 0,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created_at   TIMESTAMP       DEFAULT NOW()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Example 4: Create a related orders table  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orders (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order_id     SERIAL      PRIMARY KEY,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product_id   INTEGER     REFERENCES products(product_id),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quantity     INTEGER     NOT NULL  CHECK (quantity &gt; 0),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order_date   DATE        DEFAULT CURRENT_DATE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6720" y="6425184"/>
            <a:ext cx="11338560" cy="522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✅  Result: Two linked tables — products → orders via FOREIGN KEY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86815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0F1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⌨  ALTER TABLE — Modify Existing Tables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6720" y="999744"/>
            <a:ext cx="11338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ALTER TABLE lets you modify an existing table's structure — add columns, rename, change types, add/drop constraints.</a:t>
            </a:r>
            <a:endParaRPr lang="en-US" sz="1700" dirty="0">
              <a:solidFill>
                <a:schemeClr val="accent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682496"/>
            <a:ext cx="11460480" cy="4876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04416"/>
            <a:ext cx="11094720" cy="463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Add a new column: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ALTER TABLE products ADD COLUMN category VARCHAR(100);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Add a column with default value: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ALTER TABLE products ADD COLUMN is_active BOOLEAN DEFAULT TRUE;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Rename a column: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ALTER TABLE products RENAME COLUMN name TO product_name;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Change data type: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ALTER TABLE products ALTER COLUMN stock TYPE BIGINT;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Set a NOT NULL constraint: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ALTER TABLE products ALTER COLUMN category SET NOT NULL;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Drop a column: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ALTER TABLE products DROP COLUMN is_active;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Rename a table: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ALTER TABLE products RENAME TO items;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6720" y="6549255"/>
            <a:ext cx="113385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Be careful with ALTER on large tables in production — some changes lock the table!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80380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0F1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⌨  DROP TABLE — Delete Tables &amp; Databases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6720" y="999744"/>
            <a:ext cx="11338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permanently removes a table or database and ALL its data. There is no undo — always backup first!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682496"/>
            <a:ext cx="11460480" cy="4876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04416"/>
            <a:ext cx="11094720" cy="463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Drop a table (fails if it doesn't exist):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DROP TABLE orders;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Safe drop (no error if table doesn't exist):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DROP TABLE IF EXISTS orders;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Drop table AND all dependent tables (CASCADE):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DROP TABLE products CASCADE;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⚠️ This also drops orders table (references products)!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Drop a database: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DROP DATABASE IF EXISTS ecommerce;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⚠️ You cannot drop a database you are connected to!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Practical safe pattern before recreating: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DROP TABLE IF EXISTS orders;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DROP TABLE IF EXISTS products;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products ( ... );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orders ( ... );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6720" y="6495108"/>
            <a:ext cx="113385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 RULE: Never run DROP in production without a recent backup. Double-check table name!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14501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828800"/>
            <a:ext cx="11216640" cy="1706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300" b="1" dirty="0">
                <a:solidFill>
                  <a:schemeClr val="tx2">
                    <a:lumMod val="75000"/>
                  </a:schemeClr>
                </a:solidFill>
              </a:rPr>
              <a:t>Section 11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79520"/>
            <a:ext cx="1036320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Constraints — Primary Key, Foreign Key, NOT NULL, UNIQUE, CHECK, DEFAULT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5974080"/>
            <a:ext cx="112166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— Introduction to PostgreSQL &amp; SQL Basics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9702703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7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Constraints — Theory &amp; Purpose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26720" y="999744"/>
            <a:ext cx="11338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Constraints are rules applied to columns to enforce data integrity — they prevent invalid data from entering your database.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731264"/>
            <a:ext cx="5608320" cy="156057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731264"/>
            <a:ext cx="73152" cy="1560576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0832" y="1853184"/>
            <a:ext cx="5242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PRIMARY KEY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0832" y="2292096"/>
            <a:ext cx="524256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Uniquely identifies each row. Cannot be NULL or duplicate. One per table (can be composite).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78880" y="1731264"/>
            <a:ext cx="5608320" cy="156057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78880" y="1731264"/>
            <a:ext cx="73152" cy="1560576"/>
          </a:xfrm>
          <a:prstGeom prst="rect">
            <a:avLst/>
          </a:prstGeom>
          <a:solidFill>
            <a:srgbClr val="0096C7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3952" y="1853184"/>
            <a:ext cx="5242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96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FOREIGN KEY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73952" y="2292096"/>
            <a:ext cx="524256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Links to a PRIMARY KEY in another table. Enforces referential integrity — can't reference non-existent rows.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438144"/>
            <a:ext cx="5608320" cy="156057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438144"/>
            <a:ext cx="73152" cy="1560576"/>
          </a:xfrm>
          <a:prstGeom prst="rect">
            <a:avLst/>
          </a:prstGeom>
          <a:solidFill>
            <a:srgbClr val="10B981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0832" y="3560064"/>
            <a:ext cx="5242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NOT NULL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0832" y="3998976"/>
            <a:ext cx="524256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 must always have a value — empty (NULL) is not allowed. Use for required fields.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78880" y="3438144"/>
            <a:ext cx="5608320" cy="156057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78880" y="3438144"/>
            <a:ext cx="73152" cy="1560576"/>
          </a:xfrm>
          <a:prstGeom prst="rect">
            <a:avLst/>
          </a:prstGeom>
          <a:solidFill>
            <a:srgbClr val="F59E0B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73952" y="3560064"/>
            <a:ext cx="5242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UNIQUE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73952" y="3998976"/>
            <a:ext cx="524256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values in the column must be distinct. Unlike PRIMARY KEY, UNIQUE allows one NULL.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5145024"/>
            <a:ext cx="5608320" cy="156057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5145024"/>
            <a:ext cx="73152" cy="1560576"/>
          </a:xfrm>
          <a:prstGeom prst="rect">
            <a:avLst/>
          </a:prstGeom>
          <a:solidFill>
            <a:srgbClr val="8B5CF6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0832" y="5266944"/>
            <a:ext cx="5242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8B5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CHECK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60832" y="5705856"/>
            <a:ext cx="524256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condition that every value must satisfy. e.g. CHECK (price &gt; 0), CHECK (age BETWEEN 0 AND 150).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78880" y="5145024"/>
            <a:ext cx="5608320" cy="156057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78880" y="5145024"/>
            <a:ext cx="73152" cy="1560576"/>
          </a:xfrm>
          <a:prstGeom prst="rect">
            <a:avLst/>
          </a:prstGeom>
          <a:solidFill>
            <a:srgbClr val="EF4444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73952" y="5266944"/>
            <a:ext cx="5242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DEFAULT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73952" y="5705856"/>
            <a:ext cx="524256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automatically assigned when INSERT doesn't specify this column. e.g. DEFAULT NOW(), DEFAULT TRUE.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3961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0F1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⌨  Constraints — Full Code Examples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999745"/>
            <a:ext cx="11460480" cy="549608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21664"/>
            <a:ext cx="11094720" cy="534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users (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-- PRIMARY KEY: unique, not null, auto-increment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user_id      SERIAL          PRIMARY KEY,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-- NOT NULL: username is required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username     VARCHAR(50)     NOT NULL,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-- UNIQUE: no two users same email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email        VARCHAR(200)    NOT NULL  UNIQUE,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-- CHECK: age must be between 13 and 120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age          INTEGER         CHECK (age BETWEEN 13 AND 120),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-- DEFAULT: account is active when created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is_active    BOOLEAN         DEFAULT TRUE,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-- DEFAULT: automatically set registration time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registered   TIMESTAMPTZ     DEFAULT NOW()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6720" y="6495825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ON DELETE CASCADE: if a user is deleted, all their posts are automatically deleted too.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2570303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0F1E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85344"/>
          </a:xfrm>
          <a:prstGeom prst="rect">
            <a:avLst/>
          </a:prstGeom>
          <a:solidFill>
            <a:srgbClr val="00B4D8"/>
          </a:solidFill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6720" y="48768"/>
            <a:ext cx="11338560" cy="707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⌨  Constraints — Full Code Examples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1" y="999745"/>
            <a:ext cx="10705652" cy="308816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6720" y="1121665"/>
            <a:ext cx="11216640" cy="29662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posts (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600" dirty="0" err="1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post_id</a:t>
            </a:r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SERIAL      PRIMARY KEY,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-- FOREIGN KEY: must reference existing user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600" dirty="0" err="1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user_id</a:t>
            </a:r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INTEGER     NOT NULL  REFERENCES users(</a:t>
            </a:r>
            <a:r>
              <a:rPr lang="en-US" sz="1600" dirty="0" err="1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user_id</a:t>
            </a:r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       ON DELETE CASCADE,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title       TEXT        NOT NULL,</a:t>
            </a:r>
            <a:endParaRPr lang="en-US" sz="1600" dirty="0"/>
          </a:p>
          <a:p>
            <a:r>
              <a:rPr lang="en-US" sz="1600" dirty="0">
                <a:solidFill>
                  <a:srgbClr val="A5F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views       INTEGER     DEFAULT 0  CHECK (views &gt;= 0)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6720" y="6495825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ON DELETE CASCADE: if a user is deleted, all their posts are automatically deleted too.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87591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670560"/>
            <a:ext cx="109728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Complete! 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584960"/>
            <a:ext cx="10972800" cy="377952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400"/>
              </a:spcAft>
            </a:pPr>
            <a:r>
              <a:rPr lang="en-US" sz="17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What is a Database — types, features, real examples</a:t>
            </a:r>
            <a:endParaRPr lang="en-US" sz="1700" dirty="0">
              <a:solidFill>
                <a:schemeClr val="accent2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7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DBMS — definition, importance, popular software</a:t>
            </a:r>
            <a:endParaRPr lang="en-US" sz="1700" dirty="0">
              <a:solidFill>
                <a:schemeClr val="accent2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7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SQL vs NoSQL — when to use each</a:t>
            </a:r>
            <a:endParaRPr lang="en-US" sz="1700" dirty="0">
              <a:solidFill>
                <a:schemeClr val="accent2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7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Relational concepts — tables, rows, columns, keys</a:t>
            </a:r>
            <a:endParaRPr lang="en-US" sz="1700" dirty="0">
              <a:solidFill>
                <a:schemeClr val="accent2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7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PostgreSQL — history, features, advantages</a:t>
            </a:r>
            <a:endParaRPr lang="en-US" sz="1700" dirty="0">
              <a:solidFill>
                <a:schemeClr val="accent2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7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Installing PostgreSQL &amp; pgAdmin on Windows &amp; Mac</a:t>
            </a:r>
            <a:endParaRPr lang="en-US" sz="1700" dirty="0">
              <a:solidFill>
                <a:schemeClr val="accent2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7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Data Types — INTEGER, SERIAL, VARCHAR, TEXT, DATE, JSONB...</a:t>
            </a:r>
            <a:endParaRPr lang="en-US" sz="1700" dirty="0">
              <a:solidFill>
                <a:schemeClr val="accent2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7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DDL — CREATE, ALTER, DROP with full examples</a:t>
            </a:r>
            <a:endParaRPr lang="en-US" sz="1700" dirty="0">
              <a:solidFill>
                <a:schemeClr val="accent2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7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Constraints — PK, FK, NOT NULL, UNIQUE, CHECK, DEFAULT</a:t>
            </a:r>
            <a:endParaRPr lang="en-US" sz="17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9728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635140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735</TotalTime>
  <Words>4045</Words>
  <Application>Microsoft Office PowerPoint</Application>
  <PresentationFormat>Widescreen</PresentationFormat>
  <Paragraphs>620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Consolas</vt:lpstr>
      <vt:lpstr>Trebuchet MS</vt:lpstr>
      <vt:lpstr>Wingdings 3</vt:lpstr>
      <vt:lpstr>Facet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HTML</dc:title>
  <dc:creator>Petra</dc:creator>
  <cp:lastModifiedBy>sandy maged</cp:lastModifiedBy>
  <cp:revision>38</cp:revision>
  <dcterms:created xsi:type="dcterms:W3CDTF">2026-01-26T08:52:25Z</dcterms:created>
  <dcterms:modified xsi:type="dcterms:W3CDTF">2026-03-09T11:51:08Z</dcterms:modified>
</cp:coreProperties>
</file>