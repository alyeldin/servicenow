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>
  <p:sldMasterIdLst>
    <p:sldMasterId id="2147483648" r:id="rId1"/>
    <p:sldMasterId id="2147483666" r:id="rId2"/>
  </p:sldMasterIdLst>
  <p:notesMasterIdLst>
    <p:notesMasterId r:id="rId39"/>
  </p:notesMasterIdLst>
  <p:sldIdLst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8" r:id="rId22"/>
    <p:sldId id="289" r:id="rId23"/>
    <p:sldId id="290" r:id="rId24"/>
    <p:sldId id="305" r:id="rId25"/>
    <p:sldId id="306" r:id="rId26"/>
    <p:sldId id="307" r:id="rId27"/>
    <p:sldId id="291" r:id="rId28"/>
    <p:sldId id="292" r:id="rId29"/>
    <p:sldId id="293" r:id="rId30"/>
    <p:sldId id="294" r:id="rId31"/>
    <p:sldId id="296" r:id="rId32"/>
    <p:sldId id="297" r:id="rId33"/>
    <p:sldId id="298" r:id="rId34"/>
    <p:sldId id="299" r:id="rId35"/>
    <p:sldId id="302" r:id="rId36"/>
    <p:sldId id="303" r:id="rId37"/>
    <p:sldId id="304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0" autoAdjust="0"/>
    <p:restoredTop sz="93861" autoAdjust="0"/>
  </p:normalViewPr>
  <p:slideViewPr>
    <p:cSldViewPr snapToGrid="0" showGuides="1">
      <p:cViewPr varScale="1">
        <p:scale>
          <a:sx n="67" d="100"/>
          <a:sy n="67" d="100"/>
        </p:scale>
        <p:origin x="858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55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7E296-0428-41DA-B2FD-629865C14C9A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D3839-9FE5-42F2-BECC-1535DA6E108D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3/10/2026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EB2C1-3CEE-41D9-9027-001A41D0B6A2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71BDA-3A19-4C68-B388-AA927C043E3D}" type="datetimeFigureOut">
              <a:rPr lang="en-GB" smtClean="0"/>
              <a:t>10/03/2026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7556" y="1828800"/>
            <a:ext cx="9753600" cy="1436291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pPr algn="ctr"/>
            <a:r>
              <a:rPr lang="en-US" sz="4300" b="1" dirty="0"/>
              <a:t>Relations-Foreign Key-</a:t>
            </a:r>
            <a:br>
              <a:rPr lang="en-US" sz="4300" b="1" dirty="0"/>
            </a:br>
            <a:r>
              <a:rPr lang="en-US" sz="4300" b="1" dirty="0"/>
              <a:t>Data manipulation language (DML)</a:t>
            </a:r>
            <a:endParaRPr sz="43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65760"/>
            <a:ext cx="10972800" cy="784826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sz="4300" b="1"/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706881"/>
            <a:ext cx="10972800" cy="1764585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sz="2100" dirty="0"/>
              <a:t>• </a:t>
            </a:r>
            <a:r>
              <a:rPr lang="en-US" sz="2100" dirty="0"/>
              <a:t>Relationships </a:t>
            </a:r>
          </a:p>
          <a:p>
            <a:r>
              <a:rPr sz="2100" dirty="0"/>
              <a:t>• </a:t>
            </a:r>
            <a:r>
              <a:rPr lang="en-US" sz="2100" dirty="0"/>
              <a:t>Degree of Relationships ?</a:t>
            </a:r>
          </a:p>
          <a:p>
            <a:r>
              <a:rPr sz="2100" dirty="0"/>
              <a:t>• </a:t>
            </a:r>
            <a:r>
              <a:rPr lang="en-US" sz="2100" dirty="0"/>
              <a:t>Foreign Key Relationships in </a:t>
            </a:r>
            <a:r>
              <a:rPr lang="en-US" sz="2100" dirty="0" err="1"/>
              <a:t>PostgreSQL</a:t>
            </a:r>
            <a:endParaRPr lang="en-US" sz="2100" dirty="0"/>
          </a:p>
          <a:p>
            <a:r>
              <a:rPr sz="2100" dirty="0"/>
              <a:t>• </a:t>
            </a:r>
            <a:r>
              <a:rPr lang="en-US" sz="2100" dirty="0"/>
              <a:t>Foreign Key Constraints (CASCADE, SET NULL, RESTRICT)</a:t>
            </a:r>
          </a:p>
          <a:p>
            <a:r>
              <a:rPr sz="2100" dirty="0"/>
              <a:t>• </a:t>
            </a:r>
            <a:r>
              <a:rPr lang="en-US" sz="2100" dirty="0"/>
              <a:t>Data manipulation language (DML) (Insert-Update)(Delete-Select into next slide)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65760"/>
            <a:ext cx="10972800" cy="784826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sz="4300" b="1"/>
              <a:t>Relationship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706880"/>
            <a:ext cx="10972800" cy="1092603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sz="2100"/>
              <a:t>• It describes the association between two entities.</a:t>
            </a:r>
          </a:p>
          <a:p>
            <a:r>
              <a:rPr sz="2100"/>
              <a:t>• Example: The relationship between two entities Student and Class has many to many relationship.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65760"/>
            <a:ext cx="10972800" cy="784826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sz="4300" b="1" dirty="0"/>
              <a:t>Degree of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706880"/>
            <a:ext cx="10972800" cy="1738934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sz="2100"/>
              <a:t>There are 3 types of degrees of relationship:</a:t>
            </a:r>
          </a:p>
          <a:p>
            <a:endParaRPr sz="2100"/>
          </a:p>
          <a:p>
            <a:r>
              <a:rPr sz="2100"/>
              <a:t>• Unary relationship</a:t>
            </a:r>
          </a:p>
          <a:p>
            <a:r>
              <a:rPr sz="2100"/>
              <a:t>• Binary relationship</a:t>
            </a:r>
          </a:p>
          <a:p>
            <a:r>
              <a:rPr sz="2100"/>
              <a:t>• Ternary relationship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65760"/>
            <a:ext cx="10972800" cy="784826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sz="4300" b="1" dirty="0"/>
              <a:t>Unary Relationship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706881"/>
            <a:ext cx="10972800" cy="3406060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lang="en-US" sz="2100" b="1" dirty="0"/>
              <a:t>Definition:</a:t>
            </a:r>
            <a:br>
              <a:rPr lang="en-US" sz="2100" dirty="0"/>
            </a:br>
            <a:r>
              <a:rPr lang="en-US" sz="2100" dirty="0"/>
              <a:t>A </a:t>
            </a:r>
            <a:r>
              <a:rPr lang="en-US" sz="2100" b="1" dirty="0"/>
              <a:t>Unary Relationship</a:t>
            </a:r>
            <a:r>
              <a:rPr lang="en-US" sz="2100" dirty="0"/>
              <a:t> occurs when </a:t>
            </a:r>
            <a:r>
              <a:rPr lang="en-US" sz="2100" b="1" dirty="0"/>
              <a:t>one entity is related to another instance of the same entity type</a:t>
            </a:r>
            <a:r>
              <a:rPr lang="en-US" sz="2100" dirty="0"/>
              <a:t>.</a:t>
            </a:r>
          </a:p>
          <a:p>
            <a:r>
              <a:rPr lang="en-US" sz="2100" b="1" dirty="0"/>
              <a:t>Example:</a:t>
            </a:r>
            <a:br>
              <a:rPr lang="en-US" sz="2100" dirty="0"/>
            </a:br>
            <a:r>
              <a:rPr lang="en-US" sz="2100" dirty="0"/>
              <a:t>An </a:t>
            </a:r>
            <a:r>
              <a:rPr lang="en-US" sz="2100" b="1" dirty="0"/>
              <a:t>EMPLOYEE</a:t>
            </a:r>
            <a:r>
              <a:rPr lang="en-US" sz="2100" dirty="0"/>
              <a:t> can supervise another </a:t>
            </a:r>
            <a:r>
              <a:rPr lang="en-US" sz="2100" b="1" dirty="0"/>
              <a:t>EMPLOYEE</a:t>
            </a:r>
            <a:r>
              <a:rPr lang="en-US" sz="2100" dirty="0"/>
              <a:t>.</a:t>
            </a:r>
            <a:endParaRPr lang="ar-EG" sz="2100" dirty="0"/>
          </a:p>
          <a:p>
            <a:endParaRPr lang="en-US" sz="2100" dirty="0"/>
          </a:p>
          <a:p>
            <a:r>
              <a:rPr lang="en-US" sz="2100" dirty="0"/>
              <a:t>Example scenario:</a:t>
            </a:r>
          </a:p>
          <a:p>
            <a:r>
              <a:rPr lang="en-US" sz="2100" dirty="0"/>
              <a:t>One employee is a </a:t>
            </a:r>
            <a:r>
              <a:rPr lang="en-US" sz="2100" b="1" dirty="0"/>
              <a:t>manager</a:t>
            </a:r>
            <a:endParaRPr lang="en-US" sz="2100" dirty="0"/>
          </a:p>
          <a:p>
            <a:r>
              <a:rPr lang="en-US" sz="2100" dirty="0"/>
              <a:t>Other employees </a:t>
            </a:r>
            <a:r>
              <a:rPr lang="en-US" sz="2100" b="1" dirty="0"/>
              <a:t>report to that manager</a:t>
            </a:r>
            <a:endParaRPr lang="en-US" sz="2100" dirty="0"/>
          </a:p>
          <a:p>
            <a:r>
              <a:rPr lang="en-US" sz="2100" dirty="0"/>
              <a:t>This means the relationship happens </a:t>
            </a:r>
            <a:r>
              <a:rPr lang="en-US" sz="2100" b="1" dirty="0"/>
              <a:t>within the same table</a:t>
            </a:r>
            <a:r>
              <a:rPr lang="en-US" sz="2100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65760"/>
            <a:ext cx="10972800" cy="784826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sz="4300" b="1" dirty="0"/>
              <a:t>Unary Relationship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706880"/>
            <a:ext cx="10972800" cy="451405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endParaRPr lang="en-US" sz="21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706" y="1457756"/>
            <a:ext cx="9907495" cy="2646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65760"/>
            <a:ext cx="10972800" cy="784826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sz="4300" b="1" dirty="0"/>
              <a:t>Binary Relationship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706880"/>
            <a:ext cx="10972800" cy="1092603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sz="2100" dirty="0"/>
              <a:t>Entities of two different types related to each other.</a:t>
            </a:r>
          </a:p>
          <a:p>
            <a:endParaRPr sz="2100" dirty="0"/>
          </a:p>
          <a:p>
            <a:r>
              <a:rPr lang="en-US" sz="2100" b="1" dirty="0"/>
              <a:t>Teacher — Teaches — Subject</a:t>
            </a:r>
            <a:endParaRPr lang="en-US" sz="2100" dirty="0"/>
          </a:p>
        </p:txBody>
      </p:sp>
      <p:sp>
        <p:nvSpPr>
          <p:cNvPr id="4" name="Rectangle 3"/>
          <p:cNvSpPr/>
          <p:nvPr/>
        </p:nvSpPr>
        <p:spPr>
          <a:xfrm>
            <a:off x="609600" y="3285021"/>
            <a:ext cx="8579224" cy="2062099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/>
          <a:p>
            <a:r>
              <a:rPr lang="en-US" b="1" dirty="0"/>
              <a:t>Example</a:t>
            </a:r>
          </a:p>
          <a:p>
            <a:r>
              <a:rPr lang="en-US" dirty="0"/>
              <a:t>A </a:t>
            </a:r>
            <a:r>
              <a:rPr lang="en-US" b="1" dirty="0"/>
              <a:t>Teacher</a:t>
            </a:r>
            <a:r>
              <a:rPr lang="en-US" dirty="0"/>
              <a:t> teaches a </a:t>
            </a:r>
            <a:r>
              <a:rPr lang="en-US" b="1" dirty="0"/>
              <a:t>Subject</a:t>
            </a:r>
            <a:r>
              <a:rPr lang="en-US" dirty="0"/>
              <a:t>.</a:t>
            </a:r>
          </a:p>
          <a:p>
            <a:r>
              <a:rPr lang="en-US" dirty="0"/>
              <a:t>Entities involved:</a:t>
            </a:r>
          </a:p>
          <a:p>
            <a:r>
              <a:rPr lang="en-US" b="1" dirty="0"/>
              <a:t>Teacher</a:t>
            </a:r>
            <a:endParaRPr lang="en-US" dirty="0"/>
          </a:p>
          <a:p>
            <a:r>
              <a:rPr lang="en-US" b="1" dirty="0"/>
              <a:t>Subject</a:t>
            </a:r>
            <a:endParaRPr lang="en-US" dirty="0"/>
          </a:p>
          <a:p>
            <a:r>
              <a:rPr lang="en-US" dirty="0"/>
              <a:t>Relationship:</a:t>
            </a:r>
          </a:p>
          <a:p>
            <a:r>
              <a:rPr lang="en-US" b="1" dirty="0"/>
              <a:t>Teaches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65760"/>
            <a:ext cx="10972800" cy="784826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sz="4300" b="1" dirty="0"/>
              <a:t>Binary Relationship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284" y="1202764"/>
            <a:ext cx="10076329" cy="3246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968189" y="4771346"/>
            <a:ext cx="6096000" cy="1231102"/>
          </a:xfrm>
          <a:prstGeom prst="rect">
            <a:avLst/>
          </a:prstGeom>
        </p:spPr>
        <p:txBody>
          <a:bodyPr lIns="121917" tIns="60958" rIns="121917" bIns="60958">
            <a:spAutoFit/>
          </a:bodyPr>
          <a:lstStyle/>
          <a:p>
            <a:r>
              <a:rPr lang="en-US" b="1" dirty="0"/>
              <a:t>Explanation:</a:t>
            </a:r>
            <a:endParaRPr lang="en-US" dirty="0"/>
          </a:p>
          <a:p>
            <a:r>
              <a:rPr lang="en-US" dirty="0"/>
              <a:t>Teacher </a:t>
            </a:r>
            <a:r>
              <a:rPr lang="en-US" b="1" dirty="0"/>
              <a:t>1</a:t>
            </a:r>
            <a:r>
              <a:rPr lang="en-US" dirty="0"/>
              <a:t> teaches </a:t>
            </a:r>
            <a:r>
              <a:rPr lang="en-US" b="1" dirty="0"/>
              <a:t>Subject S101</a:t>
            </a:r>
            <a:endParaRPr lang="en-US" dirty="0"/>
          </a:p>
          <a:p>
            <a:r>
              <a:rPr lang="en-US" dirty="0"/>
              <a:t>Teacher </a:t>
            </a:r>
            <a:r>
              <a:rPr lang="en-US" b="1" dirty="0"/>
              <a:t>2</a:t>
            </a:r>
            <a:r>
              <a:rPr lang="en-US" dirty="0"/>
              <a:t> teaches </a:t>
            </a:r>
            <a:r>
              <a:rPr lang="en-US" b="1" dirty="0"/>
              <a:t>Subject S102</a:t>
            </a:r>
            <a:endParaRPr lang="en-US" dirty="0"/>
          </a:p>
          <a:p>
            <a:r>
              <a:rPr lang="en-US" dirty="0"/>
              <a:t>Teacher </a:t>
            </a:r>
            <a:r>
              <a:rPr lang="en-US" b="1" dirty="0"/>
              <a:t>1</a:t>
            </a:r>
            <a:r>
              <a:rPr lang="en-US" dirty="0"/>
              <a:t> also teaches </a:t>
            </a:r>
            <a:r>
              <a:rPr lang="en-US" b="1" dirty="0"/>
              <a:t>Subject S103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65760"/>
            <a:ext cx="10972800" cy="784826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sz="4300" b="1" dirty="0"/>
              <a:t>Ternary Relationship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706880"/>
            <a:ext cx="10972800" cy="5293753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lang="en-US" sz="2100" b="1" dirty="0"/>
              <a:t>Definition:</a:t>
            </a:r>
            <a:br>
              <a:rPr lang="en-US" sz="2100" dirty="0"/>
            </a:br>
            <a:r>
              <a:rPr lang="en-US" sz="2100" dirty="0"/>
              <a:t>A </a:t>
            </a:r>
            <a:r>
              <a:rPr lang="en-US" sz="2100" b="1" dirty="0"/>
              <a:t>Ternary Relationship</a:t>
            </a:r>
            <a:r>
              <a:rPr lang="en-US" sz="2100" dirty="0"/>
              <a:t> occurs when </a:t>
            </a:r>
            <a:r>
              <a:rPr lang="en-US" sz="2100" b="1" dirty="0"/>
              <a:t>three different entities participate in the same relationship</a:t>
            </a:r>
            <a:r>
              <a:rPr lang="en-US" sz="2100" dirty="0"/>
              <a:t>.</a:t>
            </a:r>
          </a:p>
          <a:p>
            <a:r>
              <a:rPr lang="en-US" sz="2100" dirty="0"/>
              <a:t>This means the relationship connects </a:t>
            </a:r>
            <a:r>
              <a:rPr lang="en-US" sz="2100" b="1" dirty="0"/>
              <a:t>three tables at the same time</a:t>
            </a:r>
            <a:r>
              <a:rPr lang="en-US" sz="2100" dirty="0"/>
              <a:t>.</a:t>
            </a:r>
            <a:endParaRPr lang="ar-EG" sz="2100" dirty="0"/>
          </a:p>
          <a:p>
            <a:endParaRPr lang="ar-EG" sz="2100" dirty="0"/>
          </a:p>
          <a:p>
            <a:r>
              <a:rPr lang="en-US" sz="2100" b="1" dirty="0"/>
              <a:t>Example</a:t>
            </a:r>
          </a:p>
          <a:p>
            <a:r>
              <a:rPr lang="en-US" sz="2100" dirty="0"/>
              <a:t>A </a:t>
            </a:r>
            <a:r>
              <a:rPr lang="en-US" sz="2100" b="1" dirty="0"/>
              <a:t>Teacher</a:t>
            </a:r>
            <a:r>
              <a:rPr lang="en-US" sz="2100" dirty="0"/>
              <a:t> teaches a </a:t>
            </a:r>
            <a:r>
              <a:rPr lang="en-US" sz="2100" b="1" dirty="0"/>
              <a:t>Subject</a:t>
            </a:r>
            <a:r>
              <a:rPr lang="en-US" sz="2100" dirty="0"/>
              <a:t> to a </a:t>
            </a:r>
            <a:r>
              <a:rPr lang="en-US" sz="2100" b="1" dirty="0"/>
              <a:t>Student</a:t>
            </a:r>
            <a:r>
              <a:rPr lang="en-US" sz="2100" dirty="0"/>
              <a:t>.</a:t>
            </a:r>
          </a:p>
          <a:p>
            <a:r>
              <a:rPr lang="en-US" sz="2100" dirty="0"/>
              <a:t>Example scenario:</a:t>
            </a:r>
          </a:p>
          <a:p>
            <a:r>
              <a:rPr lang="en-US" sz="2100" dirty="0"/>
              <a:t>A teacher teaches </a:t>
            </a:r>
            <a:r>
              <a:rPr lang="en-US" sz="2100" b="1" dirty="0"/>
              <a:t>Math</a:t>
            </a:r>
            <a:endParaRPr lang="en-US" sz="2100" dirty="0"/>
          </a:p>
          <a:p>
            <a:r>
              <a:rPr lang="en-US" sz="2100" dirty="0"/>
              <a:t>A specific student attends that class</a:t>
            </a:r>
          </a:p>
          <a:p>
            <a:r>
              <a:rPr lang="en-US" sz="2100" dirty="0"/>
              <a:t>So the relationship involves:</a:t>
            </a:r>
          </a:p>
          <a:p>
            <a:r>
              <a:rPr lang="en-US" sz="2100" b="1" dirty="0"/>
              <a:t>Teacher</a:t>
            </a:r>
            <a:endParaRPr lang="en-US" sz="2100" dirty="0"/>
          </a:p>
          <a:p>
            <a:r>
              <a:rPr lang="en-US" sz="2100" b="1" dirty="0"/>
              <a:t>Subject</a:t>
            </a:r>
            <a:endParaRPr lang="en-US" sz="2100" dirty="0"/>
          </a:p>
          <a:p>
            <a:r>
              <a:rPr lang="en-US" sz="2100" b="1" dirty="0"/>
              <a:t>Student</a:t>
            </a:r>
            <a:endParaRPr lang="en-US" sz="2100" dirty="0"/>
          </a:p>
          <a:p>
            <a:r>
              <a:rPr lang="en-US" sz="2100" dirty="0"/>
              <a:t>All three entities are required to describe the relationship.</a:t>
            </a:r>
          </a:p>
          <a:p>
            <a:endParaRPr lang="en-US" sz="2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65760"/>
            <a:ext cx="10972800" cy="784826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sz="4300" b="1" dirty="0"/>
              <a:t>Ternary Relationship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1" y="1275977"/>
            <a:ext cx="10985500" cy="269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609600" y="4371823"/>
            <a:ext cx="6096000" cy="954103"/>
          </a:xfrm>
          <a:prstGeom prst="rect">
            <a:avLst/>
          </a:prstGeom>
        </p:spPr>
        <p:txBody>
          <a:bodyPr lIns="121917" tIns="60958" rIns="121917" bIns="60958">
            <a:spAutoFit/>
          </a:bodyPr>
          <a:lstStyle/>
          <a:p>
            <a:r>
              <a:rPr lang="en-US" b="1" dirty="0"/>
              <a:t>Explanation:</a:t>
            </a:r>
            <a:endParaRPr lang="en-US" dirty="0"/>
          </a:p>
          <a:p>
            <a:r>
              <a:rPr lang="en-US" dirty="0"/>
              <a:t>Teacher </a:t>
            </a:r>
            <a:r>
              <a:rPr lang="en-US" b="1" dirty="0"/>
              <a:t>1</a:t>
            </a:r>
            <a:r>
              <a:rPr lang="en-US" dirty="0"/>
              <a:t> teaches </a:t>
            </a:r>
            <a:r>
              <a:rPr lang="en-US" b="1" dirty="0"/>
              <a:t>Subject 101</a:t>
            </a:r>
            <a:r>
              <a:rPr lang="en-US" dirty="0"/>
              <a:t> to </a:t>
            </a:r>
            <a:r>
              <a:rPr lang="en-US" b="1" dirty="0"/>
              <a:t>Student 201</a:t>
            </a:r>
            <a:endParaRPr lang="en-US" dirty="0"/>
          </a:p>
          <a:p>
            <a:r>
              <a:rPr lang="en-US" dirty="0"/>
              <a:t>Teacher </a:t>
            </a:r>
            <a:r>
              <a:rPr lang="en-US" b="1" dirty="0"/>
              <a:t>2</a:t>
            </a:r>
            <a:r>
              <a:rPr lang="en-US" dirty="0"/>
              <a:t> teaches </a:t>
            </a:r>
            <a:r>
              <a:rPr lang="en-US" b="1" dirty="0"/>
              <a:t>Subject 102</a:t>
            </a:r>
            <a:r>
              <a:rPr lang="en-US" dirty="0"/>
              <a:t> to </a:t>
            </a:r>
            <a:r>
              <a:rPr lang="en-US" b="1" dirty="0"/>
              <a:t>Student 202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65760"/>
            <a:ext cx="10972800" cy="784826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sz="4300" b="1" dirty="0"/>
              <a:t>Cardinality of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706880"/>
            <a:ext cx="10972800" cy="2708430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sz="2100" dirty="0"/>
              <a:t>• Cardinality of a relationship can be defined as the number of times an entity of an entity set participates in a relationship set.</a:t>
            </a:r>
          </a:p>
          <a:p>
            <a:r>
              <a:rPr sz="2100" dirty="0"/>
              <a:t>• Cardinality shows how the entities are connected to each other.</a:t>
            </a:r>
          </a:p>
          <a:p>
            <a:endParaRPr sz="2100" dirty="0"/>
          </a:p>
          <a:p>
            <a:r>
              <a:rPr sz="2100" dirty="0"/>
              <a:t>Types of cardinalities between tables are:</a:t>
            </a:r>
          </a:p>
          <a:p>
            <a:r>
              <a:rPr sz="2100" dirty="0"/>
              <a:t>  - One-to-One</a:t>
            </a:r>
          </a:p>
          <a:p>
            <a:r>
              <a:rPr sz="2100" dirty="0"/>
              <a:t>  - One-to-Many</a:t>
            </a:r>
          </a:p>
          <a:p>
            <a:r>
              <a:rPr sz="2100" dirty="0"/>
              <a:t>  - Many-to-Many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65760"/>
            <a:ext cx="10972800" cy="784826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sz="4300" b="1" dirty="0"/>
              <a:t>One-to-One Relationship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706881"/>
            <a:ext cx="10972800" cy="1107996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lang="en-US" sz="2100" dirty="0"/>
              <a:t>A </a:t>
            </a:r>
            <a:r>
              <a:rPr lang="en-US" sz="2100" b="1" dirty="0"/>
              <a:t>One-to-One (1:1) relationship</a:t>
            </a:r>
            <a:r>
              <a:rPr lang="en-US" sz="2100" dirty="0"/>
              <a:t> is a type of binary relationship where </a:t>
            </a:r>
            <a:r>
              <a:rPr lang="en-US" sz="2100" b="1" dirty="0"/>
              <a:t>each entity in one set is associated with exactly one entity in the other set</a:t>
            </a:r>
            <a:r>
              <a:rPr lang="en-US" sz="2100" dirty="0"/>
              <a:t>, and vice versa.</a:t>
            </a:r>
          </a:p>
          <a:p>
            <a:endParaRPr sz="2100" dirty="0"/>
          </a:p>
        </p:txBody>
      </p:sp>
      <p:sp>
        <p:nvSpPr>
          <p:cNvPr id="4" name="Rectangle 3"/>
          <p:cNvSpPr/>
          <p:nvPr/>
        </p:nvSpPr>
        <p:spPr>
          <a:xfrm>
            <a:off x="770965" y="3014263"/>
            <a:ext cx="6096000" cy="1508101"/>
          </a:xfrm>
          <a:prstGeom prst="rect">
            <a:avLst/>
          </a:prstGeom>
        </p:spPr>
        <p:txBody>
          <a:bodyPr lIns="121917" tIns="60958" rIns="121917" bIns="60958">
            <a:spAutoFit/>
          </a:bodyPr>
          <a:lstStyle/>
          <a:p>
            <a:r>
              <a:rPr lang="en-US" b="1" dirty="0"/>
              <a:t>Example:</a:t>
            </a:r>
            <a:br>
              <a:rPr lang="en-US" dirty="0"/>
            </a:br>
            <a:r>
              <a:rPr lang="en-US" b="1" dirty="0"/>
              <a:t>Person — 1 — Has — 1 — Passport</a:t>
            </a:r>
          </a:p>
          <a:p>
            <a:endParaRPr lang="en-US" dirty="0"/>
          </a:p>
          <a:p>
            <a:r>
              <a:rPr lang="en-US" dirty="0"/>
              <a:t>Each person has </a:t>
            </a:r>
            <a:r>
              <a:rPr lang="en-US" b="1" dirty="0"/>
              <a:t>exactly one passport</a:t>
            </a:r>
            <a:r>
              <a:rPr lang="en-US" dirty="0"/>
              <a:t>.</a:t>
            </a:r>
          </a:p>
          <a:p>
            <a:r>
              <a:rPr lang="en-US" dirty="0"/>
              <a:t>Each passport belongs to </a:t>
            </a:r>
            <a:r>
              <a:rPr lang="en-US" b="1" dirty="0"/>
              <a:t>exactly one person</a:t>
            </a:r>
            <a:r>
              <a:rPr lang="en-US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65C9D6-BC62-DC9B-A022-5D68B88BD4C4}"/>
              </a:ext>
            </a:extLst>
          </p:cNvPr>
          <p:cNvSpPr txBox="1"/>
          <p:nvPr/>
        </p:nvSpPr>
        <p:spPr>
          <a:xfrm>
            <a:off x="3061097" y="3280052"/>
            <a:ext cx="6122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CA7BBB1-0CE0-77D3-638B-32B5D8110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65760"/>
            <a:ext cx="10972800" cy="784826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sz="4300" b="1" dirty="0"/>
              <a:t>One-to-Many Relationship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706881"/>
            <a:ext cx="10972800" cy="1107996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sz="2100" dirty="0"/>
              <a:t>An entity in set A can be linked with any number of entities in set B while an entity in set B can be linked with only one entity in set A.</a:t>
            </a:r>
          </a:p>
          <a:p>
            <a:endParaRPr sz="2100" dirty="0"/>
          </a:p>
        </p:txBody>
      </p:sp>
      <p:sp>
        <p:nvSpPr>
          <p:cNvPr id="4" name="Rectangle 3"/>
          <p:cNvSpPr/>
          <p:nvPr/>
        </p:nvSpPr>
        <p:spPr>
          <a:xfrm>
            <a:off x="618565" y="2949111"/>
            <a:ext cx="8050305" cy="1508101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/>
          <a:p>
            <a:r>
              <a:rPr lang="en-US" b="1" dirty="0"/>
              <a:t>Example:</a:t>
            </a:r>
            <a:br>
              <a:rPr lang="en-US" dirty="0"/>
            </a:br>
            <a:r>
              <a:rPr lang="en-US" b="1" dirty="0"/>
              <a:t>Customer — 1 — Places — N — Order</a:t>
            </a:r>
          </a:p>
          <a:p>
            <a:endParaRPr lang="en-US" dirty="0"/>
          </a:p>
          <a:p>
            <a:r>
              <a:rPr lang="en-US" dirty="0"/>
              <a:t>A single customer can place </a:t>
            </a:r>
            <a:r>
              <a:rPr lang="en-US" b="1" dirty="0"/>
              <a:t>many orders</a:t>
            </a:r>
            <a:r>
              <a:rPr lang="en-US" dirty="0"/>
              <a:t>.</a:t>
            </a:r>
          </a:p>
          <a:p>
            <a:r>
              <a:rPr lang="en-US" dirty="0"/>
              <a:t>Each order is placed by </a:t>
            </a:r>
            <a:r>
              <a:rPr lang="en-US" b="1" dirty="0"/>
              <a:t>only one customer</a:t>
            </a:r>
            <a:r>
              <a:rPr lang="en-US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65760"/>
            <a:ext cx="10972800" cy="784826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sz="4300" b="1" dirty="0"/>
              <a:t>Many-to-Many Relationship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706881"/>
            <a:ext cx="10972800" cy="1107996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sz="2100" dirty="0"/>
              <a:t>An entity in set A can link to any number of entities in set B while an entity in set B can link to any number of entities in set A.</a:t>
            </a:r>
          </a:p>
          <a:p>
            <a:endParaRPr sz="2100" dirty="0"/>
          </a:p>
        </p:txBody>
      </p:sp>
      <p:sp>
        <p:nvSpPr>
          <p:cNvPr id="4" name="Rectangle 3"/>
          <p:cNvSpPr/>
          <p:nvPr/>
        </p:nvSpPr>
        <p:spPr>
          <a:xfrm>
            <a:off x="699247" y="3179221"/>
            <a:ext cx="8310283" cy="1508101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/>
          <a:p>
            <a:r>
              <a:rPr lang="en-US" b="1" dirty="0"/>
              <a:t>Example:</a:t>
            </a:r>
            <a:br>
              <a:rPr lang="en-US" dirty="0"/>
            </a:br>
            <a:r>
              <a:rPr lang="en-US" b="1" dirty="0"/>
              <a:t>Customer — M — Buys — N — Product</a:t>
            </a:r>
          </a:p>
          <a:p>
            <a:endParaRPr lang="en-US" dirty="0"/>
          </a:p>
          <a:p>
            <a:r>
              <a:rPr lang="en-US" dirty="0"/>
              <a:t>A single customer can buy </a:t>
            </a:r>
            <a:r>
              <a:rPr lang="en-US" b="1" dirty="0"/>
              <a:t>many products</a:t>
            </a:r>
            <a:r>
              <a:rPr lang="en-US" dirty="0"/>
              <a:t>.</a:t>
            </a:r>
          </a:p>
          <a:p>
            <a:r>
              <a:rPr lang="en-US" dirty="0"/>
              <a:t>A single product can be bought by </a:t>
            </a:r>
            <a:r>
              <a:rPr lang="en-US" b="1" dirty="0"/>
              <a:t>many customers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65761"/>
            <a:ext cx="10972800" cy="778087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lang="en-US" altLang="en-GB" sz="4300" b="1" dirty="0"/>
              <a:t>What is Relational Mapping / ORM</a:t>
            </a:r>
            <a:r>
              <a:rPr lang="en-GB" altLang="en-GB" sz="4300" b="1" dirty="0"/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584961"/>
            <a:ext cx="10972800" cy="1415768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lang="en-US" altLang="en-GB" sz="2100" dirty="0"/>
              <a:t>Definition:</a:t>
            </a:r>
          </a:p>
          <a:p>
            <a:r>
              <a:rPr lang="en-US" altLang="en-GB" sz="2100" dirty="0"/>
              <a:t>ORM (Object-Relational Mapping) is a technique that maps database tables and relationships to objects in code, so developers can interact with data as objects instead of writing SQL queries.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281854" y="3326554"/>
            <a:ext cx="6773333" cy="2708430"/>
          </a:xfrm>
          <a:prstGeom prst="rect">
            <a:avLst/>
          </a:prstGeom>
        </p:spPr>
        <p:txBody>
          <a:bodyPr lIns="121917" tIns="60958" rIns="121917" bIns="60958">
            <a:spAutoFit/>
          </a:bodyPr>
          <a:lstStyle/>
          <a:p>
            <a:pPr>
              <a:buFont typeface="Arial" panose="020B0604020202020204"/>
              <a:buChar char="•"/>
            </a:pPr>
            <a:r>
              <a:rPr sz="2100"/>
              <a:t>Tables → Classes / Objects</a:t>
            </a:r>
          </a:p>
          <a:p>
            <a:pPr>
              <a:buFont typeface="Arial" panose="020B0604020202020204"/>
              <a:buChar char="•"/>
            </a:pPr>
            <a:endParaRPr sz="2100"/>
          </a:p>
          <a:p>
            <a:pPr>
              <a:buFont typeface="Arial" panose="020B0604020202020204"/>
              <a:buChar char="•"/>
            </a:pPr>
            <a:r>
              <a:rPr sz="2100"/>
              <a:t>Rows → Object Instances</a:t>
            </a:r>
          </a:p>
          <a:p>
            <a:pPr>
              <a:buFont typeface="Arial" panose="020B0604020202020204"/>
              <a:buChar char="•"/>
            </a:pPr>
            <a:endParaRPr sz="2100"/>
          </a:p>
          <a:p>
            <a:pPr>
              <a:buFont typeface="Arial" panose="020B0604020202020204"/>
              <a:buChar char="•"/>
            </a:pPr>
            <a:r>
              <a:rPr sz="2100"/>
              <a:t>Columns → Object Attributes</a:t>
            </a:r>
          </a:p>
          <a:p>
            <a:pPr>
              <a:buFont typeface="Arial" panose="020B0604020202020204"/>
              <a:buChar char="•"/>
            </a:pPr>
            <a:endParaRPr sz="2100"/>
          </a:p>
          <a:p>
            <a:pPr>
              <a:buFont typeface="Arial" panose="020B0604020202020204"/>
              <a:buChar char="•"/>
            </a:pPr>
            <a:r>
              <a:rPr sz="2100"/>
              <a:t>Relationships → Object References / Lists / Collections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65761"/>
            <a:ext cx="10972800" cy="778087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lang="en-US" altLang="en-GB" sz="4300" dirty="0">
                <a:sym typeface="+mn-ea"/>
              </a:rPr>
              <a:t>How It Works in PostgreSQL</a:t>
            </a:r>
            <a:endParaRPr lang="en-GB" altLang="en-GB" sz="43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609600" y="1584961"/>
            <a:ext cx="10972800" cy="3075940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lang="en-US" altLang="en-GB" sz="2100" dirty="0"/>
              <a:t>How It Works in PostgreSQL</a:t>
            </a:r>
          </a:p>
          <a:p>
            <a:endParaRPr lang="en-US" altLang="en-GB" sz="2100" dirty="0"/>
          </a:p>
          <a:p>
            <a:r>
              <a:rPr lang="en-US" altLang="en-GB" sz="2100" dirty="0"/>
              <a:t>PostgreSQL stores data in tables with rows and columns</a:t>
            </a:r>
          </a:p>
          <a:p>
            <a:endParaRPr lang="en-US" altLang="en-GB" sz="2100" dirty="0"/>
          </a:p>
          <a:p>
            <a:r>
              <a:rPr lang="en-US" altLang="en-GB" sz="2100" dirty="0"/>
              <a:t>Each table becomes an Object Class in the code</a:t>
            </a:r>
          </a:p>
          <a:p>
            <a:endParaRPr lang="en-US" altLang="en-GB" sz="2100" dirty="0"/>
          </a:p>
          <a:p>
            <a:r>
              <a:rPr lang="en-US" altLang="en-GB" sz="2100" dirty="0"/>
              <a:t>Foreign keys represent relationships as object references</a:t>
            </a:r>
          </a:p>
          <a:p>
            <a:endParaRPr lang="en-US" altLang="en-GB" sz="2100" dirty="0"/>
          </a:p>
          <a:p>
            <a:endParaRPr lang="en-US" altLang="en-GB" sz="2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>
            <p:custDataLst>
              <p:tags r:id="rId1"/>
            </p:custDataLst>
          </p:nvPr>
        </p:nvGraphicFramePr>
        <p:xfrm>
          <a:off x="853441" y="1518074"/>
          <a:ext cx="10645140" cy="2469727"/>
        </p:xfrm>
        <a:graphic>
          <a:graphicData uri="http://schemas.openxmlformats.org/drawingml/2006/table">
            <a:tbl>
              <a:tblPr/>
              <a:tblGrid>
                <a:gridCol w="3548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8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8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607">
                <a:tc>
                  <a:txBody>
                    <a:bodyPr/>
                    <a:lstStyle/>
                    <a:p>
                      <a:r>
                        <a:rPr sz="1500"/>
                        <a:t>Table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ORM Object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Relationship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r>
                        <a:rPr sz="1500"/>
                        <a:t>EMPLOYEE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Employee Class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N:1 → Department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607">
                <a:tc>
                  <a:txBody>
                    <a:bodyPr/>
                    <a:lstStyle/>
                    <a:p>
                      <a:r>
                        <a:rPr sz="1500"/>
                        <a:t>DEPARTMENT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Department Class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1:N → Employees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8060">
                <a:tc>
                  <a:txBody>
                    <a:bodyPr/>
                    <a:lstStyle/>
                    <a:p>
                      <a:r>
                        <a:rPr sz="1500"/>
                        <a:t>PROJECT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Project Class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500"/>
                        <a:t>M:N → Employees (WORKS_ON junction table)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651933" y="732367"/>
            <a:ext cx="6096000" cy="449580"/>
          </a:xfrm>
          <a:prstGeom prst="rect">
            <a:avLst/>
          </a:prstGeom>
          <a:noFill/>
        </p:spPr>
        <p:txBody>
          <a:bodyPr wrap="square" lIns="121917" tIns="60958" rIns="121917" bIns="60958" rtlCol="0" anchor="t">
            <a:spAutoFit/>
          </a:bodyPr>
          <a:lstStyle/>
          <a:p>
            <a:r>
              <a:rPr lang="en-US" altLang="en-GB" sz="2100" dirty="0">
                <a:sym typeface="+mn-ea"/>
              </a:rPr>
              <a:t>Example: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739140" y="576581"/>
            <a:ext cx="8678333" cy="3075940"/>
          </a:xfrm>
          <a:prstGeom prst="rect">
            <a:avLst/>
          </a:prstGeom>
        </p:spPr>
        <p:txBody>
          <a:bodyPr wrap="square" lIns="121917" tIns="60958" rIns="121917" bIns="60958">
            <a:spAutoFit/>
          </a:bodyPr>
          <a:lstStyle/>
          <a:p>
            <a:r>
              <a:rPr sz="2100"/>
              <a:t>CRUD via ORM:</a:t>
            </a:r>
          </a:p>
          <a:p>
            <a:endParaRPr sz="2100"/>
          </a:p>
          <a:p>
            <a:pPr>
              <a:buFont typeface="Arial" panose="020B0604020202020204"/>
              <a:buChar char="•"/>
            </a:pPr>
            <a:r>
              <a:rPr sz="2100"/>
              <a:t>Create → $employee = new Employee(); $employee-&gt;save();</a:t>
            </a:r>
          </a:p>
          <a:p>
            <a:pPr>
              <a:buFont typeface="Arial" panose="020B0604020202020204"/>
              <a:buChar char="•"/>
            </a:pPr>
            <a:endParaRPr sz="2100"/>
          </a:p>
          <a:p>
            <a:pPr>
              <a:buFont typeface="Arial" panose="020B0604020202020204"/>
              <a:buChar char="•"/>
            </a:pPr>
            <a:r>
              <a:rPr sz="2100"/>
              <a:t>Read → $employee = Employee::find(1);</a:t>
            </a:r>
          </a:p>
          <a:p>
            <a:pPr>
              <a:buFont typeface="Arial" panose="020B0604020202020204"/>
              <a:buChar char="•"/>
            </a:pPr>
            <a:endParaRPr sz="2100"/>
          </a:p>
          <a:p>
            <a:pPr>
              <a:buFont typeface="Arial" panose="020B0604020202020204"/>
              <a:buChar char="•"/>
            </a:pPr>
            <a:r>
              <a:rPr sz="2100"/>
              <a:t>Update → $employee-&gt;salary = 6000; $employee-&gt;save();</a:t>
            </a:r>
          </a:p>
          <a:p>
            <a:pPr>
              <a:buFont typeface="Arial" panose="020B0604020202020204"/>
              <a:buChar char="•"/>
            </a:pPr>
            <a:endParaRPr sz="2100"/>
          </a:p>
          <a:p>
            <a:pPr>
              <a:buFont typeface="Arial" panose="020B0604020202020204"/>
              <a:buChar char="•"/>
            </a:pPr>
            <a:r>
              <a:rPr sz="2100"/>
              <a:t>Delete → $employee-&gt;delete();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101514" y="429261"/>
            <a:ext cx="8381153" cy="5190913"/>
          </a:xfrm>
          <a:prstGeom prst="rect">
            <a:avLst/>
          </a:prstGeom>
        </p:spPr>
        <p:txBody>
          <a:bodyPr lIns="121917" tIns="60958" rIns="121917" bIns="60958">
            <a:noAutofit/>
          </a:bodyPr>
          <a:lstStyle/>
          <a:p>
            <a:pPr>
              <a:spcAft>
                <a:spcPct val="60000"/>
              </a:spcAft>
            </a:pPr>
            <a:r>
              <a:rPr sz="3100" b="1" dirty="0"/>
              <a:t>How It Works in ServiceNow</a:t>
            </a:r>
          </a:p>
          <a:p>
            <a:pPr>
              <a:buFont typeface="Arial" panose="020B0604020202020204"/>
              <a:buChar char="•"/>
            </a:pPr>
            <a:r>
              <a:rPr sz="2100" dirty="0"/>
              <a:t>ServiceNow stores data o</a:t>
            </a:r>
            <a:r>
              <a:rPr lang="en-US" sz="2100" dirty="0"/>
              <a:t>n </a:t>
            </a:r>
            <a:r>
              <a:rPr sz="2100" dirty="0"/>
              <a:t>similar relational DB</a:t>
            </a:r>
          </a:p>
          <a:p>
            <a:pPr>
              <a:buFont typeface="Arial" panose="020B0604020202020204"/>
              <a:buChar char="•"/>
            </a:pPr>
            <a:endParaRPr sz="2100" dirty="0"/>
          </a:p>
          <a:p>
            <a:pPr>
              <a:buFont typeface="Arial" panose="020B0604020202020204"/>
              <a:buChar char="•"/>
            </a:pPr>
            <a:r>
              <a:rPr sz="2100" dirty="0"/>
              <a:t>Tables are exposed as Objects / Records in ServiceNow</a:t>
            </a:r>
          </a:p>
          <a:p>
            <a:pPr>
              <a:buFont typeface="Arial" panose="020B0604020202020204"/>
              <a:buChar char="•"/>
            </a:pPr>
            <a:endParaRPr sz="2100" dirty="0"/>
          </a:p>
          <a:p>
            <a:pPr>
              <a:buFont typeface="Arial" panose="020B0604020202020204"/>
              <a:buChar char="•"/>
            </a:pPr>
            <a:r>
              <a:rPr sz="2100" dirty="0"/>
              <a:t>Developers use </a:t>
            </a:r>
            <a:r>
              <a:rPr sz="2100" dirty="0" err="1"/>
              <a:t>GlideRecord</a:t>
            </a:r>
            <a:r>
              <a:rPr sz="2100" dirty="0"/>
              <a:t> API or Scripts to access these objects instead of SQL</a:t>
            </a:r>
          </a:p>
          <a:p>
            <a:endParaRPr sz="2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atGPT Image Mar 9, 2026, 09_07_55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1828801"/>
            <a:ext cx="9753600" cy="778087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pPr algn="ctr"/>
            <a:r>
              <a:rPr lang="en-US" altLang="en-GB" sz="4300" b="1" dirty="0"/>
              <a:t>Foreign Key &amp; Actions in PostgreSQL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65761"/>
            <a:ext cx="10972800" cy="778087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lang="en-US" altLang="en-GB" sz="4300" b="1" dirty="0"/>
              <a:t>Foreign Key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706880"/>
            <a:ext cx="10972800" cy="1762760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lang="en-US" altLang="en-GB" sz="2100" dirty="0"/>
              <a:t>A Foreign Key (FK) is a column in a table that references the Primary Key (PK) of another table to enforce referential integrity.</a:t>
            </a:r>
          </a:p>
          <a:p>
            <a:endParaRPr lang="en-US" altLang="en-GB" sz="2100" dirty="0"/>
          </a:p>
          <a:p>
            <a:r>
              <a:rPr lang="en-US" altLang="en-GB" sz="2100" dirty="0"/>
              <a:t>When defining an FK, you can specify actions for what happens when the referenced row is updated or deleted.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A3775-F954-7FAF-C569-A0F66EA53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1F0446-3125-5B3A-6662-41D996CB52A5}"/>
              </a:ext>
            </a:extLst>
          </p:cNvPr>
          <p:cNvSpPr txBox="1"/>
          <p:nvPr/>
        </p:nvSpPr>
        <p:spPr>
          <a:xfrm>
            <a:off x="609600" y="365761"/>
            <a:ext cx="10972800" cy="778087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lang="en-US" altLang="en-GB" sz="4300" b="1" dirty="0"/>
              <a:t>Foreign Key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9F22BD-8EE3-8239-F593-EA574456179B}"/>
              </a:ext>
            </a:extLst>
          </p:cNvPr>
          <p:cNvSpPr txBox="1"/>
          <p:nvPr/>
        </p:nvSpPr>
        <p:spPr>
          <a:xfrm>
            <a:off x="609600" y="1706880"/>
            <a:ext cx="10972800" cy="5016754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lang="en-US" sz="2400" b="1" dirty="0"/>
              <a:t>One-to-One Relation</a:t>
            </a:r>
          </a:p>
          <a:p>
            <a:r>
              <a:rPr lang="en-US" sz="2400" dirty="0"/>
              <a:t>Example: </a:t>
            </a:r>
            <a:r>
              <a:rPr lang="en-US" sz="2400" b="1" dirty="0"/>
              <a:t>User → Profile</a:t>
            </a:r>
          </a:p>
          <a:p>
            <a:endParaRPr lang="en-US" sz="2400" b="1" dirty="0"/>
          </a:p>
          <a:p>
            <a:r>
              <a:rPr lang="en-US" dirty="0"/>
              <a:t>CREATE TABLE users (</a:t>
            </a:r>
            <a:br>
              <a:rPr lang="en-US" dirty="0"/>
            </a:br>
            <a:r>
              <a:rPr lang="en-US" dirty="0"/>
              <a:t>id SERIAL PRIMARY KEY,</a:t>
            </a:r>
            <a:br>
              <a:rPr lang="en-US" dirty="0"/>
            </a:br>
            <a:r>
              <a:rPr lang="en-US" dirty="0"/>
              <a:t>username VARCHAR(100)</a:t>
            </a:r>
            <a:br>
              <a:rPr lang="en-US" dirty="0"/>
            </a:br>
            <a:r>
              <a:rPr lang="en-US" dirty="0"/>
              <a:t>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CREATE TABLE profiles (</a:t>
            </a:r>
            <a:br>
              <a:rPr lang="en-US" dirty="0"/>
            </a:br>
            <a:r>
              <a:rPr lang="en-US" dirty="0"/>
              <a:t>id SERIAL PRIMARY KEY,</a:t>
            </a:r>
            <a:br>
              <a:rPr lang="en-US" dirty="0"/>
            </a:br>
            <a:r>
              <a:rPr lang="en-US" dirty="0"/>
              <a:t>bio TEXT,</a:t>
            </a:r>
            <a:br>
              <a:rPr lang="en-US" dirty="0"/>
            </a:br>
            <a:r>
              <a:rPr lang="en-US" dirty="0" err="1"/>
              <a:t>user_id</a:t>
            </a:r>
            <a:r>
              <a:rPr lang="en-US" dirty="0"/>
              <a:t> INT UNIQUE,</a:t>
            </a:r>
            <a:br>
              <a:rPr lang="en-US" dirty="0"/>
            </a:br>
            <a:r>
              <a:rPr lang="en-US" dirty="0"/>
              <a:t>FOREIGN KEY (</a:t>
            </a:r>
            <a:r>
              <a:rPr lang="en-US" dirty="0" err="1"/>
              <a:t>user_id</a:t>
            </a:r>
            <a:r>
              <a:rPr lang="en-US" dirty="0"/>
              <a:t>) REFERENCES users(id)</a:t>
            </a:r>
            <a:br>
              <a:rPr lang="en-US" dirty="0"/>
            </a:br>
            <a:r>
              <a:rPr lang="en-US" dirty="0"/>
              <a:t>);</a:t>
            </a:r>
          </a:p>
          <a:p>
            <a:r>
              <a:rPr lang="en-US" b="1" dirty="0"/>
              <a:t>UNIQUE</a:t>
            </a:r>
            <a:r>
              <a:rPr lang="en-US" sz="2400" b="1" dirty="0"/>
              <a:t> makes the relationship One-to-One.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881532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D562A-FA3E-CC88-B02B-4088D8E5D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52283E-B3D4-1DA1-DB11-23BAA72AE722}"/>
              </a:ext>
            </a:extLst>
          </p:cNvPr>
          <p:cNvSpPr txBox="1"/>
          <p:nvPr/>
        </p:nvSpPr>
        <p:spPr>
          <a:xfrm>
            <a:off x="609600" y="365761"/>
            <a:ext cx="10972800" cy="778087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lang="en-US" altLang="en-GB" sz="4300" b="1" dirty="0"/>
              <a:t>Foreign Key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96A5D8-8E55-A73E-A3FE-AF41ED7CD408}"/>
              </a:ext>
            </a:extLst>
          </p:cNvPr>
          <p:cNvSpPr txBox="1"/>
          <p:nvPr/>
        </p:nvSpPr>
        <p:spPr>
          <a:xfrm>
            <a:off x="609600" y="1706880"/>
            <a:ext cx="10972800" cy="4370423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lang="en-US" sz="2400" b="1" dirty="0"/>
              <a:t>One-to-Many Relation (Most Common)</a:t>
            </a:r>
          </a:p>
          <a:p>
            <a:r>
              <a:rPr lang="en-US" sz="2400" dirty="0"/>
              <a:t>Example: </a:t>
            </a:r>
            <a:r>
              <a:rPr lang="en-US" sz="2400" b="1" dirty="0"/>
              <a:t>One Department → Many Employees</a:t>
            </a:r>
            <a:endParaRPr lang="en-US" sz="2400" dirty="0"/>
          </a:p>
          <a:p>
            <a:r>
              <a:rPr lang="en-US" sz="2400" b="1" dirty="0"/>
              <a:t>Create Parent Table</a:t>
            </a:r>
          </a:p>
          <a:p>
            <a:r>
              <a:rPr lang="en-US" dirty="0"/>
              <a:t>CREATE TABLE departments (</a:t>
            </a:r>
            <a:br>
              <a:rPr lang="en-US" dirty="0"/>
            </a:br>
            <a:r>
              <a:rPr lang="en-US" dirty="0"/>
              <a:t>    id SERIAL PRIMARY KEY,</a:t>
            </a:r>
            <a:br>
              <a:rPr lang="en-US" dirty="0"/>
            </a:br>
            <a:r>
              <a:rPr lang="en-US" dirty="0"/>
              <a:t>    name VARCHAR(100)</a:t>
            </a:r>
            <a:br>
              <a:rPr lang="en-US" dirty="0"/>
            </a:br>
            <a:r>
              <a:rPr lang="en-US" dirty="0"/>
              <a:t>);</a:t>
            </a:r>
          </a:p>
          <a:p>
            <a:r>
              <a:rPr lang="en-US" sz="2400" b="1" dirty="0"/>
              <a:t>Create Child Table with Foreign Key</a:t>
            </a:r>
          </a:p>
          <a:p>
            <a:r>
              <a:rPr lang="en-US" dirty="0"/>
              <a:t>CREATE TABLE employees (</a:t>
            </a:r>
            <a:br>
              <a:rPr lang="en-US" dirty="0"/>
            </a:br>
            <a:r>
              <a:rPr lang="en-US" dirty="0"/>
              <a:t>    id SERIAL PRIMARY KEY,</a:t>
            </a:r>
            <a:br>
              <a:rPr lang="en-US" dirty="0"/>
            </a:br>
            <a:r>
              <a:rPr lang="en-US" dirty="0"/>
              <a:t>    name VARCHAR(100),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department_id</a:t>
            </a:r>
            <a:r>
              <a:rPr lang="en-US" dirty="0"/>
              <a:t> INT,</a:t>
            </a:r>
            <a:br>
              <a:rPr lang="en-US" dirty="0"/>
            </a:br>
            <a:r>
              <a:rPr lang="en-US" dirty="0"/>
              <a:t>    FOREIGN KEY (</a:t>
            </a:r>
            <a:r>
              <a:rPr lang="en-US" dirty="0" err="1"/>
              <a:t>department_id</a:t>
            </a:r>
            <a:r>
              <a:rPr lang="en-US" dirty="0"/>
              <a:t>) REFERENCES departments(id)</a:t>
            </a:r>
            <a:br>
              <a:rPr lang="en-US" dirty="0"/>
            </a:b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807886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21F06-9A18-9F46-9674-38BE93F74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075156-436A-BAFF-C25C-2183A5FB75EC}"/>
              </a:ext>
            </a:extLst>
          </p:cNvPr>
          <p:cNvSpPr txBox="1"/>
          <p:nvPr/>
        </p:nvSpPr>
        <p:spPr>
          <a:xfrm>
            <a:off x="609600" y="365761"/>
            <a:ext cx="10972800" cy="778087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lang="en-US" altLang="en-GB" sz="4300" b="1" dirty="0"/>
              <a:t>Foreign Key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15C255-2275-629A-23C0-43D5FBEC77C9}"/>
              </a:ext>
            </a:extLst>
          </p:cNvPr>
          <p:cNvSpPr txBox="1"/>
          <p:nvPr/>
        </p:nvSpPr>
        <p:spPr>
          <a:xfrm>
            <a:off x="609600" y="1706880"/>
            <a:ext cx="10972800" cy="4093424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lang="en-US" sz="2400" b="1" dirty="0"/>
              <a:t>Many-to-Many Relation</a:t>
            </a:r>
          </a:p>
          <a:p>
            <a:r>
              <a:rPr lang="en-US" sz="2400" dirty="0"/>
              <a:t>Example: </a:t>
            </a:r>
            <a:r>
              <a:rPr lang="en-US" sz="2400" b="1" dirty="0"/>
              <a:t>Students ↔ Courses</a:t>
            </a:r>
            <a:endParaRPr lang="en-US" sz="2400" dirty="0"/>
          </a:p>
          <a:p>
            <a:r>
              <a:rPr lang="en-US" sz="2400" dirty="0"/>
              <a:t>A student can take many courses, and a course has many students.</a:t>
            </a:r>
          </a:p>
          <a:p>
            <a:r>
              <a:rPr lang="en-US" sz="2400" b="1" dirty="0"/>
              <a:t>Step 1: Tables</a:t>
            </a:r>
          </a:p>
          <a:p>
            <a:r>
              <a:rPr lang="en-US" dirty="0"/>
              <a:t>CREATE TABLE students (</a:t>
            </a:r>
            <a:br>
              <a:rPr lang="en-US" dirty="0"/>
            </a:br>
            <a:r>
              <a:rPr lang="en-US" dirty="0"/>
              <a:t>    id SERIAL PRIMARY KEY,</a:t>
            </a:r>
            <a:br>
              <a:rPr lang="en-US" dirty="0"/>
            </a:br>
            <a:r>
              <a:rPr lang="en-US" dirty="0"/>
              <a:t>    name VARCHAR(100)</a:t>
            </a:r>
            <a:br>
              <a:rPr lang="en-US" dirty="0"/>
            </a:br>
            <a:r>
              <a:rPr lang="en-US" dirty="0"/>
              <a:t>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CREATE TABLE courses (</a:t>
            </a:r>
            <a:br>
              <a:rPr lang="en-US" dirty="0"/>
            </a:br>
            <a:r>
              <a:rPr lang="en-US" dirty="0"/>
              <a:t>    id SERIAL PRIMARY KEY,</a:t>
            </a:r>
            <a:br>
              <a:rPr lang="en-US" dirty="0"/>
            </a:br>
            <a:r>
              <a:rPr lang="en-US" dirty="0"/>
              <a:t>    title VARCHAR(100)</a:t>
            </a:r>
            <a:br>
              <a:rPr lang="en-US" dirty="0"/>
            </a:br>
            <a:r>
              <a:rPr lang="en-US" dirty="0"/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29AE8E-7923-B414-E78F-2FDBC0BBBD83}"/>
              </a:ext>
            </a:extLst>
          </p:cNvPr>
          <p:cNvSpPr txBox="1"/>
          <p:nvPr/>
        </p:nvSpPr>
        <p:spPr>
          <a:xfrm>
            <a:off x="4518422" y="2921615"/>
            <a:ext cx="6122194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Step 2: Junction Table</a:t>
            </a:r>
          </a:p>
          <a:p>
            <a:r>
              <a:rPr lang="en-US" dirty="0"/>
              <a:t>CREATE TABLE </a:t>
            </a:r>
            <a:r>
              <a:rPr lang="en-US" dirty="0" err="1"/>
              <a:t>student_courses</a:t>
            </a:r>
            <a:r>
              <a:rPr lang="en-US" dirty="0"/>
              <a:t> (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student_id</a:t>
            </a:r>
            <a:r>
              <a:rPr lang="en-US" dirty="0"/>
              <a:t> INT,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course_id</a:t>
            </a:r>
            <a:r>
              <a:rPr lang="en-US" dirty="0"/>
              <a:t> INT,</a:t>
            </a:r>
            <a:br>
              <a:rPr lang="en-US" dirty="0"/>
            </a:br>
            <a:r>
              <a:rPr lang="en-US" dirty="0"/>
              <a:t>    PRIMARY KEY (</a:t>
            </a:r>
            <a:r>
              <a:rPr lang="en-US" dirty="0" err="1"/>
              <a:t>student_id</a:t>
            </a:r>
            <a:r>
              <a:rPr lang="en-US" dirty="0"/>
              <a:t>, </a:t>
            </a:r>
            <a:r>
              <a:rPr lang="en-US" dirty="0" err="1"/>
              <a:t>course_id</a:t>
            </a:r>
            <a:r>
              <a:rPr lang="en-US" dirty="0"/>
              <a:t>),</a:t>
            </a:r>
            <a:br>
              <a:rPr lang="en-US" dirty="0"/>
            </a:br>
            <a:r>
              <a:rPr lang="en-US" dirty="0"/>
              <a:t>    FOREIGN KEY (</a:t>
            </a:r>
            <a:r>
              <a:rPr lang="en-US" dirty="0" err="1"/>
              <a:t>student_id</a:t>
            </a:r>
            <a:r>
              <a:rPr lang="en-US" dirty="0"/>
              <a:t>) REFERENCES students(id),</a:t>
            </a:r>
            <a:br>
              <a:rPr lang="en-US" dirty="0"/>
            </a:br>
            <a:r>
              <a:rPr lang="en-US" dirty="0"/>
              <a:t>    FOREIGN KEY (</a:t>
            </a:r>
            <a:r>
              <a:rPr lang="en-US" dirty="0" err="1"/>
              <a:t>course_id</a:t>
            </a:r>
            <a:r>
              <a:rPr lang="en-US" dirty="0"/>
              <a:t>) REFERENCES courses(id)</a:t>
            </a:r>
            <a:br>
              <a:rPr lang="en-US" dirty="0"/>
            </a:b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7080438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1828801"/>
            <a:ext cx="9753600" cy="778087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pPr algn="ctr"/>
            <a:r>
              <a:rPr lang="en-US" altLang="en-GB" sz="4300" b="1" dirty="0"/>
              <a:t>Actions in PostgreSQL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65761"/>
            <a:ext cx="10972800" cy="778087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lang="en-US" altLang="en-GB" sz="4300" b="1" dirty="0">
                <a:sym typeface="+mn-ea"/>
              </a:rPr>
              <a:t>CASCADE</a:t>
            </a:r>
            <a:endParaRPr lang="en-US" altLang="en-GB" sz="43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16280" y="1408853"/>
            <a:ext cx="10972800" cy="1762760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lang="en-US" altLang="en-GB" sz="2100" b="1" dirty="0"/>
              <a:t>Definition:</a:t>
            </a:r>
          </a:p>
          <a:p>
            <a:r>
              <a:rPr lang="en-US" altLang="en-GB" sz="2100" dirty="0"/>
              <a:t>When a referenced row is deleted or updated, the change is automatically applied to the dependent rows.</a:t>
            </a:r>
          </a:p>
          <a:p>
            <a:endParaRPr lang="en-US" altLang="en-GB" sz="2100" dirty="0"/>
          </a:p>
          <a:p>
            <a:r>
              <a:rPr lang="en-US" altLang="en-GB" sz="2100" dirty="0"/>
              <a:t>Example: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2323254" y="2690707"/>
            <a:ext cx="8566573" cy="3513667"/>
          </a:xfrm>
          <a:prstGeom prst="rect">
            <a:avLst/>
          </a:prstGeom>
          <a:noFill/>
        </p:spPr>
        <p:txBody>
          <a:bodyPr wrap="square" lIns="121917" tIns="60958" rIns="121917" bIns="60958" rtlCol="0" anchor="t">
            <a:noAutofit/>
          </a:bodyPr>
          <a:lstStyle/>
          <a:p>
            <a:r>
              <a:rPr lang="en-US" altLang="en-GB" dirty="0"/>
              <a:t>CREATE TABLE Department (</a:t>
            </a:r>
          </a:p>
          <a:p>
            <a:r>
              <a:rPr lang="en-US" altLang="en-GB" dirty="0"/>
              <a:t>    </a:t>
            </a:r>
            <a:r>
              <a:rPr lang="en-US" altLang="en-GB" dirty="0" err="1"/>
              <a:t>dept_id</a:t>
            </a:r>
            <a:r>
              <a:rPr lang="en-US" altLang="en-GB" dirty="0"/>
              <a:t> SERIAL PRIMARY KEY,</a:t>
            </a:r>
          </a:p>
          <a:p>
            <a:r>
              <a:rPr lang="en-US" altLang="en-GB" dirty="0"/>
              <a:t>    name VARCHAR(50)</a:t>
            </a:r>
          </a:p>
          <a:p>
            <a:r>
              <a:rPr lang="en-US" altLang="en-GB" dirty="0"/>
              <a:t>);</a:t>
            </a:r>
          </a:p>
          <a:p>
            <a:endParaRPr lang="en-US" altLang="en-GB" dirty="0"/>
          </a:p>
          <a:p>
            <a:r>
              <a:rPr lang="en-US" altLang="en-GB" dirty="0"/>
              <a:t>CREATE TABLE Employee (</a:t>
            </a:r>
          </a:p>
          <a:p>
            <a:r>
              <a:rPr lang="en-US" altLang="en-GB" dirty="0"/>
              <a:t>    </a:t>
            </a:r>
            <a:r>
              <a:rPr lang="en-US" altLang="en-GB" dirty="0" err="1"/>
              <a:t>emp_id</a:t>
            </a:r>
            <a:r>
              <a:rPr lang="en-US" altLang="en-GB" dirty="0"/>
              <a:t> SERIAL PRIMARY KEY,</a:t>
            </a:r>
          </a:p>
          <a:p>
            <a:r>
              <a:rPr lang="en-US" altLang="en-GB" dirty="0"/>
              <a:t>    name VARCHAR(50),</a:t>
            </a:r>
          </a:p>
          <a:p>
            <a:r>
              <a:rPr lang="en-US" altLang="en-GB" dirty="0"/>
              <a:t>    </a:t>
            </a:r>
            <a:r>
              <a:rPr lang="en-US" altLang="en-GB" dirty="0" err="1"/>
              <a:t>dept_id</a:t>
            </a:r>
            <a:r>
              <a:rPr lang="en-US" altLang="en-GB" dirty="0"/>
              <a:t> INT REFERENCES Department(</a:t>
            </a:r>
            <a:r>
              <a:rPr lang="en-US" altLang="en-GB" dirty="0" err="1"/>
              <a:t>dept_id</a:t>
            </a:r>
            <a:r>
              <a:rPr lang="en-US" altLang="en-GB" dirty="0"/>
              <a:t>) ON DELETE CASCADE</a:t>
            </a:r>
          </a:p>
          <a:p>
            <a:r>
              <a:rPr lang="en-US" altLang="en-GB" dirty="0"/>
              <a:t>);</a:t>
            </a:r>
            <a:endParaRPr lang="en-GB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65761"/>
            <a:ext cx="10972800" cy="778087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lang="en-US" altLang="en-GB" sz="4300" b="1" dirty="0"/>
              <a:t>RESTRICT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6280" y="1408854"/>
            <a:ext cx="10972800" cy="1106593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lang="en-US" altLang="en-GB" sz="2100" b="1" dirty="0"/>
              <a:t>Definition:</a:t>
            </a:r>
          </a:p>
          <a:p>
            <a:r>
              <a:rPr lang="en-US" altLang="en-GB" sz="2100" dirty="0"/>
              <a:t>Prevents deletion or update of a referenced row if dependent rows exist.</a:t>
            </a:r>
          </a:p>
          <a:p>
            <a:r>
              <a:rPr lang="en-US" altLang="en-GB" sz="2100" dirty="0"/>
              <a:t>Example: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2323254" y="3171509"/>
            <a:ext cx="7885007" cy="3047153"/>
          </a:xfrm>
          <a:prstGeom prst="rect">
            <a:avLst/>
          </a:prstGeom>
          <a:noFill/>
        </p:spPr>
        <p:txBody>
          <a:bodyPr wrap="square" lIns="121917" tIns="60958" rIns="121917" bIns="60958" rtlCol="0" anchor="t">
            <a:noAutofit/>
          </a:bodyPr>
          <a:lstStyle/>
          <a:p>
            <a:r>
              <a:rPr lang="en-US" altLang="en-GB" dirty="0"/>
              <a:t>CREATE TABLE Employee (</a:t>
            </a:r>
          </a:p>
          <a:p>
            <a:r>
              <a:rPr lang="en-US" altLang="en-GB" dirty="0"/>
              <a:t>    </a:t>
            </a:r>
            <a:r>
              <a:rPr lang="en-US" altLang="en-GB" dirty="0" err="1"/>
              <a:t>emp_id</a:t>
            </a:r>
            <a:r>
              <a:rPr lang="en-US" altLang="en-GB" dirty="0"/>
              <a:t> SERIAL PRIMARY KEY,</a:t>
            </a:r>
          </a:p>
          <a:p>
            <a:r>
              <a:rPr lang="en-US" altLang="en-GB" dirty="0"/>
              <a:t>    name VARCHAR(50),</a:t>
            </a:r>
          </a:p>
          <a:p>
            <a:r>
              <a:rPr lang="en-US" altLang="en-GB" dirty="0"/>
              <a:t>    </a:t>
            </a:r>
            <a:r>
              <a:rPr lang="en-US" altLang="en-GB" dirty="0" err="1"/>
              <a:t>dept_id</a:t>
            </a:r>
            <a:r>
              <a:rPr lang="en-US" altLang="en-GB" dirty="0"/>
              <a:t> INT REFERENCES Department(</a:t>
            </a:r>
            <a:r>
              <a:rPr lang="en-US" altLang="en-GB" dirty="0" err="1"/>
              <a:t>dept_id</a:t>
            </a:r>
            <a:r>
              <a:rPr lang="en-US" altLang="en-GB" dirty="0"/>
              <a:t>) ON DELETE RESTRICT</a:t>
            </a:r>
          </a:p>
          <a:p>
            <a:r>
              <a:rPr lang="en-US" altLang="en-GB" dirty="0"/>
              <a:t>);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65761"/>
            <a:ext cx="10972800" cy="778087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lang="en-US" altLang="en-GB" sz="4300" b="1" dirty="0"/>
              <a:t>SET NULL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6280" y="1408854"/>
            <a:ext cx="10972800" cy="1435100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lang="en-US" altLang="en-GB" sz="2100" b="1" dirty="0"/>
              <a:t>Definition</a:t>
            </a:r>
            <a:r>
              <a:rPr lang="en-US" altLang="en-GB" sz="2100" dirty="0"/>
              <a:t>:</a:t>
            </a:r>
          </a:p>
          <a:p>
            <a:r>
              <a:rPr lang="en-US" altLang="en-GB" sz="2100" dirty="0"/>
              <a:t>When the referenced row is deleted/updated, the FK in dependent rows is set to NULL</a:t>
            </a:r>
            <a:r>
              <a:rPr lang="en-GB" altLang="en-US" sz="2100" dirty="0"/>
              <a:t>.</a:t>
            </a:r>
          </a:p>
          <a:p>
            <a:endParaRPr lang="en-US" altLang="en-GB" sz="2100" dirty="0"/>
          </a:p>
          <a:p>
            <a:r>
              <a:rPr lang="en-US" altLang="en-GB" sz="2100" dirty="0"/>
              <a:t>Example: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2323254" y="2690707"/>
            <a:ext cx="8566573" cy="3513667"/>
          </a:xfrm>
          <a:prstGeom prst="rect">
            <a:avLst/>
          </a:prstGeom>
          <a:noFill/>
        </p:spPr>
        <p:txBody>
          <a:bodyPr wrap="square" lIns="121917" tIns="60958" rIns="121917" bIns="60958" rtlCol="0" anchor="t">
            <a:noAutofit/>
          </a:bodyPr>
          <a:lstStyle/>
          <a:p>
            <a:r>
              <a:rPr lang="en-US" altLang="en-GB"/>
              <a:t>CREATE TABLE Employee (</a:t>
            </a:r>
          </a:p>
          <a:p>
            <a:r>
              <a:rPr lang="en-US" altLang="en-GB"/>
              <a:t>    emp_id SERIAL PRIMARY KEY,</a:t>
            </a:r>
          </a:p>
          <a:p>
            <a:r>
              <a:rPr lang="en-US" altLang="en-GB"/>
              <a:t>    name VARCHAR(50),</a:t>
            </a:r>
          </a:p>
          <a:p>
            <a:r>
              <a:rPr lang="en-US" altLang="en-GB"/>
              <a:t>    dept_id INT REFERENCES Department(dept_id) ON DELETE SET NULL</a:t>
            </a:r>
          </a:p>
          <a:p>
            <a:r>
              <a:rPr lang="en-US" altLang="en-GB"/>
              <a:t>);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65761"/>
            <a:ext cx="10972800" cy="778087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lang="en-US" altLang="en-GB" sz="4300" b="1" dirty="0"/>
              <a:t>NOT NULL (Constraint)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6280" y="1408853"/>
            <a:ext cx="10972800" cy="1762760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lang="en-US" altLang="en-GB" sz="2100" b="1" dirty="0"/>
              <a:t>Definition</a:t>
            </a:r>
            <a:r>
              <a:rPr lang="en-US" altLang="en-GB" sz="2100" dirty="0"/>
              <a:t>:</a:t>
            </a:r>
          </a:p>
          <a:p>
            <a:r>
              <a:rPr lang="en-US" altLang="en-GB" sz="2100" dirty="0"/>
              <a:t>Ensures FK column cannot be NULL. Often combined with FK constraints.</a:t>
            </a:r>
          </a:p>
          <a:p>
            <a:endParaRPr lang="en-US" altLang="en-GB" sz="2100" dirty="0"/>
          </a:p>
          <a:p>
            <a:r>
              <a:rPr lang="en-US" altLang="en-GB" sz="2100" dirty="0"/>
              <a:t>Example:</a:t>
            </a:r>
          </a:p>
          <a:p>
            <a:endParaRPr lang="en-US" altLang="en-GB" sz="2100" dirty="0"/>
          </a:p>
        </p:txBody>
      </p:sp>
      <p:sp>
        <p:nvSpPr>
          <p:cNvPr id="4" name="Text Box 3"/>
          <p:cNvSpPr txBox="1"/>
          <p:nvPr/>
        </p:nvSpPr>
        <p:spPr>
          <a:xfrm>
            <a:off x="2323254" y="2477347"/>
            <a:ext cx="8566573" cy="3513667"/>
          </a:xfrm>
          <a:prstGeom prst="rect">
            <a:avLst/>
          </a:prstGeom>
          <a:noFill/>
        </p:spPr>
        <p:txBody>
          <a:bodyPr wrap="square" lIns="121917" tIns="60958" rIns="121917" bIns="60958" rtlCol="0" anchor="t">
            <a:noAutofit/>
          </a:bodyPr>
          <a:lstStyle/>
          <a:p>
            <a:r>
              <a:rPr lang="en-US" altLang="en-GB"/>
              <a:t>CREATE TABLE Employee (</a:t>
            </a:r>
          </a:p>
          <a:p>
            <a:r>
              <a:rPr lang="en-US" altLang="en-GB"/>
              <a:t>    emp_id SERIAL PRIMARY KEY,</a:t>
            </a:r>
          </a:p>
          <a:p>
            <a:r>
              <a:rPr lang="en-US" altLang="en-GB"/>
              <a:t>    name VARCHAR(50),</a:t>
            </a:r>
          </a:p>
          <a:p>
            <a:r>
              <a:rPr lang="en-US" altLang="en-GB"/>
              <a:t>    dept_id INT NOT NULL REFERENCES Department(dept_id)</a:t>
            </a:r>
          </a:p>
          <a:p>
            <a:r>
              <a:rPr lang="en-US" altLang="en-GB"/>
              <a:t>);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1828801"/>
            <a:ext cx="9753600" cy="778087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pPr algn="ctr"/>
            <a:r>
              <a:rPr lang="en-US" sz="4300" b="1" dirty="0">
                <a:sym typeface="+mn-ea"/>
              </a:rPr>
              <a:t>Data manipulation language (DML)</a:t>
            </a:r>
            <a:endParaRPr lang="en-US" altLang="en-GB" sz="43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65761"/>
            <a:ext cx="10972800" cy="778087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lang="en-US" altLang="en-GB" sz="4300" b="1" dirty="0"/>
              <a:t>Data manipulation language (DML)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6280" y="1408853"/>
            <a:ext cx="10972800" cy="2091267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lang="en-US" altLang="en-US" sz="2100" dirty="0"/>
              <a:t>●</a:t>
            </a:r>
            <a:r>
              <a:rPr lang="en-US" altLang="en-GB" sz="2100" dirty="0"/>
              <a:t> Data manipulation language (DML) provides operations that handle user </a:t>
            </a:r>
          </a:p>
          <a:p>
            <a:r>
              <a:rPr lang="en-US" altLang="en-GB" sz="2100" dirty="0"/>
              <a:t>requests, offering a way to access and manipulate the data that users </a:t>
            </a:r>
          </a:p>
          <a:p>
            <a:r>
              <a:rPr lang="en-US" altLang="en-GB" sz="2100" dirty="0"/>
              <a:t>store within a database. </a:t>
            </a:r>
          </a:p>
          <a:p>
            <a:endParaRPr lang="en-US" altLang="en-GB" sz="2100" dirty="0"/>
          </a:p>
          <a:p>
            <a:r>
              <a:rPr lang="en-US" altLang="en-US" sz="2100" dirty="0"/>
              <a:t>●</a:t>
            </a:r>
            <a:r>
              <a:rPr lang="en-US" altLang="en-GB" sz="2100" dirty="0"/>
              <a:t> Its common functions include inserting, updating and retrieving data </a:t>
            </a:r>
          </a:p>
          <a:p>
            <a:r>
              <a:rPr lang="en-US" altLang="en-GB" sz="2100" dirty="0"/>
              <a:t>from the database.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65761"/>
            <a:ext cx="10972800" cy="778087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lang="en-US" altLang="en-GB" sz="4300" b="1" dirty="0"/>
              <a:t>DML statements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6280" y="1408854"/>
            <a:ext cx="10972800" cy="1435100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lang="en-US" altLang="en-US" sz="2100" dirty="0"/>
              <a:t>●</a:t>
            </a:r>
            <a:r>
              <a:rPr lang="en-US" altLang="en-GB" sz="2100" dirty="0"/>
              <a:t> INSERT: Adds new data to the existing database table</a:t>
            </a:r>
          </a:p>
          <a:p>
            <a:r>
              <a:rPr lang="en-US" altLang="en-US" sz="2100" dirty="0"/>
              <a:t>●</a:t>
            </a:r>
            <a:r>
              <a:rPr lang="en-US" altLang="en-GB" sz="2100" dirty="0"/>
              <a:t> UPDATE: Changes or updates values in the table</a:t>
            </a:r>
          </a:p>
          <a:p>
            <a:r>
              <a:rPr lang="en-US" altLang="en-US" sz="2100" dirty="0"/>
              <a:t>●</a:t>
            </a:r>
            <a:r>
              <a:rPr lang="en-US" altLang="en-GB" sz="2100" dirty="0"/>
              <a:t> DELETE: Removes records or rows from the table</a:t>
            </a:r>
          </a:p>
          <a:p>
            <a:r>
              <a:rPr lang="en-US" altLang="en-US" sz="2100" dirty="0"/>
              <a:t>●</a:t>
            </a:r>
            <a:r>
              <a:rPr lang="en-US" altLang="en-GB" sz="2100" dirty="0"/>
              <a:t> SELECT: Retrieves data from the table or multiple tables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65761"/>
            <a:ext cx="10972800" cy="778087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lang="en-US" altLang="en-GB" sz="4300" b="1" dirty="0"/>
              <a:t>INSERT INTO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6280" y="1408854"/>
            <a:ext cx="10972800" cy="3075940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lang="en-US" altLang="en-US" sz="2100" dirty="0"/>
              <a:t>●</a:t>
            </a:r>
            <a:r>
              <a:rPr lang="en-US" altLang="en-GB" sz="2100" dirty="0"/>
              <a:t> The INSERT INTO statement is used to insert new records in a table.</a:t>
            </a:r>
          </a:p>
          <a:p>
            <a:endParaRPr lang="en-US" altLang="en-US" sz="2100" dirty="0"/>
          </a:p>
          <a:p>
            <a:r>
              <a:rPr lang="en-US" altLang="en-US" sz="2100" dirty="0"/>
              <a:t>●</a:t>
            </a:r>
            <a:r>
              <a:rPr lang="en-US" altLang="en-GB" sz="2100" dirty="0"/>
              <a:t> Syntax</a:t>
            </a:r>
          </a:p>
          <a:p>
            <a:r>
              <a:rPr lang="en-US" altLang="en-GB" sz="2100" dirty="0"/>
              <a:t>INSERT INTO table_name (column1, column2, column3, ...)</a:t>
            </a:r>
          </a:p>
          <a:p>
            <a:r>
              <a:rPr lang="en-US" altLang="en-GB" sz="2100" dirty="0"/>
              <a:t>VALUES (value1, value2, value3, ...);</a:t>
            </a:r>
          </a:p>
          <a:p>
            <a:endParaRPr lang="en-US" altLang="en-US" sz="2100" dirty="0"/>
          </a:p>
          <a:p>
            <a:r>
              <a:rPr lang="en-US" altLang="en-US" sz="2100" dirty="0"/>
              <a:t>●</a:t>
            </a:r>
            <a:r>
              <a:rPr lang="en-US" altLang="en-GB" sz="2100" dirty="0"/>
              <a:t> Example</a:t>
            </a:r>
          </a:p>
          <a:p>
            <a:r>
              <a:rPr lang="en-US" altLang="en-GB" sz="2100" dirty="0"/>
              <a:t>INSERT INTO Persons (ID,FirstName,LastName,Age,City)</a:t>
            </a:r>
          </a:p>
          <a:p>
            <a:r>
              <a:rPr lang="en-US" altLang="en-GB" sz="2100" dirty="0"/>
              <a:t>VALUES (1,'Alfred','Schmidt',20,'Norway');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65761"/>
            <a:ext cx="10972800" cy="778087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lang="en-US" altLang="en-GB" sz="4300" b="1" dirty="0"/>
              <a:t>UPDATE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6280" y="1408854"/>
            <a:ext cx="10972800" cy="3404447"/>
          </a:xfrm>
          <a:prstGeom prst="rect">
            <a:avLst/>
          </a:prstGeom>
          <a:noFill/>
        </p:spPr>
        <p:txBody>
          <a:bodyPr wrap="square" lIns="121917" tIns="60958" rIns="121917" bIns="60958">
            <a:spAutoFit/>
          </a:bodyPr>
          <a:lstStyle/>
          <a:p>
            <a:r>
              <a:rPr lang="en-US" altLang="en-US" sz="2100" dirty="0"/>
              <a:t>●</a:t>
            </a:r>
            <a:r>
              <a:rPr lang="en-US" altLang="en-GB" sz="2100" dirty="0"/>
              <a:t> The UPDATE statement is used to modify the existing records in a table.</a:t>
            </a:r>
          </a:p>
          <a:p>
            <a:endParaRPr lang="en-US" altLang="en-US" sz="2100" dirty="0"/>
          </a:p>
          <a:p>
            <a:r>
              <a:rPr lang="en-US" altLang="en-US" sz="2100" dirty="0"/>
              <a:t>●</a:t>
            </a:r>
            <a:r>
              <a:rPr lang="en-US" altLang="en-GB" sz="2100" dirty="0"/>
              <a:t> Syntax</a:t>
            </a:r>
          </a:p>
          <a:p>
            <a:r>
              <a:rPr lang="en-US" altLang="en-GB" sz="2100" dirty="0"/>
              <a:t>UPDATE table_name</a:t>
            </a:r>
          </a:p>
          <a:p>
            <a:r>
              <a:rPr lang="en-US" altLang="en-GB" sz="2100" dirty="0"/>
              <a:t>SET column1 = value1, column2 = value2, ...</a:t>
            </a:r>
          </a:p>
          <a:p>
            <a:r>
              <a:rPr lang="en-US" altLang="en-GB" sz="2100" dirty="0"/>
              <a:t>WHERE condition;</a:t>
            </a:r>
          </a:p>
          <a:p>
            <a:endParaRPr lang="en-US" altLang="en-GB" sz="2100" dirty="0"/>
          </a:p>
          <a:p>
            <a:r>
              <a:rPr lang="en-US" altLang="en-US" sz="2100" dirty="0"/>
              <a:t>●</a:t>
            </a:r>
            <a:r>
              <a:rPr lang="en-US" altLang="en-GB" sz="2100" dirty="0"/>
              <a:t> Example</a:t>
            </a:r>
          </a:p>
          <a:p>
            <a:r>
              <a:rPr lang="en-US" altLang="en-GB" sz="2100" dirty="0"/>
              <a:t>UPDATE Persons SET City='Frankfurt'</a:t>
            </a:r>
          </a:p>
          <a:p>
            <a:r>
              <a:rPr lang="en-US" altLang="en-GB" sz="2100" dirty="0"/>
              <a:t>WHERE ID=1;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19395" y="2438400"/>
            <a:ext cx="3553210" cy="938714"/>
          </a:xfrm>
          <a:prstGeom prst="rect">
            <a:avLst/>
          </a:prstGeom>
          <a:noFill/>
        </p:spPr>
        <p:txBody>
          <a:bodyPr wrap="none" lIns="121917" tIns="60958" rIns="121917" bIns="60958">
            <a:spAutoFit/>
          </a:bodyPr>
          <a:lstStyle/>
          <a:p>
            <a:pPr algn="ctr"/>
            <a:r>
              <a:rPr sz="5300" b="1"/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28*145"/>
  <p:tag name="TABLE_ENDDRAG_RECT" val="50*89*628*145"/>
</p:tagLst>
</file>

<file path=ppt/theme/theme1.xml><?xml version="1.0" encoding="utf-8"?>
<a:theme xmlns:a="http://schemas.openxmlformats.org/drawingml/2006/main" name="Face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290</TotalTime>
  <Words>1585</Words>
  <Application>Microsoft Office PowerPoint</Application>
  <PresentationFormat>Widescreen</PresentationFormat>
  <Paragraphs>237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</vt:lpstr>
      <vt:lpstr>Calibri</vt:lpstr>
      <vt:lpstr>Calibri Light</vt:lpstr>
      <vt:lpstr>Trebuchet MS</vt:lpstr>
      <vt:lpstr>Wingdings 3</vt:lpstr>
      <vt:lpstr>Facet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Day 1</dc:title>
  <dc:creator>Petra</dc:creator>
  <cp:lastModifiedBy>sandy maged</cp:lastModifiedBy>
  <cp:revision>906</cp:revision>
  <dcterms:created xsi:type="dcterms:W3CDTF">2026-01-26T08:52:00Z</dcterms:created>
  <dcterms:modified xsi:type="dcterms:W3CDTF">2026-03-10T10:34:57Z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97E1217AF2A344429EBF110EF7E8548B_12</vt:lpwstr>
  </property>
  <property fmtid="{D5CDD505-2E9C-101B-9397-08002B2CF9AE}" pid="3" name="KSOProductBuildVer">
    <vt:lpwstr>2057-12.2.0.23196</vt:lpwstr>
  </property>
</Properties>
</file>