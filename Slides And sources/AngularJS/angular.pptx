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31" r:id="rId1"/>
    <p:sldMasterId id="2147483748" r:id="rId2"/>
  </p:sldMasterIdLst>
  <p:notesMasterIdLst>
    <p:notesMasterId r:id="rId21"/>
  </p:notesMasterIdLst>
  <p:sldIdLst>
    <p:sldId id="256" r:id="rId3"/>
    <p:sldId id="320" r:id="rId4"/>
    <p:sldId id="305" r:id="rId5"/>
    <p:sldId id="306" r:id="rId6"/>
    <p:sldId id="307" r:id="rId7"/>
    <p:sldId id="308" r:id="rId8"/>
    <p:sldId id="321" r:id="rId9"/>
    <p:sldId id="309" r:id="rId10"/>
    <p:sldId id="311" r:id="rId11"/>
    <p:sldId id="313" r:id="rId12"/>
    <p:sldId id="314" r:id="rId13"/>
    <p:sldId id="315" r:id="rId14"/>
    <p:sldId id="316" r:id="rId15"/>
    <p:sldId id="317" r:id="rId16"/>
    <p:sldId id="322" r:id="rId17"/>
    <p:sldId id="318" r:id="rId18"/>
    <p:sldId id="319" r:id="rId19"/>
    <p:sldId id="323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0" autoAdjust="0"/>
    <p:restoredTop sz="93861" autoAdjust="0"/>
  </p:normalViewPr>
  <p:slideViewPr>
    <p:cSldViewPr snapToGrid="0">
      <p:cViewPr varScale="1">
        <p:scale>
          <a:sx n="67" d="100"/>
          <a:sy n="67" d="100"/>
        </p:scale>
        <p:origin x="858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355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B7E296-0428-41DA-B2FD-629865C14C9A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CD3839-9FE5-42F2-BECC-1535DA6E10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0060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9321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08D72-C166-5778-A821-F8A42E85C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8AAA29-D342-5370-FAA7-C86BB3C4B5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4BCC4A-CC37-E98D-F61F-1E76DB5D88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B17263-1751-D1C4-93FC-5EE2F8D046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53650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08960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48C02-6FD3-B196-1DFD-333B87A22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3DFBAF-5E16-2C0E-2D78-951E0445FA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487CB8-4F08-5B35-2317-D21FE55CC4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FCDC0-E83B-F6B6-DDAB-EFDB5FC15F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11884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F08B2-1B9B-2C2B-3D33-A4BD64AD3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EDE622-E698-26D9-164F-9A024D18A7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BE0D01-85E7-1CDD-03B6-D1AE24C0C9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40DF60-1FDB-3F50-8628-7F143BA06F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9591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6B108-6C75-FC5A-5FE4-6E6EF0009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6FC9D5-7D3F-4D85-A235-A802D50AC7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AA00B9-1221-224E-C8E7-1950883243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53FE34-6973-5220-FD24-5F677F29D1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91864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4CC36-788C-AC61-412A-E5F71F5B6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4DFBFA-6D1D-B1EA-6107-5A0A84E4C9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531C96-7D94-0E9C-DEDE-BDA1D00337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3DB910-D273-37F9-3A77-59257D85FD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840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6B6A9-B906-C77E-963C-BAEB68EC7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CAFDE5-920F-EB0F-30F2-73448D593F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D5C92C-B47D-7264-FE12-367B32828C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9D4A24-3E76-F0D9-4E8E-25B37F9819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35253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60F6F-F980-9492-D1C4-211399DFB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484561-229E-CBB7-5D0D-9087BFBEF0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38CCDF-526D-348B-8D45-2F68D4E649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A8E3F-FAC0-0FE6-7904-FC5BCE10CF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00268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FBD5A-309A-F617-FF53-4DC4CB944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4B8565-5013-88DC-D06B-0FA4016901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784293-187A-4ECD-5EC0-1BF16D3081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406010-2F45-C21A-79B4-4C82CDC2B5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42793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91535-4285-20DC-C43D-70D63F1F8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3F9FD7-673B-ECA6-0C66-6959C46057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097ABF-085E-86DB-CEE6-1450C4ACFA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5BCC74-3A6E-C21B-9141-0ED0FEE933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3161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577F4-5E97-8596-C0AA-7F717559F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D477C3-7DE8-966B-AFFD-BB54047775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F57455-E5C4-CC0D-C825-3A04F71A8C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E80C7B-EB37-FF82-4359-8B04B5B292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68064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470D4-A445-80BC-81FA-02B43F7D7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4535C1-594C-76ED-A683-B293756664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5AE44D-B27D-F201-F75E-52ED8206CF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5B74B-3717-2ED7-3450-981A86E74F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59618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76721-C5A1-1116-DEF1-2DFE13755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2071A2-ADA1-C338-2745-DF94DB31B8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B444C8-656A-D63D-08E4-EC2C5A3378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E4E77-D0D2-1FDB-8908-76E1E026FB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4239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8883E-1B20-EDFA-8A38-C7F5B2898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AA43FA-FEBA-332A-BFF5-0574B2C14B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E40052-E38C-4904-751F-4A0B847770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B92E98-23F2-326F-2768-F610A19B02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06359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F9BCC-51BB-73BC-5A79-B56A28F17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AF7E75-7901-27E9-FAD3-1D550A55E9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571B3B-EB25-A990-E283-83E1A6676F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D5EBA-CBEF-80A7-3274-A23B7D59AE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31513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E46D6-039E-0A1F-AF2C-51A946986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4779AC-101F-07FC-EDB7-CF85518E6F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5212DA-9ADA-9A5D-B915-2B7E1CD42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D81035-1989-441D-31EA-8EEF2DAB30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53310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BD4DC-67EE-4F9E-FC75-1E35E0171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7FAB72-2199-0CEE-EE23-00C8296C04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336BC6-7D3B-80AC-6B90-C5FCB4627C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D37D47-0923-339A-125D-7A35797952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534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87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37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252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509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493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739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191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57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2/24/2026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918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018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99798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310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2578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336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210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165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84C05-9696-BEBD-7362-5C88FF3B61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3093AE-3464-57D7-9AC8-8F6D5485A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3810A-7863-2CAE-A291-9C3FEE189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33BAD-98FC-16EF-B78A-9E15DA1FA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FECF4-2B3C-EBF0-7FA7-D5A6371EC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0111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CC052-8807-FB2B-F760-A6C34285D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80031-2C25-A794-9BCB-F84AE6BFB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A0056-6F21-78BC-CD0C-D3AE8AB82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2762E-1E65-B2E2-5A48-74889369B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8A673-FC5C-5DA3-4D90-22D4C6F2D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102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4A849-60EF-B006-2F22-3985ACD07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30AAD3-850E-5052-F25E-95A8A67AB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23601-2075-6ACA-DFCA-5C5BCBAB5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3FB7F-AF21-00E7-279A-CA1AEFAD3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AF13D-2C0E-64B5-E7A9-6BEF035FE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791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44482-9AF1-3A73-6298-00EF41CDC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46968-9CB3-813E-2692-BA801CEF8A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DA5136-2B4D-73C2-22BD-BB455001F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A5755A-30CE-7F1C-4683-F507EA77D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D55C21-5BF2-105C-2FEA-07E3F2B8E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F09443-C309-26E2-C471-5E437CE9F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5742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BADD4-18F9-9597-EECE-98C21AB24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496A9-65E4-AD8D-EADC-A65B65001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FC373-4D6F-68D4-0C12-06CE51E8A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735FA-F7D6-278E-9780-8E91FDBB22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EBC14D-D3FD-1773-5B62-08DF280E9E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BBAD2E-E2EE-ECCE-8BA9-926867822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59E8F1-D316-889F-F7FF-B3041B16A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EB5863-AA6C-54CA-2ED7-2827A37D5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6588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2DE7E-CAAE-46DC-EBA7-D376525D0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2FC342-6B1E-A899-0AC0-7179CBF15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CCE001-2DAE-92B0-6625-1190253B3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CCDCE7-1FEA-AE1D-5A86-3AADEEB95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5974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B038C8-D53B-A186-1A3B-68343A4DD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A37522-AF1A-36A1-CDBC-F6CD468A1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545AA9-91CE-DAD3-1468-1B4D69903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4926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3D843-EC0F-70ED-0C7F-EA16DB3A3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13193-D853-04FA-7829-607C85F5E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C1CC16-0CEC-C434-BB6F-37998454E4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8E8119-876E-0597-A150-EBFEDCBFF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9432E6-8E71-952C-5BD2-A544097FA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57DBFA-6354-65D6-057D-E4934DBDA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6368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47C2D-2AC8-F729-E57E-74AFCC4C5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30F5E9-6925-635A-B995-13375BD1E2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0E4612-ECC5-387D-290F-B204253EAD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729A5D-A4D7-D0A4-36C4-B6B68D321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9A99D9-F393-52B2-AB41-48305F3B3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616B71-A785-4927-BC42-CB3A9329C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8746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9A1A9-CF48-3810-4950-16842703E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EC0171-9295-C4A0-3C54-2231615E0F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8C2C7-AD69-814F-1B16-FE4C09FFD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AA943-52B4-2D49-FBA2-91C0098E1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C9569-50F4-4F62-A4D4-980C227E0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9917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9A05D2-C145-3A7C-947C-A4F5C91E60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3354D-E4E5-A40F-5A6F-8C847C318C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40079-5E12-3CB4-DF15-D1B158218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0D9D9-0089-238F-F78A-6FED727C0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65DB6-AF59-30F2-25FF-1534DAFCB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0018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9EB2C1-3CEE-41D9-9027-001A41D0B6A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22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BD2985-A48A-4FCE-5D51-E8E176F2C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3AC2E1-540F-5A5B-8259-B51FB6F86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94273-7860-81C7-8174-DE3F24445D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C71BDA-3A19-4C68-B388-AA927C043E3D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4E18E7-D115-4B1D-1330-0731ABB73F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B25B6-B513-E9E3-6780-9126B4B0C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0811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968C8-67C4-8011-F335-527CB36AE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1239" y="98066"/>
            <a:ext cx="9279144" cy="3330934"/>
          </a:xfrm>
        </p:spPr>
        <p:txBody>
          <a:bodyPr/>
          <a:lstStyle/>
          <a:p>
            <a:pPr algn="ctr"/>
            <a:r>
              <a:rPr lang="en-US" sz="6000" dirty="0">
                <a:solidFill>
                  <a:schemeClr val="tx2">
                    <a:lumMod val="75000"/>
                  </a:schemeClr>
                </a:solidFill>
                <a:latin typeface="Antique Olive" panose="020B0603020204030204" pitchFamily="34" charset="0"/>
              </a:rPr>
              <a:t>Angular JS</a:t>
            </a:r>
          </a:p>
        </p:txBody>
      </p:sp>
    </p:spTree>
    <p:extLst>
      <p:ext uri="{BB962C8B-B14F-4D97-AF65-F5344CB8AC3E}">
        <p14:creationId xmlns:p14="http://schemas.microsoft.com/office/powerpoint/2010/main" val="892260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543EA-7381-CB67-A9DD-A6C4687FD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2317E-9836-E4FE-0010-F1ED18F76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What is AngularJS?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15C94-049C-1827-F5BD-0DD3B7F88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39445"/>
            <a:ext cx="8946541" cy="4195481"/>
          </a:xfrm>
        </p:spPr>
        <p:txBody>
          <a:bodyPr>
            <a:normAutofit/>
          </a:bodyPr>
          <a:lstStyle/>
          <a:p>
            <a:r>
              <a:rPr lang="en-US" dirty="0"/>
              <a:t>AngularJS is a </a:t>
            </a:r>
            <a:r>
              <a:rPr lang="en-US" b="1" dirty="0"/>
              <a:t>JavaScript framework</a:t>
            </a:r>
            <a:r>
              <a:rPr lang="en-US" dirty="0"/>
              <a:t>.</a:t>
            </a:r>
          </a:p>
          <a:p>
            <a:r>
              <a:rPr lang="en-US" dirty="0"/>
              <a:t>It can be added to an HTML page with a &lt;script&gt; tag.</a:t>
            </a:r>
          </a:p>
          <a:p>
            <a:r>
              <a:rPr lang="en-US" dirty="0"/>
              <a:t>AngularJS extends HTML attributes with </a:t>
            </a:r>
            <a:r>
              <a:rPr lang="en-US" b="1" dirty="0"/>
              <a:t>Directives</a:t>
            </a:r>
            <a:r>
              <a:rPr lang="en-US" dirty="0"/>
              <a:t>, and binds data to HTML with </a:t>
            </a:r>
            <a:r>
              <a:rPr lang="en-US" b="1" dirty="0"/>
              <a:t>Expressions</a:t>
            </a:r>
            <a:r>
              <a:rPr lang="en-US" dirty="0"/>
              <a:t>.</a:t>
            </a:r>
          </a:p>
          <a:p>
            <a:r>
              <a:rPr lang="en-US" dirty="0"/>
              <a:t>Developed by google and released 2010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3906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C8C43-24DB-D916-3E96-278106F9E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A68B0-1CE7-D42A-4885-E8406A84F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What is AngularJS?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E73FC-9075-DDAF-7D89-336039526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39445"/>
            <a:ext cx="8946541" cy="4195481"/>
          </a:xfrm>
        </p:spPr>
        <p:txBody>
          <a:bodyPr>
            <a:normAutofit/>
          </a:bodyPr>
          <a:lstStyle/>
          <a:p>
            <a:r>
              <a:rPr lang="en-US" dirty="0"/>
              <a:t>AngularJS is distributed as a JavaScript file, and can be added to a web page with a script tag:</a:t>
            </a:r>
          </a:p>
          <a:p>
            <a:pPr marL="0" indent="0">
              <a:buNone/>
            </a:pPr>
            <a:r>
              <a:rPr lang="en-US" dirty="0"/>
              <a:t>&lt;script </a:t>
            </a:r>
            <a:r>
              <a:rPr lang="en-US" dirty="0" err="1"/>
              <a:t>src</a:t>
            </a:r>
            <a:r>
              <a:rPr lang="en-US" dirty="0"/>
              <a:t>="https://ajax.googleapis.com/ajax/libs/</a:t>
            </a:r>
            <a:r>
              <a:rPr lang="en-US" dirty="0" err="1"/>
              <a:t>angularjs</a:t>
            </a:r>
            <a:r>
              <a:rPr lang="en-US" dirty="0"/>
              <a:t>/1.6.9/angular.min.js"&gt;&lt;/script&gt;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F60B35-D847-691C-8128-42EC6806F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3552481"/>
            <a:ext cx="9993120" cy="246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012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EB459-C8D1-1D46-AE53-B8203DA5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ED04D-C83A-D76B-CF67-3FB1B2350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Why AngularJS?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326AD-C367-0818-671F-5DF7500DB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39445"/>
            <a:ext cx="8946541" cy="4195481"/>
          </a:xfrm>
        </p:spPr>
        <p:txBody>
          <a:bodyPr>
            <a:normAutofit/>
          </a:bodyPr>
          <a:lstStyle/>
          <a:p>
            <a:r>
              <a:rPr lang="en-US" dirty="0"/>
              <a:t>Two-way data binding</a:t>
            </a:r>
          </a:p>
          <a:p>
            <a:r>
              <a:rPr lang="en-US" dirty="0"/>
              <a:t>MVC architecture</a:t>
            </a:r>
          </a:p>
          <a:p>
            <a:r>
              <a:rPr lang="en-US" dirty="0"/>
              <a:t>Dependency Injection</a:t>
            </a:r>
          </a:p>
          <a:p>
            <a:r>
              <a:rPr lang="en-US" dirty="0"/>
              <a:t>Directives extend HTML</a:t>
            </a:r>
          </a:p>
        </p:txBody>
      </p:sp>
    </p:spTree>
    <p:extLst>
      <p:ext uri="{BB962C8B-B14F-4D97-AF65-F5344CB8AC3E}">
        <p14:creationId xmlns:p14="http://schemas.microsoft.com/office/powerpoint/2010/main" val="4407421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000"/>
                            </p:stCondLst>
                            <p:childTnLst>
                              <p:par>
                                <p:cTn id="62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A3345-1185-312C-2260-FE91D0FF2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1BFE6-F0C4-0582-5EFB-2CA2102FA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MVC Pattern in AngularJS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7CC6A-9200-8DDB-72D2-C33ED729D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39445"/>
            <a:ext cx="8946541" cy="4195481"/>
          </a:xfrm>
        </p:spPr>
        <p:txBody>
          <a:bodyPr>
            <a:normAutofit/>
          </a:bodyPr>
          <a:lstStyle/>
          <a:p>
            <a:r>
              <a:rPr lang="en-US" dirty="0"/>
              <a:t>Model → Data</a:t>
            </a:r>
            <a:br>
              <a:rPr lang="en-US" dirty="0"/>
            </a:br>
            <a:r>
              <a:rPr lang="en-US" dirty="0"/>
              <a:t>View → HTML</a:t>
            </a:r>
            <a:br>
              <a:rPr lang="en-US" dirty="0"/>
            </a:br>
            <a:r>
              <a:rPr lang="en-US" dirty="0"/>
              <a:t>Controller → Logic</a:t>
            </a:r>
          </a:p>
          <a:p>
            <a:r>
              <a:rPr lang="en-US" dirty="0"/>
              <a:t>Draw diagram:</a:t>
            </a:r>
          </a:p>
          <a:p>
            <a:r>
              <a:rPr lang="en-US" dirty="0"/>
              <a:t>User → View → Controller → Model → View updates</a:t>
            </a:r>
          </a:p>
        </p:txBody>
      </p:sp>
    </p:spTree>
    <p:extLst>
      <p:ext uri="{BB962C8B-B14F-4D97-AF65-F5344CB8AC3E}">
        <p14:creationId xmlns:p14="http://schemas.microsoft.com/office/powerpoint/2010/main" val="5612550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EFB70-2705-B8FC-0ED0-C58AFE344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00987-6935-FAF7-48A0-E621FBE8D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How AngularJS Works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37CDB-74E9-F20B-62CF-B6065A454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39445"/>
            <a:ext cx="8946541" cy="4195481"/>
          </a:xfrm>
        </p:spPr>
        <p:txBody>
          <a:bodyPr>
            <a:normAutofit/>
          </a:bodyPr>
          <a:lstStyle/>
          <a:p>
            <a:r>
              <a:rPr lang="en-US" dirty="0"/>
              <a:t>Browser loads HTML</a:t>
            </a:r>
          </a:p>
          <a:p>
            <a:r>
              <a:rPr lang="en-US" dirty="0"/>
              <a:t>AngularJS bootstraps app</a:t>
            </a:r>
          </a:p>
          <a:p>
            <a:r>
              <a:rPr lang="en-US" dirty="0"/>
              <a:t>Creates scope</a:t>
            </a:r>
          </a:p>
          <a:p>
            <a:r>
              <a:rPr lang="en-US" dirty="0"/>
              <a:t>Binds data to DOM</a:t>
            </a:r>
          </a:p>
          <a:p>
            <a:r>
              <a:rPr lang="en-US" dirty="0"/>
              <a:t>Watches for changes</a:t>
            </a:r>
          </a:p>
          <a:p>
            <a:r>
              <a:rPr lang="en-US" dirty="0"/>
              <a:t>Mention briefly:</a:t>
            </a:r>
            <a:br>
              <a:rPr lang="en-US" dirty="0"/>
            </a:br>
            <a:r>
              <a:rPr lang="en-US" sz="2000" b="1" dirty="0"/>
              <a:t>Service Portal uses this same mechanism internally.</a:t>
            </a:r>
          </a:p>
        </p:txBody>
      </p:sp>
    </p:spTree>
    <p:extLst>
      <p:ext uri="{BB962C8B-B14F-4D97-AF65-F5344CB8AC3E}">
        <p14:creationId xmlns:p14="http://schemas.microsoft.com/office/powerpoint/2010/main" val="11543427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000"/>
                            </p:stCondLst>
                            <p:childTnLst>
                              <p:par>
                                <p:cTn id="62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9000"/>
                            </p:stCondLst>
                            <p:childTnLst>
                              <p:par>
                                <p:cTn id="79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1000"/>
                            </p:stCondLst>
                            <p:childTnLst>
                              <p:par>
                                <p:cTn id="96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AC68E-8451-B199-A4AD-E8FC23E44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D2E8A-EDCD-4590-B2EE-0E276E69C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AngularJS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301D7-3D17-9D58-CC4A-FBD82A8E5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39445"/>
            <a:ext cx="8946541" cy="4195481"/>
          </a:xfrm>
        </p:spPr>
        <p:txBody>
          <a:bodyPr>
            <a:normAutofit/>
          </a:bodyPr>
          <a:lstStyle/>
          <a:p>
            <a:r>
              <a:rPr lang="en-US" dirty="0"/>
              <a:t>AngularJS </a:t>
            </a:r>
            <a:r>
              <a:rPr lang="en-US" b="1" dirty="0"/>
              <a:t>modules</a:t>
            </a:r>
            <a:r>
              <a:rPr lang="en-US" dirty="0"/>
              <a:t> define AngularJS applications.</a:t>
            </a:r>
          </a:p>
          <a:p>
            <a:r>
              <a:rPr lang="en-US" dirty="0"/>
              <a:t>AngularJS </a:t>
            </a:r>
            <a:r>
              <a:rPr lang="en-US" b="1" dirty="0"/>
              <a:t>controllers</a:t>
            </a:r>
            <a:r>
              <a:rPr lang="en-US" dirty="0"/>
              <a:t> control AngularJS applications.</a:t>
            </a:r>
          </a:p>
          <a:p>
            <a:r>
              <a:rPr lang="en-US" dirty="0"/>
              <a:t>The </a:t>
            </a:r>
            <a:r>
              <a:rPr lang="en-US" b="1" dirty="0"/>
              <a:t>ng-app</a:t>
            </a:r>
            <a:r>
              <a:rPr lang="en-US" dirty="0"/>
              <a:t> directive defines the application, the </a:t>
            </a:r>
            <a:r>
              <a:rPr lang="en-US" b="1" dirty="0"/>
              <a:t>ng-controller</a:t>
            </a:r>
            <a:r>
              <a:rPr lang="en-US" dirty="0"/>
              <a:t> directive defines the controller.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6F3583-8611-3B88-6A67-A2B38CE40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2277" y="2828925"/>
            <a:ext cx="5525494" cy="3713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666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91D43-34B2-1C3F-2D80-D0DBAC95E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50ED0-275C-383E-0859-ABD7E03E1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Creating a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129E0-9900-7303-2992-D40B53642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39445"/>
            <a:ext cx="8946541" cy="419548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Module is the container of application components.</a:t>
            </a:r>
          </a:p>
          <a:p>
            <a:r>
              <a:rPr lang="en-US" dirty="0"/>
              <a:t>var app = </a:t>
            </a:r>
            <a:r>
              <a:rPr lang="en-US" dirty="0" err="1"/>
              <a:t>angular.module</a:t>
            </a:r>
            <a:r>
              <a:rPr lang="en-US" dirty="0"/>
              <a:t>("</a:t>
            </a:r>
            <a:r>
              <a:rPr lang="en-US" dirty="0" err="1"/>
              <a:t>myApp</a:t>
            </a:r>
            <a:r>
              <a:rPr lang="en-US" dirty="0"/>
              <a:t>", []);</a:t>
            </a:r>
          </a:p>
          <a:p>
            <a:r>
              <a:rPr lang="en-US" dirty="0"/>
              <a:t>Key Points:</a:t>
            </a:r>
          </a:p>
          <a:p>
            <a:pPr marL="0" indent="0">
              <a:buNone/>
            </a:pPr>
            <a:r>
              <a:rPr lang="en-US" dirty="0"/>
              <a:t>First parameter = name</a:t>
            </a:r>
          </a:p>
          <a:p>
            <a:pPr marL="0" indent="0">
              <a:buNone/>
            </a:pPr>
            <a:r>
              <a:rPr lang="en-US" dirty="0"/>
              <a:t>Second parameter = dependencies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ng-app Directive :</a:t>
            </a:r>
            <a:r>
              <a:rPr lang="en-US" dirty="0"/>
              <a:t> Defines AngularJS application root.</a:t>
            </a:r>
          </a:p>
          <a:p>
            <a:pPr marL="0" indent="0">
              <a:buNone/>
            </a:pPr>
            <a:r>
              <a:rPr lang="en-US" dirty="0"/>
              <a:t>&lt;div ng-app="</a:t>
            </a:r>
            <a:r>
              <a:rPr lang="en-US" dirty="0" err="1"/>
              <a:t>myApp</a:t>
            </a:r>
            <a:r>
              <a:rPr lang="en-US" dirty="0"/>
              <a:t>"&gt;</a:t>
            </a:r>
          </a:p>
          <a:p>
            <a:pPr marL="0" indent="0">
              <a:buNone/>
            </a:pPr>
            <a:r>
              <a:rPr lang="en-US" dirty="0"/>
              <a:t>Explain:</a:t>
            </a:r>
            <a:br>
              <a:rPr lang="en-US" dirty="0"/>
            </a:br>
            <a:r>
              <a:rPr lang="en-US" dirty="0"/>
              <a:t>This tells Angular where the app starts.</a:t>
            </a:r>
          </a:p>
          <a:p>
            <a:pPr marL="0" indent="0">
              <a:buNone/>
            </a:pPr>
            <a:r>
              <a:rPr lang="en-US" b="1" dirty="0"/>
              <a:t>Note</a:t>
            </a:r>
            <a:r>
              <a:rPr lang="en-US" dirty="0"/>
              <a:t>: Only one ng-app is usually used.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0268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000"/>
                            </p:stCondLst>
                            <p:childTnLst>
                              <p:par>
                                <p:cTn id="62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9000"/>
                            </p:stCondLst>
                            <p:childTnLst>
                              <p:par>
                                <p:cTn id="79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BB34F-DAC0-4503-B206-3885A1041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E5397-6FC5-06CB-1CF7-139EDCB0A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Controllers</a:t>
            </a:r>
            <a:br>
              <a:rPr lang="en-US" b="1" dirty="0">
                <a:solidFill>
                  <a:schemeClr val="tx1"/>
                </a:solidFill>
              </a:rPr>
            </a:b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46427-99B2-CF48-7ADA-D82B8B792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39445"/>
            <a:ext cx="8946541" cy="481850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Controller Responsibilities:</a:t>
            </a:r>
          </a:p>
          <a:p>
            <a:r>
              <a:rPr lang="en-US" dirty="0"/>
              <a:t>Handle UI logic</a:t>
            </a:r>
          </a:p>
          <a:p>
            <a:r>
              <a:rPr lang="en-US" dirty="0"/>
              <a:t>Manage data</a:t>
            </a:r>
          </a:p>
          <a:p>
            <a:r>
              <a:rPr lang="en-US" dirty="0"/>
              <a:t>Connect model and view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Explain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Controller is like brain of the UI.</a:t>
            </a:r>
          </a:p>
          <a:p>
            <a:pPr marL="0" indent="0">
              <a:buNone/>
            </a:pPr>
            <a:r>
              <a:rPr lang="en-US" dirty="0" err="1"/>
              <a:t>app.controller</a:t>
            </a:r>
            <a:r>
              <a:rPr lang="en-US" dirty="0"/>
              <a:t>("</a:t>
            </a:r>
            <a:r>
              <a:rPr lang="en-US" dirty="0" err="1"/>
              <a:t>mainCtrl</a:t>
            </a:r>
            <a:r>
              <a:rPr lang="en-US" dirty="0"/>
              <a:t>", function($scope){</a:t>
            </a:r>
            <a:br>
              <a:rPr lang="en-US" dirty="0"/>
            </a:br>
            <a:r>
              <a:rPr lang="en-US" dirty="0"/>
              <a:t>    $scope.name = "Sandy";</a:t>
            </a:r>
            <a:br>
              <a:rPr lang="en-US" dirty="0"/>
            </a:br>
            <a:r>
              <a:rPr lang="en-US" dirty="0"/>
              <a:t>});</a:t>
            </a:r>
          </a:p>
          <a:p>
            <a:r>
              <a:rPr lang="en-US" b="1" dirty="0"/>
              <a:t>ng-controller</a:t>
            </a:r>
          </a:p>
          <a:p>
            <a:pPr marL="0" indent="0">
              <a:buNone/>
            </a:pPr>
            <a:r>
              <a:rPr lang="en-US" dirty="0"/>
              <a:t>&lt;div ng-controller="</a:t>
            </a:r>
            <a:r>
              <a:rPr lang="en-US" dirty="0" err="1"/>
              <a:t>mainCtrl</a:t>
            </a:r>
            <a:r>
              <a:rPr lang="en-US" dirty="0"/>
              <a:t>"&gt;</a:t>
            </a:r>
            <a:br>
              <a:rPr lang="en-US" dirty="0"/>
            </a:br>
            <a:r>
              <a:rPr lang="en-US" dirty="0"/>
              <a:t>  {{ name }}</a:t>
            </a:r>
            <a:br>
              <a:rPr lang="en-US" dirty="0"/>
            </a:br>
            <a:r>
              <a:rPr lang="en-US" dirty="0"/>
              <a:t>&lt;/div&gt;</a:t>
            </a:r>
          </a:p>
          <a:p>
            <a:pPr marL="0" indent="0">
              <a:buNone/>
            </a:pPr>
            <a:r>
              <a:rPr lang="en-US" b="1" dirty="0"/>
              <a:t>Explain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Controller attaches data to scope.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3163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000"/>
                            </p:stCondLst>
                            <p:childTnLst>
                              <p:par>
                                <p:cTn id="62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9000"/>
                            </p:stCondLst>
                            <p:childTnLst>
                              <p:par>
                                <p:cTn id="79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1000"/>
                            </p:stCondLst>
                            <p:childTnLst>
                              <p:par>
                                <p:cTn id="96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BC206-B8FA-CE3D-49BA-FAFE45A14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83C9A-4379-6965-6F3B-2311C9634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Controllers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FF84E-8424-0736-FD82-46B5F9F46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39445"/>
            <a:ext cx="8946541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What is $scope?</a:t>
            </a:r>
          </a:p>
          <a:p>
            <a:r>
              <a:rPr lang="en-US" dirty="0"/>
              <a:t>Communication bridge between controller and view</a:t>
            </a:r>
          </a:p>
          <a:p>
            <a:r>
              <a:rPr lang="en-US" dirty="0"/>
              <a:t>Stores variables and functions</a:t>
            </a:r>
          </a:p>
          <a:p>
            <a:pPr marL="0" indent="0">
              <a:buNone/>
            </a:pPr>
            <a:r>
              <a:rPr lang="en-US" dirty="0"/>
              <a:t>Explain visually:</a:t>
            </a:r>
            <a:br>
              <a:rPr lang="en-US" dirty="0"/>
            </a:br>
            <a:r>
              <a:rPr lang="en-US" dirty="0"/>
              <a:t>Controller → $scope → View</a:t>
            </a:r>
          </a:p>
        </p:txBody>
      </p:sp>
    </p:spTree>
    <p:extLst>
      <p:ext uri="{BB962C8B-B14F-4D97-AF65-F5344CB8AC3E}">
        <p14:creationId xmlns:p14="http://schemas.microsoft.com/office/powerpoint/2010/main" val="4822455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000"/>
                            </p:stCondLst>
                            <p:childTnLst>
                              <p:par>
                                <p:cTn id="62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B3797-BFC8-9551-762A-3C007DFCB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2CDDA-8597-1FE4-E995-5E600FF8F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Data Binding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A42F2-451C-18EF-CEDD-3A7939DB7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39445"/>
            <a:ext cx="8946541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What is Data Binding?</a:t>
            </a:r>
          </a:p>
          <a:p>
            <a:r>
              <a:rPr lang="en-US" dirty="0"/>
              <a:t>Automatic synchronization between model and view.</a:t>
            </a:r>
          </a:p>
          <a:p>
            <a:r>
              <a:rPr lang="en-US" dirty="0"/>
              <a:t>Explain:</a:t>
            </a:r>
          </a:p>
          <a:p>
            <a:r>
              <a:rPr lang="en-US" dirty="0"/>
              <a:t>If model changes → UI updates</a:t>
            </a:r>
            <a:br>
              <a:rPr lang="en-US" dirty="0"/>
            </a:br>
            <a:r>
              <a:rPr lang="en-US" dirty="0"/>
              <a:t>If UI changes → model updates</a:t>
            </a:r>
          </a:p>
          <a:p>
            <a:pPr marL="0" indent="0">
              <a:buNone/>
            </a:pPr>
            <a:r>
              <a:rPr lang="en-US" dirty="0"/>
              <a:t>This is </a:t>
            </a:r>
            <a:r>
              <a:rPr lang="en-US" b="1" dirty="0"/>
              <a:t>core AngularJS concept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Expressions {{ }}</a:t>
            </a:r>
          </a:p>
          <a:p>
            <a:r>
              <a:rPr lang="en-US" dirty="0"/>
              <a:t>Used to display data.</a:t>
            </a:r>
          </a:p>
          <a:p>
            <a:pPr marL="800100" lvl="2" indent="0">
              <a:buNone/>
            </a:pPr>
            <a:r>
              <a:rPr lang="en-US" sz="2000" dirty="0"/>
              <a:t>{{ 5 + 5 }}</a:t>
            </a:r>
            <a:br>
              <a:rPr lang="en-US" sz="2000" dirty="0"/>
            </a:br>
            <a:r>
              <a:rPr lang="en-US" sz="2000" dirty="0"/>
              <a:t>{{ name }}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8056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6C4B8-EE4A-FF88-F5D6-8166230FB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AA639-345E-661A-0C64-02BDEB024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Data Binding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C618B-E3B0-4B6B-CCD5-AD1EA6351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39445"/>
            <a:ext cx="8946541" cy="4195481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Two-Way Data Binding</a:t>
            </a:r>
          </a:p>
          <a:p>
            <a:pPr marL="0" indent="0">
              <a:buNone/>
            </a:pPr>
            <a:r>
              <a:rPr lang="en-US" dirty="0"/>
              <a:t>&lt;input ng-model="name"&gt;</a:t>
            </a:r>
            <a:br>
              <a:rPr lang="en-US" dirty="0"/>
            </a:br>
            <a:r>
              <a:rPr lang="en-US" dirty="0"/>
              <a:t>&lt;p&gt;{{ name }}&lt;/p&gt;</a:t>
            </a:r>
          </a:p>
          <a:p>
            <a:pPr marL="0" indent="0">
              <a:buNone/>
            </a:pPr>
            <a:r>
              <a:rPr lang="en-US" b="1" dirty="0"/>
              <a:t>Explain:</a:t>
            </a:r>
          </a:p>
          <a:p>
            <a:pPr marL="0" indent="0">
              <a:buNone/>
            </a:pPr>
            <a:r>
              <a:rPr lang="en-US" dirty="0"/>
              <a:t>Change input → view updates</a:t>
            </a:r>
          </a:p>
          <a:p>
            <a:pPr marL="0" indent="0">
              <a:buNone/>
            </a:pPr>
            <a:r>
              <a:rPr lang="en-US" dirty="0"/>
              <a:t>Change model → input updates</a:t>
            </a:r>
          </a:p>
          <a:p>
            <a:pPr marL="0" indent="0">
              <a:buNone/>
            </a:pPr>
            <a:r>
              <a:rPr lang="en-US" dirty="0"/>
              <a:t>VERY IMPORTANT concept.</a:t>
            </a:r>
          </a:p>
          <a:p>
            <a:r>
              <a:rPr lang="en-US" b="1" dirty="0"/>
              <a:t>One-Way vs Two-Way Binding</a:t>
            </a:r>
          </a:p>
          <a:p>
            <a:pPr marL="0" indent="0">
              <a:buNone/>
            </a:pPr>
            <a:r>
              <a:rPr lang="en-US" dirty="0"/>
              <a:t>Explain difference clearly.</a:t>
            </a:r>
          </a:p>
          <a:p>
            <a:pPr marL="0" indent="0">
              <a:buNone/>
            </a:pPr>
            <a:r>
              <a:rPr lang="en-US" b="1" dirty="0"/>
              <a:t>Traditional JS:</a:t>
            </a:r>
            <a:br>
              <a:rPr lang="en-US" dirty="0"/>
            </a:br>
            <a:r>
              <a:rPr lang="en-US" dirty="0"/>
              <a:t>Manual DOM update.</a:t>
            </a:r>
          </a:p>
          <a:p>
            <a:pPr marL="0" indent="0">
              <a:buNone/>
            </a:pPr>
            <a:r>
              <a:rPr lang="en-US" b="1" dirty="0"/>
              <a:t>AngularJS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Automatic update.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4ACD80-FFD4-BF30-82AA-7E00639B8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7746" y="3298598"/>
            <a:ext cx="6868484" cy="325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8402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000"/>
                            </p:stCondLst>
                            <p:childTnLst>
                              <p:par>
                                <p:cTn id="62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9000"/>
                            </p:stCondLst>
                            <p:childTnLst>
                              <p:par>
                                <p:cTn id="79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1000"/>
                            </p:stCondLst>
                            <p:childTnLst>
                              <p:par>
                                <p:cTn id="96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9E7AF-742E-C5D9-53BB-C8AF27D6E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E6F83-2770-518F-D1F4-DE6658AED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Directives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74CB7-5928-A100-5177-E79543F5C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39445"/>
            <a:ext cx="8946541" cy="4195481"/>
          </a:xfrm>
        </p:spPr>
        <p:txBody>
          <a:bodyPr>
            <a:normAutofit/>
          </a:bodyPr>
          <a:lstStyle/>
          <a:p>
            <a:r>
              <a:rPr lang="en-US" b="1" dirty="0"/>
              <a:t>Built-in Directives 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What is a Directive? </a:t>
            </a:r>
          </a:p>
          <a:p>
            <a:r>
              <a:rPr lang="en-US" dirty="0"/>
              <a:t>Directive is an HTML attribute that extends HTML functionality.</a:t>
            </a:r>
          </a:p>
          <a:p>
            <a:r>
              <a:rPr lang="en-US" dirty="0"/>
              <a:t>Starts with ng-</a:t>
            </a:r>
          </a:p>
          <a:p>
            <a:r>
              <a:rPr lang="en-US" dirty="0"/>
              <a:t>Extends HTML behavior</a:t>
            </a:r>
          </a:p>
        </p:txBody>
      </p:sp>
    </p:spTree>
    <p:extLst>
      <p:ext uri="{BB962C8B-B14F-4D97-AF65-F5344CB8AC3E}">
        <p14:creationId xmlns:p14="http://schemas.microsoft.com/office/powerpoint/2010/main" val="27840311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000"/>
                            </p:stCondLst>
                            <p:childTnLst>
                              <p:par>
                                <p:cTn id="62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9000"/>
                            </p:stCondLst>
                            <p:childTnLst>
                              <p:par>
                                <p:cTn id="79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49BED-02E6-A7FA-AB93-FF378791B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F11E4-BD8C-811F-A93D-8998AB7F2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Directives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36B84-3FDD-878F-1BB2-5C6ECE45A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39445"/>
            <a:ext cx="8946541" cy="419548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ng-model</a:t>
            </a:r>
          </a:p>
          <a:p>
            <a:r>
              <a:rPr lang="en-US" dirty="0"/>
              <a:t>The ng-model directive binds the value of HTML controls (input, select, </a:t>
            </a:r>
            <a:r>
              <a:rPr lang="en-US" dirty="0" err="1"/>
              <a:t>textarea</a:t>
            </a:r>
            <a:r>
              <a:rPr lang="en-US" dirty="0"/>
              <a:t>) to application data.</a:t>
            </a:r>
          </a:p>
          <a:p>
            <a:r>
              <a:rPr lang="en-US" dirty="0"/>
              <a:t>The ng-model directive can also:</a:t>
            </a:r>
          </a:p>
          <a:p>
            <a:r>
              <a:rPr lang="en-US" dirty="0"/>
              <a:t>Provide type validation for application data (number, email, required).</a:t>
            </a:r>
          </a:p>
          <a:p>
            <a:r>
              <a:rPr lang="en-US" dirty="0"/>
              <a:t>Provide status for application data (invalid, dirty, touched, error).</a:t>
            </a:r>
          </a:p>
          <a:p>
            <a:r>
              <a:rPr lang="en-US" dirty="0"/>
              <a:t>Provide CSS classes for HTML elements.</a:t>
            </a:r>
          </a:p>
          <a:p>
            <a:r>
              <a:rPr lang="en-US" dirty="0"/>
              <a:t>Bind HTML elements to HTML forms.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ng-click</a:t>
            </a:r>
          </a:p>
          <a:p>
            <a:r>
              <a:rPr lang="en-US" dirty="0"/>
              <a:t> used for Event handling</a:t>
            </a:r>
          </a:p>
          <a:p>
            <a:r>
              <a:rPr lang="en-US" dirty="0"/>
              <a:t>&lt;button ng-click="count = count + 1"&gt;Click&lt;/button&gt;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7270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C005E-1D7B-8378-84A5-102344E47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8D244-C103-7695-C8C6-CCCB5AD77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Directives</a:t>
            </a:r>
            <a:br>
              <a:rPr lang="en-US" b="1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>          </a:t>
            </a:r>
            <a:r>
              <a:rPr lang="en-US" sz="1800" b="1" dirty="0">
                <a:solidFill>
                  <a:schemeClr val="tx1"/>
                </a:solidFill>
              </a:rPr>
              <a:t>example</a:t>
            </a:r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CCE129-E8F4-37A8-1058-A8645978E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6567" y="1218413"/>
            <a:ext cx="6916115" cy="563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9310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A8F47-47D4-B907-9CF5-671FD446C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ACD0D-7723-0A87-07AF-6760125A1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Directives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83B4D-0AA1-C11F-2C3E-362C93DE3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39445"/>
            <a:ext cx="8946541" cy="4195481"/>
          </a:xfrm>
        </p:spPr>
        <p:txBody>
          <a:bodyPr>
            <a:normAutofit/>
          </a:bodyPr>
          <a:lstStyle/>
          <a:p>
            <a:r>
              <a:rPr lang="en-US" b="1" dirty="0"/>
              <a:t>ng-show / ng-hide</a:t>
            </a:r>
          </a:p>
          <a:p>
            <a:pPr marL="0" indent="0">
              <a:buNone/>
            </a:pPr>
            <a:r>
              <a:rPr lang="en-US" dirty="0"/>
              <a:t>Conditional visibility.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ng-if</a:t>
            </a:r>
          </a:p>
          <a:p>
            <a:pPr marL="0" indent="0">
              <a:buNone/>
            </a:pPr>
            <a:r>
              <a:rPr lang="en-US" dirty="0"/>
              <a:t>Difference between:</a:t>
            </a:r>
          </a:p>
          <a:p>
            <a:pPr marL="0" indent="0">
              <a:buNone/>
            </a:pPr>
            <a:r>
              <a:rPr lang="en-US" dirty="0"/>
              <a:t>ng-if (removes from DOM)</a:t>
            </a:r>
          </a:p>
          <a:p>
            <a:pPr marL="0" indent="0">
              <a:buNone/>
            </a:pPr>
            <a:r>
              <a:rPr lang="en-US" dirty="0"/>
              <a:t>ng-show (just hides)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065063-49CF-3935-6D2A-502B89A848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81" y="1639445"/>
            <a:ext cx="6430272" cy="11145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60A94B-50E9-5A3F-7235-B2708218AC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4181" y="2960245"/>
            <a:ext cx="3676781" cy="3892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9106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000"/>
                            </p:stCondLst>
                            <p:childTnLst>
                              <p:par>
                                <p:cTn id="62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9000"/>
                            </p:stCondLst>
                            <p:childTnLst>
                              <p:par>
                                <p:cTn id="79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1000"/>
                            </p:stCondLst>
                            <p:childTnLst>
                              <p:par>
                                <p:cTn id="96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56B84-604C-AC17-5E05-45AE532D7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A06CC-C50C-1FDF-5665-85EA5D11B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Directives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173F6-6699-0497-3BD2-D963E186C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39445"/>
            <a:ext cx="8946541" cy="4195481"/>
          </a:xfrm>
        </p:spPr>
        <p:txBody>
          <a:bodyPr>
            <a:normAutofit/>
          </a:bodyPr>
          <a:lstStyle/>
          <a:p>
            <a:r>
              <a:rPr lang="en-US" b="1" dirty="0"/>
              <a:t>ng-repeat :</a:t>
            </a:r>
            <a:r>
              <a:rPr lang="en-US" dirty="0"/>
              <a:t>Very important slide.</a:t>
            </a:r>
          </a:p>
          <a:p>
            <a:r>
              <a:rPr lang="en-US" dirty="0"/>
              <a:t>Used for: Looping arrays.</a:t>
            </a:r>
          </a:p>
          <a:p>
            <a:r>
              <a:rPr lang="en-US" dirty="0">
                <a:solidFill>
                  <a:schemeClr val="tx1"/>
                </a:solidFill>
              </a:rPr>
              <a:t>Explain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Looping over arrays.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FD7266-5520-9030-986E-89A16FBDB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5668" y="1930399"/>
            <a:ext cx="5096640" cy="3288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0829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3580D-AA20-F7BC-2D25-4070FC495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09713-CF25-FC57-65F6-166EB2531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17B8E-C959-158B-A94E-004F2FC8A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28725"/>
            <a:ext cx="10266891" cy="501967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Build a simple Login Form UI using </a:t>
            </a:r>
            <a:r>
              <a:rPr lang="en-US" b="1" dirty="0"/>
              <a:t>AngularJS directives</a:t>
            </a:r>
            <a:r>
              <a:rPr lang="en-US" dirty="0"/>
              <a:t> with good design.</a:t>
            </a:r>
          </a:p>
          <a:p>
            <a:r>
              <a:rPr lang="en-US" b="1" dirty="0"/>
              <a:t>Requirements:</a:t>
            </a:r>
          </a:p>
          <a:p>
            <a:r>
              <a:rPr lang="en-US" dirty="0"/>
              <a:t>Create a login form that contains:</a:t>
            </a:r>
          </a:p>
          <a:p>
            <a:pPr lvl="1"/>
            <a:r>
              <a:rPr lang="en-US" dirty="0"/>
              <a:t>Student Name input</a:t>
            </a:r>
          </a:p>
          <a:p>
            <a:pPr lvl="1"/>
            <a:r>
              <a:rPr lang="en-US" dirty="0"/>
              <a:t>Password input</a:t>
            </a:r>
          </a:p>
          <a:p>
            <a:pPr lvl="1"/>
            <a:r>
              <a:rPr lang="en-US" dirty="0"/>
              <a:t>Checkbox </a:t>
            </a:r>
          </a:p>
          <a:p>
            <a:r>
              <a:rPr lang="en-US" dirty="0"/>
              <a:t>Add a Login Button:</a:t>
            </a:r>
          </a:p>
          <a:p>
            <a:pPr lvl="1"/>
            <a:r>
              <a:rPr lang="en-US" dirty="0"/>
              <a:t>When clicked, copy the student name to an output variable using ng-click.</a:t>
            </a:r>
          </a:p>
          <a:p>
            <a:r>
              <a:rPr lang="en-US" dirty="0"/>
              <a:t>Implement form validation:</a:t>
            </a:r>
          </a:p>
          <a:p>
            <a:pPr lvl="1"/>
            <a:r>
              <a:rPr lang="en-US" dirty="0"/>
              <a:t>Both username and password fields are required.</a:t>
            </a:r>
          </a:p>
          <a:p>
            <a:pPr lvl="1"/>
            <a:r>
              <a:rPr lang="en-US" dirty="0"/>
              <a:t>Disable the login button if the form is invalid.</a:t>
            </a:r>
          </a:p>
          <a:p>
            <a:r>
              <a:rPr lang="en-US" dirty="0"/>
              <a:t>Display Section:</a:t>
            </a:r>
          </a:p>
          <a:p>
            <a:pPr lvl="1"/>
            <a:r>
              <a:rPr lang="en-US" dirty="0"/>
              <a:t>Show the student name using ng-if or ng-show/ng-hide.</a:t>
            </a:r>
          </a:p>
          <a:p>
            <a:pPr lvl="1"/>
            <a:r>
              <a:rPr lang="en-US" dirty="0"/>
              <a:t>Display a message only if the checkbox is selected.</a:t>
            </a:r>
          </a:p>
          <a:p>
            <a:r>
              <a:rPr lang="en-US" dirty="0"/>
              <a:t>Use simple and good clean UI design using </a:t>
            </a:r>
            <a:r>
              <a:rPr lang="en-US" dirty="0" err="1"/>
              <a:t>bootstap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781562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7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7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8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9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0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1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2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Face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3699</TotalTime>
  <Words>909</Words>
  <Application>Microsoft Office PowerPoint</Application>
  <PresentationFormat>Widescreen</PresentationFormat>
  <Paragraphs>157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Antique Olive</vt:lpstr>
      <vt:lpstr>Arial</vt:lpstr>
      <vt:lpstr>Calibri</vt:lpstr>
      <vt:lpstr>Calibri Light</vt:lpstr>
      <vt:lpstr>Trebuchet MS</vt:lpstr>
      <vt:lpstr>Wingdings 3</vt:lpstr>
      <vt:lpstr>Facet</vt:lpstr>
      <vt:lpstr>Custom Design</vt:lpstr>
      <vt:lpstr>Angular JS</vt:lpstr>
      <vt:lpstr>What is AngularJS?</vt:lpstr>
      <vt:lpstr>What is AngularJS?</vt:lpstr>
      <vt:lpstr>Why AngularJS?</vt:lpstr>
      <vt:lpstr>MVC Pattern in AngularJS</vt:lpstr>
      <vt:lpstr>How AngularJS Works</vt:lpstr>
      <vt:lpstr>AngularJS Applications</vt:lpstr>
      <vt:lpstr>Creating a Module</vt:lpstr>
      <vt:lpstr>Controllers </vt:lpstr>
      <vt:lpstr>Controllers</vt:lpstr>
      <vt:lpstr>Data Binding</vt:lpstr>
      <vt:lpstr>Data Binding</vt:lpstr>
      <vt:lpstr>Directives</vt:lpstr>
      <vt:lpstr>Directives</vt:lpstr>
      <vt:lpstr>Directives           example</vt:lpstr>
      <vt:lpstr>Directives</vt:lpstr>
      <vt:lpstr>Directives</vt:lpstr>
      <vt:lpstr>Task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Petra</dc:creator>
  <cp:lastModifiedBy>sandy maged</cp:lastModifiedBy>
  <cp:revision>595</cp:revision>
  <dcterms:created xsi:type="dcterms:W3CDTF">2026-01-26T08:52:25Z</dcterms:created>
  <dcterms:modified xsi:type="dcterms:W3CDTF">2026-02-24T22:43:01Z</dcterms:modified>
</cp:coreProperties>
</file>