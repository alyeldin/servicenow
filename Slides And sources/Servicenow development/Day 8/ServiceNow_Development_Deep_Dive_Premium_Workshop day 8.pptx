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pages 1-2: title, dates, topic outline, learning outcome.
- title_bg.png derived from user-approved generated design asset in this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Feedback files Pasted text.txt and Pasted text (2).txt: students requested conceptual-first explanation, real-life examples, clearer pacing, and progressive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pages 1-2: full day-by-day workshop outline, prerequisite knowledge, and real-world scenario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 2: official real-world scenario is an Incident Escalation System combining Business Rules, Script Includes, Events, Notifications, and Scheduled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servicenow-xanadu-application-development-enus.pdf, pages 1362-1363: client-side scripts, server-side scripts, and script types by runtime.
- premiujm.pdf, pages 1-2: day-1/day-2 scope and incident scenario.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servicenow-xanadu-application-development-enus.pdf, pages 1362-1363: onLoad, onChange, and onSubmit definitions.
- Feedback files: students asked for conceptual explanation and confirmation examples after each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servicenow-xanadu-application-development-enus.pdf, page 1772: UI Policies/Data Policies before scripting, isLoading and newValue checks, async GlideAjax preference, avoid global client scripts and DOM manipulation.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servicenow-xanadu-application-development-enus.pdf, page 1772: UI Policies are useful for suggestion; Data Policies and Business Rules for enforcement like making a field mandatory.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servicenow-xanadu-application-development-enus.pdf, pages 1362-1363: server-side scripting scope and runtime.
- servicenow-xanadu-application-development-enus.pdf, pages 1408-1409: GlideRecordSecure examples, GlideSystem logging, GlideDateTime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servicenow-xanadu-application-development-enus.pdf, page 1772 and following: Business Rule best practices and before/after/async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 1: Background Scripts, UI Actions, Reference Qualifiers included in day 1 outline.
- servicenow-xanadu-application-development-enus.pdf, page 1874: reference qualifier types and advanced options.
- servicenow-xanadu-application-development-enus.pdf, page 1628: Field Watcher behavior and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 1: Day 1 outline topics.
- Feedback files: students asked for confirmation examples, structured pacing, and understanding the why before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 2: Script Includes and modular scripting approach.
- servicenow-xanadu-application-development-enus.pdf, pages 1242-1243: Script Include API, clientCallable property, and recommendation to use JavaScript modules for new scripts when possible.
- servicenow-xanadu-application-development-enus.pdf, pages 1429-1430: Glide AJAX enabled Script Includes and security/privacy considerations.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 2: Scheduled Jobs, event-driven architecture, and custom events &amp; triggers.
- servicenow-xanadu-application-development-enus.pdf, page 1772 and related scripting guidance: Business Rules, Script Includes, and automation tool positioning.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 2: event-based notifications, Email Scripts, and template customization.
- servicenow-xanadu-application-development-enus.pdf, page 2641: ATF validation of outbound email in sys_email.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servicenow-xanadu-application-development-enus.pdf, page 27 (application model diagram) and pages 27-33 (application files, scope, tables, dependencies).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Feedback files Pasted text.txt and Pasted text (2).txt: students asked for non-redundant, progressive homework with real use cases and business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premiujm.pdf, page 2: learning outcome.
- servicenow-xanadu-application-development-enus.pdf, pages 4-6: app development phases and testing/deployment/maintenance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2B"/>
          </a:solidFill>
          <a:ln w="12700">
            <a:solidFill>
              <a:srgbClr val="081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D0C5"/>
          </a:solidFill>
          <a:ln w="12700">
            <a:solidFill>
              <a:srgbClr val="18D0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6519672"/>
            <a:ext cx="11292840" cy="18288"/>
          </a:xfrm>
          <a:prstGeom prst="rect">
            <a:avLst/>
          </a:prstGeom>
          <a:solidFill>
            <a:srgbClr val="174762">
              <a:alpha val="82000"/>
            </a:srgbClr>
          </a:solidFill>
          <a:ln w="12700">
            <a:solidFill>
              <a:srgbClr val="174762">
                <a:alpha val="82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ervicenow_deck/assets/title_bg_clean.png">    </p:cNvPr>
          <p:cNvPicPr>
            <a:picLocks noChangeAspect="1"/>
          </p:cNvPicPr>
          <p:nvPr/>
        </p:nvPicPr>
        <p:blipFill>
          <a:blip r:embed="rId1"/>
          <a:srcRect l="0" r="0" t="11629" b="11628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257800" cy="6858000"/>
          </a:xfrm>
          <a:prstGeom prst="rect">
            <a:avLst/>
          </a:prstGeom>
          <a:solidFill>
            <a:srgbClr val="04101A">
              <a:alpha val="98000"/>
            </a:srgbClr>
          </a:solidFill>
          <a:ln w="12700">
            <a:solidFill>
              <a:srgbClr val="04101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ServiceNow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44475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Deep–Dive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85216" y="1993392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Scripting &amp; Automation | Scenario-First Hands-On Workshop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1792" y="5157216"/>
            <a:ext cx="1389888" cy="256032"/>
          </a:xfrm>
          <a:prstGeom prst="roundRect">
            <a:avLst>
              <a:gd name="adj" fmla="val 32143"/>
            </a:avLst>
          </a:prstGeom>
          <a:solidFill>
            <a:srgbClr val="73E0A3"/>
          </a:solidFill>
          <a:ln w="12700">
            <a:solidFill>
              <a:srgbClr val="73E0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" y="517550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APRIL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84832" y="5157216"/>
            <a:ext cx="138988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57984" y="517550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APRIL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47872" y="5157216"/>
            <a:ext cx="1737360" cy="256032"/>
          </a:xfrm>
          <a:prstGeom prst="roundRect">
            <a:avLst>
              <a:gd name="adj" fmla="val 32143"/>
            </a:avLst>
          </a:prstGeom>
          <a:solidFill>
            <a:srgbClr val="FFCA66"/>
          </a:solidFill>
          <a:ln w="12700">
            <a:solidFill>
              <a:srgbClr val="FFC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21024" y="5175504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USE CASE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03504" y="5596128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form behavior to business rules, reusable script includes, events, scheduled jobs, and production-style notification design.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these sessions are redesigned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FEEDBACK-DRIVEN</a:t>
            </a:r>
            <a:endParaRPr lang="en-US" sz="900" dirty="0"/>
          </a:p>
        </p:txBody>
      </p:sp>
      <p:pic>
        <p:nvPicPr>
          <p:cNvPr id="4" name="Image 0" descr="/mnt/data/diagrams/learning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57477"/>
            <a:ext cx="10835640" cy="7311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2514600"/>
            <a:ext cx="3154680" cy="1965960"/>
          </a:xfrm>
          <a:prstGeom prst="roundRect">
            <a:avLst>
              <a:gd name="adj" fmla="val 5581"/>
            </a:avLst>
          </a:prstGeom>
          <a:solidFill>
            <a:srgbClr val="123B52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2679192"/>
            <a:ext cx="1600200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269748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BEFORE HOW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Concept first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" y="345643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business scenario, actor journey, and why the tool exists before any configuration.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069080" y="2514600"/>
            <a:ext cx="3154680" cy="1965960"/>
          </a:xfrm>
          <a:prstGeom prst="roundRect">
            <a:avLst>
              <a:gd name="adj" fmla="val 5581"/>
            </a:avLst>
          </a:prstGeom>
          <a:solidFill>
            <a:srgbClr val="123B52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15384" y="2679192"/>
            <a:ext cx="1600200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88536" y="269748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AFTER TOPIC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15384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Confirmation examples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215384" y="345643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major concept ends with a short example, a mini script, and a visible expected result.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79792" y="2514600"/>
            <a:ext cx="3154680" cy="1965960"/>
          </a:xfrm>
          <a:prstGeom prst="roundRect">
            <a:avLst>
              <a:gd name="adj" fmla="val 5581"/>
            </a:avLst>
          </a:prstGeom>
          <a:solidFill>
            <a:srgbClr val="204B44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26096" y="2679192"/>
            <a:ext cx="1600200" cy="256032"/>
          </a:xfrm>
          <a:prstGeom prst="roundRect">
            <a:avLst>
              <a:gd name="adj" fmla="val 32143"/>
            </a:avLst>
          </a:prstGeom>
          <a:solidFill>
            <a:srgbClr val="73E0A3"/>
          </a:solidFill>
          <a:ln w="12700">
            <a:solidFill>
              <a:srgbClr val="73E0A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99248" y="2697480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LADDER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26096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Progressive practice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626096" y="345643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workshop builds one incident escalation solution step by step instead of repeating disconnected tasks.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8368" y="4773168"/>
            <a:ext cx="10835640" cy="1353312"/>
          </a:xfrm>
          <a:prstGeom prst="roundRect">
            <a:avLst>
              <a:gd name="adj" fmla="val 8108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8680" y="50109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feedback shift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401568" y="4910328"/>
            <a:ext cx="7571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see the full picture before the click path.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script is tied to a realistic enterprise incident case.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becomes structured, cumulative, and easier to retain.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Two-day roadmap and final deliverable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OUTLINE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5440680" cy="4983480"/>
          </a:xfrm>
          <a:prstGeom prst="roundRect">
            <a:avLst>
              <a:gd name="adj" fmla="val 2202"/>
            </a:avLst>
          </a:prstGeom>
          <a:solidFill>
            <a:srgbClr val="102C42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99632" y="987552"/>
            <a:ext cx="5330952" cy="4983480"/>
          </a:xfrm>
          <a:prstGeom prst="roundRect">
            <a:avLst>
              <a:gd name="adj" fmla="val 2202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188720"/>
            <a:ext cx="1737360" cy="237744"/>
          </a:xfrm>
          <a:prstGeom prst="roundRect">
            <a:avLst>
              <a:gd name="adj" fmla="val 30769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2161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 · 19 APRIL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7824" y="1554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scripting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scripting: onLoad, onChange, onSubmit, g_form API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behavior and validation logic; UI Policies vs Client Scripts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CRUD with GlideRecord and GlideRecordSecure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GlideDateTime, gs.info(), gs.log(), and business-rule timing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tools: Background Scripts, UI Actions, Reference Qualifiers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" y="4526280"/>
            <a:ext cx="4681728" cy="1097280"/>
          </a:xfrm>
          <a:prstGeom prst="roundRect">
            <a:avLst>
              <a:gd name="adj" fmla="val 10000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4736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 by end of Day 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50474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incident form that validates P1 logic, filters assignee choices, and runs clean server-side checks.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19088" y="1188720"/>
            <a:ext cx="1737360" cy="237744"/>
          </a:xfrm>
          <a:prstGeom prst="roundRect">
            <a:avLst>
              <a:gd name="adj" fmla="val 30769"/>
            </a:avLst>
          </a:prstGeom>
          <a:solidFill>
            <a:srgbClr val="73E0A3"/>
          </a:solidFill>
          <a:ln w="12700">
            <a:solidFill>
              <a:srgbClr val="73E0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21615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· 21 APRIL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development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37376" y="1993392"/>
            <a:ext cx="45537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architecture with Script Includes and modular logic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Jobs, custom events, and event-driven automation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triggers, Email Scripts, and template customization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incident escalation orchestration with testing mindset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37376" y="425196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0B2435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0256" y="4480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build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0256" y="477316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production-style incident escalation flow that combines client logic, server logic, business rules, events, notifications, and scheduled monitoring.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Anchor scenario: Incident Escalation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CASE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21792" y="987552"/>
            <a:ext cx="3730752" cy="5440680"/>
          </a:xfrm>
          <a:prstGeom prst="roundRect">
            <a:avLst>
              <a:gd name="adj" fmla="val 2941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261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problem are we solving?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" y="1755648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incidents must never wait silently without ownership.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need clear form guidance when the priority is critical.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Managers need instant escalation signals and reminder emails if updates stall.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choices should be filtered to the right support teams.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must stay secure, reusable, and easy to debug.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9536" y="4535424"/>
            <a:ext cx="3154680" cy="1261872"/>
          </a:xfrm>
          <a:prstGeom prst="roundRect">
            <a:avLst>
              <a:gd name="adj" fmla="val 8696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4736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measures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50109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missed P1 handoffs, faster ownership, cleaner audit trail, and reusable escalation logic.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35424" y="987552"/>
            <a:ext cx="7031736" cy="3090672"/>
          </a:xfrm>
          <a:prstGeom prst="roundRect">
            <a:avLst>
              <a:gd name="adj" fmla="val 3550"/>
            </a:avLst>
          </a:prstGeom>
          <a:solidFill>
            <a:srgbClr val="0B2435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11" name="Image 0" descr="/mnt/data/diagrams/incident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2042776"/>
            <a:ext cx="6620256" cy="7973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54880" y="3611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flow we will build across both days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35424" y="4279392"/>
            <a:ext cx="7031736" cy="2148840"/>
          </a:xfrm>
          <a:prstGeom prst="roundRect">
            <a:avLst>
              <a:gd name="adj" fmla="val 5106"/>
            </a:avLst>
          </a:prstGeom>
          <a:solidFill>
            <a:srgbClr val="123B52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36592" y="4590288"/>
            <a:ext cx="1481328" cy="1325880"/>
          </a:xfrm>
          <a:prstGeom prst="roundRect">
            <a:avLst>
              <a:gd name="adj" fmla="val 8276"/>
            </a:avLst>
          </a:prstGeom>
          <a:solidFill>
            <a:srgbClr val="0E283B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473659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guidance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846320" y="507492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form smarter before save.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0" y="4590288"/>
            <a:ext cx="1481328" cy="1325880"/>
          </a:xfrm>
          <a:prstGeom prst="roundRect">
            <a:avLst>
              <a:gd name="adj" fmla="val 8276"/>
            </a:avLst>
          </a:prstGeom>
          <a:solidFill>
            <a:srgbClr val="0E283B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10528" y="473659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validation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510528" y="507492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critical rules enforceable and secure.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065008" y="4590288"/>
            <a:ext cx="1481328" cy="1325880"/>
          </a:xfrm>
          <a:prstGeom prst="roundRect">
            <a:avLst>
              <a:gd name="adj" fmla="val 8276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174736" y="473659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174736" y="507492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events, emails, and time-based reminders.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729216" y="4590288"/>
            <a:ext cx="1481328" cy="1325880"/>
          </a:xfrm>
          <a:prstGeom prst="roundRect">
            <a:avLst>
              <a:gd name="adj" fmla="val 8276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838944" y="473659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logic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838944" y="5074920"/>
            <a:ext cx="1207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repeatable logic into Script Includes.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Big picture: where each scripting tool 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10844784" cy="2359152"/>
          </a:xfrm>
          <a:prstGeom prst="roundRect">
            <a:avLst>
              <a:gd name="adj" fmla="val 4651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5" name="Image 0" descr="/mnt/data/diagrams/client_server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72512"/>
            <a:ext cx="10424160" cy="71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370332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39136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433425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immediate guidance, visibility, mandatory logic, and input feedback.</a:t>
            </a:r>
            <a:endParaRPr lang="en-US" sz="1420" dirty="0"/>
          </a:p>
        </p:txBody>
      </p:sp>
      <p:sp>
        <p:nvSpPr>
          <p:cNvPr id="9" name="Shape 6"/>
          <p:cNvSpPr/>
          <p:nvPr/>
        </p:nvSpPr>
        <p:spPr>
          <a:xfrm>
            <a:off x="3429000" y="370332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75304" y="39136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layer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575304" y="433425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secure CRUD, date logic, reusable APIs, and reliable enforcement.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6199632" y="370332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204B44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45936" y="39136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rule engine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45936" y="433425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record lifecycle timing before, after, query, display, and async.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970264" y="3703320"/>
            <a:ext cx="2542032" cy="1920240"/>
          </a:xfrm>
          <a:prstGeom prst="roundRect">
            <a:avLst>
              <a:gd name="adj" fmla="val 5714"/>
            </a:avLst>
          </a:prstGeom>
          <a:solidFill>
            <a:srgbClr val="204B44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116568" y="39136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layer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116568" y="433425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events, emails, and scheduled checks after the record work is done.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749808" y="59710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rule for these sessions: always explain the business reason first, then show which layer owns that problem.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Client-side scripting fundamentals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3730752" cy="5440680"/>
          </a:xfrm>
          <a:prstGeom prst="roundRect">
            <a:avLst>
              <a:gd name="adj" fmla="val 2941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2618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each client script runs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77824" y="1783080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92024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onLoad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10512" y="194767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form opens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221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defaults, show messages, hide or reveal fields.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7824" y="2990088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12724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onChange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10512" y="315468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watched field changes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to priority, category, caller, impact, etc.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77824" y="4197096"/>
            <a:ext cx="3291840" cy="932688"/>
          </a:xfrm>
          <a:prstGeom prst="roundRect">
            <a:avLst>
              <a:gd name="adj" fmla="val 11765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433425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onSubmit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810512" y="43616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before save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6360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client-side validation before the request is sent.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77824" y="5440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C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 note: onChange also fires when the page loads, so the isLoading guard matters.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08576" y="1097280"/>
            <a:ext cx="6720840" cy="3127248"/>
          </a:xfrm>
          <a:prstGeom prst="roundRect">
            <a:avLst>
              <a:gd name="adj" fmla="val 3509"/>
            </a:avLst>
          </a:prstGeom>
          <a:solidFill>
            <a:srgbClr val="0D2233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25296"/>
            <a:ext cx="148132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2435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ONCHANGE EXAMPLE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1517904"/>
            <a:ext cx="6391656" cy="2596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oldValue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newValue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isLoading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isLoading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newValue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oldValue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newValue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g_form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setMandatory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'assignment_group'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g_form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showFieldMsg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'assignment_group'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'P1 incidents need an owning team'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'info'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g_form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hideFieldMsg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'assignment_group'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08576" y="4462272"/>
            <a:ext cx="6720840" cy="1920240"/>
          </a:xfrm>
          <a:prstGeom prst="roundRect">
            <a:avLst>
              <a:gd name="adj" fmla="val 5714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4700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should notice during the demo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46320" y="504748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form reacts instantly before a save happens.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rule is visible and explainable to a business stakeholder.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script stays small because it owns only user experience logic.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g_form toolkit and client-side best practices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13232" y="1133856"/>
            <a:ext cx="2615184" cy="1078992"/>
          </a:xfrm>
          <a:prstGeom prst="roundRect">
            <a:avLst>
              <a:gd name="adj" fmla="val 10169"/>
            </a:avLst>
          </a:prstGeom>
          <a:solidFill>
            <a:srgbClr val="103149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getValue()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" y="160934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current form value before making a decision.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3621024" y="1133856"/>
            <a:ext cx="2615184" cy="1078992"/>
          </a:xfrm>
          <a:prstGeom prst="roundRect">
            <a:avLst>
              <a:gd name="adj" fmla="val 10169"/>
            </a:avLst>
          </a:prstGeom>
          <a:solidFill>
            <a:srgbClr val="103149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67328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setValue()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67328" y="160934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or update dependent fields with a visible reason.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713232" y="2551176"/>
            <a:ext cx="2615184" cy="1078992"/>
          </a:xfrm>
          <a:prstGeom prst="roundRect">
            <a:avLst>
              <a:gd name="adj" fmla="val 10169"/>
            </a:avLst>
          </a:prstGeom>
          <a:solidFill>
            <a:srgbClr val="103149"/>
          </a:solidFill>
          <a:ln w="12700">
            <a:solidFill>
              <a:srgbClr val="FFCA66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setMandatory()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9536" y="302666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the user when certain conditions must be completed.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3621024" y="2551176"/>
            <a:ext cx="2615184" cy="1078992"/>
          </a:xfrm>
          <a:prstGeom prst="roundRect">
            <a:avLst>
              <a:gd name="adj" fmla="val 10169"/>
            </a:avLst>
          </a:prstGeom>
          <a:solidFill>
            <a:srgbClr val="103149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67328" y="27157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D0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setDisplay()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67328" y="302666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clutter by showing only what matters for this scenario.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6355080" y="1133856"/>
            <a:ext cx="5157216" cy="2267712"/>
          </a:xfrm>
          <a:prstGeom prst="roundRect">
            <a:avLst>
              <a:gd name="adj" fmla="val 4839"/>
            </a:avLst>
          </a:prstGeom>
          <a:solidFill>
            <a:srgbClr val="0D2233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1261872"/>
            <a:ext cx="148132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536" y="12801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G_FORM EXAMPLE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19672" y="1554480"/>
            <a:ext cx="4828032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onLoad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g_form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getValue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'priority'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g_form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setDisplay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'u_major_incident_bridge'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g_form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setMandatory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'assignment_group'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3232" y="4251960"/>
            <a:ext cx="10808208" cy="1719072"/>
          </a:xfrm>
          <a:prstGeom prst="roundRect">
            <a:avLst>
              <a:gd name="adj" fmla="val 6383"/>
            </a:avLst>
          </a:prstGeom>
          <a:solidFill>
            <a:srgbClr val="0B2435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4517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best-practice guidance to repeat live during teaching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0976" y="48646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UI Policies and Data Policies before writing client script whenever configuration is enough.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isLoading guard in onChange scripts and check newValue against oldValue.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asynchronous GlideAjax over client-side GlideRecord or many getReference() calls.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global client scripts and DOM manipulation against core UI elements.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Policies vs Client Scripts: choose the right lever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GUIDE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1060704"/>
            <a:ext cx="3547872" cy="5166360"/>
          </a:xfrm>
          <a:prstGeom prst="roundRect">
            <a:avLst>
              <a:gd name="adj" fmla="val 3093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15968" y="1060704"/>
            <a:ext cx="3547872" cy="5166360"/>
          </a:xfrm>
          <a:prstGeom prst="roundRect">
            <a:avLst>
              <a:gd name="adj" fmla="val 3093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73568" y="1060704"/>
            <a:ext cx="3547872" cy="5166360"/>
          </a:xfrm>
          <a:prstGeom prst="roundRect">
            <a:avLst>
              <a:gd name="adj" fmla="val 3093"/>
            </a:avLst>
          </a:prstGeom>
          <a:solidFill>
            <a:srgbClr val="103149"/>
          </a:solidFill>
          <a:ln w="12700">
            <a:solidFill>
              <a:srgbClr val="FFCA66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298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Policy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1755648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/ hide fields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only / mandatory hints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when the logic is mostly declarative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 for user experience and maintainability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“Can configuration solve this without code?”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53712" y="1298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Script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53712" y="1755648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Cross-field validation or nuanced behavior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timing and conditional value logic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when configuration alone is not enough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it small and focused on form behavior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53712" y="4434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“Does the form need custom behavior while the user is typing?”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11312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Policy / BR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11312" y="1755648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enforcement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checks that must hold everywhere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the rule cannot depend on one UI only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Protects imports, APIs, and background updates too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11312" y="440740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“If someone updates the record outside the form, must this still be enforced?”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Server-side scripting essentials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3730752" cy="5413248"/>
          </a:xfrm>
          <a:prstGeom prst="roundRect">
            <a:avLst>
              <a:gd name="adj" fmla="val 2941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belongs on the server?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773936"/>
            <a:ext cx="3017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record CRUD and related-record updates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logic shared by Business Rules, UI Actions, and Scheduled Jobs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Date/time calculations, audit-friendly logs, and event firing</a:t>
            </a:r>
            <a:endParaRPr lang="en-US" sz="1600" dirty="0"/>
          </a:p>
          <a:p>
            <a:pPr marL="132080" indent="-132080">
              <a:buSzPct val="100000"/>
              <a:buChar char="•"/>
            </a:pPr>
            <a:r>
              <a:rPr lang="en-US" sz="16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Anything that must work beyond one specific browser 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" y="4343400"/>
            <a:ext cx="3154680" cy="1417320"/>
          </a:xfrm>
          <a:prstGeom prst="roundRect">
            <a:avLst>
              <a:gd name="adj" fmla="val 7742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4128" y="45720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mindset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48646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3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apps use scoped APIs. Global scope bypasses many protections, so new work should stay scoped when possible.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4590288" y="1078992"/>
            <a:ext cx="6784848" cy="3337560"/>
          </a:xfrm>
          <a:prstGeom prst="roundRect">
            <a:avLst>
              <a:gd name="adj" fmla="val 3288"/>
            </a:avLst>
          </a:prstGeom>
          <a:solidFill>
            <a:srgbClr val="0D2233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207008"/>
            <a:ext cx="148132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2252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EXAMPLE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99616"/>
            <a:ext cx="645566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cutoff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GlideDateTime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cutoff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addMinutesUTC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GlideRecordSecure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'incident'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addActiveQuery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addQuery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'priority'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addQuery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'sys_updated_on'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'&lt;'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cutoff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needs escalation review'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90288" y="4590288"/>
            <a:ext cx="6784848" cy="1783080"/>
          </a:xfrm>
          <a:prstGeom prst="roundRect">
            <a:avLst>
              <a:gd name="adj" fmla="val 6154"/>
            </a:avLst>
          </a:prstGeom>
          <a:solidFill>
            <a:srgbClr val="0B2435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1456" y="4828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in the story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91456" y="515721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GlideRecordSecure respects ACL behavior while reading/updating records.</a:t>
            </a:r>
            <a:endParaRPr lang="en-US" sz="1500" dirty="0"/>
          </a:p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GlideDateTime keeps time-based escalation logic explicit and reviewable.</a:t>
            </a:r>
            <a:endParaRPr lang="en-US" sz="1500" dirty="0"/>
          </a:p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gs.info() gives a simple first debugging trail before heavier test tooling.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Rules that stay fast, clear, and predictable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10844784" cy="1572768"/>
          </a:xfrm>
          <a:prstGeom prst="roundRect">
            <a:avLst>
              <a:gd name="adj" fmla="val 6977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5" name="Image 0" descr="/mnt/data/diagrams/business_rule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04453"/>
            <a:ext cx="10469880" cy="72982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29260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9264" y="31272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9264" y="349300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values and block bad saves before the database commit.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969264" y="4069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P1 ownership, stamp urgency, abort if essential data is missing.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4572000" y="29260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18304" y="31272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718304" y="349300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once the record is saved and related work can safely start.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718304" y="4069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Cascade child updates or queue a custom escalation event.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8321040" y="29260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2354C"/>
          </a:solidFill>
          <a:ln w="12700">
            <a:solidFill>
              <a:srgbClr val="FFCA66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467344" y="31272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467344" y="349300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slower work off the user transaction.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8467344" y="40690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recalculation, bulk follow-up, or delayed notification logic.</a:t>
            </a:r>
            <a:endParaRPr lang="en-US" sz="1380" dirty="0"/>
          </a:p>
        </p:txBody>
      </p:sp>
      <p:sp>
        <p:nvSpPr>
          <p:cNvPr id="18" name="Shape 15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0B2435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1024128" y="53218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best practices to reinforce verbally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72000" y="524865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2174" indent="-122174">
              <a:buSzPct val="100000"/>
              <a:buChar char="•"/>
            </a:pPr>
            <a:r>
              <a:rPr lang="en-US" sz="14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Business Rules small and specific.</a:t>
            </a:r>
            <a:endParaRPr lang="en-US" sz="1480" dirty="0"/>
          </a:p>
          <a:p>
            <a:pPr marL="122174" indent="-122174">
              <a:buSzPct val="100000"/>
              <a:buChar char="•"/>
            </a:pPr>
            <a:r>
              <a:rPr lang="en-US" sz="14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use conditions whenever possible.</a:t>
            </a:r>
            <a:endParaRPr lang="en-US" sz="1480" dirty="0"/>
          </a:p>
          <a:p>
            <a:pPr marL="122174" indent="-122174">
              <a:buSzPct val="100000"/>
              <a:buChar char="•"/>
            </a:pPr>
            <a:r>
              <a:rPr lang="en-US" sz="14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reusable logic in Script Includes instead of growing a giant rule.</a:t>
            </a:r>
            <a:endParaRPr lang="en-US" sz="1480" dirty="0"/>
          </a:p>
          <a:p>
            <a:pPr marL="122174" indent="-122174">
              <a:buSzPct val="100000"/>
              <a:buChar char="•"/>
            </a:pPr>
            <a:r>
              <a:rPr lang="en-US" sz="14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queries to limit the records processed.</a:t>
            </a:r>
            <a:endParaRPr lang="en-US" sz="14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developer tools that solve real form problems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Scripts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1664208"/>
            <a:ext cx="2487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admin-only scratchpad to test a query, patch a record, or inspect data safely in a controlled way.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12354C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12464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Actions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12464" y="1664208"/>
            <a:ext cx="2487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or link logic for explicit user actions such as “Escalate now”, “Create bridge”, or “Close as duplicate”.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6473952" y="1097280"/>
            <a:ext cx="2743200" cy="1874520"/>
          </a:xfrm>
          <a:prstGeom prst="roundRect">
            <a:avLst>
              <a:gd name="adj" fmla="val 5854"/>
            </a:avLst>
          </a:prstGeom>
          <a:solidFill>
            <a:srgbClr val="12354C"/>
          </a:solidFill>
          <a:ln w="12700">
            <a:solidFill>
              <a:srgbClr val="FFCA66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0256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Qualifiers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0256" y="1664208"/>
            <a:ext cx="2487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Dynamically restrict reference options so the user sees only the teams or records that make sense.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9381744" y="1097280"/>
            <a:ext cx="2157984" cy="1874520"/>
          </a:xfrm>
          <a:prstGeom prst="roundRect">
            <a:avLst>
              <a:gd name="adj" fmla="val 5854"/>
            </a:avLst>
          </a:prstGeom>
          <a:solidFill>
            <a:srgbClr val="12354C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28048" y="129844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D0C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Field Watcher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528048" y="1664208"/>
            <a:ext cx="19019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6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debugging aid that shows what changed a field and why.</a:t>
            </a:r>
            <a:endParaRPr lang="en-US" sz="1360" dirty="0"/>
          </a:p>
        </p:txBody>
      </p:sp>
      <p:sp>
        <p:nvSpPr>
          <p:cNvPr id="16" name="Shape 14"/>
          <p:cNvSpPr/>
          <p:nvPr/>
        </p:nvSpPr>
        <p:spPr>
          <a:xfrm>
            <a:off x="658368" y="3337560"/>
            <a:ext cx="4663440" cy="2468880"/>
          </a:xfrm>
          <a:prstGeom prst="roundRect">
            <a:avLst>
              <a:gd name="adj" fmla="val 4444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17" name="Image 0" descr="/mnt/data/sn_pages/page_16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432" y="3566160"/>
            <a:ext cx="1479025" cy="19659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486400" y="3337560"/>
            <a:ext cx="6016752" cy="2468880"/>
          </a:xfrm>
          <a:prstGeom prst="roundRect">
            <a:avLst>
              <a:gd name="adj" fmla="val 4444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687568" y="3611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qualifier and debugging talking points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687568" y="39776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qualifiers can use simple conditions or advanced logic such as JavaScript or existing Script Includes.</a:t>
            </a:r>
            <a:endParaRPr lang="en-US" sz="1500" dirty="0"/>
          </a:p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Watcher exposes UI Policy, Client Script, Business Rule, reference qualifier, and dependent-field effects on a field.</a:t>
            </a:r>
            <a:endParaRPr lang="en-US" sz="1500" dirty="0"/>
          </a:p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right slide to slow down and explain cause-and-effect visually.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guided build: one scenario, five checkpoints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HANDS-ON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49808" y="1691640"/>
            <a:ext cx="1901952" cy="3566160"/>
          </a:xfrm>
          <a:prstGeom prst="roundRect">
            <a:avLst>
              <a:gd name="adj" fmla="val 5769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65376"/>
            <a:ext cx="111556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883664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6112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script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2670048"/>
            <a:ext cx="1591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Priority = 1, require Assignment Group and explain why.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3017520" y="1691640"/>
            <a:ext cx="1901952" cy="3566160"/>
          </a:xfrm>
          <a:prstGeom prst="roundRect">
            <a:avLst>
              <a:gd name="adj" fmla="val 5769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3824" y="1865376"/>
            <a:ext cx="111556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1883664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63824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behavior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63824" y="2670048"/>
            <a:ext cx="1591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or hide major-incident fields using g_form or UI Policy.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285232" y="1691640"/>
            <a:ext cx="1901952" cy="3566160"/>
          </a:xfrm>
          <a:prstGeom prst="roundRect">
            <a:avLst>
              <a:gd name="adj" fmla="val 5769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31536" y="1865376"/>
            <a:ext cx="111556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1883664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31536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Server validation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31536" y="2670048"/>
            <a:ext cx="1591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Before Business Rule so APIs and imports obey the same rule.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7552944" y="1691640"/>
            <a:ext cx="1901952" cy="3566160"/>
          </a:xfrm>
          <a:prstGeom prst="roundRect">
            <a:avLst>
              <a:gd name="adj" fmla="val 5769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99248" y="1865376"/>
            <a:ext cx="1115568" cy="256032"/>
          </a:xfrm>
          <a:prstGeom prst="roundRect">
            <a:avLst>
              <a:gd name="adj" fmla="val 32143"/>
            </a:avLst>
          </a:prstGeom>
          <a:solidFill>
            <a:srgbClr val="73E0A3"/>
          </a:solidFill>
          <a:ln w="12700">
            <a:solidFill>
              <a:srgbClr val="73E0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883664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99248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query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99248" y="2670048"/>
            <a:ext cx="1591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GlideRecordSecure to inspect active P1 incidents safely.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9820656" y="1691640"/>
            <a:ext cx="1901952" cy="3566160"/>
          </a:xfrm>
          <a:prstGeom prst="roundRect">
            <a:avLst>
              <a:gd name="adj" fmla="val 5769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66960" y="1865376"/>
            <a:ext cx="1115568" cy="256032"/>
          </a:xfrm>
          <a:prstGeom prst="roundRect">
            <a:avLst>
              <a:gd name="adj" fmla="val 32143"/>
            </a:avLst>
          </a:prstGeom>
          <a:solidFill>
            <a:srgbClr val="73E0A3"/>
          </a:solidFill>
          <a:ln w="12700">
            <a:solidFill>
              <a:srgbClr val="73E0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1883664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0" y="2240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Debug proof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66960" y="2670048"/>
            <a:ext cx="1591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logs and Field Watcher to prove what changed the form.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749808" y="5623560"/>
            <a:ext cx="10698480" cy="566928"/>
          </a:xfrm>
          <a:prstGeom prst="roundRect">
            <a:avLst>
              <a:gd name="adj" fmla="val 19355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87552" y="5797296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learner leaves Day 1 with a complete mental model: what the user sees, what the server enforces, and how to debug both.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architecture with Script Includes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3767328" cy="5394960"/>
          </a:xfrm>
          <a:prstGeom prst="roundRect">
            <a:avLst>
              <a:gd name="adj" fmla="val 2913"/>
            </a:avLst>
          </a:prstGeom>
          <a:solidFill>
            <a:srgbClr val="12354C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243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move logic out of Business Rules?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755648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0429" indent="-130429">
              <a:buSzPct val="100000"/>
              <a:buChar char="•"/>
            </a:pPr>
            <a:r>
              <a:rPr lang="en-US" sz="15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stay small and easy to reason about.</a:t>
            </a:r>
            <a:endParaRPr lang="en-US" sz="1580" dirty="0"/>
          </a:p>
          <a:p>
            <a:pPr marL="130429" indent="-130429">
              <a:buSzPct val="100000"/>
              <a:buChar char="•"/>
            </a:pPr>
            <a:r>
              <a:rPr lang="en-US" sz="15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logic can be reused by UI Actions, Scheduled Jobs, and other server scripts.</a:t>
            </a:r>
            <a:endParaRPr lang="en-US" sz="1580" dirty="0"/>
          </a:p>
          <a:p>
            <a:pPr marL="130429" indent="-130429">
              <a:buSzPct val="100000"/>
              <a:buChar char="•"/>
            </a:pPr>
            <a:r>
              <a:rPr lang="en-US" sz="15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Client-callable Script Includes can expose tightly controlled AJAX helpers when needed.</a:t>
            </a:r>
            <a:endParaRPr lang="en-US" sz="1580" dirty="0"/>
          </a:p>
          <a:p>
            <a:pPr marL="130429" indent="-130429">
              <a:buSzPct val="100000"/>
              <a:buChar char="•"/>
            </a:pPr>
            <a:r>
              <a:rPr lang="en-US" sz="158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stays explicit: client-callable access requires ACL-aware design.</a:t>
            </a:r>
            <a:endParaRPr lang="en-US" sz="1580" dirty="0"/>
          </a:p>
        </p:txBody>
      </p:sp>
      <p:sp>
        <p:nvSpPr>
          <p:cNvPr id="7" name="Shape 5"/>
          <p:cNvSpPr/>
          <p:nvPr/>
        </p:nvSpPr>
        <p:spPr>
          <a:xfrm>
            <a:off x="896112" y="4498848"/>
            <a:ext cx="3154680" cy="1389888"/>
          </a:xfrm>
          <a:prstGeom prst="roundRect">
            <a:avLst>
              <a:gd name="adj" fmla="val 7895"/>
            </a:avLst>
          </a:prstGeom>
          <a:solidFill>
            <a:srgbClr val="0B2435"/>
          </a:solidFill>
          <a:ln w="12700">
            <a:solidFill>
              <a:srgbClr val="FFCA66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60704" y="4718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note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0704" y="501091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8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docs recommend JavaScript modules for new scripts when possible, but Script Includes remain central to this workshop architecture.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4645152" y="1097280"/>
            <a:ext cx="6729984" cy="3246120"/>
          </a:xfrm>
          <a:prstGeom prst="roundRect">
            <a:avLst>
              <a:gd name="adj" fmla="val 3380"/>
            </a:avLst>
          </a:prstGeom>
          <a:solidFill>
            <a:srgbClr val="0D2233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91456" y="1225296"/>
            <a:ext cx="148132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2435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INCLUDE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9744" y="1517904"/>
            <a:ext cx="6400800" cy="2715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EscalationEngine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EscalationEngine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incidentSysId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GlideRecordSecure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'incident'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incidentSysId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eventQueue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'incident.escalated'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assigned_to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assignment_group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'EscalationEngine'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5152" y="4553712"/>
            <a:ext cx="6729984" cy="1810512"/>
          </a:xfrm>
          <a:prstGeom prst="roundRect">
            <a:avLst>
              <a:gd name="adj" fmla="val 6061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4791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GlideAjax extension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28032" y="51023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client script needs server data, a carefully designed client-callable Script Include can return only what the browser needs — no more.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patterns: Scheduled Jobs and event-driven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60120"/>
            <a:ext cx="10844784" cy="2194560"/>
          </a:xfrm>
          <a:prstGeom prst="roundRect">
            <a:avLst>
              <a:gd name="adj" fmla="val 5000"/>
            </a:avLst>
          </a:prstGeom>
          <a:solidFill>
            <a:srgbClr val="0B2435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5" name="Image 0" descr="/mnt/data/diagrams/incident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6505"/>
            <a:ext cx="10424160" cy="12554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" y="3456432"/>
            <a:ext cx="5010912" cy="2029968"/>
          </a:xfrm>
          <a:prstGeom prst="roundRect">
            <a:avLst>
              <a:gd name="adj" fmla="val 5405"/>
            </a:avLst>
          </a:prstGeom>
          <a:solidFill>
            <a:srgbClr val="0D2233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3584448"/>
            <a:ext cx="148132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360273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JOB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877056"/>
            <a:ext cx="4681728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stale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GlideRecordSecure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'incident'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addActiveQuery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addQuery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'priority'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eventQueue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'incident.escalation.reminder'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assigned_to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assignment_group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25312" y="3456432"/>
            <a:ext cx="5577840" cy="2029968"/>
          </a:xfrm>
          <a:prstGeom prst="roundRect">
            <a:avLst>
              <a:gd name="adj" fmla="val 5405"/>
            </a:avLst>
          </a:prstGeom>
          <a:solidFill>
            <a:srgbClr val="12354C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63056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rule to say out loud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163056" y="40690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events when something meaningful happened.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Scheduled Jobs when time passed and you need to check for drift or neglect.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notification decision out of the UI so the process stays reliable.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Notifications and dynamic email 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1005840"/>
            <a:ext cx="3749040" cy="5349240"/>
          </a:xfrm>
          <a:prstGeom prst="roundRect">
            <a:avLst>
              <a:gd name="adj" fmla="val 2927"/>
            </a:avLst>
          </a:prstGeom>
          <a:solidFill>
            <a:srgbClr val="12354C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Notification flow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1792224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 or Scheduled Job queues an event.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listens for that event and selects recipients.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Script prints dynamic details into the template.</a:t>
            </a:r>
            <a:endParaRPr lang="en-US" sz="1550" dirty="0"/>
          </a:p>
          <a:p>
            <a:pPr marL="127953" indent="-127953">
              <a:buSzPct val="100000"/>
              <a:buChar char="•"/>
            </a:pPr>
            <a:r>
              <a:rPr lang="en-US" sz="155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wording stays business-readable, not developer-only.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77824" y="4480560"/>
            <a:ext cx="3154680" cy="1325880"/>
          </a:xfrm>
          <a:prstGeom prst="roundRect">
            <a:avLst>
              <a:gd name="adj" fmla="val 8276"/>
            </a:avLst>
          </a:prstGeom>
          <a:solidFill>
            <a:srgbClr val="0B2435"/>
          </a:solidFill>
          <a:ln w="12700">
            <a:solidFill>
              <a:srgbClr val="FFCA66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2416" y="4709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Teaching cue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2416" y="499262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who receives the email, why they receive it, and what action the message is trying to trigger.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90288" y="1078992"/>
            <a:ext cx="6766560" cy="2468880"/>
          </a:xfrm>
          <a:prstGeom prst="roundRect">
            <a:avLst>
              <a:gd name="adj" fmla="val 4444"/>
            </a:avLst>
          </a:prstGeom>
          <a:solidFill>
            <a:srgbClr val="0D2233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207008"/>
            <a:ext cx="1481328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9744" y="12252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99616"/>
            <a:ext cx="6437376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Email Script snippet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'Incident 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is still Priority 1 after 15 minutes.'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'&lt;br/&gt;Owner: 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assignment_group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'&lt;br/&gt;Latest update: '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short_description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90288" y="3794760"/>
            <a:ext cx="6766560" cy="2560320"/>
          </a:xfrm>
          <a:prstGeom prst="roundRect">
            <a:avLst>
              <a:gd name="adj" fmla="val 4286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1456" y="4069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mindset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91456" y="44348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ATF can validate outbound email by checking the Email [sys_email] table.</a:t>
            </a:r>
            <a:endParaRPr lang="en-US" sz="1500" dirty="0"/>
          </a:p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gives learners a concrete “prove it works” step after the event and notification are configured.</a:t>
            </a:r>
            <a:endParaRPr lang="en-US" sz="1500" dirty="0"/>
          </a:p>
          <a:p>
            <a:pPr marL="123825" indent="-123825">
              <a:buSzPct val="100000"/>
              <a:buChar char="•"/>
            </a:pPr>
            <a:r>
              <a:rPr lang="en-US" sz="150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closes the loop students asked for: scenario → build → visible result → verification.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Translate the solution into real ServiceNow application parts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MODEL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1042416"/>
            <a:ext cx="5623560" cy="5166360"/>
          </a:xfrm>
          <a:prstGeom prst="roundRect">
            <a:avLst>
              <a:gd name="adj" fmla="val 2124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5" name="Image 0" descr="/mnt/data/crops/page27_anat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39134"/>
            <a:ext cx="5285232" cy="35991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042416"/>
            <a:ext cx="5074920" cy="5166360"/>
          </a:xfrm>
          <a:prstGeom prst="roundRect">
            <a:avLst>
              <a:gd name="adj" fmla="val 2162"/>
            </a:avLst>
          </a:prstGeom>
          <a:solidFill>
            <a:srgbClr val="12354C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56832" y="1298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our workshop build to the platform model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75120" y="1828800"/>
            <a:ext cx="4251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Table: incident data and escalation-related fields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/ UI elements: client scripts, UI Policies, and reference qualifiers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files: Business Rules, UI Actions, Script Includes, notifications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Security: scoped design, ACL-aware querying, careful client-callable exposure</a:t>
            </a:r>
            <a:endParaRPr lang="en-US" sz="1520" dirty="0"/>
          </a:p>
          <a:p>
            <a:pPr marL="125476" indent="-125476">
              <a:buSzPct val="100000"/>
              <a:buChar char="•"/>
            </a:pPr>
            <a:r>
              <a:rPr lang="en-US" sz="152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2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/ maintenance: logs, Field Watcher, ATF, and clean update discipline</a:t>
            </a:r>
            <a:endParaRPr lang="en-US" sz="1520" dirty="0"/>
          </a:p>
        </p:txBody>
      </p:sp>
      <p:sp>
        <p:nvSpPr>
          <p:cNvPr id="9" name="Shape 6"/>
          <p:cNvSpPr/>
          <p:nvPr/>
        </p:nvSpPr>
        <p:spPr>
          <a:xfrm>
            <a:off x="6675120" y="4754880"/>
            <a:ext cx="4389120" cy="1143000"/>
          </a:xfrm>
          <a:prstGeom prst="roundRect">
            <a:avLst>
              <a:gd name="adj" fmla="val 9600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76288" y="499262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do not just “add records” — they see how tables, forms, logic, security, and automation fit one application model.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Progressive practice ladder for higher retention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04672" y="1691640"/>
            <a:ext cx="2331720" cy="3429000"/>
          </a:xfrm>
          <a:prstGeom prst="roundRect">
            <a:avLst>
              <a:gd name="adj" fmla="val 4706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892808"/>
            <a:ext cx="786384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11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50976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 validation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0976" y="2697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assignment group + explain the reason on the form.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566160" y="1691640"/>
            <a:ext cx="2331720" cy="3429000"/>
          </a:xfrm>
          <a:prstGeom prst="roundRect">
            <a:avLst>
              <a:gd name="adj" fmla="val 4706"/>
            </a:avLst>
          </a:prstGeom>
          <a:solidFill>
            <a:srgbClr val="12354C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12464" y="1892808"/>
            <a:ext cx="786384" cy="256032"/>
          </a:xfrm>
          <a:prstGeom prst="roundRect">
            <a:avLst>
              <a:gd name="adj" fmla="val 3214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5616" y="1911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12464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Smarter routing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12464" y="2697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groups with a reference qualifier based on service/category.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27648" y="1691640"/>
            <a:ext cx="2331720" cy="3429000"/>
          </a:xfrm>
          <a:prstGeom prst="roundRect">
            <a:avLst>
              <a:gd name="adj" fmla="val 4706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892808"/>
            <a:ext cx="786384" cy="256032"/>
          </a:xfrm>
          <a:prstGeom prst="roundRect">
            <a:avLst>
              <a:gd name="adj" fmla="val 32143"/>
            </a:avLst>
          </a:prstGeom>
          <a:solidFill>
            <a:srgbClr val="73E0A3"/>
          </a:solidFill>
          <a:ln w="12700">
            <a:solidFill>
              <a:srgbClr val="73E0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911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3952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Escalation event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3952" y="2697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the eventQueue call into a reusable Script Include.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89136" y="1691640"/>
            <a:ext cx="2331720" cy="3429000"/>
          </a:xfrm>
          <a:prstGeom prst="roundRect">
            <a:avLst>
              <a:gd name="adj" fmla="val 4706"/>
            </a:avLst>
          </a:prstGeom>
          <a:solidFill>
            <a:srgbClr val="143B47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892808"/>
            <a:ext cx="786384" cy="256032"/>
          </a:xfrm>
          <a:prstGeom prst="roundRect">
            <a:avLst>
              <a:gd name="adj" fmla="val 32143"/>
            </a:avLst>
          </a:prstGeom>
          <a:solidFill>
            <a:srgbClr val="73E0A3"/>
          </a:solidFill>
          <a:ln w="12700">
            <a:solidFill>
              <a:srgbClr val="73E0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911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258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Reminder automation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269748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Scheduled Job and prove the reminder email was generated.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4672" y="5468112"/>
            <a:ext cx="10533888" cy="658368"/>
          </a:xfrm>
          <a:prstGeom prst="roundRect">
            <a:avLst>
              <a:gd name="adj" fmla="val 16667"/>
            </a:avLst>
          </a:prstGeom>
          <a:solidFill>
            <a:srgbClr val="0B2435"/>
          </a:solidFill>
          <a:ln w="12700">
            <a:solidFill>
              <a:srgbClr val="FFCA66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7552" y="5678424"/>
            <a:ext cx="10012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20" b="1" dirty="0">
                <a:solidFill>
                  <a:srgbClr val="F5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directly answers the feedback theme that practice should build on previous work instead of repeating the same isolated steps.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will leave with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747504" y="365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58368" y="987552"/>
            <a:ext cx="4864608" cy="5413248"/>
          </a:xfrm>
          <a:prstGeom prst="roundRect">
            <a:avLst>
              <a:gd name="adj" fmla="val 2256"/>
            </a:avLst>
          </a:prstGeom>
          <a:solidFill>
            <a:srgbClr val="12354C"/>
          </a:solidFill>
          <a:ln w="12700">
            <a:solidFill>
              <a:srgbClr val="73E0A3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these two days, participants can…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1810512"/>
            <a:ext cx="3977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127" indent="-127127">
              <a:buSzPct val="100000"/>
              <a:buChar char="•"/>
            </a:pPr>
            <a:r>
              <a:rPr lang="en-US" sz="154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4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 rule belongs on the client, server, or automation layer.</a:t>
            </a:r>
            <a:endParaRPr lang="en-US" sz="1540" dirty="0"/>
          </a:p>
          <a:p>
            <a:pPr marL="127127" indent="-127127">
              <a:buSzPct val="100000"/>
              <a:buChar char="•"/>
            </a:pPr>
            <a:r>
              <a:rPr lang="en-US" sz="154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4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secure CRUD and validation logic with GlideRecordSecure and Business Rules.</a:t>
            </a:r>
            <a:endParaRPr lang="en-US" sz="1540" dirty="0"/>
          </a:p>
          <a:p>
            <a:pPr marL="127127" indent="-127127">
              <a:buSzPct val="100000"/>
              <a:buChar char="•"/>
            </a:pPr>
            <a:r>
              <a:rPr lang="en-US" sz="154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4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reusable Script Includes instead of duplicating logic.</a:t>
            </a:r>
            <a:endParaRPr lang="en-US" sz="1540" dirty="0"/>
          </a:p>
          <a:p>
            <a:pPr marL="127127" indent="-127127">
              <a:buSzPct val="100000"/>
              <a:buChar char="•"/>
            </a:pPr>
            <a:r>
              <a:rPr lang="en-US" sz="154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4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events, notifications, and scheduled reminders for real business outcomes.</a:t>
            </a:r>
            <a:endParaRPr lang="en-US" sz="1540" dirty="0"/>
          </a:p>
          <a:p>
            <a:pPr marL="127127" indent="-127127">
              <a:buSzPct val="100000"/>
              <a:buChar char="•"/>
            </a:pPr>
            <a:r>
              <a:rPr lang="en-US" sz="1540" dirty="0">
                <a:solidFill>
                  <a:srgbClr val="73E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4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 and verify behavior using logs, Field Watcher, and email-oriented ATF checks.</a:t>
            </a:r>
            <a:endParaRPr lang="en-US" sz="1540" dirty="0"/>
          </a:p>
        </p:txBody>
      </p:sp>
      <p:sp>
        <p:nvSpPr>
          <p:cNvPr id="7" name="Shape 5"/>
          <p:cNvSpPr/>
          <p:nvPr/>
        </p:nvSpPr>
        <p:spPr>
          <a:xfrm>
            <a:off x="5724144" y="987552"/>
            <a:ext cx="5797296" cy="3246120"/>
          </a:xfrm>
          <a:prstGeom prst="roundRect">
            <a:avLst>
              <a:gd name="adj" fmla="val 3380"/>
            </a:avLst>
          </a:prstGeom>
          <a:solidFill>
            <a:srgbClr val="0B2435"/>
          </a:solidFill>
          <a:ln w="12700">
            <a:solidFill>
              <a:srgbClr val="4CC9F0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pic>
        <p:nvPicPr>
          <p:cNvPr id="8" name="Image 0" descr="/mnt/data/crops/page4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5948" y="1207008"/>
            <a:ext cx="3213687" cy="2761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24144" y="4526280"/>
            <a:ext cx="5797296" cy="1874520"/>
          </a:xfrm>
          <a:prstGeom prst="roundRect">
            <a:avLst>
              <a:gd name="adj" fmla="val 5854"/>
            </a:avLst>
          </a:prstGeom>
          <a:solidFill>
            <a:srgbClr val="0B2435"/>
          </a:solidFill>
          <a:ln w="12700">
            <a:solidFill>
              <a:srgbClr val="18D0C5">
                <a:alpha val="4500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61888" y="4791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3E0A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message to reinforce confidence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61888" y="513892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FD6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not learning random scripts. You are learning how enterprise ServiceNow solutions are planned, developed, validated, automated, and maintained as one coherent application.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5B8CE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ServiceNow Development Deep-Dive – Enterprise Scripting &amp; Automation</dc:title>
  <dc:subject>ServiceNow Development Deep-Dive</dc:subject>
  <dc:creator>OpenAI</dc:creator>
  <cp:lastModifiedBy>OpenAI</cp:lastModifiedBy>
  <cp:revision>1</cp:revision>
  <dcterms:created xsi:type="dcterms:W3CDTF">2026-04-18T18:28:28Z</dcterms:created>
  <dcterms:modified xsi:type="dcterms:W3CDTF">2026-04-18T18:28:28Z</dcterms:modified>
</cp:coreProperties>
</file>