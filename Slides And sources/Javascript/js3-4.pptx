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31" r:id="rId1"/>
    <p:sldMasterId id="2147483748" r:id="rId2"/>
  </p:sldMasterIdLst>
  <p:notesMasterIdLst>
    <p:notesMasterId r:id="rId97"/>
  </p:notesMasterIdLst>
  <p:sldIdLst>
    <p:sldId id="393" r:id="rId3"/>
    <p:sldId id="259" r:id="rId4"/>
    <p:sldId id="395" r:id="rId5"/>
    <p:sldId id="396" r:id="rId6"/>
    <p:sldId id="397" r:id="rId7"/>
    <p:sldId id="398" r:id="rId8"/>
    <p:sldId id="399" r:id="rId9"/>
    <p:sldId id="400" r:id="rId10"/>
    <p:sldId id="401" r:id="rId11"/>
    <p:sldId id="402" r:id="rId12"/>
    <p:sldId id="403" r:id="rId13"/>
    <p:sldId id="415" r:id="rId14"/>
    <p:sldId id="416" r:id="rId15"/>
    <p:sldId id="404" r:id="rId16"/>
    <p:sldId id="405" r:id="rId17"/>
    <p:sldId id="406" r:id="rId18"/>
    <p:sldId id="407" r:id="rId19"/>
    <p:sldId id="408" r:id="rId20"/>
    <p:sldId id="414" r:id="rId21"/>
    <p:sldId id="409" r:id="rId22"/>
    <p:sldId id="410" r:id="rId23"/>
    <p:sldId id="411" r:id="rId24"/>
    <p:sldId id="417" r:id="rId25"/>
    <p:sldId id="412" r:id="rId26"/>
    <p:sldId id="413" r:id="rId27"/>
    <p:sldId id="394" r:id="rId28"/>
    <p:sldId id="260" r:id="rId29"/>
    <p:sldId id="261" r:id="rId30"/>
    <p:sldId id="262" r:id="rId31"/>
    <p:sldId id="264" r:id="rId32"/>
    <p:sldId id="265" r:id="rId33"/>
    <p:sldId id="266" r:id="rId34"/>
    <p:sldId id="267" r:id="rId35"/>
    <p:sldId id="268" r:id="rId36"/>
    <p:sldId id="269" r:id="rId37"/>
    <p:sldId id="270"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19" r:id="rId80"/>
    <p:sldId id="320" r:id="rId81"/>
    <p:sldId id="321" r:id="rId82"/>
    <p:sldId id="322" r:id="rId83"/>
    <p:sldId id="323" r:id="rId84"/>
    <p:sldId id="324" r:id="rId85"/>
    <p:sldId id="325" r:id="rId86"/>
    <p:sldId id="326" r:id="rId87"/>
    <p:sldId id="327" r:id="rId88"/>
    <p:sldId id="328" r:id="rId89"/>
    <p:sldId id="329" r:id="rId90"/>
    <p:sldId id="330" r:id="rId91"/>
    <p:sldId id="419" r:id="rId92"/>
    <p:sldId id="418" r:id="rId93"/>
    <p:sldId id="420" r:id="rId94"/>
    <p:sldId id="421" r:id="rId95"/>
    <p:sldId id="392"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0" autoAdjust="0"/>
    <p:restoredTop sz="94660"/>
  </p:normalViewPr>
  <p:slideViewPr>
    <p:cSldViewPr snapToGrid="0">
      <p:cViewPr varScale="1">
        <p:scale>
          <a:sx n="67" d="100"/>
          <a:sy n="67" d="100"/>
        </p:scale>
        <p:origin x="858" y="60"/>
      </p:cViewPr>
      <p:guideLst>
        <p:guide orient="horz" pos="2160"/>
        <p:guide pos="3840"/>
      </p:guideLst>
    </p:cSldViewPr>
  </p:slideViewPr>
  <p:notesTextViewPr>
    <p:cViewPr>
      <p:scale>
        <a:sx n="1" d="1"/>
        <a:sy n="1" d="1"/>
      </p:scale>
      <p:origin x="0" y="0"/>
    </p:cViewPr>
  </p:notesTextViewPr>
  <p:notesViewPr>
    <p:cSldViewPr snapToGrid="0">
      <p:cViewPr varScale="1">
        <p:scale>
          <a:sx n="96" d="100"/>
          <a:sy n="96" d="100"/>
        </p:scale>
        <p:origin x="355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9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7E296-0428-41DA-B2FD-629865C14C9A}" type="datetimeFigureOut">
              <a:rPr lang="en-GB" smtClean="0"/>
              <a:t>17/02/2026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CD3839-9FE5-42F2-BECC-1535DA6E108D}" type="slidenum">
              <a:rPr lang="en-GB" smtClean="0"/>
              <a:t>‹#›</a:t>
            </a:fld>
            <a:endParaRPr lang="en-GB"/>
          </a:p>
        </p:txBody>
      </p:sp>
    </p:spTree>
    <p:extLst>
      <p:ext uri="{BB962C8B-B14F-4D97-AF65-F5344CB8AC3E}">
        <p14:creationId xmlns:p14="http://schemas.microsoft.com/office/powerpoint/2010/main" val="3160060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ACD3839-9FE5-42F2-BECC-1535DA6E108D}" type="slidenum">
              <a:rPr lang="en-GB" smtClean="0"/>
              <a:t>1</a:t>
            </a:fld>
            <a:endParaRPr lang="en-GB"/>
          </a:p>
        </p:txBody>
      </p:sp>
    </p:spTree>
    <p:extLst>
      <p:ext uri="{BB962C8B-B14F-4D97-AF65-F5344CB8AC3E}">
        <p14:creationId xmlns:p14="http://schemas.microsoft.com/office/powerpoint/2010/main" val="213932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CD3839-9FE5-42F2-BECC-1535DA6E108D}" type="slidenum">
              <a:rPr lang="en-GB" smtClean="0"/>
              <a:t>88</a:t>
            </a:fld>
            <a:endParaRPr lang="en-GB"/>
          </a:p>
        </p:txBody>
      </p:sp>
    </p:spTree>
    <p:extLst>
      <p:ext uri="{BB962C8B-B14F-4D97-AF65-F5344CB8AC3E}">
        <p14:creationId xmlns:p14="http://schemas.microsoft.com/office/powerpoint/2010/main" val="1927841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B3A0-A2A3-FB8A-CF90-262560D90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DF73C-D37B-3C30-47B8-4DFE5C8C7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D6124-C909-8A37-27F5-6C7E484089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12D837-B7FC-5990-7D3C-4D30B9E8C672}"/>
              </a:ext>
            </a:extLst>
          </p:cNvPr>
          <p:cNvSpPr>
            <a:spLocks noGrp="1"/>
          </p:cNvSpPr>
          <p:nvPr>
            <p:ph type="sldNum" sz="quarter" idx="5"/>
          </p:nvPr>
        </p:nvSpPr>
        <p:spPr/>
        <p:txBody>
          <a:bodyPr/>
          <a:lstStyle/>
          <a:p>
            <a:fld id="{3ACD3839-9FE5-42F2-BECC-1535DA6E108D}" type="slidenum">
              <a:rPr lang="en-GB" smtClean="0"/>
              <a:t>90</a:t>
            </a:fld>
            <a:endParaRPr lang="en-GB"/>
          </a:p>
        </p:txBody>
      </p:sp>
    </p:spTree>
    <p:extLst>
      <p:ext uri="{BB962C8B-B14F-4D97-AF65-F5344CB8AC3E}">
        <p14:creationId xmlns:p14="http://schemas.microsoft.com/office/powerpoint/2010/main" val="2657666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56E70-3AAA-222C-4D2A-01610CD35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CE7BB-DB58-13F5-E601-22763D14A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92F25-0525-7AB5-60E7-7C4AF7605B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957940-D309-1FBF-0E30-0030363A16CA}"/>
              </a:ext>
            </a:extLst>
          </p:cNvPr>
          <p:cNvSpPr>
            <a:spLocks noGrp="1"/>
          </p:cNvSpPr>
          <p:nvPr>
            <p:ph type="sldNum" sz="quarter" idx="5"/>
          </p:nvPr>
        </p:nvSpPr>
        <p:spPr/>
        <p:txBody>
          <a:bodyPr/>
          <a:lstStyle/>
          <a:p>
            <a:fld id="{3ACD3839-9FE5-42F2-BECC-1535DA6E108D}" type="slidenum">
              <a:rPr lang="en-GB" smtClean="0"/>
              <a:t>91</a:t>
            </a:fld>
            <a:endParaRPr lang="en-GB"/>
          </a:p>
        </p:txBody>
      </p:sp>
    </p:spTree>
    <p:extLst>
      <p:ext uri="{BB962C8B-B14F-4D97-AF65-F5344CB8AC3E}">
        <p14:creationId xmlns:p14="http://schemas.microsoft.com/office/powerpoint/2010/main" val="642291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61DF6-9DD3-7AAC-CCB8-0CB82186F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B9217-F740-C177-C967-3FFDF0761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2AA91-391E-9078-147C-ED5BF5BAEB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0C0F1F-AAFB-2524-B6ED-44A6A115DD78}"/>
              </a:ext>
            </a:extLst>
          </p:cNvPr>
          <p:cNvSpPr>
            <a:spLocks noGrp="1"/>
          </p:cNvSpPr>
          <p:nvPr>
            <p:ph type="sldNum" sz="quarter" idx="5"/>
          </p:nvPr>
        </p:nvSpPr>
        <p:spPr/>
        <p:txBody>
          <a:bodyPr/>
          <a:lstStyle/>
          <a:p>
            <a:fld id="{3ACD3839-9FE5-42F2-BECC-1535DA6E108D}" type="slidenum">
              <a:rPr lang="en-GB" smtClean="0"/>
              <a:t>92</a:t>
            </a:fld>
            <a:endParaRPr lang="en-GB"/>
          </a:p>
        </p:txBody>
      </p:sp>
    </p:spTree>
    <p:extLst>
      <p:ext uri="{BB962C8B-B14F-4D97-AF65-F5344CB8AC3E}">
        <p14:creationId xmlns:p14="http://schemas.microsoft.com/office/powerpoint/2010/main" val="424325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1E3F0-0C60-DE45-828F-7A6A887AD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ACDBC-165A-33A5-89E9-ADB36D1BF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12EF9B-2F0E-60AC-D59D-53613AF412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5FD6D-9D1B-480E-7626-06C423B58180}"/>
              </a:ext>
            </a:extLst>
          </p:cNvPr>
          <p:cNvSpPr>
            <a:spLocks noGrp="1"/>
          </p:cNvSpPr>
          <p:nvPr>
            <p:ph type="sldNum" sz="quarter" idx="5"/>
          </p:nvPr>
        </p:nvSpPr>
        <p:spPr/>
        <p:txBody>
          <a:bodyPr/>
          <a:lstStyle/>
          <a:p>
            <a:fld id="{3ACD3839-9FE5-42F2-BECC-1535DA6E108D}" type="slidenum">
              <a:rPr lang="en-GB" smtClean="0"/>
              <a:t>93</a:t>
            </a:fld>
            <a:endParaRPr lang="en-GB"/>
          </a:p>
        </p:txBody>
      </p:sp>
    </p:spTree>
    <p:extLst>
      <p:ext uri="{BB962C8B-B14F-4D97-AF65-F5344CB8AC3E}">
        <p14:creationId xmlns:p14="http://schemas.microsoft.com/office/powerpoint/2010/main" val="689497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583873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129437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978252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9EB2C1-3CEE-41D9-9027-001A41D0B6A2}"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3021509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9EB2C1-3CEE-41D9-9027-001A41D0B6A2}"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2705493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9EB2C1-3CEE-41D9-9027-001A41D0B6A2}"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9577394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9EB2C1-3CEE-41D9-9027-001A41D0B6A2}"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805191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9EB2C1-3CEE-41D9-9027-001A41D0B6A2}"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4157576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C63D1-4BC8-4D7B-B6FE-C4E6B3A818D4}" type="slidenum">
              <a:rPr lang="en-US" smtClean="0"/>
              <a:t>‹#›</a:t>
            </a:fld>
            <a:endParaRPr lang="en-US"/>
          </a:p>
        </p:txBody>
      </p:sp>
      <p:sp>
        <p:nvSpPr>
          <p:cNvPr id="5" name="Date Placeholder 4"/>
          <p:cNvSpPr>
            <a:spLocks noGrp="1"/>
          </p:cNvSpPr>
          <p:nvPr>
            <p:ph type="dt" sz="half" idx="10"/>
          </p:nvPr>
        </p:nvSpPr>
        <p:spPr/>
        <p:txBody>
          <a:bodyPr/>
          <a:lstStyle/>
          <a:p>
            <a:fld id="{B39EB2C1-3CEE-41D9-9027-001A41D0B6A2}" type="datetimeFigureOut">
              <a:rPr lang="en-US" smtClean="0"/>
              <a:t>2/17/2026</a:t>
            </a:fld>
            <a:endParaRPr lang="en-US"/>
          </a:p>
        </p:txBody>
      </p:sp>
    </p:spTree>
    <p:extLst>
      <p:ext uri="{BB962C8B-B14F-4D97-AF65-F5344CB8AC3E}">
        <p14:creationId xmlns:p14="http://schemas.microsoft.com/office/powerpoint/2010/main" val="32229180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2560181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997988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513310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25785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35843368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2971210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21641652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4C05-9696-BEBD-7362-5C88FF3B6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53093AE-3464-57D7-9AC8-8F6D5485A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7B3810A-7863-2CAE-A291-9C3FEE189BFD}"/>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5" name="Footer Placeholder 4">
            <a:extLst>
              <a:ext uri="{FF2B5EF4-FFF2-40B4-BE49-F238E27FC236}">
                <a16:creationId xmlns:a16="http://schemas.microsoft.com/office/drawing/2014/main" id="{F1133BAD-98FC-16EF-B78A-9E15DA1FA5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EFECF4-2B3C-EBF0-7FA7-D5A6371ECB81}"/>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27801117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C052-8807-FB2B-F760-A6C34285DDC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380031-2C25-A794-9BCB-F84AE6BFB6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AA0056-6F21-78BC-CD0C-D3AE8AB82636}"/>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5" name="Footer Placeholder 4">
            <a:extLst>
              <a:ext uri="{FF2B5EF4-FFF2-40B4-BE49-F238E27FC236}">
                <a16:creationId xmlns:a16="http://schemas.microsoft.com/office/drawing/2014/main" id="{5352762E-1E65-B2E2-5A48-74889369B6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C8A673-FC5C-5DA3-4D90-22D4C6F2D0B7}"/>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74102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4A849-60EF-B006-2F22-3985ACD079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D30AAD3-850E-5052-F25E-95A8A67ABC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A23601-2075-6ACA-DFCA-5C5BCBAB5BD8}"/>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5" name="Footer Placeholder 4">
            <a:extLst>
              <a:ext uri="{FF2B5EF4-FFF2-40B4-BE49-F238E27FC236}">
                <a16:creationId xmlns:a16="http://schemas.microsoft.com/office/drawing/2014/main" id="{8E73FB7F-AF21-00E7-279A-CA1AEFAD3B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7AF13D-2C0E-64B5-E7A9-6BEF035FEC9C}"/>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277791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4482-9AF1-3A73-6298-00EF41CDC9B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646968-9CB3-813E-2692-BA801CEF8A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6DA5136-2B4D-73C2-22BD-BB455001F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A5755A-30CE-7F1C-4683-F507EA77DC6D}"/>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6" name="Footer Placeholder 5">
            <a:extLst>
              <a:ext uri="{FF2B5EF4-FFF2-40B4-BE49-F238E27FC236}">
                <a16:creationId xmlns:a16="http://schemas.microsoft.com/office/drawing/2014/main" id="{70D55C21-5BF2-105C-2FEA-07E3F2B8E4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F09443-C309-26E2-C471-5E437CE9F983}"/>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3895742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ADD4-18F9-9597-EECE-98C21AB24EE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87496A9-65E4-AD8D-EADC-A65B65001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FFC373-4D6F-68D4-0C12-06CE51E8A7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3735FA-F7D6-278E-9780-8E91FDBB2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EBC14D-D3FD-1773-5B62-08DF280E9E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3BBAD2E-E2EE-ECCE-8BA9-926867822270}"/>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8" name="Footer Placeholder 7">
            <a:extLst>
              <a:ext uri="{FF2B5EF4-FFF2-40B4-BE49-F238E27FC236}">
                <a16:creationId xmlns:a16="http://schemas.microsoft.com/office/drawing/2014/main" id="{7259E8F1-D316-889F-F7FF-B3041B16ADB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2EB5863-AA6C-54CA-2ED7-2827A37D5B09}"/>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37265885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DE7E-CAAE-46DC-EBA7-D376525D0A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D2FC342-6B1E-A899-0AC0-7179CBF15D8B}"/>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4" name="Footer Placeholder 3">
            <a:extLst>
              <a:ext uri="{FF2B5EF4-FFF2-40B4-BE49-F238E27FC236}">
                <a16:creationId xmlns:a16="http://schemas.microsoft.com/office/drawing/2014/main" id="{89CCE001-2DAE-92B0-6625-1190253B3E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ACCDCE7-1FEA-AE1D-5A86-3AADEEB95627}"/>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35159743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B038C8-D53B-A186-1A3B-68343A4DD225}"/>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3" name="Footer Placeholder 2">
            <a:extLst>
              <a:ext uri="{FF2B5EF4-FFF2-40B4-BE49-F238E27FC236}">
                <a16:creationId xmlns:a16="http://schemas.microsoft.com/office/drawing/2014/main" id="{95A37522-AF1A-36A1-CDBC-F6CD468A1A4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F545AA9-91CE-DAD3-1468-1B4D699034CA}"/>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1124926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3D843-EC0F-70ED-0C7F-EA16DB3A3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1D13193-D853-04FA-7829-607C85F5E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7C1CC16-0CEC-C434-BB6F-37998454E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E8119-876E-0597-A150-EBFEDCBFFC71}"/>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6" name="Footer Placeholder 5">
            <a:extLst>
              <a:ext uri="{FF2B5EF4-FFF2-40B4-BE49-F238E27FC236}">
                <a16:creationId xmlns:a16="http://schemas.microsoft.com/office/drawing/2014/main" id="{AF9432E6-8E71-952C-5BD2-A544097FAB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457DBFA-6354-65D6-057D-E4934DBDA946}"/>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10163688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7C2D-2AC8-F729-E57E-74AFCC4C5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930F5E9-6925-635A-B995-13375BD1E2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0E4612-ECC5-387D-290F-B204253EA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729A5D-A4D7-D0A4-36C4-B6B68D3212CF}"/>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6" name="Footer Placeholder 5">
            <a:extLst>
              <a:ext uri="{FF2B5EF4-FFF2-40B4-BE49-F238E27FC236}">
                <a16:creationId xmlns:a16="http://schemas.microsoft.com/office/drawing/2014/main" id="{E29A99D9-F393-52B2-AB41-48305F3B3B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616B71-A785-4927-BC42-CB3A9329C081}"/>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1768746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A1A9-CF48-3810-4950-16842703EF6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EC0171-9295-C4A0-3C54-2231615E0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58C2C7-AD69-814F-1B16-FE4C09FFD77A}"/>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5" name="Footer Placeholder 4">
            <a:extLst>
              <a:ext uri="{FF2B5EF4-FFF2-40B4-BE49-F238E27FC236}">
                <a16:creationId xmlns:a16="http://schemas.microsoft.com/office/drawing/2014/main" id="{08CAA943-52B4-2D49-FBA2-91C0098E11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DC9569-50F4-4F62-A4D4-980C227E0599}"/>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24799172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9A05D2-C145-3A7C-947C-A4F5C91E60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23354D-E4E5-A40F-5A6F-8C847C318C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C40079-5E12-3CB4-DF15-D1B1582183FB}"/>
              </a:ext>
            </a:extLst>
          </p:cNvPr>
          <p:cNvSpPr>
            <a:spLocks noGrp="1"/>
          </p:cNvSpPr>
          <p:nvPr>
            <p:ph type="dt" sz="half" idx="10"/>
          </p:nvPr>
        </p:nvSpPr>
        <p:spPr/>
        <p:txBody>
          <a:bodyPr/>
          <a:lstStyle/>
          <a:p>
            <a:fld id="{5AC71BDA-3A19-4C68-B388-AA927C043E3D}" type="datetimeFigureOut">
              <a:rPr lang="en-GB" smtClean="0"/>
              <a:t>17/02/2026</a:t>
            </a:fld>
            <a:endParaRPr lang="en-GB"/>
          </a:p>
        </p:txBody>
      </p:sp>
      <p:sp>
        <p:nvSpPr>
          <p:cNvPr id="5" name="Footer Placeholder 4">
            <a:extLst>
              <a:ext uri="{FF2B5EF4-FFF2-40B4-BE49-F238E27FC236}">
                <a16:creationId xmlns:a16="http://schemas.microsoft.com/office/drawing/2014/main" id="{56D0D9D9-0089-238F-F78A-6FED727C00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165DB6-AF59-30F2-25FF-1534DAFCB3DE}"/>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4000018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39EB2C1-3CEE-41D9-9027-001A41D0B6A2}" type="datetimeFigureOut">
              <a:rPr lang="en-US" smtClean="0"/>
              <a:t>2/17/2026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DDC63D1-4BC8-4D7B-B6FE-C4E6B3A818D4}" type="slidenum">
              <a:rPr lang="en-US" smtClean="0"/>
              <a:t>‹#›</a:t>
            </a:fld>
            <a:endParaRPr lang="en-US"/>
          </a:p>
        </p:txBody>
      </p:sp>
    </p:spTree>
    <p:extLst>
      <p:ext uri="{BB962C8B-B14F-4D97-AF65-F5344CB8AC3E}">
        <p14:creationId xmlns:p14="http://schemas.microsoft.com/office/powerpoint/2010/main" val="30912280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BD2985-A48A-4FCE-5D51-E8E176F2C6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53AC2E1-540F-5A5B-8259-B51FB6F866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994273-7860-81C7-8174-DE3F24445D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71BDA-3A19-4C68-B388-AA927C043E3D}" type="datetimeFigureOut">
              <a:rPr lang="en-GB" smtClean="0"/>
              <a:t>17/02/2026</a:t>
            </a:fld>
            <a:endParaRPr lang="en-GB"/>
          </a:p>
        </p:txBody>
      </p:sp>
      <p:sp>
        <p:nvSpPr>
          <p:cNvPr id="5" name="Footer Placeholder 4">
            <a:extLst>
              <a:ext uri="{FF2B5EF4-FFF2-40B4-BE49-F238E27FC236}">
                <a16:creationId xmlns:a16="http://schemas.microsoft.com/office/drawing/2014/main" id="{1A4E18E7-D115-4B1D-1330-0731ABB73F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F6B25B6-B513-E9E3-6780-9126B4B0CB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11724D-5708-428A-A351-EB4628D41725}" type="slidenum">
              <a:rPr lang="en-GB" smtClean="0"/>
              <a:t>‹#›</a:t>
            </a:fld>
            <a:endParaRPr lang="en-GB"/>
          </a:p>
        </p:txBody>
      </p:sp>
    </p:spTree>
    <p:extLst>
      <p:ext uri="{BB962C8B-B14F-4D97-AF65-F5344CB8AC3E}">
        <p14:creationId xmlns:p14="http://schemas.microsoft.com/office/powerpoint/2010/main" val="176081142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dom-navigation#children-childnodes-firstchild-lastchild"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searching-elements-dom#document-getelementbyid-or-just-id"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searching-elements-dom#querySelectorAl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searching-elements-dom#getelementsby"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3c.github.io/DOM-Parsing/#the-innerhtml-mixin" TargetMode="External"/><Relationship Id="rId2" Type="http://schemas.openxmlformats.org/officeDocument/2006/relationships/hyperlink" Target="https://javascript.info/basic-dom-node-properties#innerhtml-the-contents" TargetMode="External"/><Relationship Id="rId1" Type="http://schemas.openxmlformats.org/officeDocument/2006/relationships/slideLayout" Target="../slideLayouts/slideLayout7.xml"/><Relationship Id="rId4" Type="http://schemas.openxmlformats.org/officeDocument/2006/relationships/hyperlink" Target="https://javascript.info/arrow-functions-basics#multiline-arrow-function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basic-dom-node-properties#nodevalue-data-text-node-content"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basic-dom-node-properties#textcontent-pure-text"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basic-dom-node-properties#the-hidden-property"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javascript.info/arrow-functions-basics#multiline-arrow-functions" TargetMode="External"/><Relationship Id="rId2" Type="http://schemas.openxmlformats.org/officeDocument/2006/relationships/hyperlink" Target="https://javascript.info/basic-dom-node-properties#more-propertie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javascript.info/arrow-functions-basics#multiline-arrow-functions"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68C8-67C4-8011-F335-527CB36AE1F8}"/>
              </a:ext>
            </a:extLst>
          </p:cNvPr>
          <p:cNvSpPr>
            <a:spLocks noGrp="1"/>
          </p:cNvSpPr>
          <p:nvPr>
            <p:ph type="ctrTitle"/>
          </p:nvPr>
        </p:nvSpPr>
        <p:spPr>
          <a:xfrm>
            <a:off x="615325" y="195720"/>
            <a:ext cx="9279144" cy="3330934"/>
          </a:xfrm>
        </p:spPr>
        <p:txBody>
          <a:bodyPr/>
          <a:lstStyle/>
          <a:p>
            <a:pPr algn="ctr"/>
            <a:r>
              <a:rPr lang="ar-EG" sz="6000" b="1" dirty="0">
                <a:solidFill>
                  <a:schemeClr val="tx1"/>
                </a:solidFill>
                <a:latin typeface="Antique Olive" panose="020B0603020204030204"/>
              </a:rPr>
              <a:t> </a:t>
            </a:r>
            <a:r>
              <a:rPr lang="en-US" sz="6000" b="1" dirty="0">
                <a:solidFill>
                  <a:schemeClr val="tx1"/>
                </a:solidFill>
                <a:latin typeface="Antique Olive" panose="020B0603020204030204"/>
              </a:rPr>
              <a:t>JavaScript</a:t>
            </a:r>
          </a:p>
        </p:txBody>
      </p:sp>
    </p:spTree>
    <p:extLst>
      <p:ext uri="{BB962C8B-B14F-4D97-AF65-F5344CB8AC3E}">
        <p14:creationId xmlns:p14="http://schemas.microsoft.com/office/powerpoint/2010/main" val="628860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7855" y="901489"/>
            <a:ext cx="9190470" cy="3693319"/>
          </a:xfrm>
          <a:prstGeom prst="rect">
            <a:avLst/>
          </a:prstGeom>
        </p:spPr>
        <p:txBody>
          <a:bodyPr wrap="square" lIns="0" tIns="0" rIns="0" bIns="0" rtlCol="0" anchor="t">
            <a:spAutoFit/>
          </a:bodyPr>
          <a:lstStyle/>
          <a:p>
            <a:r>
              <a:rPr lang="en-US" sz="2000" dirty="0"/>
              <a:t>The backbone of an HTML document is tags.</a:t>
            </a:r>
          </a:p>
          <a:p>
            <a:r>
              <a:rPr lang="en-US" sz="2000" dirty="0"/>
              <a:t>According to the Document Object Model (DOM), every HTML tag is an object. Nested tags are “children” of the enclosing one. The text inside a tag is an object as well.</a:t>
            </a:r>
          </a:p>
          <a:p>
            <a:r>
              <a:rPr lang="en-US" sz="2000" dirty="0"/>
              <a:t>All these objects are accessible using JavaScript, and we can use them to modify the page.</a:t>
            </a:r>
          </a:p>
          <a:p>
            <a:r>
              <a:rPr lang="en-US" sz="2000" dirty="0"/>
              <a:t>For example, </a:t>
            </a:r>
            <a:r>
              <a:rPr lang="en-US" sz="2000" dirty="0" err="1"/>
              <a:t>document.body</a:t>
            </a:r>
            <a:r>
              <a:rPr lang="en-US" sz="2000" dirty="0"/>
              <a:t> is the object representing the &lt;body&gt; tag.</a:t>
            </a:r>
          </a:p>
          <a:p>
            <a:endParaRPr lang="en-US" sz="2000" dirty="0"/>
          </a:p>
          <a:p>
            <a:r>
              <a:rPr lang="en-US" sz="2000" dirty="0"/>
              <a:t>Running this code will make the &lt;body&gt; red for 3 seconds:</a:t>
            </a:r>
          </a:p>
          <a:p>
            <a:r>
              <a:rPr lang="en-US" sz="2000" dirty="0" err="1"/>
              <a:t>document.body.style.background</a:t>
            </a:r>
            <a:r>
              <a:rPr lang="en-US" sz="2000" dirty="0"/>
              <a:t> = 'red'; // make the background red</a:t>
            </a:r>
          </a:p>
          <a:p>
            <a:endParaRPr lang="en-US" sz="2000" dirty="0"/>
          </a:p>
          <a:p>
            <a:r>
              <a:rPr lang="en-US" sz="2000" dirty="0" err="1"/>
              <a:t>setTimeout</a:t>
            </a:r>
            <a:r>
              <a:rPr lang="en-US" sz="2000" dirty="0"/>
              <a:t>(() =&gt; </a:t>
            </a:r>
            <a:r>
              <a:rPr lang="en-US" sz="2000" dirty="0" err="1"/>
              <a:t>document.body.style.background</a:t>
            </a:r>
            <a:r>
              <a:rPr lang="en-US" sz="2000" dirty="0"/>
              <a:t> = '', 3000); // return back</a:t>
            </a:r>
          </a:p>
        </p:txBody>
      </p:sp>
      <p:sp>
        <p:nvSpPr>
          <p:cNvPr id="3" name="TextBox 3"/>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1480516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B2397-AE02-976F-FBFC-1BFB12DA8F3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073D193-35F1-2485-8CAA-5FF1401B8488}"/>
              </a:ext>
            </a:extLst>
          </p:cNvPr>
          <p:cNvSpPr txBox="1"/>
          <p:nvPr/>
        </p:nvSpPr>
        <p:spPr>
          <a:xfrm>
            <a:off x="496455" y="1201526"/>
            <a:ext cx="9190470" cy="3077766"/>
          </a:xfrm>
          <a:prstGeom prst="rect">
            <a:avLst/>
          </a:prstGeom>
        </p:spPr>
        <p:txBody>
          <a:bodyPr wrap="square" lIns="0" tIns="0" rIns="0" bIns="0" rtlCol="0" anchor="t">
            <a:spAutoFit/>
          </a:bodyPr>
          <a:lstStyle/>
          <a:p>
            <a:r>
              <a:rPr lang="en-US" sz="2000" b="1" u="sng" dirty="0"/>
              <a:t>On top: </a:t>
            </a:r>
            <a:r>
              <a:rPr lang="en-US" sz="2000" b="1" u="sng" dirty="0" err="1"/>
              <a:t>documentElement</a:t>
            </a:r>
            <a:r>
              <a:rPr lang="en-US" sz="2000" b="1" u="sng" dirty="0"/>
              <a:t> and body</a:t>
            </a:r>
            <a:endParaRPr lang="en-US" sz="2000" b="1" dirty="0"/>
          </a:p>
          <a:p>
            <a:r>
              <a:rPr lang="en-US" sz="2000" dirty="0"/>
              <a:t>The topmost tree nodes are available directly as document properties:</a:t>
            </a:r>
          </a:p>
          <a:p>
            <a:r>
              <a:rPr lang="en-US" sz="2000" b="1" dirty="0"/>
              <a:t>&lt;html&gt; = </a:t>
            </a:r>
            <a:r>
              <a:rPr lang="en-US" sz="2000" b="1" dirty="0" err="1"/>
              <a:t>document.documentElement</a:t>
            </a:r>
            <a:endParaRPr lang="en-US" sz="2000" b="1" dirty="0"/>
          </a:p>
          <a:p>
            <a:r>
              <a:rPr lang="en-US" sz="2000" dirty="0"/>
              <a:t>The topmost document node is </a:t>
            </a:r>
            <a:r>
              <a:rPr lang="en-US" sz="2000" dirty="0" err="1"/>
              <a:t>document.documentElement</a:t>
            </a:r>
            <a:r>
              <a:rPr lang="en-US" sz="2000" dirty="0"/>
              <a:t>. That’s the DOM node of the &lt;html&gt; tag.</a:t>
            </a:r>
          </a:p>
          <a:p>
            <a:r>
              <a:rPr lang="en-US" sz="2000" b="1" dirty="0"/>
              <a:t>&lt;body&gt; = </a:t>
            </a:r>
            <a:r>
              <a:rPr lang="en-US" sz="2000" b="1" dirty="0" err="1"/>
              <a:t>document.body</a:t>
            </a:r>
            <a:endParaRPr lang="en-US" sz="2000" b="1" dirty="0"/>
          </a:p>
          <a:p>
            <a:r>
              <a:rPr lang="en-US" sz="2000" dirty="0"/>
              <a:t>Another widely used DOM node is the &lt;body&gt; element – </a:t>
            </a:r>
            <a:r>
              <a:rPr lang="en-US" sz="2000" dirty="0" err="1"/>
              <a:t>document.body</a:t>
            </a:r>
            <a:r>
              <a:rPr lang="en-US" sz="2000" dirty="0"/>
              <a:t>.</a:t>
            </a:r>
          </a:p>
          <a:p>
            <a:r>
              <a:rPr lang="en-US" sz="2000" b="1" dirty="0"/>
              <a:t>&lt;head&gt; = </a:t>
            </a:r>
            <a:r>
              <a:rPr lang="en-US" sz="2000" b="1" dirty="0" err="1"/>
              <a:t>document.head</a:t>
            </a:r>
            <a:endParaRPr lang="en-US" sz="2000" b="1" dirty="0"/>
          </a:p>
          <a:p>
            <a:r>
              <a:rPr lang="en-US" sz="2000" dirty="0"/>
              <a:t>The &lt;head&gt; tag is available as </a:t>
            </a:r>
            <a:r>
              <a:rPr lang="en-US" sz="2000" dirty="0" err="1"/>
              <a:t>document.head</a:t>
            </a:r>
            <a:r>
              <a:rPr lang="en-US" sz="2000" dirty="0"/>
              <a:t>.</a:t>
            </a:r>
          </a:p>
          <a:p>
            <a:endParaRPr lang="en-US" sz="2000" dirty="0"/>
          </a:p>
        </p:txBody>
      </p:sp>
      <p:sp>
        <p:nvSpPr>
          <p:cNvPr id="3" name="TextBox 3">
            <a:extLst>
              <a:ext uri="{FF2B5EF4-FFF2-40B4-BE49-F238E27FC236}">
                <a16:creationId xmlns:a16="http://schemas.microsoft.com/office/drawing/2014/main" id="{5BDCA1AB-E14E-A50F-1AA3-C000C342CDDD}"/>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1575457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BBFB5-1CE2-D377-3ACC-8CEA67C1547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3C91197-A972-B4D2-BEFE-C66D2CE1FC18}"/>
              </a:ext>
            </a:extLst>
          </p:cNvPr>
          <p:cNvSpPr txBox="1"/>
          <p:nvPr/>
        </p:nvSpPr>
        <p:spPr>
          <a:xfrm>
            <a:off x="496455" y="1201526"/>
            <a:ext cx="9190470" cy="5262979"/>
          </a:xfrm>
          <a:prstGeom prst="rect">
            <a:avLst/>
          </a:prstGeom>
        </p:spPr>
        <p:txBody>
          <a:bodyPr wrap="square" lIns="0" tIns="0" rIns="0" bIns="0" rtlCol="0" anchor="t">
            <a:spAutoFit/>
          </a:bodyPr>
          <a:lstStyle/>
          <a:p>
            <a:r>
              <a:rPr lang="en-US" b="1" u="sng" dirty="0">
                <a:hlinkClick r:id="rId2">
                  <a:extLst>
                    <a:ext uri="{A12FA001-AC4F-418D-AE19-62706E023703}">
                      <ahyp:hlinkClr xmlns:ahyp="http://schemas.microsoft.com/office/drawing/2018/hyperlinkcolor" val="tx"/>
                    </a:ext>
                  </a:extLst>
                </a:hlinkClick>
              </a:rPr>
              <a:t>Children: </a:t>
            </a:r>
            <a:r>
              <a:rPr lang="en-US" b="1" u="sng" dirty="0" err="1">
                <a:hlinkClick r:id="rId2">
                  <a:extLst>
                    <a:ext uri="{A12FA001-AC4F-418D-AE19-62706E023703}">
                      <ahyp:hlinkClr xmlns:ahyp="http://schemas.microsoft.com/office/drawing/2018/hyperlinkcolor" val="tx"/>
                    </a:ext>
                  </a:extLst>
                </a:hlinkClick>
              </a:rPr>
              <a:t>childNodes</a:t>
            </a:r>
            <a:r>
              <a:rPr lang="en-US" b="1" u="sng" dirty="0">
                <a:hlinkClick r:id="rId2">
                  <a:extLst>
                    <a:ext uri="{A12FA001-AC4F-418D-AE19-62706E023703}">
                      <ahyp:hlinkClr xmlns:ahyp="http://schemas.microsoft.com/office/drawing/2018/hyperlinkcolor" val="tx"/>
                    </a:ext>
                  </a:extLst>
                </a:hlinkClick>
              </a:rPr>
              <a:t>, </a:t>
            </a:r>
            <a:r>
              <a:rPr lang="en-US" b="1" u="sng" dirty="0" err="1">
                <a:hlinkClick r:id="rId2">
                  <a:extLst>
                    <a:ext uri="{A12FA001-AC4F-418D-AE19-62706E023703}">
                      <ahyp:hlinkClr xmlns:ahyp="http://schemas.microsoft.com/office/drawing/2018/hyperlinkcolor" val="tx"/>
                    </a:ext>
                  </a:extLst>
                </a:hlinkClick>
              </a:rPr>
              <a:t>firstChild</a:t>
            </a:r>
            <a:r>
              <a:rPr lang="en-US" b="1" u="sng" dirty="0">
                <a:hlinkClick r:id="rId2">
                  <a:extLst>
                    <a:ext uri="{A12FA001-AC4F-418D-AE19-62706E023703}">
                      <ahyp:hlinkClr xmlns:ahyp="http://schemas.microsoft.com/office/drawing/2018/hyperlinkcolor" val="tx"/>
                    </a:ext>
                  </a:extLst>
                </a:hlinkClick>
              </a:rPr>
              <a:t>, </a:t>
            </a:r>
            <a:r>
              <a:rPr lang="en-US" b="1" u="sng" dirty="0" err="1">
                <a:hlinkClick r:id="rId2">
                  <a:extLst>
                    <a:ext uri="{A12FA001-AC4F-418D-AE19-62706E023703}">
                      <ahyp:hlinkClr xmlns:ahyp="http://schemas.microsoft.com/office/drawing/2018/hyperlinkcolor" val="tx"/>
                    </a:ext>
                  </a:extLst>
                </a:hlinkClick>
              </a:rPr>
              <a:t>lastChild</a:t>
            </a:r>
            <a:endParaRPr lang="en-US" b="1" dirty="0"/>
          </a:p>
          <a:p>
            <a:r>
              <a:rPr lang="en-US" dirty="0"/>
              <a:t>There are two terms that we’ll use from now on:</a:t>
            </a:r>
          </a:p>
          <a:p>
            <a:r>
              <a:rPr lang="en-US" b="1" dirty="0"/>
              <a:t>Child nodes (or children)</a:t>
            </a:r>
            <a:r>
              <a:rPr lang="en-US" dirty="0"/>
              <a:t> – elements that are direct children. In other words, they are nested exactly in the given one. For instance, &lt;head&gt; and &lt;body&gt; are children of &lt;html&gt; element.</a:t>
            </a:r>
          </a:p>
          <a:p>
            <a:r>
              <a:rPr lang="en-US" b="1" dirty="0"/>
              <a:t>Descendants</a:t>
            </a:r>
            <a:r>
              <a:rPr lang="en-US" dirty="0"/>
              <a:t> – all elements that are nested in the given one, including children, their children and so on.</a:t>
            </a:r>
          </a:p>
          <a:p>
            <a:r>
              <a:rPr lang="en-US" dirty="0"/>
              <a:t>For instance, here &lt;body&gt; has children &lt;div&gt; and &lt;ul&gt; (and few blank text nodes):</a:t>
            </a:r>
          </a:p>
          <a:p>
            <a:r>
              <a:rPr lang="en-US" dirty="0"/>
              <a:t>&lt;html&gt;</a:t>
            </a:r>
          </a:p>
          <a:p>
            <a:r>
              <a:rPr lang="en-US" dirty="0"/>
              <a:t>&lt;body&gt;</a:t>
            </a:r>
          </a:p>
          <a:p>
            <a:r>
              <a:rPr lang="en-US" dirty="0"/>
              <a:t>  &lt;div&gt;Begin&lt;/div&gt;</a:t>
            </a:r>
          </a:p>
          <a:p>
            <a:endParaRPr lang="en-US" dirty="0"/>
          </a:p>
          <a:p>
            <a:r>
              <a:rPr lang="en-US" dirty="0"/>
              <a:t>  &lt;ul&gt;</a:t>
            </a:r>
          </a:p>
          <a:p>
            <a:r>
              <a:rPr lang="en-US" dirty="0"/>
              <a:t>    &lt;li&gt;</a:t>
            </a:r>
          </a:p>
          <a:p>
            <a:r>
              <a:rPr lang="en-US" dirty="0"/>
              <a:t>      &lt;b&gt;Information&lt;/b&gt;</a:t>
            </a:r>
          </a:p>
          <a:p>
            <a:r>
              <a:rPr lang="en-US" dirty="0"/>
              <a:t>    &lt;/li&gt;</a:t>
            </a:r>
          </a:p>
          <a:p>
            <a:r>
              <a:rPr lang="en-US" dirty="0"/>
              <a:t>  &lt;/ul&gt;</a:t>
            </a:r>
          </a:p>
          <a:p>
            <a:r>
              <a:rPr lang="en-US" dirty="0"/>
              <a:t>&lt;/body&gt;</a:t>
            </a:r>
          </a:p>
          <a:p>
            <a:r>
              <a:rPr lang="en-US" dirty="0"/>
              <a:t>&lt;/html&gt;</a:t>
            </a:r>
          </a:p>
        </p:txBody>
      </p:sp>
      <p:sp>
        <p:nvSpPr>
          <p:cNvPr id="3" name="TextBox 3">
            <a:extLst>
              <a:ext uri="{FF2B5EF4-FFF2-40B4-BE49-F238E27FC236}">
                <a16:creationId xmlns:a16="http://schemas.microsoft.com/office/drawing/2014/main" id="{2EC3C731-D577-8E91-25BD-3DBC225297B0}"/>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0492463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3D24-107B-BEC5-7F97-634C8FA42E2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4D1B429-286A-C8A4-2905-A7A00591B935}"/>
              </a:ext>
            </a:extLst>
          </p:cNvPr>
          <p:cNvSpPr txBox="1"/>
          <p:nvPr/>
        </p:nvSpPr>
        <p:spPr>
          <a:xfrm>
            <a:off x="496455" y="1201526"/>
            <a:ext cx="9190470" cy="5539978"/>
          </a:xfrm>
          <a:prstGeom prst="rect">
            <a:avLst/>
          </a:prstGeom>
        </p:spPr>
        <p:txBody>
          <a:bodyPr wrap="square" lIns="0" tIns="0" rIns="0" bIns="0" rtlCol="0" anchor="t">
            <a:spAutoFit/>
          </a:bodyPr>
          <a:lstStyle/>
          <a:p>
            <a:r>
              <a:rPr lang="en-US" b="1" dirty="0"/>
              <a:t>The </a:t>
            </a:r>
            <a:r>
              <a:rPr lang="en-US" b="1" dirty="0" err="1"/>
              <a:t>childNodes</a:t>
            </a:r>
            <a:r>
              <a:rPr lang="en-US" b="1" dirty="0"/>
              <a:t> collection lists all child nodes, including text nodes.</a:t>
            </a:r>
            <a:endParaRPr lang="en-US" dirty="0"/>
          </a:p>
          <a:p>
            <a:r>
              <a:rPr lang="en-US" dirty="0"/>
              <a:t>The example below shows children of </a:t>
            </a:r>
            <a:r>
              <a:rPr lang="en-US" dirty="0" err="1"/>
              <a:t>document.body</a:t>
            </a:r>
            <a:r>
              <a:rPr lang="en-US" dirty="0"/>
              <a:t>:</a:t>
            </a:r>
          </a:p>
          <a:p>
            <a:r>
              <a:rPr lang="en-US" dirty="0"/>
              <a:t>&lt;html&gt;</a:t>
            </a:r>
          </a:p>
          <a:p>
            <a:r>
              <a:rPr lang="en-US" dirty="0"/>
              <a:t>&lt;body&gt;</a:t>
            </a:r>
          </a:p>
          <a:p>
            <a:r>
              <a:rPr lang="en-US" dirty="0"/>
              <a:t>  &lt;div&gt;Begin&lt;/div&gt;</a:t>
            </a:r>
          </a:p>
          <a:p>
            <a:endParaRPr lang="en-US" dirty="0"/>
          </a:p>
          <a:p>
            <a:r>
              <a:rPr lang="en-US" dirty="0"/>
              <a:t>  &lt;ul&gt;</a:t>
            </a:r>
          </a:p>
          <a:p>
            <a:r>
              <a:rPr lang="en-US" dirty="0"/>
              <a:t>    &lt;li&gt;Information&lt;/li&gt;</a:t>
            </a:r>
          </a:p>
          <a:p>
            <a:r>
              <a:rPr lang="en-US" dirty="0"/>
              <a:t>  &lt;/ul&gt;</a:t>
            </a:r>
          </a:p>
          <a:p>
            <a:endParaRPr lang="en-US" dirty="0"/>
          </a:p>
          <a:p>
            <a:r>
              <a:rPr lang="en-US" dirty="0"/>
              <a:t>  &lt;div&gt;End&lt;/div&gt;</a:t>
            </a:r>
          </a:p>
          <a:p>
            <a:endParaRPr lang="en-US" dirty="0"/>
          </a:p>
          <a:p>
            <a:r>
              <a:rPr lang="en-US" dirty="0"/>
              <a:t>  &lt;script&gt;</a:t>
            </a:r>
          </a:p>
          <a:p>
            <a:r>
              <a:rPr lang="en-US" dirty="0"/>
              <a:t>    for (let </a:t>
            </a:r>
            <a:r>
              <a:rPr lang="en-US" dirty="0" err="1"/>
              <a:t>i</a:t>
            </a:r>
            <a:r>
              <a:rPr lang="en-US" dirty="0"/>
              <a:t> = 0; </a:t>
            </a:r>
            <a:r>
              <a:rPr lang="en-US" dirty="0" err="1"/>
              <a:t>i</a:t>
            </a:r>
            <a:r>
              <a:rPr lang="en-US" dirty="0"/>
              <a:t> &lt; </a:t>
            </a:r>
            <a:r>
              <a:rPr lang="en-US" dirty="0" err="1"/>
              <a:t>document.body.childNodes.length</a:t>
            </a:r>
            <a:r>
              <a:rPr lang="en-US" dirty="0"/>
              <a:t>; </a:t>
            </a:r>
            <a:r>
              <a:rPr lang="en-US" dirty="0" err="1"/>
              <a:t>i</a:t>
            </a:r>
            <a:r>
              <a:rPr lang="en-US" dirty="0"/>
              <a:t>++) {</a:t>
            </a:r>
          </a:p>
          <a:p>
            <a:r>
              <a:rPr lang="en-US" dirty="0"/>
              <a:t>      alert( </a:t>
            </a:r>
            <a:r>
              <a:rPr lang="en-US" dirty="0" err="1"/>
              <a:t>document.body.childNodes</a:t>
            </a:r>
            <a:r>
              <a:rPr lang="en-US" dirty="0"/>
              <a:t>[</a:t>
            </a:r>
            <a:r>
              <a:rPr lang="en-US" dirty="0" err="1"/>
              <a:t>i</a:t>
            </a:r>
            <a:r>
              <a:rPr lang="en-US" dirty="0"/>
              <a:t>] ); // Text, DIV, Text, UL, ..., SCRIPT</a:t>
            </a:r>
          </a:p>
          <a:p>
            <a:r>
              <a:rPr lang="en-US" dirty="0"/>
              <a:t>    }</a:t>
            </a:r>
          </a:p>
          <a:p>
            <a:r>
              <a:rPr lang="en-US" dirty="0"/>
              <a:t>  &lt;/script&gt;</a:t>
            </a:r>
          </a:p>
          <a:p>
            <a:r>
              <a:rPr lang="en-US" dirty="0"/>
              <a:t>  ...more stuff...</a:t>
            </a:r>
          </a:p>
          <a:p>
            <a:r>
              <a:rPr lang="en-US" dirty="0"/>
              <a:t>&lt;/body&gt;</a:t>
            </a:r>
          </a:p>
          <a:p>
            <a:r>
              <a:rPr lang="en-US" dirty="0"/>
              <a:t>&lt;/html&gt;</a:t>
            </a:r>
          </a:p>
        </p:txBody>
      </p:sp>
      <p:sp>
        <p:nvSpPr>
          <p:cNvPr id="3" name="TextBox 3">
            <a:extLst>
              <a:ext uri="{FF2B5EF4-FFF2-40B4-BE49-F238E27FC236}">
                <a16:creationId xmlns:a16="http://schemas.microsoft.com/office/drawing/2014/main" id="{948962E7-8DF5-7011-A978-0DBE2148BE4E}"/>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5599047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A9385-64CB-298D-DA3E-FDD5173E8F9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5A915C1-F501-ACF9-7DB4-C2AED8A1577B}"/>
              </a:ext>
            </a:extLst>
          </p:cNvPr>
          <p:cNvSpPr txBox="1"/>
          <p:nvPr/>
        </p:nvSpPr>
        <p:spPr>
          <a:xfrm>
            <a:off x="496455" y="1201526"/>
            <a:ext cx="9190470" cy="5262979"/>
          </a:xfrm>
          <a:prstGeom prst="rect">
            <a:avLst/>
          </a:prstGeom>
        </p:spPr>
        <p:txBody>
          <a:bodyPr wrap="square" lIns="0" tIns="0" rIns="0" bIns="0" rtlCol="0" anchor="t">
            <a:spAutoFit/>
          </a:bodyPr>
          <a:lstStyle/>
          <a:p>
            <a:r>
              <a:rPr lang="en-US" b="1" dirty="0"/>
              <a:t>Searching: </a:t>
            </a:r>
            <a:r>
              <a:rPr lang="en-US" b="1" dirty="0" err="1"/>
              <a:t>getElement</a:t>
            </a:r>
            <a:r>
              <a:rPr lang="en-US" b="1" dirty="0"/>
              <a:t>*, </a:t>
            </a:r>
            <a:r>
              <a:rPr lang="en-US" b="1" dirty="0" err="1"/>
              <a:t>querySelector</a:t>
            </a:r>
            <a:r>
              <a:rPr lang="en-US" b="1" dirty="0"/>
              <a:t>*</a:t>
            </a:r>
          </a:p>
          <a:p>
            <a:r>
              <a:rPr lang="en-US" dirty="0"/>
              <a:t>DOM navigation properties are great when elements are close to each other. What if they are not? How to get an arbitrary element of the page?</a:t>
            </a:r>
          </a:p>
          <a:p>
            <a:r>
              <a:rPr lang="en-US" dirty="0"/>
              <a:t>There are additional searching methods for that.</a:t>
            </a:r>
          </a:p>
          <a:p>
            <a:r>
              <a:rPr lang="en-US" b="1" dirty="0" err="1">
                <a:hlinkClick r:id="rId2">
                  <a:extLst>
                    <a:ext uri="{A12FA001-AC4F-418D-AE19-62706E023703}">
                      <ahyp:hlinkClr xmlns:ahyp="http://schemas.microsoft.com/office/drawing/2018/hyperlinkcolor" val="tx"/>
                    </a:ext>
                  </a:extLst>
                </a:hlinkClick>
              </a:rPr>
              <a:t>document.getElementById</a:t>
            </a:r>
            <a:r>
              <a:rPr lang="en-US" b="1" dirty="0">
                <a:hlinkClick r:id="rId2">
                  <a:extLst>
                    <a:ext uri="{A12FA001-AC4F-418D-AE19-62706E023703}">
                      <ahyp:hlinkClr xmlns:ahyp="http://schemas.microsoft.com/office/drawing/2018/hyperlinkcolor" val="tx"/>
                    </a:ext>
                  </a:extLst>
                </a:hlinkClick>
              </a:rPr>
              <a:t> or just id</a:t>
            </a:r>
            <a:endParaRPr lang="en-US" b="1" dirty="0"/>
          </a:p>
          <a:p>
            <a:r>
              <a:rPr lang="en-US" dirty="0"/>
              <a:t>If an element has the id attribute, we can get the element using the method </a:t>
            </a:r>
            <a:r>
              <a:rPr lang="en-US" dirty="0" err="1"/>
              <a:t>document.getElementById</a:t>
            </a:r>
            <a:r>
              <a:rPr lang="en-US" dirty="0"/>
              <a:t>(id), no matter where it is.</a:t>
            </a:r>
          </a:p>
          <a:p>
            <a:r>
              <a:rPr lang="en-US" dirty="0"/>
              <a:t>For instance:</a:t>
            </a:r>
          </a:p>
          <a:p>
            <a:r>
              <a:rPr lang="en-US" dirty="0"/>
              <a:t>&lt;div id="</a:t>
            </a:r>
            <a:r>
              <a:rPr lang="en-US" dirty="0" err="1"/>
              <a:t>elem</a:t>
            </a:r>
            <a:r>
              <a:rPr lang="en-US" dirty="0"/>
              <a:t>"&gt;</a:t>
            </a:r>
          </a:p>
          <a:p>
            <a:r>
              <a:rPr lang="en-US" dirty="0"/>
              <a:t>  &lt;div id="</a:t>
            </a:r>
            <a:r>
              <a:rPr lang="en-US" dirty="0" err="1"/>
              <a:t>elem</a:t>
            </a:r>
            <a:r>
              <a:rPr lang="en-US" dirty="0"/>
              <a:t>-content"&gt;Element&lt;/div&gt;</a:t>
            </a:r>
          </a:p>
          <a:p>
            <a:r>
              <a:rPr lang="en-US" dirty="0"/>
              <a:t>&lt;/div&gt;</a:t>
            </a:r>
          </a:p>
          <a:p>
            <a:endParaRPr lang="en-US" dirty="0"/>
          </a:p>
          <a:p>
            <a:r>
              <a:rPr lang="en-US" dirty="0"/>
              <a:t>&lt;script&gt;</a:t>
            </a:r>
          </a:p>
          <a:p>
            <a:r>
              <a:rPr lang="en-US" dirty="0"/>
              <a:t>  // get the element</a:t>
            </a:r>
          </a:p>
          <a:p>
            <a:r>
              <a:rPr lang="en-US" dirty="0"/>
              <a:t>  let </a:t>
            </a:r>
            <a:r>
              <a:rPr lang="en-US" dirty="0" err="1"/>
              <a:t>elem</a:t>
            </a:r>
            <a:r>
              <a:rPr lang="en-US" dirty="0"/>
              <a:t> = </a:t>
            </a:r>
            <a:r>
              <a:rPr lang="en-US" dirty="0" err="1"/>
              <a:t>document.getElementById</a:t>
            </a:r>
            <a:r>
              <a:rPr lang="en-US" dirty="0"/>
              <a:t>('</a:t>
            </a:r>
            <a:r>
              <a:rPr lang="en-US" dirty="0" err="1"/>
              <a:t>elem</a:t>
            </a:r>
            <a:r>
              <a:rPr lang="en-US" dirty="0"/>
              <a:t>');</a:t>
            </a:r>
          </a:p>
          <a:p>
            <a:endParaRPr lang="en-US" dirty="0"/>
          </a:p>
          <a:p>
            <a:r>
              <a:rPr lang="en-US" dirty="0"/>
              <a:t>  // make its background red</a:t>
            </a:r>
          </a:p>
          <a:p>
            <a:r>
              <a:rPr lang="en-US" dirty="0"/>
              <a:t>  </a:t>
            </a:r>
            <a:r>
              <a:rPr lang="en-US" dirty="0" err="1"/>
              <a:t>elem.style.background</a:t>
            </a:r>
            <a:r>
              <a:rPr lang="en-US" dirty="0"/>
              <a:t> = 'red';</a:t>
            </a:r>
          </a:p>
          <a:p>
            <a:r>
              <a:rPr lang="en-US" dirty="0"/>
              <a:t>&lt;/script&gt;</a:t>
            </a:r>
          </a:p>
        </p:txBody>
      </p:sp>
      <p:sp>
        <p:nvSpPr>
          <p:cNvPr id="3" name="TextBox 3">
            <a:extLst>
              <a:ext uri="{FF2B5EF4-FFF2-40B4-BE49-F238E27FC236}">
                <a16:creationId xmlns:a16="http://schemas.microsoft.com/office/drawing/2014/main" id="{A69D040C-498E-E8B5-3A17-5C5E6ACA491C}"/>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413148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77B11-94CB-C15E-A0C4-9AD13B1AD97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31A0595-82AD-6A9D-AE59-DB8AEBEB93F3}"/>
              </a:ext>
            </a:extLst>
          </p:cNvPr>
          <p:cNvSpPr txBox="1"/>
          <p:nvPr/>
        </p:nvSpPr>
        <p:spPr>
          <a:xfrm>
            <a:off x="496455" y="1201526"/>
            <a:ext cx="9190470" cy="5262979"/>
          </a:xfrm>
          <a:prstGeom prst="rect">
            <a:avLst/>
          </a:prstGeom>
        </p:spPr>
        <p:txBody>
          <a:bodyPr wrap="square" lIns="0" tIns="0" rIns="0" bIns="0" rtlCol="0" anchor="t">
            <a:spAutoFit/>
          </a:bodyPr>
          <a:lstStyle/>
          <a:p>
            <a:r>
              <a:rPr lang="en-US" b="1" u="sng" dirty="0" err="1">
                <a:hlinkClick r:id="rId2">
                  <a:extLst>
                    <a:ext uri="{A12FA001-AC4F-418D-AE19-62706E023703}">
                      <ahyp:hlinkClr xmlns:ahyp="http://schemas.microsoft.com/office/drawing/2018/hyperlinkcolor" val="tx"/>
                    </a:ext>
                  </a:extLst>
                </a:hlinkClick>
              </a:rPr>
              <a:t>querySelectorAll</a:t>
            </a:r>
            <a:endParaRPr lang="en-US" b="1" dirty="0"/>
          </a:p>
          <a:p>
            <a:r>
              <a:rPr lang="en-US" dirty="0"/>
              <a:t>By far, the most versatile method, </a:t>
            </a:r>
            <a:r>
              <a:rPr lang="en-US" dirty="0" err="1"/>
              <a:t>elem.querySelectorAll</a:t>
            </a:r>
            <a:r>
              <a:rPr lang="en-US" dirty="0"/>
              <a:t>(</a:t>
            </a:r>
            <a:r>
              <a:rPr lang="en-US" dirty="0" err="1"/>
              <a:t>css</a:t>
            </a:r>
            <a:r>
              <a:rPr lang="en-US" dirty="0"/>
              <a:t>) returns all elements inside </a:t>
            </a:r>
            <a:r>
              <a:rPr lang="en-US" dirty="0" err="1"/>
              <a:t>elem</a:t>
            </a:r>
            <a:r>
              <a:rPr lang="en-US" dirty="0"/>
              <a:t> matching the given CSS selector.</a:t>
            </a:r>
          </a:p>
          <a:p>
            <a:r>
              <a:rPr lang="en-US" dirty="0"/>
              <a:t>Here we look for all &lt;li&gt; elements that are last children:</a:t>
            </a:r>
          </a:p>
          <a:p>
            <a:r>
              <a:rPr lang="en-US" dirty="0"/>
              <a:t>&lt;ul&gt;</a:t>
            </a:r>
          </a:p>
          <a:p>
            <a:r>
              <a:rPr lang="en-US" dirty="0"/>
              <a:t>  &lt;li&gt;The&lt;/li&gt;</a:t>
            </a:r>
          </a:p>
          <a:p>
            <a:r>
              <a:rPr lang="en-US" dirty="0"/>
              <a:t>  &lt;li&gt;test&lt;/li&gt;</a:t>
            </a:r>
          </a:p>
          <a:p>
            <a:r>
              <a:rPr lang="en-US" dirty="0"/>
              <a:t>&lt;/ul&gt;</a:t>
            </a:r>
          </a:p>
          <a:p>
            <a:r>
              <a:rPr lang="en-US" dirty="0"/>
              <a:t>&lt;ul&gt;</a:t>
            </a:r>
          </a:p>
          <a:p>
            <a:r>
              <a:rPr lang="en-US" dirty="0"/>
              <a:t>  &lt;li&gt;has&lt;/li&gt;</a:t>
            </a:r>
          </a:p>
          <a:p>
            <a:r>
              <a:rPr lang="en-US" dirty="0"/>
              <a:t>  &lt;li&gt;passed&lt;/li&gt;</a:t>
            </a:r>
          </a:p>
          <a:p>
            <a:r>
              <a:rPr lang="en-US" dirty="0"/>
              <a:t>&lt;/ul&gt;</a:t>
            </a:r>
          </a:p>
          <a:p>
            <a:r>
              <a:rPr lang="en-US" dirty="0"/>
              <a:t>&lt;script&gt;</a:t>
            </a:r>
          </a:p>
          <a:p>
            <a:r>
              <a:rPr lang="en-US" dirty="0"/>
              <a:t>  let elements = </a:t>
            </a:r>
            <a:r>
              <a:rPr lang="en-US" dirty="0" err="1"/>
              <a:t>document.querySelectorAll</a:t>
            </a:r>
            <a:r>
              <a:rPr lang="en-US" dirty="0"/>
              <a:t>('ul &gt; </a:t>
            </a:r>
            <a:r>
              <a:rPr lang="en-US" dirty="0" err="1"/>
              <a:t>li:last-child</a:t>
            </a:r>
            <a:r>
              <a:rPr lang="en-US" dirty="0"/>
              <a:t>');</a:t>
            </a:r>
          </a:p>
          <a:p>
            <a:endParaRPr lang="en-US" dirty="0"/>
          </a:p>
          <a:p>
            <a:r>
              <a:rPr lang="en-US" dirty="0"/>
              <a:t>  for (let </a:t>
            </a:r>
            <a:r>
              <a:rPr lang="en-US" dirty="0" err="1"/>
              <a:t>elem</a:t>
            </a:r>
            <a:r>
              <a:rPr lang="en-US" dirty="0"/>
              <a:t> of elements) {</a:t>
            </a:r>
          </a:p>
          <a:p>
            <a:r>
              <a:rPr lang="en-US" dirty="0"/>
              <a:t>    alert(</a:t>
            </a:r>
            <a:r>
              <a:rPr lang="en-US" dirty="0" err="1"/>
              <a:t>elem.innerHTML</a:t>
            </a:r>
            <a:r>
              <a:rPr lang="en-US" dirty="0"/>
              <a:t>); // "test", "passed"</a:t>
            </a:r>
          </a:p>
          <a:p>
            <a:r>
              <a:rPr lang="en-US" dirty="0"/>
              <a:t>  }</a:t>
            </a:r>
          </a:p>
          <a:p>
            <a:r>
              <a:rPr lang="en-US" dirty="0"/>
              <a:t>&lt;/script&gt;</a:t>
            </a:r>
          </a:p>
        </p:txBody>
      </p:sp>
      <p:sp>
        <p:nvSpPr>
          <p:cNvPr id="3" name="TextBox 3">
            <a:extLst>
              <a:ext uri="{FF2B5EF4-FFF2-40B4-BE49-F238E27FC236}">
                <a16:creationId xmlns:a16="http://schemas.microsoft.com/office/drawing/2014/main" id="{4F2F9455-999F-91F7-6CF1-2F4B0CF81F4E}"/>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79585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A7417-57CA-AA14-B34C-9DF75874696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7832B5B-7783-9731-7166-B33DFA186C23}"/>
              </a:ext>
            </a:extLst>
          </p:cNvPr>
          <p:cNvSpPr txBox="1"/>
          <p:nvPr/>
        </p:nvSpPr>
        <p:spPr>
          <a:xfrm>
            <a:off x="496455" y="1201526"/>
            <a:ext cx="9190470" cy="4708981"/>
          </a:xfrm>
          <a:prstGeom prst="rect">
            <a:avLst/>
          </a:prstGeom>
        </p:spPr>
        <p:txBody>
          <a:bodyPr wrap="square" lIns="0" tIns="0" rIns="0" bIns="0" rtlCol="0" anchor="t">
            <a:spAutoFit/>
          </a:bodyPr>
          <a:lstStyle/>
          <a:p>
            <a:r>
              <a:rPr lang="en-US" b="1" dirty="0" err="1">
                <a:hlinkClick r:id="rId2">
                  <a:extLst>
                    <a:ext uri="{A12FA001-AC4F-418D-AE19-62706E023703}">
                      <ahyp:hlinkClr xmlns:ahyp="http://schemas.microsoft.com/office/drawing/2018/hyperlinkcolor" val="tx"/>
                    </a:ext>
                  </a:extLst>
                </a:hlinkClick>
              </a:rPr>
              <a:t>getElementsBy</a:t>
            </a:r>
            <a:r>
              <a:rPr lang="en-US" b="1" dirty="0">
                <a:hlinkClick r:id="rId2">
                  <a:extLst>
                    <a:ext uri="{A12FA001-AC4F-418D-AE19-62706E023703}">
                      <ahyp:hlinkClr xmlns:ahyp="http://schemas.microsoft.com/office/drawing/2018/hyperlinkcolor" val="tx"/>
                    </a:ext>
                  </a:extLst>
                </a:hlinkClick>
              </a:rPr>
              <a:t>*</a:t>
            </a:r>
            <a:endParaRPr lang="en-US" b="1" dirty="0"/>
          </a:p>
          <a:p>
            <a:r>
              <a:rPr lang="en-US" dirty="0"/>
              <a:t>There are also other methods to look for nodes by a tag, class, etc.</a:t>
            </a:r>
          </a:p>
          <a:p>
            <a:r>
              <a:rPr lang="en-US" dirty="0"/>
              <a:t>Today, they are mostly history, as </a:t>
            </a:r>
            <a:r>
              <a:rPr lang="en-US" dirty="0" err="1"/>
              <a:t>querySelector</a:t>
            </a:r>
            <a:r>
              <a:rPr lang="en-US" dirty="0"/>
              <a:t> is more powerful and shorter to write.</a:t>
            </a:r>
          </a:p>
          <a:p>
            <a:r>
              <a:rPr lang="en-US" dirty="0"/>
              <a:t>So here we cover them mainly for completeness, while you can still find them in the old scripts.</a:t>
            </a:r>
          </a:p>
          <a:p>
            <a:r>
              <a:rPr lang="en-US" dirty="0" err="1"/>
              <a:t>elem.getElementsByTagName</a:t>
            </a:r>
            <a:r>
              <a:rPr lang="en-US" dirty="0"/>
              <a:t>(tag) looks for elements with the given tag and returns the collection of them. The tag parameter can also be a star "*" for “any tags”.</a:t>
            </a:r>
          </a:p>
          <a:p>
            <a:endParaRPr lang="en-US" dirty="0"/>
          </a:p>
          <a:p>
            <a:r>
              <a:rPr lang="en-US" dirty="0" err="1"/>
              <a:t>elem.getElementsByClassName</a:t>
            </a:r>
            <a:r>
              <a:rPr lang="en-US" dirty="0"/>
              <a:t>(</a:t>
            </a:r>
            <a:r>
              <a:rPr lang="en-US" dirty="0" err="1"/>
              <a:t>className</a:t>
            </a:r>
            <a:r>
              <a:rPr lang="en-US" dirty="0"/>
              <a:t>) returns elements that have the given CSS class.</a:t>
            </a:r>
          </a:p>
          <a:p>
            <a:endParaRPr lang="en-US" dirty="0"/>
          </a:p>
          <a:p>
            <a:r>
              <a:rPr lang="en-US" dirty="0" err="1"/>
              <a:t>document.getElementsByName</a:t>
            </a:r>
            <a:r>
              <a:rPr lang="en-US" dirty="0"/>
              <a:t>(name) returns elements with the given name attribute, document-wide. Very rarely used.</a:t>
            </a:r>
          </a:p>
          <a:p>
            <a:endParaRPr lang="en-US" dirty="0"/>
          </a:p>
          <a:p>
            <a:r>
              <a:rPr lang="en-US" b="1" dirty="0"/>
              <a:t>For instance:</a:t>
            </a:r>
          </a:p>
          <a:p>
            <a:r>
              <a:rPr lang="en-US" dirty="0"/>
              <a:t>// get all </a:t>
            </a:r>
            <a:r>
              <a:rPr lang="en-US" dirty="0" err="1"/>
              <a:t>divs</a:t>
            </a:r>
            <a:r>
              <a:rPr lang="en-US" dirty="0"/>
              <a:t> in the document</a:t>
            </a:r>
          </a:p>
          <a:p>
            <a:r>
              <a:rPr lang="en-US" dirty="0"/>
              <a:t>let </a:t>
            </a:r>
            <a:r>
              <a:rPr lang="en-US" dirty="0" err="1"/>
              <a:t>divs</a:t>
            </a:r>
            <a:r>
              <a:rPr lang="en-US" dirty="0"/>
              <a:t> = </a:t>
            </a:r>
            <a:r>
              <a:rPr lang="en-US" dirty="0" err="1"/>
              <a:t>document.getElementsByTagName</a:t>
            </a:r>
            <a:r>
              <a:rPr lang="en-US" dirty="0"/>
              <a:t>('div');</a:t>
            </a:r>
          </a:p>
        </p:txBody>
      </p:sp>
      <p:sp>
        <p:nvSpPr>
          <p:cNvPr id="3" name="TextBox 3">
            <a:extLst>
              <a:ext uri="{FF2B5EF4-FFF2-40B4-BE49-F238E27FC236}">
                <a16:creationId xmlns:a16="http://schemas.microsoft.com/office/drawing/2014/main" id="{3D5D0C67-0711-B17D-423D-E6638EB97CF8}"/>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56287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E3740-4801-62D8-8640-C361DAAB316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F2CC50B-D88E-488F-F709-EEEE85008942}"/>
              </a:ext>
            </a:extLst>
          </p:cNvPr>
          <p:cNvSpPr txBox="1"/>
          <p:nvPr/>
        </p:nvSpPr>
        <p:spPr>
          <a:xfrm>
            <a:off x="496455" y="1201526"/>
            <a:ext cx="9190470" cy="3877985"/>
          </a:xfrm>
          <a:prstGeom prst="rect">
            <a:avLst/>
          </a:prstGeom>
        </p:spPr>
        <p:txBody>
          <a:bodyPr wrap="square" lIns="0" tIns="0" rIns="0" bIns="0" rtlCol="0" anchor="t">
            <a:spAutoFit/>
          </a:bodyPr>
          <a:lstStyle/>
          <a:p>
            <a:r>
              <a:rPr lang="en-US" b="1" u="sng" dirty="0" err="1">
                <a:hlinkClick r:id="rId2">
                  <a:extLst>
                    <a:ext uri="{A12FA001-AC4F-418D-AE19-62706E023703}">
                      <ahyp:hlinkClr xmlns:ahyp="http://schemas.microsoft.com/office/drawing/2018/hyperlinkcolor" val="tx"/>
                    </a:ext>
                  </a:extLst>
                </a:hlinkClick>
              </a:rPr>
              <a:t>innerHTML</a:t>
            </a:r>
            <a:r>
              <a:rPr lang="en-US" b="1" u="sng" dirty="0">
                <a:hlinkClick r:id="rId2">
                  <a:extLst>
                    <a:ext uri="{A12FA001-AC4F-418D-AE19-62706E023703}">
                      <ahyp:hlinkClr xmlns:ahyp="http://schemas.microsoft.com/office/drawing/2018/hyperlinkcolor" val="tx"/>
                    </a:ext>
                  </a:extLst>
                </a:hlinkClick>
              </a:rPr>
              <a:t>: the contents</a:t>
            </a:r>
            <a:endParaRPr lang="en-US" b="1" dirty="0"/>
          </a:p>
          <a:p>
            <a:r>
              <a:rPr lang="en-US" dirty="0"/>
              <a:t>The </a:t>
            </a:r>
            <a:r>
              <a:rPr lang="en-US" dirty="0" err="1">
                <a:hlinkClick r:id="rId3">
                  <a:extLst>
                    <a:ext uri="{A12FA001-AC4F-418D-AE19-62706E023703}">
                      <ahyp:hlinkClr xmlns:ahyp="http://schemas.microsoft.com/office/drawing/2018/hyperlinkcolor" val="tx"/>
                    </a:ext>
                  </a:extLst>
                </a:hlinkClick>
              </a:rPr>
              <a:t>innerHTML</a:t>
            </a:r>
            <a:r>
              <a:rPr lang="en-US" dirty="0"/>
              <a:t> property allows to get the </a:t>
            </a:r>
            <a:r>
              <a:rPr lang="en-US" b="1" dirty="0"/>
              <a:t>HTML inside the element as a string.</a:t>
            </a:r>
          </a:p>
          <a:p>
            <a:r>
              <a:rPr lang="en-US" dirty="0"/>
              <a:t>We can also modify it. So it’s one of the most powerful ways to change the page.</a:t>
            </a:r>
          </a:p>
          <a:p>
            <a:r>
              <a:rPr lang="en-US" dirty="0"/>
              <a:t>The example shows the contents of </a:t>
            </a:r>
            <a:r>
              <a:rPr lang="en-US" dirty="0" err="1"/>
              <a:t>document.body</a:t>
            </a:r>
            <a:r>
              <a:rPr lang="en-US" dirty="0"/>
              <a:t> and then replaces it completely:</a:t>
            </a:r>
          </a:p>
          <a:p>
            <a:r>
              <a:rPr lang="en-US" dirty="0"/>
              <a:t>&lt;body&gt;</a:t>
            </a:r>
          </a:p>
          <a:p>
            <a:r>
              <a:rPr lang="en-US" dirty="0"/>
              <a:t>  &lt;p&gt;A paragraph&lt;/p&gt;</a:t>
            </a:r>
          </a:p>
          <a:p>
            <a:r>
              <a:rPr lang="en-US" dirty="0"/>
              <a:t>  &lt;div&gt;A div&lt;/div&gt;</a:t>
            </a:r>
          </a:p>
          <a:p>
            <a:endParaRPr lang="en-US" dirty="0"/>
          </a:p>
          <a:p>
            <a:r>
              <a:rPr lang="en-US" dirty="0"/>
              <a:t>  &lt;script&gt;</a:t>
            </a:r>
          </a:p>
          <a:p>
            <a:r>
              <a:rPr lang="en-US" dirty="0"/>
              <a:t>    alert( </a:t>
            </a:r>
            <a:r>
              <a:rPr lang="en-US" dirty="0" err="1"/>
              <a:t>document.body.innerHTML</a:t>
            </a:r>
            <a:r>
              <a:rPr lang="en-US" dirty="0"/>
              <a:t> ); // read the current contents</a:t>
            </a:r>
          </a:p>
          <a:p>
            <a:r>
              <a:rPr lang="en-US" dirty="0"/>
              <a:t>    </a:t>
            </a:r>
            <a:r>
              <a:rPr lang="en-US" dirty="0" err="1"/>
              <a:t>document.body.innerHTML</a:t>
            </a:r>
            <a:r>
              <a:rPr lang="en-US" dirty="0"/>
              <a:t> = 'The new BODY!'; // replace it</a:t>
            </a:r>
          </a:p>
          <a:p>
            <a:r>
              <a:rPr lang="en-US" dirty="0"/>
              <a:t>  &lt;/script&gt;</a:t>
            </a:r>
          </a:p>
          <a:p>
            <a:endParaRPr lang="en-US" dirty="0"/>
          </a:p>
          <a:p>
            <a:r>
              <a:rPr lang="en-US" dirty="0"/>
              <a:t>&lt;/body&gt;</a:t>
            </a:r>
          </a:p>
        </p:txBody>
      </p:sp>
      <p:sp>
        <p:nvSpPr>
          <p:cNvPr id="3" name="TextBox 3">
            <a:extLst>
              <a:ext uri="{FF2B5EF4-FFF2-40B4-BE49-F238E27FC236}">
                <a16:creationId xmlns:a16="http://schemas.microsoft.com/office/drawing/2014/main" id="{5CE3289F-3904-AAB5-62AC-7AFFB4C33080}"/>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4"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229323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B52D6-2E79-956D-2171-E032170085C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2D84257-99F3-357C-E53A-4750077A3349}"/>
              </a:ext>
            </a:extLst>
          </p:cNvPr>
          <p:cNvSpPr txBox="1"/>
          <p:nvPr/>
        </p:nvSpPr>
        <p:spPr>
          <a:xfrm>
            <a:off x="496455" y="1201526"/>
            <a:ext cx="9190470" cy="4985980"/>
          </a:xfrm>
          <a:prstGeom prst="rect">
            <a:avLst/>
          </a:prstGeom>
        </p:spPr>
        <p:txBody>
          <a:bodyPr wrap="square" lIns="0" tIns="0" rIns="0" bIns="0" rtlCol="0" anchor="t">
            <a:spAutoFit/>
          </a:bodyPr>
          <a:lstStyle/>
          <a:p>
            <a:r>
              <a:rPr lang="en-US" b="1" u="sng" dirty="0" err="1">
                <a:hlinkClick r:id="rId2">
                  <a:extLst>
                    <a:ext uri="{A12FA001-AC4F-418D-AE19-62706E023703}">
                      <ahyp:hlinkClr xmlns:ahyp="http://schemas.microsoft.com/office/drawing/2018/hyperlinkcolor" val="tx"/>
                    </a:ext>
                  </a:extLst>
                </a:hlinkClick>
              </a:rPr>
              <a:t>nodeValue</a:t>
            </a:r>
            <a:r>
              <a:rPr lang="en-US" b="1" u="sng" dirty="0">
                <a:hlinkClick r:id="rId2">
                  <a:extLst>
                    <a:ext uri="{A12FA001-AC4F-418D-AE19-62706E023703}">
                      <ahyp:hlinkClr xmlns:ahyp="http://schemas.microsoft.com/office/drawing/2018/hyperlinkcolor" val="tx"/>
                    </a:ext>
                  </a:extLst>
                </a:hlinkClick>
              </a:rPr>
              <a:t>/data: text node content</a:t>
            </a:r>
            <a:endParaRPr lang="en-US" b="1" dirty="0"/>
          </a:p>
          <a:p>
            <a:r>
              <a:rPr lang="en-US" dirty="0"/>
              <a:t>The </a:t>
            </a:r>
            <a:r>
              <a:rPr lang="en-US" dirty="0" err="1"/>
              <a:t>innerHTML</a:t>
            </a:r>
            <a:r>
              <a:rPr lang="en-US" dirty="0"/>
              <a:t> property is only valid for element nodes.</a:t>
            </a:r>
          </a:p>
          <a:p>
            <a:r>
              <a:rPr lang="en-US" dirty="0"/>
              <a:t>Other node types, such as text nodes, have their counterpart: </a:t>
            </a:r>
            <a:r>
              <a:rPr lang="en-US" dirty="0" err="1"/>
              <a:t>nodeValue</a:t>
            </a:r>
            <a:r>
              <a:rPr lang="en-US" dirty="0"/>
              <a:t> and data properties. These two are almost the same for practical use, there are only minor specification differences. So we’ll use data, because it’s shorter.</a:t>
            </a:r>
          </a:p>
          <a:p>
            <a:r>
              <a:rPr lang="en-US" dirty="0"/>
              <a:t>An example of reading the content of a text node and a comment:</a:t>
            </a:r>
          </a:p>
          <a:p>
            <a:r>
              <a:rPr lang="en-US" dirty="0"/>
              <a:t>&lt;body&gt;</a:t>
            </a:r>
          </a:p>
          <a:p>
            <a:r>
              <a:rPr lang="en-US" dirty="0"/>
              <a:t>  Hello</a:t>
            </a:r>
          </a:p>
          <a:p>
            <a:r>
              <a:rPr lang="en-US" dirty="0"/>
              <a:t>  &lt;!-- Comment --&gt;</a:t>
            </a:r>
          </a:p>
          <a:p>
            <a:r>
              <a:rPr lang="en-US" dirty="0"/>
              <a:t>  &lt;script&gt;</a:t>
            </a:r>
          </a:p>
          <a:p>
            <a:r>
              <a:rPr lang="en-US" dirty="0"/>
              <a:t>    let text = </a:t>
            </a:r>
            <a:r>
              <a:rPr lang="en-US" dirty="0" err="1"/>
              <a:t>document.body.firstChild</a:t>
            </a:r>
            <a:r>
              <a:rPr lang="en-US" dirty="0"/>
              <a:t>;</a:t>
            </a:r>
          </a:p>
          <a:p>
            <a:r>
              <a:rPr lang="en-US" dirty="0"/>
              <a:t>    alert(</a:t>
            </a:r>
            <a:r>
              <a:rPr lang="en-US" dirty="0" err="1"/>
              <a:t>text.data</a:t>
            </a:r>
            <a:r>
              <a:rPr lang="en-US" dirty="0"/>
              <a:t>); // Hello</a:t>
            </a:r>
          </a:p>
          <a:p>
            <a:endParaRPr lang="en-US" dirty="0"/>
          </a:p>
          <a:p>
            <a:r>
              <a:rPr lang="en-US" dirty="0"/>
              <a:t>    let comment = </a:t>
            </a:r>
            <a:r>
              <a:rPr lang="en-US" dirty="0" err="1"/>
              <a:t>text.nextSibling</a:t>
            </a:r>
            <a:r>
              <a:rPr lang="en-US" dirty="0"/>
              <a:t>;</a:t>
            </a:r>
          </a:p>
          <a:p>
            <a:r>
              <a:rPr lang="en-US" dirty="0"/>
              <a:t>    alert(</a:t>
            </a:r>
            <a:r>
              <a:rPr lang="en-US" dirty="0" err="1"/>
              <a:t>comment.data</a:t>
            </a:r>
            <a:r>
              <a:rPr lang="en-US" dirty="0"/>
              <a:t>); // Comment</a:t>
            </a:r>
          </a:p>
          <a:p>
            <a:r>
              <a:rPr lang="en-US" dirty="0"/>
              <a:t>  &lt;/script&gt;</a:t>
            </a:r>
          </a:p>
          <a:p>
            <a:r>
              <a:rPr lang="en-US" dirty="0"/>
              <a:t>&lt;/body&gt;</a:t>
            </a:r>
          </a:p>
        </p:txBody>
      </p:sp>
      <p:sp>
        <p:nvSpPr>
          <p:cNvPr id="3" name="TextBox 3">
            <a:extLst>
              <a:ext uri="{FF2B5EF4-FFF2-40B4-BE49-F238E27FC236}">
                <a16:creationId xmlns:a16="http://schemas.microsoft.com/office/drawing/2014/main" id="{FDA5F93C-A0CA-DCA1-213C-7D5B50896CB6}"/>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3120411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6F32-5C60-4E4C-06BC-6A2E307FC1E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ED96671-58E5-2BA1-F196-F3632213433B}"/>
              </a:ext>
            </a:extLst>
          </p:cNvPr>
          <p:cNvSpPr txBox="1"/>
          <p:nvPr/>
        </p:nvSpPr>
        <p:spPr>
          <a:xfrm>
            <a:off x="496455" y="1201526"/>
            <a:ext cx="9190470" cy="3600986"/>
          </a:xfrm>
          <a:prstGeom prst="rect">
            <a:avLst/>
          </a:prstGeom>
        </p:spPr>
        <p:txBody>
          <a:bodyPr wrap="square" lIns="0" tIns="0" rIns="0" bIns="0" rtlCol="0" anchor="t">
            <a:spAutoFit/>
          </a:bodyPr>
          <a:lstStyle/>
          <a:p>
            <a:r>
              <a:rPr lang="en-US" b="1" u="sng" dirty="0" err="1">
                <a:hlinkClick r:id="rId2">
                  <a:extLst>
                    <a:ext uri="{A12FA001-AC4F-418D-AE19-62706E023703}">
                      <ahyp:hlinkClr xmlns:ahyp="http://schemas.microsoft.com/office/drawing/2018/hyperlinkcolor" val="tx"/>
                    </a:ext>
                  </a:extLst>
                </a:hlinkClick>
              </a:rPr>
              <a:t>textContent</a:t>
            </a:r>
            <a:r>
              <a:rPr lang="en-US" b="1" u="sng" dirty="0">
                <a:hlinkClick r:id="rId2">
                  <a:extLst>
                    <a:ext uri="{A12FA001-AC4F-418D-AE19-62706E023703}">
                      <ahyp:hlinkClr xmlns:ahyp="http://schemas.microsoft.com/office/drawing/2018/hyperlinkcolor" val="tx"/>
                    </a:ext>
                  </a:extLst>
                </a:hlinkClick>
              </a:rPr>
              <a:t>: pure text</a:t>
            </a:r>
            <a:endParaRPr lang="en-US" b="1" dirty="0"/>
          </a:p>
          <a:p>
            <a:r>
              <a:rPr lang="en-US" dirty="0"/>
              <a:t>The </a:t>
            </a:r>
            <a:r>
              <a:rPr lang="en-US" dirty="0" err="1"/>
              <a:t>textContent</a:t>
            </a:r>
            <a:r>
              <a:rPr lang="en-US" dirty="0"/>
              <a:t> provides access to the </a:t>
            </a:r>
            <a:r>
              <a:rPr lang="en-US" i="1" dirty="0"/>
              <a:t>text</a:t>
            </a:r>
            <a:r>
              <a:rPr lang="en-US" dirty="0"/>
              <a:t> inside the element: only text, minus all &lt;tags&gt;.</a:t>
            </a:r>
          </a:p>
          <a:p>
            <a:r>
              <a:rPr lang="en-US" dirty="0"/>
              <a:t>For instance:</a:t>
            </a:r>
          </a:p>
          <a:p>
            <a:r>
              <a:rPr lang="en-US" dirty="0"/>
              <a:t>&lt;div id="news"&gt;</a:t>
            </a:r>
          </a:p>
          <a:p>
            <a:r>
              <a:rPr lang="en-US" dirty="0"/>
              <a:t>  &lt;h1&gt;Headline!&lt;/h1&gt;</a:t>
            </a:r>
          </a:p>
          <a:p>
            <a:r>
              <a:rPr lang="en-US" dirty="0"/>
              <a:t>  &lt;p&gt;Martians attack people!&lt;/p&gt;</a:t>
            </a:r>
          </a:p>
          <a:p>
            <a:r>
              <a:rPr lang="en-US" dirty="0"/>
              <a:t>&lt;/div&gt;</a:t>
            </a:r>
          </a:p>
          <a:p>
            <a:endParaRPr lang="en-US" dirty="0"/>
          </a:p>
          <a:p>
            <a:r>
              <a:rPr lang="en-US" dirty="0"/>
              <a:t>&lt;script&gt;</a:t>
            </a:r>
          </a:p>
          <a:p>
            <a:r>
              <a:rPr lang="en-US" dirty="0"/>
              <a:t>  // Headline! Martians attack people!</a:t>
            </a:r>
          </a:p>
          <a:p>
            <a:r>
              <a:rPr lang="en-US" dirty="0"/>
              <a:t>  alert(</a:t>
            </a:r>
            <a:r>
              <a:rPr lang="en-US" dirty="0" err="1"/>
              <a:t>news.textContent</a:t>
            </a:r>
            <a:r>
              <a:rPr lang="en-US" dirty="0"/>
              <a:t>);</a:t>
            </a:r>
          </a:p>
          <a:p>
            <a:r>
              <a:rPr lang="en-US" dirty="0"/>
              <a:t>&lt;/script&gt;</a:t>
            </a:r>
          </a:p>
        </p:txBody>
      </p:sp>
      <p:sp>
        <p:nvSpPr>
          <p:cNvPr id="3" name="TextBox 3">
            <a:extLst>
              <a:ext uri="{FF2B5EF4-FFF2-40B4-BE49-F238E27FC236}">
                <a16:creationId xmlns:a16="http://schemas.microsoft.com/office/drawing/2014/main" id="{F1B49164-BEA1-D5F6-29A4-EB4B5A3953BE}"/>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83364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0806A-695B-76DF-A805-223EF8CB2DE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452E1F5-A8F3-CADE-212C-5304DDA5C5D0}"/>
              </a:ext>
            </a:extLst>
          </p:cNvPr>
          <p:cNvSpPr txBox="1"/>
          <p:nvPr/>
        </p:nvSpPr>
        <p:spPr>
          <a:xfrm>
            <a:off x="1025092" y="2936557"/>
            <a:ext cx="9190470" cy="492443"/>
          </a:xfrm>
          <a:prstGeom prst="rect">
            <a:avLst/>
          </a:prstGeom>
        </p:spPr>
        <p:txBody>
          <a:bodyPr wrap="square" lIns="0" tIns="0" rIns="0" bIns="0" rtlCol="0" anchor="t">
            <a:spAutoFit/>
          </a:bodyPr>
          <a:lstStyle/>
          <a:p>
            <a:r>
              <a:rPr lang="en-US" sz="3200" b="1" dirty="0"/>
              <a:t>Difference Between </a:t>
            </a:r>
            <a:r>
              <a:rPr lang="en-US" sz="3200" b="1" dirty="0" err="1"/>
              <a:t>innerHTML</a:t>
            </a:r>
            <a:r>
              <a:rPr lang="en-US" sz="3200" b="1" dirty="0"/>
              <a:t> vs </a:t>
            </a:r>
            <a:r>
              <a:rPr lang="en-US" sz="3200" b="1" dirty="0" err="1"/>
              <a:t>textContent</a:t>
            </a:r>
            <a:endParaRPr lang="en-US" sz="3200" dirty="0"/>
          </a:p>
        </p:txBody>
      </p:sp>
      <p:sp>
        <p:nvSpPr>
          <p:cNvPr id="3" name="TextBox 3">
            <a:extLst>
              <a:ext uri="{FF2B5EF4-FFF2-40B4-BE49-F238E27FC236}">
                <a16:creationId xmlns:a16="http://schemas.microsoft.com/office/drawing/2014/main" id="{C3864B2E-15A4-0FFC-FD69-016FE9687E1A}"/>
              </a:ext>
            </a:extLst>
          </p:cNvPr>
          <p:cNvSpPr txBox="1"/>
          <p:nvPr/>
        </p:nvSpPr>
        <p:spPr>
          <a:xfrm>
            <a:off x="4143365" y="243099"/>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1645956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45F09-EC74-C4B1-4DB9-81C9028B3AA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60C5121-A6B0-9C31-C5E8-E64D73DA5A03}"/>
              </a:ext>
            </a:extLst>
          </p:cNvPr>
          <p:cNvSpPr txBox="1"/>
          <p:nvPr/>
        </p:nvSpPr>
        <p:spPr>
          <a:xfrm>
            <a:off x="753629" y="1122158"/>
            <a:ext cx="9190470" cy="492443"/>
          </a:xfrm>
          <a:prstGeom prst="rect">
            <a:avLst/>
          </a:prstGeom>
        </p:spPr>
        <p:txBody>
          <a:bodyPr wrap="square" lIns="0" tIns="0" rIns="0" bIns="0" rtlCol="0" anchor="t">
            <a:spAutoFit/>
          </a:bodyPr>
          <a:lstStyle/>
          <a:p>
            <a:r>
              <a:rPr lang="en-US" sz="3200" b="1" dirty="0"/>
              <a:t>Difference Between </a:t>
            </a:r>
            <a:r>
              <a:rPr lang="en-US" sz="3200" b="1" dirty="0" err="1"/>
              <a:t>innerHTML</a:t>
            </a:r>
            <a:r>
              <a:rPr lang="en-US" sz="3200" b="1" dirty="0"/>
              <a:t> vs </a:t>
            </a:r>
            <a:r>
              <a:rPr lang="en-US" sz="3200" b="1" dirty="0" err="1"/>
              <a:t>textContent</a:t>
            </a:r>
            <a:endParaRPr lang="en-US" sz="3200" dirty="0"/>
          </a:p>
        </p:txBody>
      </p:sp>
      <p:sp>
        <p:nvSpPr>
          <p:cNvPr id="3" name="TextBox 3">
            <a:extLst>
              <a:ext uri="{FF2B5EF4-FFF2-40B4-BE49-F238E27FC236}">
                <a16:creationId xmlns:a16="http://schemas.microsoft.com/office/drawing/2014/main" id="{C0C737B7-61C1-270C-9F58-71654C066E20}"/>
              </a:ext>
            </a:extLst>
          </p:cNvPr>
          <p:cNvSpPr txBox="1"/>
          <p:nvPr/>
        </p:nvSpPr>
        <p:spPr>
          <a:xfrm>
            <a:off x="4143365" y="243099"/>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pic>
        <p:nvPicPr>
          <p:cNvPr id="5" name="Picture 4">
            <a:extLst>
              <a:ext uri="{FF2B5EF4-FFF2-40B4-BE49-F238E27FC236}">
                <a16:creationId xmlns:a16="http://schemas.microsoft.com/office/drawing/2014/main" id="{803F47D1-63F5-B7C0-9907-BDA6A63D46B8}"/>
              </a:ext>
            </a:extLst>
          </p:cNvPr>
          <p:cNvPicPr>
            <a:picLocks noChangeAspect="1"/>
          </p:cNvPicPr>
          <p:nvPr/>
        </p:nvPicPr>
        <p:blipFill>
          <a:blip r:embed="rId3"/>
          <a:stretch>
            <a:fillRect/>
          </a:stretch>
        </p:blipFill>
        <p:spPr>
          <a:xfrm>
            <a:off x="1695077" y="2057286"/>
            <a:ext cx="7693063" cy="2357551"/>
          </a:xfrm>
          <a:prstGeom prst="rect">
            <a:avLst/>
          </a:prstGeom>
        </p:spPr>
      </p:pic>
    </p:spTree>
    <p:extLst>
      <p:ext uri="{BB962C8B-B14F-4D97-AF65-F5344CB8AC3E}">
        <p14:creationId xmlns:p14="http://schemas.microsoft.com/office/powerpoint/2010/main" val="27153275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0723B-B0BE-B156-5CC7-BA3A4111601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C4134D9-BFA2-9E21-DED7-137358F793F5}"/>
              </a:ext>
            </a:extLst>
          </p:cNvPr>
          <p:cNvSpPr txBox="1"/>
          <p:nvPr/>
        </p:nvSpPr>
        <p:spPr>
          <a:xfrm>
            <a:off x="496455" y="1201526"/>
            <a:ext cx="9190470" cy="830997"/>
          </a:xfrm>
          <a:prstGeom prst="rect">
            <a:avLst/>
          </a:prstGeom>
        </p:spPr>
        <p:txBody>
          <a:bodyPr wrap="square" lIns="0" tIns="0" rIns="0" bIns="0" rtlCol="0" anchor="t">
            <a:spAutoFit/>
          </a:bodyPr>
          <a:lstStyle/>
          <a:p>
            <a:r>
              <a:rPr lang="en-US" dirty="0"/>
              <a:t>Compare the two:</a:t>
            </a:r>
          </a:p>
          <a:p>
            <a:br>
              <a:rPr lang="en-US" dirty="0"/>
            </a:br>
            <a:endParaRPr lang="en-US" dirty="0"/>
          </a:p>
        </p:txBody>
      </p:sp>
      <p:sp>
        <p:nvSpPr>
          <p:cNvPr id="3" name="TextBox 3">
            <a:extLst>
              <a:ext uri="{FF2B5EF4-FFF2-40B4-BE49-F238E27FC236}">
                <a16:creationId xmlns:a16="http://schemas.microsoft.com/office/drawing/2014/main" id="{603833BE-49A0-24CB-D286-175EFB174E6A}"/>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pic>
        <p:nvPicPr>
          <p:cNvPr id="5" name="Picture 4">
            <a:extLst>
              <a:ext uri="{FF2B5EF4-FFF2-40B4-BE49-F238E27FC236}">
                <a16:creationId xmlns:a16="http://schemas.microsoft.com/office/drawing/2014/main" id="{41F89321-7649-818A-7074-5B1256D0F923}"/>
              </a:ext>
            </a:extLst>
          </p:cNvPr>
          <p:cNvPicPr>
            <a:picLocks noChangeAspect="1"/>
          </p:cNvPicPr>
          <p:nvPr/>
        </p:nvPicPr>
        <p:blipFill>
          <a:blip r:embed="rId3"/>
          <a:stretch>
            <a:fillRect/>
          </a:stretch>
        </p:blipFill>
        <p:spPr>
          <a:xfrm>
            <a:off x="1856993" y="1767906"/>
            <a:ext cx="7078510" cy="2289744"/>
          </a:xfrm>
          <a:prstGeom prst="rect">
            <a:avLst/>
          </a:prstGeom>
        </p:spPr>
      </p:pic>
      <p:sp>
        <p:nvSpPr>
          <p:cNvPr id="6" name="TextBox 2">
            <a:extLst>
              <a:ext uri="{FF2B5EF4-FFF2-40B4-BE49-F238E27FC236}">
                <a16:creationId xmlns:a16="http://schemas.microsoft.com/office/drawing/2014/main" id="{576745CA-889F-BE3C-E963-A4ABB3540A34}"/>
              </a:ext>
            </a:extLst>
          </p:cNvPr>
          <p:cNvSpPr txBox="1"/>
          <p:nvPr/>
        </p:nvSpPr>
        <p:spPr>
          <a:xfrm>
            <a:off x="4340268" y="4259098"/>
            <a:ext cx="9190470" cy="830997"/>
          </a:xfrm>
          <a:prstGeom prst="rect">
            <a:avLst/>
          </a:prstGeom>
        </p:spPr>
        <p:txBody>
          <a:bodyPr wrap="square" lIns="0" tIns="0" rIns="0" bIns="0" rtlCol="0" anchor="t">
            <a:spAutoFit/>
          </a:bodyPr>
          <a:lstStyle/>
          <a:p>
            <a:r>
              <a:rPr lang="en-US" dirty="0"/>
              <a:t>Output????????????????</a:t>
            </a:r>
          </a:p>
          <a:p>
            <a:br>
              <a:rPr lang="en-US" dirty="0"/>
            </a:br>
            <a:endParaRPr lang="en-US" dirty="0"/>
          </a:p>
        </p:txBody>
      </p:sp>
    </p:spTree>
    <p:extLst>
      <p:ext uri="{BB962C8B-B14F-4D97-AF65-F5344CB8AC3E}">
        <p14:creationId xmlns:p14="http://schemas.microsoft.com/office/powerpoint/2010/main" val="3737845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B5DCD-DBB0-3094-69FA-BE31D3738CD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847213C-80C1-2B4C-9396-C02BAE2CBFC7}"/>
              </a:ext>
            </a:extLst>
          </p:cNvPr>
          <p:cNvSpPr txBox="1"/>
          <p:nvPr/>
        </p:nvSpPr>
        <p:spPr>
          <a:xfrm>
            <a:off x="496455" y="1201526"/>
            <a:ext cx="9190470" cy="4431983"/>
          </a:xfrm>
          <a:prstGeom prst="rect">
            <a:avLst/>
          </a:prstGeom>
        </p:spPr>
        <p:txBody>
          <a:bodyPr wrap="square" lIns="0" tIns="0" rIns="0" bIns="0" rtlCol="0" anchor="t">
            <a:spAutoFit/>
          </a:bodyPr>
          <a:lstStyle/>
          <a:p>
            <a:r>
              <a:rPr lang="en-US" b="1" dirty="0">
                <a:hlinkClick r:id="rId2">
                  <a:extLst>
                    <a:ext uri="{A12FA001-AC4F-418D-AE19-62706E023703}">
                      <ahyp:hlinkClr xmlns:ahyp="http://schemas.microsoft.com/office/drawing/2018/hyperlinkcolor" val="tx"/>
                    </a:ext>
                  </a:extLst>
                </a:hlinkClick>
              </a:rPr>
              <a:t>The “hidden” property</a:t>
            </a:r>
            <a:endParaRPr lang="en-US" b="1" dirty="0"/>
          </a:p>
          <a:p>
            <a:r>
              <a:rPr lang="en-US" dirty="0"/>
              <a:t>The “hidden” attribute and the DOM property specifies whether the element is visible or not.</a:t>
            </a:r>
          </a:p>
          <a:p>
            <a:r>
              <a:rPr lang="en-US" dirty="0"/>
              <a:t>We can use it in HTML or assign it using JavaScript, like this:</a:t>
            </a:r>
          </a:p>
          <a:p>
            <a:r>
              <a:rPr lang="en-US" dirty="0"/>
              <a:t>&lt;div&gt;Both </a:t>
            </a:r>
            <a:r>
              <a:rPr lang="en-US" dirty="0" err="1"/>
              <a:t>divs</a:t>
            </a:r>
            <a:r>
              <a:rPr lang="en-US" dirty="0"/>
              <a:t> below are hidden&lt;/div&gt;</a:t>
            </a:r>
          </a:p>
          <a:p>
            <a:endParaRPr lang="en-US" dirty="0"/>
          </a:p>
          <a:p>
            <a:r>
              <a:rPr lang="en-US" dirty="0"/>
              <a:t>&lt;div hidden&gt;With the attribute "hidden"&lt;/div&gt;</a:t>
            </a:r>
          </a:p>
          <a:p>
            <a:endParaRPr lang="en-US" dirty="0"/>
          </a:p>
          <a:p>
            <a:r>
              <a:rPr lang="en-US" dirty="0"/>
              <a:t>&lt;div id="</a:t>
            </a:r>
            <a:r>
              <a:rPr lang="en-US" dirty="0" err="1"/>
              <a:t>elem</a:t>
            </a:r>
            <a:r>
              <a:rPr lang="en-US" dirty="0"/>
              <a:t>"&gt;JavaScript assigned the property "hidden"&lt;/div&gt;</a:t>
            </a:r>
          </a:p>
          <a:p>
            <a:endParaRPr lang="en-US" dirty="0"/>
          </a:p>
          <a:p>
            <a:r>
              <a:rPr lang="en-US" dirty="0"/>
              <a:t>&lt;script&gt;</a:t>
            </a:r>
          </a:p>
          <a:p>
            <a:r>
              <a:rPr lang="en-US" dirty="0"/>
              <a:t>  </a:t>
            </a:r>
            <a:r>
              <a:rPr lang="en-US" dirty="0" err="1"/>
              <a:t>elem.hidden</a:t>
            </a:r>
            <a:r>
              <a:rPr lang="en-US" dirty="0"/>
              <a:t> = true;</a:t>
            </a:r>
          </a:p>
          <a:p>
            <a:r>
              <a:rPr lang="en-US" dirty="0"/>
              <a:t>&lt;/script&gt;</a:t>
            </a:r>
          </a:p>
          <a:p>
            <a:r>
              <a:rPr lang="en-US" dirty="0"/>
              <a:t>Technically, hidden works the same as style="</a:t>
            </a:r>
            <a:r>
              <a:rPr lang="en-US" dirty="0" err="1"/>
              <a:t>display:none</a:t>
            </a:r>
            <a:r>
              <a:rPr lang="en-US" dirty="0"/>
              <a:t>". But it’s shorter to write.</a:t>
            </a:r>
          </a:p>
          <a:p>
            <a:br>
              <a:rPr lang="en-US" dirty="0"/>
            </a:br>
            <a:endParaRPr lang="en-US" dirty="0"/>
          </a:p>
        </p:txBody>
      </p:sp>
      <p:sp>
        <p:nvSpPr>
          <p:cNvPr id="3" name="TextBox 3">
            <a:extLst>
              <a:ext uri="{FF2B5EF4-FFF2-40B4-BE49-F238E27FC236}">
                <a16:creationId xmlns:a16="http://schemas.microsoft.com/office/drawing/2014/main" id="{1D3C1E95-35B7-3362-F12C-C4E04AD08AF2}"/>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48444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AAAB-AB6F-0DF5-873D-9CFEC164D4F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F93B0E6-F240-F729-4B03-32DC3A7B53B3}"/>
              </a:ext>
            </a:extLst>
          </p:cNvPr>
          <p:cNvSpPr txBox="1"/>
          <p:nvPr/>
        </p:nvSpPr>
        <p:spPr>
          <a:xfrm>
            <a:off x="496455" y="1201526"/>
            <a:ext cx="9190470" cy="4431983"/>
          </a:xfrm>
          <a:prstGeom prst="rect">
            <a:avLst/>
          </a:prstGeom>
        </p:spPr>
        <p:txBody>
          <a:bodyPr wrap="square" lIns="0" tIns="0" rIns="0" bIns="0" rtlCol="0" anchor="t">
            <a:spAutoFit/>
          </a:bodyPr>
          <a:lstStyle/>
          <a:p>
            <a:r>
              <a:rPr lang="en-US" b="1" u="sng" dirty="0">
                <a:hlinkClick r:id="rId2">
                  <a:extLst>
                    <a:ext uri="{A12FA001-AC4F-418D-AE19-62706E023703}">
                      <ahyp:hlinkClr xmlns:ahyp="http://schemas.microsoft.com/office/drawing/2018/hyperlinkcolor" val="tx"/>
                    </a:ext>
                  </a:extLst>
                </a:hlinkClick>
              </a:rPr>
              <a:t>More properties</a:t>
            </a:r>
            <a:endParaRPr lang="en-US" b="1" dirty="0"/>
          </a:p>
          <a:p>
            <a:r>
              <a:rPr lang="en-US" dirty="0"/>
              <a:t>DOM elements also have additional properties, in particular those that depend on the class:</a:t>
            </a:r>
          </a:p>
          <a:p>
            <a:r>
              <a:rPr lang="en-US" dirty="0"/>
              <a:t>value – the value for &lt;input&gt;, &lt;select&gt; and &lt;</a:t>
            </a:r>
            <a:r>
              <a:rPr lang="en-US" dirty="0" err="1"/>
              <a:t>textarea</a:t>
            </a:r>
            <a:r>
              <a:rPr lang="en-US" dirty="0"/>
              <a:t>&gt; (</a:t>
            </a:r>
            <a:r>
              <a:rPr lang="en-US" dirty="0" err="1"/>
              <a:t>HTMLInputElement</a:t>
            </a:r>
            <a:r>
              <a:rPr lang="en-US" dirty="0"/>
              <a:t>, </a:t>
            </a:r>
            <a:r>
              <a:rPr lang="en-US" dirty="0" err="1"/>
              <a:t>HTMLSelectElement</a:t>
            </a:r>
            <a:r>
              <a:rPr lang="en-US" dirty="0"/>
              <a:t>…).</a:t>
            </a:r>
          </a:p>
          <a:p>
            <a:r>
              <a:rPr lang="en-US" dirty="0" err="1"/>
              <a:t>href</a:t>
            </a:r>
            <a:r>
              <a:rPr lang="en-US" dirty="0"/>
              <a:t> – the “</a:t>
            </a:r>
            <a:r>
              <a:rPr lang="en-US" dirty="0" err="1"/>
              <a:t>href</a:t>
            </a:r>
            <a:r>
              <a:rPr lang="en-US" dirty="0"/>
              <a:t>” for &lt;a </a:t>
            </a:r>
            <a:r>
              <a:rPr lang="en-US" dirty="0" err="1"/>
              <a:t>href</a:t>
            </a:r>
            <a:r>
              <a:rPr lang="en-US" dirty="0"/>
              <a:t>="..."&gt; (</a:t>
            </a:r>
            <a:r>
              <a:rPr lang="en-US" dirty="0" err="1"/>
              <a:t>HTMLAnchorElement</a:t>
            </a:r>
            <a:r>
              <a:rPr lang="en-US" dirty="0"/>
              <a:t>).</a:t>
            </a:r>
          </a:p>
          <a:p>
            <a:r>
              <a:rPr lang="en-US" dirty="0"/>
              <a:t>id – the value of “id” attribute, for all elements (</a:t>
            </a:r>
            <a:r>
              <a:rPr lang="en-US" dirty="0" err="1"/>
              <a:t>HTMLElement</a:t>
            </a:r>
            <a:r>
              <a:rPr lang="en-US" dirty="0"/>
              <a:t>).</a:t>
            </a:r>
          </a:p>
          <a:p>
            <a:r>
              <a:rPr lang="en-US" dirty="0"/>
              <a:t>…and much more…</a:t>
            </a:r>
          </a:p>
          <a:p>
            <a:r>
              <a:rPr lang="en-US" dirty="0"/>
              <a:t>For instance:</a:t>
            </a:r>
          </a:p>
          <a:p>
            <a:r>
              <a:rPr lang="en-US" dirty="0"/>
              <a:t>&lt;input type="text" id="</a:t>
            </a:r>
            <a:r>
              <a:rPr lang="en-US" dirty="0" err="1"/>
              <a:t>elem</a:t>
            </a:r>
            <a:r>
              <a:rPr lang="en-US" dirty="0"/>
              <a:t>" value="value"&gt;</a:t>
            </a:r>
          </a:p>
          <a:p>
            <a:endParaRPr lang="en-US" dirty="0"/>
          </a:p>
          <a:p>
            <a:r>
              <a:rPr lang="en-US" dirty="0"/>
              <a:t>&lt;script&gt;</a:t>
            </a:r>
          </a:p>
          <a:p>
            <a:r>
              <a:rPr lang="en-US" dirty="0"/>
              <a:t>  alert(</a:t>
            </a:r>
            <a:r>
              <a:rPr lang="en-US" dirty="0" err="1"/>
              <a:t>elem.type</a:t>
            </a:r>
            <a:r>
              <a:rPr lang="en-US" dirty="0"/>
              <a:t>); // "text"</a:t>
            </a:r>
          </a:p>
          <a:p>
            <a:r>
              <a:rPr lang="en-US" dirty="0"/>
              <a:t>  alert(elem.id); // "</a:t>
            </a:r>
            <a:r>
              <a:rPr lang="en-US" dirty="0" err="1"/>
              <a:t>elem</a:t>
            </a:r>
            <a:r>
              <a:rPr lang="en-US" dirty="0"/>
              <a:t>"</a:t>
            </a:r>
          </a:p>
          <a:p>
            <a:r>
              <a:rPr lang="en-US" dirty="0"/>
              <a:t>  alert(</a:t>
            </a:r>
            <a:r>
              <a:rPr lang="en-US" dirty="0" err="1"/>
              <a:t>elem.value</a:t>
            </a:r>
            <a:r>
              <a:rPr lang="en-US" dirty="0"/>
              <a:t>); // value</a:t>
            </a:r>
          </a:p>
          <a:p>
            <a:r>
              <a:rPr lang="en-US" dirty="0"/>
              <a:t>&lt;/script&gt;</a:t>
            </a:r>
          </a:p>
        </p:txBody>
      </p:sp>
      <p:sp>
        <p:nvSpPr>
          <p:cNvPr id="3" name="TextBox 3">
            <a:extLst>
              <a:ext uri="{FF2B5EF4-FFF2-40B4-BE49-F238E27FC236}">
                <a16:creationId xmlns:a16="http://schemas.microsoft.com/office/drawing/2014/main" id="{F3171CF3-EE25-82D9-0451-5081EDF0AF25}"/>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3"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4541623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7781-BCC3-7367-CC40-DC64A8200A1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E95472D-2652-39C3-ADF4-B997C05C19FA}"/>
              </a:ext>
            </a:extLst>
          </p:cNvPr>
          <p:cNvSpPr txBox="1"/>
          <p:nvPr/>
        </p:nvSpPr>
        <p:spPr>
          <a:xfrm>
            <a:off x="496455" y="1201526"/>
            <a:ext cx="9190470" cy="4708981"/>
          </a:xfrm>
          <a:prstGeom prst="rect">
            <a:avLst/>
          </a:prstGeom>
        </p:spPr>
        <p:txBody>
          <a:bodyPr wrap="square" lIns="0" tIns="0" rIns="0" bIns="0" rtlCol="0" anchor="t">
            <a:spAutoFit/>
          </a:bodyPr>
          <a:lstStyle/>
          <a:p>
            <a:r>
              <a:rPr lang="en-US" b="1" dirty="0"/>
              <a:t>What is an Event?</a:t>
            </a:r>
          </a:p>
          <a:p>
            <a:r>
              <a:rPr lang="en-US" dirty="0"/>
              <a:t>An event is an action that happens in the browser:</a:t>
            </a:r>
          </a:p>
          <a:p>
            <a:r>
              <a:rPr lang="en-US" dirty="0"/>
              <a:t>Click</a:t>
            </a:r>
          </a:p>
          <a:p>
            <a:r>
              <a:rPr lang="en-US" dirty="0"/>
              <a:t>Submit</a:t>
            </a:r>
          </a:p>
          <a:p>
            <a:r>
              <a:rPr lang="en-US" dirty="0"/>
              <a:t>Key press</a:t>
            </a:r>
          </a:p>
          <a:p>
            <a:r>
              <a:rPr lang="en-US" dirty="0"/>
              <a:t>Mouse move</a:t>
            </a:r>
          </a:p>
          <a:p>
            <a:r>
              <a:rPr lang="en-US" dirty="0"/>
              <a:t>Load</a:t>
            </a:r>
          </a:p>
          <a:p>
            <a:r>
              <a:rPr lang="en-US" b="1" dirty="0"/>
              <a:t>Why Events Matter?</a:t>
            </a:r>
          </a:p>
          <a:p>
            <a:r>
              <a:rPr lang="en-US" dirty="0"/>
              <a:t>They make websites interactive.</a:t>
            </a:r>
            <a:br>
              <a:rPr lang="en-US" dirty="0"/>
            </a:br>
            <a:r>
              <a:rPr lang="en-US" b="1" dirty="0"/>
              <a:t>Ways to Handle Events</a:t>
            </a:r>
          </a:p>
          <a:p>
            <a:r>
              <a:rPr lang="en-US" b="1" dirty="0"/>
              <a:t>--Inline Event (Not Recommended)</a:t>
            </a:r>
          </a:p>
          <a:p>
            <a:r>
              <a:rPr lang="en-US" dirty="0"/>
              <a:t>&lt;button onclick="</a:t>
            </a:r>
            <a:r>
              <a:rPr lang="en-US" dirty="0" err="1"/>
              <a:t>sayHello</a:t>
            </a:r>
            <a:r>
              <a:rPr lang="en-US" dirty="0"/>
              <a:t>()"&gt;Click&lt;/button&gt;</a:t>
            </a:r>
          </a:p>
          <a:p>
            <a:r>
              <a:rPr lang="en-US" b="1" dirty="0"/>
              <a:t>--DOM Property</a:t>
            </a:r>
          </a:p>
          <a:p>
            <a:r>
              <a:rPr lang="en-US" dirty="0" err="1"/>
              <a:t>btn.onclick</a:t>
            </a:r>
            <a:r>
              <a:rPr lang="en-US" dirty="0"/>
              <a:t> = function() {};</a:t>
            </a:r>
            <a:br>
              <a:rPr lang="en-US" dirty="0"/>
            </a:br>
            <a:r>
              <a:rPr lang="en-US" dirty="0"/>
              <a:t>--</a:t>
            </a:r>
            <a:r>
              <a:rPr lang="en-US" b="1" dirty="0" err="1"/>
              <a:t>addEventListener</a:t>
            </a:r>
            <a:r>
              <a:rPr lang="en-US" b="1" dirty="0"/>
              <a:t> (Recommended ✅)</a:t>
            </a:r>
          </a:p>
          <a:p>
            <a:r>
              <a:rPr lang="en-US" dirty="0" err="1"/>
              <a:t>btn.addEventListener</a:t>
            </a:r>
            <a:r>
              <a:rPr lang="en-US" dirty="0"/>
              <a:t>("click", function() {});</a:t>
            </a:r>
          </a:p>
          <a:p>
            <a:endParaRPr lang="en-US" dirty="0"/>
          </a:p>
        </p:txBody>
      </p:sp>
      <p:sp>
        <p:nvSpPr>
          <p:cNvPr id="3" name="TextBox 3">
            <a:extLst>
              <a:ext uri="{FF2B5EF4-FFF2-40B4-BE49-F238E27FC236}">
                <a16:creationId xmlns:a16="http://schemas.microsoft.com/office/drawing/2014/main" id="{56514268-E011-B430-C03F-80EAEEF40AB8}"/>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0060459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F4A92-044D-03AF-0770-C6959A30884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B6BCC88-695E-87C6-3A05-F35B8DE97C5A}"/>
              </a:ext>
            </a:extLst>
          </p:cNvPr>
          <p:cNvSpPr txBox="1"/>
          <p:nvPr/>
        </p:nvSpPr>
        <p:spPr>
          <a:xfrm>
            <a:off x="496455" y="1201526"/>
            <a:ext cx="9190470" cy="5262979"/>
          </a:xfrm>
          <a:prstGeom prst="rect">
            <a:avLst/>
          </a:prstGeom>
        </p:spPr>
        <p:txBody>
          <a:bodyPr wrap="square" lIns="0" tIns="0" rIns="0" bIns="0" rtlCol="0" anchor="t">
            <a:spAutoFit/>
          </a:bodyPr>
          <a:lstStyle/>
          <a:p>
            <a:r>
              <a:rPr lang="en-US" b="1" dirty="0"/>
              <a:t>The Event Object</a:t>
            </a:r>
          </a:p>
          <a:p>
            <a:r>
              <a:rPr lang="en-US" b="1" dirty="0"/>
              <a:t>What is Event Object?</a:t>
            </a:r>
          </a:p>
          <a:p>
            <a:r>
              <a:rPr lang="en-US" dirty="0"/>
              <a:t>It contains information about the event.</a:t>
            </a:r>
          </a:p>
          <a:p>
            <a:r>
              <a:rPr lang="en-US" dirty="0" err="1"/>
              <a:t>btn.addEventListener</a:t>
            </a:r>
            <a:r>
              <a:rPr lang="en-US" dirty="0"/>
              <a:t>("click", function(event) {</a:t>
            </a:r>
          </a:p>
          <a:p>
            <a:r>
              <a:rPr lang="en-US" dirty="0"/>
              <a:t>   console.log(</a:t>
            </a:r>
            <a:r>
              <a:rPr lang="en-US" dirty="0" err="1"/>
              <a:t>event.target</a:t>
            </a:r>
            <a:r>
              <a:rPr lang="en-US" dirty="0"/>
              <a:t>);</a:t>
            </a:r>
          </a:p>
          <a:p>
            <a:r>
              <a:rPr lang="en-US" dirty="0"/>
              <a:t>});</a:t>
            </a:r>
          </a:p>
          <a:p>
            <a:r>
              <a:rPr lang="en-US" dirty="0"/>
              <a:t>Important properties:</a:t>
            </a:r>
          </a:p>
          <a:p>
            <a:r>
              <a:rPr lang="en-US" dirty="0" err="1"/>
              <a:t>event.target</a:t>
            </a:r>
            <a:endParaRPr lang="en-US" dirty="0"/>
          </a:p>
          <a:p>
            <a:r>
              <a:rPr lang="en-US" dirty="0" err="1"/>
              <a:t>event.type</a:t>
            </a:r>
            <a:endParaRPr lang="en-US" dirty="0"/>
          </a:p>
          <a:p>
            <a:r>
              <a:rPr lang="en-US" dirty="0" err="1"/>
              <a:t>event.preventDefault</a:t>
            </a:r>
            <a:r>
              <a:rPr lang="en-US" dirty="0"/>
              <a:t>()</a:t>
            </a:r>
            <a:br>
              <a:rPr lang="en-US" dirty="0"/>
            </a:br>
            <a:endParaRPr lang="en-US" dirty="0"/>
          </a:p>
          <a:p>
            <a:r>
              <a:rPr lang="en-US" b="1" dirty="0"/>
              <a:t>Prevent Default Behavior</a:t>
            </a:r>
          </a:p>
          <a:p>
            <a:r>
              <a:rPr lang="en-US" dirty="0"/>
              <a:t>Used mainly with forms.</a:t>
            </a:r>
          </a:p>
          <a:p>
            <a:r>
              <a:rPr lang="en-US" dirty="0" err="1"/>
              <a:t>form.addEventListener</a:t>
            </a:r>
            <a:r>
              <a:rPr lang="en-US" dirty="0"/>
              <a:t>("submit", function(e) {</a:t>
            </a:r>
          </a:p>
          <a:p>
            <a:r>
              <a:rPr lang="en-US" dirty="0"/>
              <a:t>   </a:t>
            </a:r>
            <a:r>
              <a:rPr lang="en-US" dirty="0" err="1"/>
              <a:t>e.preventDefault</a:t>
            </a:r>
            <a:r>
              <a:rPr lang="en-US" dirty="0"/>
              <a:t>();</a:t>
            </a:r>
          </a:p>
          <a:p>
            <a:r>
              <a:rPr lang="en-US" dirty="0"/>
              <a:t>});</a:t>
            </a:r>
          </a:p>
          <a:p>
            <a:r>
              <a:rPr lang="en-US" dirty="0"/>
              <a:t>Why?</a:t>
            </a:r>
            <a:br>
              <a:rPr lang="en-US" dirty="0"/>
            </a:br>
            <a:r>
              <a:rPr lang="en-US" dirty="0"/>
              <a:t>To stop page refresh.</a:t>
            </a:r>
          </a:p>
          <a:p>
            <a:endParaRPr lang="en-US" dirty="0"/>
          </a:p>
        </p:txBody>
      </p:sp>
      <p:sp>
        <p:nvSpPr>
          <p:cNvPr id="3" name="TextBox 3">
            <a:extLst>
              <a:ext uri="{FF2B5EF4-FFF2-40B4-BE49-F238E27FC236}">
                <a16:creationId xmlns:a16="http://schemas.microsoft.com/office/drawing/2014/main" id="{2BB9C5C9-2BB6-EF62-53DD-E4DDF2F56945}"/>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780761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054D2-98D0-88F3-685A-B1C8F1439E6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C7CC850-D25E-DDF9-5066-DFD19B18BEA0}"/>
              </a:ext>
            </a:extLst>
          </p:cNvPr>
          <p:cNvSpPr txBox="1"/>
          <p:nvPr/>
        </p:nvSpPr>
        <p:spPr>
          <a:xfrm>
            <a:off x="496455" y="1201526"/>
            <a:ext cx="9190470" cy="3877985"/>
          </a:xfrm>
          <a:prstGeom prst="rect">
            <a:avLst/>
          </a:prstGeom>
        </p:spPr>
        <p:txBody>
          <a:bodyPr wrap="square" lIns="0" tIns="0" rIns="0" bIns="0" rtlCol="0" anchor="t">
            <a:spAutoFit/>
          </a:bodyPr>
          <a:lstStyle/>
          <a:p>
            <a:r>
              <a:rPr lang="en-US" b="1" dirty="0"/>
              <a:t>Common DOM Events</a:t>
            </a:r>
          </a:p>
          <a:p>
            <a:r>
              <a:rPr lang="en-US" dirty="0"/>
              <a:t>Mouse Events:</a:t>
            </a:r>
          </a:p>
          <a:p>
            <a:r>
              <a:rPr lang="en-US" dirty="0"/>
              <a:t>click</a:t>
            </a:r>
          </a:p>
          <a:p>
            <a:r>
              <a:rPr lang="en-US" dirty="0" err="1"/>
              <a:t>dblclick</a:t>
            </a:r>
            <a:endParaRPr lang="en-US" dirty="0"/>
          </a:p>
          <a:p>
            <a:r>
              <a:rPr lang="en-US" dirty="0"/>
              <a:t>mouseover</a:t>
            </a:r>
          </a:p>
          <a:p>
            <a:r>
              <a:rPr lang="en-US" dirty="0" err="1"/>
              <a:t>mouseout</a:t>
            </a:r>
            <a:endParaRPr lang="en-US" dirty="0"/>
          </a:p>
          <a:p>
            <a:r>
              <a:rPr lang="en-US" dirty="0"/>
              <a:t>Keyboard Events:</a:t>
            </a:r>
          </a:p>
          <a:p>
            <a:r>
              <a:rPr lang="en-US" dirty="0" err="1"/>
              <a:t>keydown</a:t>
            </a:r>
            <a:endParaRPr lang="en-US" dirty="0"/>
          </a:p>
          <a:p>
            <a:r>
              <a:rPr lang="en-US" dirty="0" err="1"/>
              <a:t>keyup</a:t>
            </a:r>
            <a:endParaRPr lang="en-US" dirty="0"/>
          </a:p>
          <a:p>
            <a:r>
              <a:rPr lang="en-US" dirty="0"/>
              <a:t>Form Events:</a:t>
            </a:r>
          </a:p>
          <a:p>
            <a:r>
              <a:rPr lang="en-US" dirty="0"/>
              <a:t>submit</a:t>
            </a:r>
          </a:p>
          <a:p>
            <a:r>
              <a:rPr lang="en-US" dirty="0"/>
              <a:t>change</a:t>
            </a:r>
          </a:p>
          <a:p>
            <a:r>
              <a:rPr lang="en-US" dirty="0"/>
              <a:t>input</a:t>
            </a:r>
          </a:p>
          <a:p>
            <a:endParaRPr lang="en-US" dirty="0"/>
          </a:p>
        </p:txBody>
      </p:sp>
      <p:sp>
        <p:nvSpPr>
          <p:cNvPr id="3" name="TextBox 3">
            <a:extLst>
              <a:ext uri="{FF2B5EF4-FFF2-40B4-BE49-F238E27FC236}">
                <a16:creationId xmlns:a16="http://schemas.microsoft.com/office/drawing/2014/main" id="{9EB83C0B-53E6-949D-2DB1-2E02C6650482}"/>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7385505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F4369-98E7-74DF-C3D6-3669B384BAE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5389F58-BEC1-C578-5467-6DF78A3B244F}"/>
              </a:ext>
            </a:extLst>
          </p:cNvPr>
          <p:cNvSpPr txBox="1"/>
          <p:nvPr/>
        </p:nvSpPr>
        <p:spPr>
          <a:xfrm>
            <a:off x="596468" y="1026934"/>
            <a:ext cx="9190470" cy="3877985"/>
          </a:xfrm>
          <a:prstGeom prst="rect">
            <a:avLst/>
          </a:prstGeom>
        </p:spPr>
        <p:txBody>
          <a:bodyPr wrap="square" lIns="0" tIns="0" rIns="0" bIns="0" rtlCol="0" anchor="t">
            <a:spAutoFit/>
          </a:bodyPr>
          <a:lstStyle/>
          <a:p>
            <a:r>
              <a:rPr lang="en-US" b="1" dirty="0"/>
              <a:t>DOM Manipulation Advanced</a:t>
            </a:r>
            <a:br>
              <a:rPr lang="en-US" dirty="0"/>
            </a:br>
            <a:r>
              <a:rPr lang="en-US" b="1" dirty="0"/>
              <a:t>Creating Elements</a:t>
            </a:r>
          </a:p>
          <a:p>
            <a:r>
              <a:rPr lang="en-US" b="1" dirty="0" err="1"/>
              <a:t>createElement</a:t>
            </a:r>
            <a:r>
              <a:rPr lang="en-US" b="1" dirty="0"/>
              <a:t>()</a:t>
            </a:r>
          </a:p>
          <a:p>
            <a:r>
              <a:rPr lang="en-US" dirty="0"/>
              <a:t>let div = </a:t>
            </a:r>
            <a:r>
              <a:rPr lang="en-US" dirty="0" err="1"/>
              <a:t>document.createElement</a:t>
            </a:r>
            <a:r>
              <a:rPr lang="en-US" dirty="0"/>
              <a:t>("div");</a:t>
            </a:r>
          </a:p>
          <a:p>
            <a:r>
              <a:rPr lang="en-US" b="1" dirty="0" err="1"/>
              <a:t>appendChild</a:t>
            </a:r>
            <a:r>
              <a:rPr lang="en-US" b="1" dirty="0"/>
              <a:t>()</a:t>
            </a:r>
          </a:p>
          <a:p>
            <a:r>
              <a:rPr lang="en-US" dirty="0" err="1"/>
              <a:t>document.body.appendChild</a:t>
            </a:r>
            <a:r>
              <a:rPr lang="en-US" dirty="0"/>
              <a:t>(div);</a:t>
            </a:r>
          </a:p>
          <a:p>
            <a:endParaRPr lang="en-US" b="1" dirty="0"/>
          </a:p>
          <a:p>
            <a:r>
              <a:rPr lang="en-US" b="1" dirty="0"/>
              <a:t>Adding &amp; Removing Elements</a:t>
            </a:r>
          </a:p>
          <a:p>
            <a:r>
              <a:rPr lang="en-US" b="1" dirty="0"/>
              <a:t>prepend()</a:t>
            </a:r>
          </a:p>
          <a:p>
            <a:r>
              <a:rPr lang="en-US" dirty="0"/>
              <a:t>Adds element at beginning</a:t>
            </a:r>
          </a:p>
          <a:p>
            <a:r>
              <a:rPr lang="en-US" b="1" dirty="0"/>
              <a:t>remove()</a:t>
            </a:r>
          </a:p>
          <a:p>
            <a:r>
              <a:rPr lang="en-US" dirty="0"/>
              <a:t>Removes element</a:t>
            </a:r>
          </a:p>
          <a:p>
            <a:r>
              <a:rPr lang="en-US" dirty="0" err="1"/>
              <a:t>element.remove</a:t>
            </a:r>
            <a:r>
              <a:rPr lang="en-US" dirty="0"/>
              <a:t>();</a:t>
            </a:r>
          </a:p>
          <a:p>
            <a:endParaRPr lang="en-US" dirty="0"/>
          </a:p>
        </p:txBody>
      </p:sp>
      <p:sp>
        <p:nvSpPr>
          <p:cNvPr id="3" name="TextBox 3">
            <a:extLst>
              <a:ext uri="{FF2B5EF4-FFF2-40B4-BE49-F238E27FC236}">
                <a16:creationId xmlns:a16="http://schemas.microsoft.com/office/drawing/2014/main" id="{D3E0B8C1-570B-6B0B-C3A5-C346899BD554}"/>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570869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D0C6F-15BA-79DE-6C3E-5DD9D332CB6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525D5E9-3332-F136-661B-BC92386EA58F}"/>
              </a:ext>
            </a:extLst>
          </p:cNvPr>
          <p:cNvSpPr txBox="1"/>
          <p:nvPr/>
        </p:nvSpPr>
        <p:spPr>
          <a:xfrm>
            <a:off x="596468" y="1026934"/>
            <a:ext cx="9190470" cy="2215991"/>
          </a:xfrm>
          <a:prstGeom prst="rect">
            <a:avLst/>
          </a:prstGeom>
        </p:spPr>
        <p:txBody>
          <a:bodyPr wrap="square" lIns="0" tIns="0" rIns="0" bIns="0" rtlCol="0" anchor="t">
            <a:spAutoFit/>
          </a:bodyPr>
          <a:lstStyle/>
          <a:p>
            <a:r>
              <a:rPr lang="en-US" b="1" dirty="0"/>
              <a:t>Working with Attributes</a:t>
            </a:r>
          </a:p>
          <a:p>
            <a:r>
              <a:rPr lang="en-US" b="1" dirty="0"/>
              <a:t>Attribute Methods:</a:t>
            </a:r>
          </a:p>
          <a:p>
            <a:r>
              <a:rPr lang="en-US" dirty="0" err="1"/>
              <a:t>getAttribute</a:t>
            </a:r>
            <a:r>
              <a:rPr lang="en-US" dirty="0"/>
              <a:t>()</a:t>
            </a:r>
          </a:p>
          <a:p>
            <a:r>
              <a:rPr lang="en-US" dirty="0" err="1"/>
              <a:t>setAttribute</a:t>
            </a:r>
            <a:r>
              <a:rPr lang="en-US" dirty="0"/>
              <a:t>()</a:t>
            </a:r>
          </a:p>
          <a:p>
            <a:r>
              <a:rPr lang="en-US" dirty="0" err="1"/>
              <a:t>removeAttribute</a:t>
            </a:r>
            <a:r>
              <a:rPr lang="en-US" dirty="0"/>
              <a:t>()</a:t>
            </a:r>
          </a:p>
          <a:p>
            <a:r>
              <a:rPr lang="en-US" dirty="0" err="1"/>
              <a:t>hasAttribute</a:t>
            </a:r>
            <a:r>
              <a:rPr lang="en-US" dirty="0"/>
              <a:t>()</a:t>
            </a:r>
          </a:p>
          <a:p>
            <a:r>
              <a:rPr lang="en-US" dirty="0"/>
              <a:t>Example:</a:t>
            </a:r>
          </a:p>
          <a:p>
            <a:r>
              <a:rPr lang="en-US" dirty="0" err="1"/>
              <a:t>input.setAttribute</a:t>
            </a:r>
            <a:r>
              <a:rPr lang="en-US" dirty="0"/>
              <a:t>("placeholder", "Enter name");</a:t>
            </a:r>
          </a:p>
        </p:txBody>
      </p:sp>
      <p:sp>
        <p:nvSpPr>
          <p:cNvPr id="3" name="TextBox 3">
            <a:extLst>
              <a:ext uri="{FF2B5EF4-FFF2-40B4-BE49-F238E27FC236}">
                <a16:creationId xmlns:a16="http://schemas.microsoft.com/office/drawing/2014/main" id="{FCB997AB-62F3-9C1E-011C-D0A6A3121C87}"/>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372972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F23C7-C23C-9CE1-EB7B-3BF87EBD5AF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1D46CF1-FC31-0A19-396F-CCEF0DC6D9D5}"/>
              </a:ext>
            </a:extLst>
          </p:cNvPr>
          <p:cNvSpPr txBox="1"/>
          <p:nvPr/>
        </p:nvSpPr>
        <p:spPr>
          <a:xfrm>
            <a:off x="596468" y="1026934"/>
            <a:ext cx="9190470" cy="5816977"/>
          </a:xfrm>
          <a:prstGeom prst="rect">
            <a:avLst/>
          </a:prstGeom>
        </p:spPr>
        <p:txBody>
          <a:bodyPr wrap="square" lIns="0" tIns="0" rIns="0" bIns="0" rtlCol="0" anchor="t">
            <a:spAutoFit/>
          </a:bodyPr>
          <a:lstStyle/>
          <a:p>
            <a:r>
              <a:rPr lang="en-US" b="1" dirty="0"/>
              <a:t>Forms &amp; Validation</a:t>
            </a:r>
          </a:p>
          <a:p>
            <a:r>
              <a:rPr lang="en-US" b="1" dirty="0"/>
              <a:t>Forms with JavaScript</a:t>
            </a:r>
          </a:p>
          <a:p>
            <a:r>
              <a:rPr lang="en-US" dirty="0"/>
              <a:t>Steps:</a:t>
            </a:r>
          </a:p>
          <a:p>
            <a:r>
              <a:rPr lang="en-US" dirty="0"/>
              <a:t>Select form</a:t>
            </a:r>
          </a:p>
          <a:p>
            <a:r>
              <a:rPr lang="en-US" dirty="0"/>
              <a:t>Listen to submit</a:t>
            </a:r>
          </a:p>
          <a:p>
            <a:r>
              <a:rPr lang="en-US" dirty="0"/>
              <a:t>Prevent default</a:t>
            </a:r>
          </a:p>
          <a:p>
            <a:r>
              <a:rPr lang="en-US" dirty="0"/>
              <a:t>Validate inputs</a:t>
            </a:r>
          </a:p>
          <a:p>
            <a:br>
              <a:rPr lang="en-US" dirty="0"/>
            </a:br>
            <a:r>
              <a:rPr lang="en-US" b="1" dirty="0"/>
              <a:t>— Reading Input Values</a:t>
            </a:r>
          </a:p>
          <a:p>
            <a:r>
              <a:rPr lang="en-US" dirty="0"/>
              <a:t>let value = </a:t>
            </a:r>
            <a:r>
              <a:rPr lang="en-US" dirty="0" err="1"/>
              <a:t>input.value</a:t>
            </a:r>
            <a:r>
              <a:rPr lang="en-US" dirty="0"/>
              <a:t>;</a:t>
            </a:r>
          </a:p>
          <a:p>
            <a:r>
              <a:rPr lang="en-US" dirty="0"/>
              <a:t>Important:</a:t>
            </a:r>
          </a:p>
          <a:p>
            <a:r>
              <a:rPr lang="en-US" dirty="0"/>
              <a:t>trim()</a:t>
            </a:r>
          </a:p>
          <a:p>
            <a:r>
              <a:rPr lang="en-US" dirty="0"/>
              <a:t>length</a:t>
            </a:r>
          </a:p>
          <a:p>
            <a:br>
              <a:rPr lang="en-US" dirty="0"/>
            </a:br>
            <a:r>
              <a:rPr lang="en-US" b="1" dirty="0"/>
              <a:t>— Displaying Errors in DOM</a:t>
            </a:r>
          </a:p>
          <a:p>
            <a:r>
              <a:rPr lang="en-US" dirty="0"/>
              <a:t>Use:</a:t>
            </a:r>
          </a:p>
          <a:p>
            <a:r>
              <a:rPr lang="en-US" dirty="0" err="1"/>
              <a:t>textContent</a:t>
            </a:r>
            <a:endParaRPr lang="en-US" dirty="0"/>
          </a:p>
          <a:p>
            <a:r>
              <a:rPr lang="en-US" dirty="0" err="1"/>
              <a:t>classList</a:t>
            </a:r>
            <a:endParaRPr lang="en-US" dirty="0"/>
          </a:p>
          <a:p>
            <a:r>
              <a:rPr lang="en-US" dirty="0"/>
              <a:t>style</a:t>
            </a:r>
          </a:p>
          <a:p>
            <a:r>
              <a:rPr lang="en-US" dirty="0"/>
              <a:t>Example:</a:t>
            </a:r>
          </a:p>
          <a:p>
            <a:r>
              <a:rPr lang="en-US" dirty="0" err="1"/>
              <a:t>errorMessage.textContent</a:t>
            </a:r>
            <a:r>
              <a:rPr lang="en-US" dirty="0"/>
              <a:t> = "Password too short";</a:t>
            </a:r>
          </a:p>
        </p:txBody>
      </p:sp>
      <p:sp>
        <p:nvSpPr>
          <p:cNvPr id="3" name="TextBox 3">
            <a:extLst>
              <a:ext uri="{FF2B5EF4-FFF2-40B4-BE49-F238E27FC236}">
                <a16:creationId xmlns:a16="http://schemas.microsoft.com/office/drawing/2014/main" id="{18BE578D-83D5-75F6-144D-194FDC9979B1}"/>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8655882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A8A8-6309-5A60-5A9D-CF17614CDB6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F71FBDE3-D67B-E3E4-6C08-59E7272A3227}"/>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pic>
        <p:nvPicPr>
          <p:cNvPr id="5" name="Picture 4">
            <a:extLst>
              <a:ext uri="{FF2B5EF4-FFF2-40B4-BE49-F238E27FC236}">
                <a16:creationId xmlns:a16="http://schemas.microsoft.com/office/drawing/2014/main" id="{247611C6-A47D-42F8-83A5-CB2B28D4FAF4}"/>
              </a:ext>
            </a:extLst>
          </p:cNvPr>
          <p:cNvPicPr>
            <a:picLocks noChangeAspect="1"/>
          </p:cNvPicPr>
          <p:nvPr/>
        </p:nvPicPr>
        <p:blipFill>
          <a:blip r:embed="rId3"/>
          <a:stretch>
            <a:fillRect/>
          </a:stretch>
        </p:blipFill>
        <p:spPr>
          <a:xfrm>
            <a:off x="0" y="1342871"/>
            <a:ext cx="5887272" cy="4172257"/>
          </a:xfrm>
          <a:prstGeom prst="rect">
            <a:avLst/>
          </a:prstGeom>
        </p:spPr>
      </p:pic>
      <p:pic>
        <p:nvPicPr>
          <p:cNvPr id="7" name="Picture 6">
            <a:extLst>
              <a:ext uri="{FF2B5EF4-FFF2-40B4-BE49-F238E27FC236}">
                <a16:creationId xmlns:a16="http://schemas.microsoft.com/office/drawing/2014/main" id="{679458F8-210C-D016-8F5E-147C324B2311}"/>
              </a:ext>
            </a:extLst>
          </p:cNvPr>
          <p:cNvPicPr>
            <a:picLocks noChangeAspect="1"/>
          </p:cNvPicPr>
          <p:nvPr/>
        </p:nvPicPr>
        <p:blipFill>
          <a:blip r:embed="rId4"/>
          <a:stretch>
            <a:fillRect/>
          </a:stretch>
        </p:blipFill>
        <p:spPr>
          <a:xfrm>
            <a:off x="5752201" y="1204601"/>
            <a:ext cx="6439799" cy="4448796"/>
          </a:xfrm>
          <a:prstGeom prst="rect">
            <a:avLst/>
          </a:prstGeom>
        </p:spPr>
      </p:pic>
    </p:spTree>
    <p:extLst>
      <p:ext uri="{BB962C8B-B14F-4D97-AF65-F5344CB8AC3E}">
        <p14:creationId xmlns:p14="http://schemas.microsoft.com/office/powerpoint/2010/main" val="32184981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EAB7-A75F-30DA-F918-11A816A9C1E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D78AA9-8984-667A-042D-D715CD90A6D0}"/>
              </a:ext>
            </a:extLst>
          </p:cNvPr>
          <p:cNvSpPr txBox="1"/>
          <p:nvPr/>
        </p:nvSpPr>
        <p:spPr>
          <a:xfrm>
            <a:off x="596468" y="1026934"/>
            <a:ext cx="9190470" cy="1754326"/>
          </a:xfrm>
          <a:prstGeom prst="rect">
            <a:avLst/>
          </a:prstGeom>
        </p:spPr>
        <p:txBody>
          <a:bodyPr wrap="square" lIns="0" tIns="0" rIns="0" bIns="0" rtlCol="0" anchor="t">
            <a:spAutoFit/>
          </a:bodyPr>
          <a:lstStyle/>
          <a:p>
            <a:r>
              <a:rPr lang="en-US" b="1" dirty="0" err="1"/>
              <a:t>DOMContentLoaded</a:t>
            </a:r>
            <a:endParaRPr lang="en-US" b="1" dirty="0"/>
          </a:p>
          <a:p>
            <a:r>
              <a:rPr lang="en-US" dirty="0" err="1"/>
              <a:t>document.addEventListener</a:t>
            </a:r>
            <a:r>
              <a:rPr lang="en-US" dirty="0"/>
              <a:t>("</a:t>
            </a:r>
            <a:r>
              <a:rPr lang="en-US" dirty="0" err="1"/>
              <a:t>DOMContentLoaded</a:t>
            </a:r>
            <a:r>
              <a:rPr lang="en-US" dirty="0"/>
              <a:t>", function() {</a:t>
            </a:r>
          </a:p>
          <a:p>
            <a:r>
              <a:rPr lang="en-US" dirty="0"/>
              <a:t>   // your code here</a:t>
            </a:r>
          </a:p>
          <a:p>
            <a:r>
              <a:rPr lang="en-US" dirty="0"/>
              <a:t>});</a:t>
            </a:r>
          </a:p>
          <a:p>
            <a:r>
              <a:rPr lang="en-US" sz="2400" b="1" dirty="0"/>
              <a:t>Why?</a:t>
            </a:r>
            <a:br>
              <a:rPr lang="en-US" dirty="0"/>
            </a:br>
            <a:r>
              <a:rPr lang="en-US" dirty="0"/>
              <a:t>To make sure DOM is fully loaded before JS runs.</a:t>
            </a:r>
          </a:p>
        </p:txBody>
      </p:sp>
      <p:sp>
        <p:nvSpPr>
          <p:cNvPr id="3" name="TextBox 3">
            <a:extLst>
              <a:ext uri="{FF2B5EF4-FFF2-40B4-BE49-F238E27FC236}">
                <a16:creationId xmlns:a16="http://schemas.microsoft.com/office/drawing/2014/main" id="{694B447B-FCF7-FA14-E242-BB7FCA70C3AB}"/>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153175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B20A3-37E2-2DDA-7C06-B72345CE36E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3D52BE8-8BEC-1101-6756-04D3B1A8C12D}"/>
              </a:ext>
            </a:extLst>
          </p:cNvPr>
          <p:cNvSpPr txBox="1"/>
          <p:nvPr/>
        </p:nvSpPr>
        <p:spPr>
          <a:xfrm>
            <a:off x="596468" y="1026934"/>
            <a:ext cx="9190470" cy="5262979"/>
          </a:xfrm>
          <a:prstGeom prst="rect">
            <a:avLst/>
          </a:prstGeom>
        </p:spPr>
        <p:txBody>
          <a:bodyPr wrap="square" lIns="0" tIns="0" rIns="0" bIns="0" rtlCol="0" anchor="t">
            <a:spAutoFit/>
          </a:bodyPr>
          <a:lstStyle/>
          <a:p>
            <a:r>
              <a:rPr lang="en-US" b="1" dirty="0"/>
              <a:t>1-Dynamic To-Do List</a:t>
            </a:r>
          </a:p>
          <a:p>
            <a:r>
              <a:rPr lang="en-US" dirty="0"/>
              <a:t>Features:</a:t>
            </a:r>
          </a:p>
          <a:p>
            <a:r>
              <a:rPr lang="en-US" dirty="0"/>
              <a:t>Add task</a:t>
            </a:r>
          </a:p>
          <a:p>
            <a:r>
              <a:rPr lang="en-US" dirty="0"/>
              <a:t>Delete task</a:t>
            </a:r>
          </a:p>
          <a:p>
            <a:r>
              <a:rPr lang="en-US" dirty="0"/>
              <a:t>Mark as completed</a:t>
            </a:r>
          </a:p>
          <a:p>
            <a:r>
              <a:rPr lang="en-US" dirty="0"/>
              <a:t>Count tasks</a:t>
            </a:r>
          </a:p>
          <a:p>
            <a:r>
              <a:rPr lang="en-US" dirty="0"/>
              <a:t>Concepts Used:</a:t>
            </a:r>
          </a:p>
          <a:p>
            <a:r>
              <a:rPr lang="en-US" dirty="0" err="1"/>
              <a:t>createElement</a:t>
            </a:r>
            <a:endParaRPr lang="en-US" dirty="0"/>
          </a:p>
          <a:p>
            <a:r>
              <a:rPr lang="en-US" dirty="0" err="1"/>
              <a:t>addEventListener</a:t>
            </a:r>
            <a:endParaRPr lang="en-US" dirty="0"/>
          </a:p>
          <a:p>
            <a:r>
              <a:rPr lang="en-US" dirty="0" err="1"/>
              <a:t>classList</a:t>
            </a:r>
            <a:endParaRPr lang="en-US" dirty="0"/>
          </a:p>
          <a:p>
            <a:r>
              <a:rPr lang="en-US" dirty="0"/>
              <a:t>remove()</a:t>
            </a:r>
          </a:p>
          <a:p>
            <a:br>
              <a:rPr lang="en-US" dirty="0"/>
            </a:br>
            <a:endParaRPr lang="en-US" dirty="0"/>
          </a:p>
          <a:p>
            <a:r>
              <a:rPr lang="en-US" b="1"/>
              <a:t>2-Form </a:t>
            </a:r>
            <a:r>
              <a:rPr lang="en-US" b="1" dirty="0"/>
              <a:t>Validation System</a:t>
            </a:r>
          </a:p>
          <a:p>
            <a:r>
              <a:rPr lang="en-US" dirty="0"/>
              <a:t>Features:</a:t>
            </a:r>
          </a:p>
          <a:p>
            <a:r>
              <a:rPr lang="en-US" dirty="0"/>
              <a:t>Validate name</a:t>
            </a:r>
          </a:p>
          <a:p>
            <a:r>
              <a:rPr lang="en-US" dirty="0"/>
              <a:t>Validate email</a:t>
            </a:r>
          </a:p>
          <a:p>
            <a:r>
              <a:rPr lang="en-US" dirty="0"/>
              <a:t>Validate password</a:t>
            </a:r>
          </a:p>
          <a:p>
            <a:r>
              <a:rPr lang="en-US" dirty="0"/>
              <a:t>Show error messages dynamically</a:t>
            </a:r>
          </a:p>
        </p:txBody>
      </p:sp>
      <p:sp>
        <p:nvSpPr>
          <p:cNvPr id="3" name="TextBox 3">
            <a:extLst>
              <a:ext uri="{FF2B5EF4-FFF2-40B4-BE49-F238E27FC236}">
                <a16:creationId xmlns:a16="http://schemas.microsoft.com/office/drawing/2014/main" id="{E5421836-9EDF-F226-98B1-0DA2CA8B2824}"/>
              </a:ext>
            </a:extLst>
          </p:cNvPr>
          <p:cNvSpPr txBox="1"/>
          <p:nvPr/>
        </p:nvSpPr>
        <p:spPr>
          <a:xfrm>
            <a:off x="3700452" y="285962"/>
            <a:ext cx="7532265" cy="1481944"/>
          </a:xfrm>
          <a:prstGeom prst="rect">
            <a:avLst/>
          </a:prstGeom>
        </p:spPr>
        <p:txBody>
          <a:bodyPr lIns="0" tIns="0" rIns="0" bIns="0" rtlCol="0" anchor="t">
            <a:spAutoFit/>
          </a:bodyPr>
          <a:lstStyle/>
          <a:p>
            <a:pPr algn="just">
              <a:lnSpc>
                <a:spcPts val="5973"/>
              </a:lnSpc>
              <a:spcBef>
                <a:spcPct val="0"/>
              </a:spcBef>
            </a:pPr>
            <a:r>
              <a:rPr lang="en-US" sz="4000" b="1" dirty="0"/>
              <a:t>DOM tree</a:t>
            </a:r>
          </a:p>
          <a:p>
            <a:pPr algn="just">
              <a:lnSpc>
                <a:spcPts val="5973"/>
              </a:lnSpc>
              <a:spcBef>
                <a:spcPct val="0"/>
              </a:spcBef>
            </a:pP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575108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DE3C-22BC-6A68-54F5-BA003602A98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6B13943-5F83-BC07-F8D7-DDFD2423AE58}"/>
              </a:ext>
            </a:extLst>
          </p:cNvPr>
          <p:cNvSpPr txBox="1"/>
          <p:nvPr/>
        </p:nvSpPr>
        <p:spPr>
          <a:xfrm>
            <a:off x="267855" y="901489"/>
            <a:ext cx="10492510" cy="5791394"/>
          </a:xfrm>
          <a:prstGeom prst="rect">
            <a:avLst/>
          </a:prstGeom>
        </p:spPr>
        <p:txBody>
          <a:bodyPr wrap="square" lIns="0" tIns="0" rIns="0" bIns="0" rtlCol="0" anchor="t">
            <a:spAutoFit/>
          </a:bodyPr>
          <a:lstStyle/>
          <a:p>
            <a:pPr>
              <a:lnSpc>
                <a:spcPts val="3810"/>
              </a:lnSpc>
            </a:pPr>
            <a:r>
              <a:rPr lang="en-US" sz="2200" u="sng" dirty="0">
                <a:latin typeface="Antique Olive" panose="020B0603020204030204"/>
                <a:ea typeface="Quicksand"/>
                <a:cs typeface="Quicksand"/>
                <a:sym typeface="Quicksand"/>
              </a:rPr>
              <a:t>Error handling, "try...catch"</a:t>
            </a:r>
          </a:p>
          <a:p>
            <a:pPr>
              <a:lnSpc>
                <a:spcPts val="3810"/>
              </a:lnSpc>
            </a:pPr>
            <a:r>
              <a:rPr lang="en-US" sz="2200" dirty="0">
                <a:latin typeface="Antique Olive" panose="020B0603020204030204"/>
                <a:ea typeface="Quicksand"/>
                <a:cs typeface="Quicksand"/>
                <a:sym typeface="Quicksand"/>
              </a:rPr>
              <a:t>No matter how great we are at programming, sometimes our scripts have errors. They may occur because of our mistakes, an unexpected user input, an erroneous server response, and for a thousand other reasons.</a:t>
            </a:r>
          </a:p>
          <a:p>
            <a:pPr>
              <a:lnSpc>
                <a:spcPts val="3810"/>
              </a:lnSpc>
            </a:pPr>
            <a:r>
              <a:rPr lang="en-US" sz="2200" dirty="0">
                <a:latin typeface="Antique Olive" panose="020B0603020204030204"/>
                <a:ea typeface="Quicksand"/>
                <a:cs typeface="Quicksand"/>
                <a:sym typeface="Quicksand"/>
              </a:rPr>
              <a:t>Usually, a script “dies” (immediately stops) in case of an error, printing it to console.</a:t>
            </a:r>
          </a:p>
          <a:p>
            <a:pPr>
              <a:lnSpc>
                <a:spcPts val="3810"/>
              </a:lnSpc>
            </a:pPr>
            <a:r>
              <a:rPr lang="en-US" sz="2200" dirty="0">
                <a:latin typeface="Antique Olive" panose="020B0603020204030204"/>
                <a:ea typeface="Quicksand"/>
                <a:cs typeface="Quicksand"/>
                <a:sym typeface="Quicksand"/>
              </a:rPr>
              <a:t>But there’s a syntax construct try...catch that allows us to “catch” errors so the script can, instead of dying, do something more reasonable.</a:t>
            </a:r>
          </a:p>
          <a:p>
            <a:pPr>
              <a:lnSpc>
                <a:spcPts val="3810"/>
              </a:lnSpc>
            </a:pPr>
            <a:r>
              <a:rPr lang="en-US" sz="2200" dirty="0">
                <a:latin typeface="Antique Olive" panose="020B0603020204030204"/>
                <a:ea typeface="Quicksand"/>
                <a:cs typeface="Quicksand"/>
                <a:sym typeface="Quicksand"/>
              </a:rPr>
              <a:t>The “try…catch” syntax</a:t>
            </a:r>
          </a:p>
          <a:p>
            <a:pPr>
              <a:lnSpc>
                <a:spcPts val="3810"/>
              </a:lnSpc>
            </a:pPr>
            <a:r>
              <a:rPr lang="en-US" sz="2200" dirty="0">
                <a:latin typeface="Antique Olive" panose="020B0603020204030204"/>
                <a:ea typeface="Quicksand"/>
                <a:cs typeface="Quicksand"/>
                <a:sym typeface="Quicksand"/>
              </a:rPr>
              <a:t>The try...catch construct has two main blocks: try, and then catch:</a:t>
            </a:r>
          </a:p>
          <a:p>
            <a:pPr>
              <a:lnSpc>
                <a:spcPts val="3810"/>
              </a:lnSpc>
            </a:pPr>
            <a:r>
              <a:rPr lang="en-US" sz="2200" dirty="0">
                <a:latin typeface="Antique Olive" panose="020B0603020204030204"/>
                <a:ea typeface="Quicksand"/>
                <a:cs typeface="Quicksand"/>
                <a:sym typeface="Quicksand"/>
              </a:rPr>
              <a:t>try {// code...} </a:t>
            </a:r>
          </a:p>
          <a:p>
            <a:pPr>
              <a:lnSpc>
                <a:spcPts val="3810"/>
              </a:lnSpc>
            </a:pPr>
            <a:r>
              <a:rPr lang="en-US" sz="2200" dirty="0">
                <a:latin typeface="Antique Olive" panose="020B0603020204030204"/>
                <a:ea typeface="Quicksand"/>
                <a:cs typeface="Quicksand"/>
                <a:sym typeface="Quicksand"/>
              </a:rPr>
              <a:t>catch (err) {// error handling}</a:t>
            </a:r>
            <a:endParaRPr lang="en-US" sz="2200" dirty="0">
              <a:latin typeface="Antique Olive" panose="020B0603020204030204"/>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6EAC1C"/>
              </a:solidFill>
              <a:latin typeface="Quicksand"/>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
        <p:nvSpPr>
          <p:cNvPr id="3" name="TextBox 3">
            <a:extLst>
              <a:ext uri="{FF2B5EF4-FFF2-40B4-BE49-F238E27FC236}">
                <a16:creationId xmlns:a16="http://schemas.microsoft.com/office/drawing/2014/main" id="{419EE067-19CB-CE3F-AB34-93953F15610C}"/>
              </a:ext>
            </a:extLst>
          </p:cNvPr>
          <p:cNvSpPr txBox="1"/>
          <p:nvPr/>
        </p:nvSpPr>
        <p:spPr>
          <a:xfrm>
            <a:off x="3700452" y="285962"/>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Error handling</a:t>
            </a: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415680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901489"/>
            <a:ext cx="12192000" cy="4816768"/>
          </a:xfrm>
          <a:prstGeom prst="rect">
            <a:avLst/>
          </a:prstGeom>
        </p:spPr>
        <p:txBody>
          <a:bodyPr lIns="0" tIns="0" rIns="0" bIns="0" rtlCol="0" anchor="t">
            <a:spAutoFit/>
          </a:bodyPr>
          <a:lstStyle/>
          <a:p>
            <a:pPr>
              <a:lnSpc>
                <a:spcPts val="3810"/>
              </a:lnSpc>
            </a:pPr>
            <a:r>
              <a:rPr lang="en-US" sz="2200" u="sng" dirty="0">
                <a:latin typeface="Antique Olive" panose="020B0603020204030204"/>
                <a:ea typeface="Quicksand"/>
                <a:cs typeface="Quicksand"/>
                <a:sym typeface="Quicksand"/>
              </a:rPr>
              <a:t>Error handling, "try...catch"</a:t>
            </a:r>
          </a:p>
          <a:p>
            <a:pPr>
              <a:lnSpc>
                <a:spcPts val="3810"/>
              </a:lnSpc>
            </a:pPr>
            <a:r>
              <a:rPr lang="en-US" sz="2200" dirty="0">
                <a:latin typeface="Antique Olive" panose="020B0603020204030204"/>
                <a:ea typeface="Quicksand"/>
                <a:cs typeface="Quicksand"/>
                <a:sym typeface="Quicksand"/>
              </a:rPr>
              <a:t>It works like this:</a:t>
            </a:r>
          </a:p>
          <a:p>
            <a:pPr marL="483846" lvl="1" indent="-241923">
              <a:lnSpc>
                <a:spcPts val="3810"/>
              </a:lnSpc>
              <a:buAutoNum type="arabicPeriod"/>
            </a:pPr>
            <a:r>
              <a:rPr lang="en-US" sz="2200" dirty="0">
                <a:latin typeface="Antique Olive" panose="020B0603020204030204"/>
                <a:ea typeface="Quicksand"/>
                <a:cs typeface="Quicksand"/>
                <a:sym typeface="Quicksand"/>
              </a:rPr>
              <a:t>First, the code in try {...} is executed.</a:t>
            </a:r>
          </a:p>
          <a:p>
            <a:pPr marL="483846" lvl="1" indent="-241923">
              <a:lnSpc>
                <a:spcPts val="3810"/>
              </a:lnSpc>
              <a:buAutoNum type="arabicPeriod"/>
            </a:pPr>
            <a:r>
              <a:rPr lang="en-US" sz="2200" dirty="0">
                <a:latin typeface="Antique Olive" panose="020B0603020204030204"/>
                <a:ea typeface="Quicksand"/>
                <a:cs typeface="Quicksand"/>
                <a:sym typeface="Quicksand"/>
              </a:rPr>
              <a:t>If there were no errors, then catch (err) is ignored: the execution reaches the end of try and goes on, skipping catch.</a:t>
            </a:r>
          </a:p>
          <a:p>
            <a:pPr marL="483846" lvl="1" indent="-241923">
              <a:lnSpc>
                <a:spcPts val="3810"/>
              </a:lnSpc>
              <a:buAutoNum type="arabicPeriod"/>
            </a:pPr>
            <a:r>
              <a:rPr lang="en-US" sz="2200" dirty="0">
                <a:latin typeface="Antique Olive" panose="020B0603020204030204"/>
                <a:ea typeface="Quicksand"/>
                <a:cs typeface="Quicksand"/>
                <a:sym typeface="Quicksand"/>
              </a:rPr>
              <a:t>If an error occurs, then the try execution is stopped, and control flows to the beginning of catch (err). The err variable (we can use any name for it) will contain an error object with details about what happened.</a:t>
            </a:r>
            <a:endParaRPr lang="en-US" sz="2200" dirty="0">
              <a:latin typeface="Antique Olive" panose="020B0603020204030204"/>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0F4662"/>
              </a:solidFill>
              <a:latin typeface="Quicksand"/>
              <a:ea typeface="Quicksand"/>
              <a:cs typeface="Quicksand"/>
              <a:sym typeface="Quicksand"/>
              <a:hlinkClick r:id="rId2" tooltip="https://javascript.info/arrow-functions-basics#multiline-arrow-functions"/>
            </a:endParaRPr>
          </a:p>
          <a:p>
            <a:pPr>
              <a:lnSpc>
                <a:spcPts val="3810"/>
              </a:lnSpc>
            </a:pPr>
            <a:endParaRPr lang="en-US" sz="2241" dirty="0">
              <a:solidFill>
                <a:srgbClr val="0F4662"/>
              </a:solidFill>
              <a:latin typeface="Quicksand"/>
              <a:ea typeface="Quicksand"/>
              <a:cs typeface="Quicksand"/>
              <a:sym typeface="Quicksand"/>
              <a:hlinkClick r:id="rId2" tooltip="https://javascript.info/arrow-functions-basics#multiline-arrow-functions"/>
            </a:endParaRPr>
          </a:p>
        </p:txBody>
      </p:sp>
      <p:sp>
        <p:nvSpPr>
          <p:cNvPr id="3" name="Freeform 3"/>
          <p:cNvSpPr/>
          <p:nvPr/>
        </p:nvSpPr>
        <p:spPr>
          <a:xfrm>
            <a:off x="4798700" y="4277078"/>
            <a:ext cx="3336169" cy="2580922"/>
          </a:xfrm>
          <a:custGeom>
            <a:avLst/>
            <a:gdLst/>
            <a:ahLst/>
            <a:cxnLst/>
            <a:rect l="l" t="t" r="r" b="b"/>
            <a:pathLst>
              <a:path w="5004253" h="3871383">
                <a:moveTo>
                  <a:pt x="0" y="0"/>
                </a:moveTo>
                <a:lnTo>
                  <a:pt x="5004253" y="0"/>
                </a:lnTo>
                <a:lnTo>
                  <a:pt x="5004253" y="3871383"/>
                </a:lnTo>
                <a:lnTo>
                  <a:pt x="0" y="3871383"/>
                </a:lnTo>
                <a:lnTo>
                  <a:pt x="0" y="0"/>
                </a:lnTo>
                <a:close/>
              </a:path>
            </a:pathLst>
          </a:custGeom>
          <a:blipFill>
            <a:blip r:embed="rId3"/>
            <a:stretch>
              <a:fillRect/>
            </a:stretch>
          </a:blipFill>
        </p:spPr>
      </p:sp>
      <p:sp>
        <p:nvSpPr>
          <p:cNvPr id="4" name="TextBox 4"/>
          <p:cNvSpPr txBox="1"/>
          <p:nvPr/>
        </p:nvSpPr>
        <p:spPr>
          <a:xfrm>
            <a:off x="3700452" y="285962"/>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Error handling</a:t>
            </a: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737492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9526" y="901489"/>
            <a:ext cx="11702473" cy="7253332"/>
          </a:xfrm>
          <a:prstGeom prst="rect">
            <a:avLst/>
          </a:prstGeom>
        </p:spPr>
        <p:txBody>
          <a:bodyPr wrap="square" lIns="0" tIns="0" rIns="0" bIns="0" rtlCol="0" anchor="t">
            <a:spAutoFit/>
          </a:bodyPr>
          <a:lstStyle/>
          <a:p>
            <a:pPr>
              <a:lnSpc>
                <a:spcPts val="3810"/>
              </a:lnSpc>
            </a:pPr>
            <a:r>
              <a:rPr lang="en-US" sz="2200" u="sng" dirty="0">
                <a:latin typeface="Antique Olive" panose="020B0603020204030204"/>
                <a:ea typeface="Quicksand"/>
                <a:cs typeface="Quicksand"/>
                <a:sym typeface="Quicksand"/>
              </a:rPr>
              <a:t>Error handling, "try...catch"</a:t>
            </a:r>
          </a:p>
          <a:p>
            <a:pPr>
              <a:lnSpc>
                <a:spcPts val="3810"/>
              </a:lnSpc>
            </a:pPr>
            <a:r>
              <a:rPr lang="en-US" sz="2200" dirty="0">
                <a:latin typeface="Antique Olive" panose="020B0603020204030204"/>
                <a:ea typeface="Quicksand"/>
                <a:cs typeface="Quicksand"/>
                <a:sym typeface="Quicksand"/>
              </a:rPr>
              <a:t>So, an error inside the try {...} block does not kill the script – we have a chance to handle it in catch. </a:t>
            </a:r>
            <a:r>
              <a:rPr lang="en-US" sz="2200" b="1" dirty="0">
                <a:latin typeface="Antique Olive" panose="020B0603020204030204"/>
                <a:ea typeface="Quicksand Bold"/>
                <a:cs typeface="Quicksand Bold"/>
                <a:sym typeface="Quicksand Bold"/>
              </a:rPr>
              <a:t>Let’s look at some examples.</a:t>
            </a:r>
          </a:p>
          <a:p>
            <a:pPr marL="483846" lvl="1" indent="-241923">
              <a:lnSpc>
                <a:spcPts val="3810"/>
              </a:lnSpc>
              <a:buFont typeface="Arial"/>
              <a:buChar char="•"/>
            </a:pPr>
            <a:r>
              <a:rPr lang="en-US" sz="2200" dirty="0">
                <a:latin typeface="Antique Olive" panose="020B0603020204030204"/>
                <a:ea typeface="Quicksand"/>
                <a:cs typeface="Quicksand"/>
                <a:sym typeface="Quicksand"/>
              </a:rPr>
              <a:t>An errorless example: shows alert (1) and (2):</a:t>
            </a:r>
          </a:p>
          <a:p>
            <a:pPr>
              <a:lnSpc>
                <a:spcPts val="3810"/>
              </a:lnSpc>
            </a:pPr>
            <a:r>
              <a:rPr lang="en-US" sz="2200" dirty="0">
                <a:latin typeface="Antique Olive" panose="020B0603020204030204"/>
                <a:ea typeface="Quicksand"/>
                <a:cs typeface="Quicksand"/>
                <a:sym typeface="Quicksand"/>
              </a:rPr>
              <a:t>try {alert('Start of try runs');  // (1) // ...no errors here</a:t>
            </a:r>
          </a:p>
          <a:p>
            <a:pPr>
              <a:lnSpc>
                <a:spcPts val="3810"/>
              </a:lnSpc>
            </a:pPr>
            <a:r>
              <a:rPr lang="en-US" sz="2200" dirty="0">
                <a:latin typeface="Antique Olive" panose="020B0603020204030204"/>
                <a:ea typeface="Quicksand"/>
                <a:cs typeface="Quicksand"/>
                <a:sym typeface="Quicksand"/>
              </a:rPr>
              <a:t>alert('End of try runs');   // (2) } </a:t>
            </a:r>
          </a:p>
          <a:p>
            <a:pPr>
              <a:lnSpc>
                <a:spcPts val="3810"/>
              </a:lnSpc>
            </a:pPr>
            <a:r>
              <a:rPr lang="en-US" sz="2200" dirty="0">
                <a:latin typeface="Antique Olive" panose="020B0603020204030204"/>
                <a:ea typeface="Quicksand"/>
                <a:cs typeface="Quicksand"/>
                <a:sym typeface="Quicksand"/>
              </a:rPr>
              <a:t>catch (err) {alert('Catch is ignored, because there are no errors'); // (3)}</a:t>
            </a:r>
          </a:p>
          <a:p>
            <a:pPr marL="483846" lvl="1" indent="-241923">
              <a:lnSpc>
                <a:spcPts val="3810"/>
              </a:lnSpc>
              <a:buFont typeface="Arial"/>
              <a:buChar char="•"/>
            </a:pPr>
            <a:r>
              <a:rPr lang="en-US" sz="2200" dirty="0">
                <a:latin typeface="Antique Olive" panose="020B0603020204030204"/>
                <a:ea typeface="Quicksand"/>
                <a:cs typeface="Quicksand"/>
                <a:sym typeface="Quicksand"/>
              </a:rPr>
              <a:t>An example with an error: shows (1) and (3):</a:t>
            </a:r>
          </a:p>
          <a:p>
            <a:pPr>
              <a:lnSpc>
                <a:spcPts val="3810"/>
              </a:lnSpc>
            </a:pPr>
            <a:r>
              <a:rPr lang="en-US" sz="2200" dirty="0">
                <a:latin typeface="Antique Olive" panose="020B0603020204030204"/>
                <a:ea typeface="Quicksand"/>
                <a:cs typeface="Quicksand"/>
                <a:sym typeface="Quicksand"/>
              </a:rPr>
              <a:t>try {alert('Start of try runs');  // (1) </a:t>
            </a:r>
          </a:p>
          <a:p>
            <a:pPr>
              <a:lnSpc>
                <a:spcPts val="3810"/>
              </a:lnSpc>
            </a:pPr>
            <a:r>
              <a:rPr lang="en-US" sz="2200" dirty="0">
                <a:latin typeface="Antique Olive" panose="020B0603020204030204"/>
                <a:ea typeface="Quicksand"/>
                <a:cs typeface="Quicksand"/>
                <a:sym typeface="Quicksand"/>
              </a:rPr>
              <a:t> </a:t>
            </a:r>
            <a:r>
              <a:rPr lang="en-US" sz="2200" dirty="0" err="1">
                <a:latin typeface="Antique Olive" panose="020B0603020204030204"/>
                <a:ea typeface="Quicksand"/>
                <a:cs typeface="Quicksand"/>
                <a:sym typeface="Quicksand"/>
              </a:rPr>
              <a:t>lalala</a:t>
            </a:r>
            <a:r>
              <a:rPr lang="en-US" sz="2200" dirty="0">
                <a:latin typeface="Antique Olive" panose="020B0603020204030204"/>
                <a:ea typeface="Quicksand"/>
                <a:cs typeface="Quicksand"/>
                <a:sym typeface="Quicksand"/>
              </a:rPr>
              <a:t>; // error, variable is not defined!</a:t>
            </a:r>
          </a:p>
          <a:p>
            <a:pPr>
              <a:lnSpc>
                <a:spcPts val="3810"/>
              </a:lnSpc>
            </a:pPr>
            <a:r>
              <a:rPr lang="en-US" sz="2200" dirty="0">
                <a:latin typeface="Antique Olive" panose="020B0603020204030204"/>
                <a:ea typeface="Quicksand"/>
                <a:cs typeface="Quicksand"/>
                <a:sym typeface="Quicksand"/>
              </a:rPr>
              <a:t>alert('End of try (never reached)');  // (2)}</a:t>
            </a:r>
          </a:p>
          <a:p>
            <a:pPr>
              <a:lnSpc>
                <a:spcPts val="3810"/>
              </a:lnSpc>
            </a:pPr>
            <a:r>
              <a:rPr lang="en-US" sz="2200" dirty="0">
                <a:latin typeface="Antique Olive" panose="020B0603020204030204"/>
                <a:ea typeface="Quicksand"/>
                <a:cs typeface="Quicksand"/>
                <a:sym typeface="Quicksand"/>
              </a:rPr>
              <a:t> catch (err) {alert(`Error has occurred!`); // (3) }</a:t>
            </a: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p:txBody>
      </p:sp>
      <p:sp>
        <p:nvSpPr>
          <p:cNvPr id="3" name="TextBox 3"/>
          <p:cNvSpPr txBox="1"/>
          <p:nvPr/>
        </p:nvSpPr>
        <p:spPr>
          <a:xfrm>
            <a:off x="3700452" y="285962"/>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Error handling</a:t>
            </a: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246323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5708" y="577850"/>
            <a:ext cx="11656291" cy="8227958"/>
          </a:xfrm>
          <a:prstGeom prst="rect">
            <a:avLst/>
          </a:prstGeom>
        </p:spPr>
        <p:txBody>
          <a:bodyPr wrap="square" lIns="0" tIns="0" rIns="0" bIns="0" rtlCol="0" anchor="t">
            <a:spAutoFit/>
          </a:bodyPr>
          <a:lstStyle/>
          <a:p>
            <a:pPr>
              <a:lnSpc>
                <a:spcPts val="3810"/>
              </a:lnSpc>
            </a:pPr>
            <a:r>
              <a:rPr lang="en-US" sz="2200" u="sng" dirty="0">
                <a:latin typeface="Antique Olive" panose="020B0603020204030204"/>
                <a:ea typeface="Quicksand"/>
                <a:cs typeface="Quicksand"/>
                <a:sym typeface="Quicksand"/>
              </a:rPr>
              <a:t>try…catch…finally</a:t>
            </a:r>
          </a:p>
          <a:p>
            <a:pPr>
              <a:lnSpc>
                <a:spcPts val="3810"/>
              </a:lnSpc>
            </a:pPr>
            <a:r>
              <a:rPr lang="en-US" sz="2200" dirty="0">
                <a:latin typeface="Antique Olive" panose="020B0603020204030204"/>
                <a:ea typeface="Quicksand"/>
                <a:cs typeface="Quicksand"/>
                <a:sym typeface="Quicksand"/>
              </a:rPr>
              <a:t>The try...catch construct may have one more code clause: finally.</a:t>
            </a:r>
          </a:p>
          <a:p>
            <a:pPr>
              <a:lnSpc>
                <a:spcPts val="3810"/>
              </a:lnSpc>
            </a:pPr>
            <a:r>
              <a:rPr lang="en-US" sz="2200" dirty="0">
                <a:latin typeface="Antique Olive" panose="020B0603020204030204"/>
                <a:ea typeface="Quicksand"/>
                <a:cs typeface="Quicksand"/>
                <a:sym typeface="Quicksand"/>
              </a:rPr>
              <a:t>If it exists, it runs in all cases:</a:t>
            </a:r>
          </a:p>
          <a:p>
            <a:pPr marL="483846" lvl="1" indent="-241923">
              <a:lnSpc>
                <a:spcPts val="3810"/>
              </a:lnSpc>
              <a:buFont typeface="Arial"/>
              <a:buChar char="•"/>
            </a:pPr>
            <a:r>
              <a:rPr lang="en-US" sz="2200" dirty="0">
                <a:latin typeface="Antique Olive" panose="020B0603020204030204"/>
                <a:ea typeface="Quicksand"/>
                <a:cs typeface="Quicksand"/>
                <a:sym typeface="Quicksand"/>
              </a:rPr>
              <a:t>after try, if there were no errors,</a:t>
            </a:r>
          </a:p>
          <a:p>
            <a:pPr marL="483846" lvl="1" indent="-241923">
              <a:lnSpc>
                <a:spcPts val="3810"/>
              </a:lnSpc>
              <a:buFont typeface="Arial"/>
              <a:buChar char="•"/>
            </a:pPr>
            <a:r>
              <a:rPr lang="en-US" sz="2200" dirty="0">
                <a:latin typeface="Antique Olive" panose="020B0603020204030204"/>
                <a:ea typeface="Quicksand"/>
                <a:cs typeface="Quicksand"/>
                <a:sym typeface="Quicksand"/>
              </a:rPr>
              <a:t>after catch, if there were errors.</a:t>
            </a:r>
          </a:p>
          <a:p>
            <a:pPr>
              <a:lnSpc>
                <a:spcPts val="3810"/>
              </a:lnSpc>
            </a:pPr>
            <a:r>
              <a:rPr lang="en-US" sz="2200" b="1" dirty="0">
                <a:latin typeface="Antique Olive" panose="020B0603020204030204"/>
                <a:ea typeface="Quicksand Bold"/>
                <a:cs typeface="Quicksand Bold"/>
                <a:sym typeface="Quicksand Bold"/>
              </a:rPr>
              <a:t>The extended syntax looks like this:</a:t>
            </a:r>
          </a:p>
          <a:p>
            <a:pPr>
              <a:lnSpc>
                <a:spcPts val="3810"/>
              </a:lnSpc>
            </a:pPr>
            <a:r>
              <a:rPr lang="en-US" sz="2200" dirty="0">
                <a:latin typeface="Antique Olive" panose="020B0603020204030204"/>
                <a:ea typeface="Quicksand"/>
                <a:cs typeface="Quicksand"/>
                <a:sym typeface="Quicksand"/>
              </a:rPr>
              <a:t>try {... try to execute the code ...} </a:t>
            </a:r>
          </a:p>
          <a:p>
            <a:pPr>
              <a:lnSpc>
                <a:spcPts val="3810"/>
              </a:lnSpc>
            </a:pPr>
            <a:r>
              <a:rPr lang="en-US" sz="2200" dirty="0">
                <a:latin typeface="Antique Olive" panose="020B0603020204030204"/>
                <a:ea typeface="Quicksand"/>
                <a:cs typeface="Quicksand"/>
                <a:sym typeface="Quicksand"/>
              </a:rPr>
              <a:t>catch (err) {... handle errors ...} </a:t>
            </a:r>
          </a:p>
          <a:p>
            <a:pPr>
              <a:lnSpc>
                <a:spcPts val="3810"/>
              </a:lnSpc>
            </a:pPr>
            <a:r>
              <a:rPr lang="en-US" sz="2200" dirty="0">
                <a:latin typeface="Antique Olive" panose="020B0603020204030204"/>
                <a:ea typeface="Quicksand"/>
                <a:cs typeface="Quicksand"/>
                <a:sym typeface="Quicksand"/>
              </a:rPr>
              <a:t>finally {... execute always ...}</a:t>
            </a:r>
          </a:p>
          <a:p>
            <a:pPr>
              <a:lnSpc>
                <a:spcPts val="3810"/>
              </a:lnSpc>
            </a:pPr>
            <a:r>
              <a:rPr lang="en-US" sz="2200" b="1" dirty="0">
                <a:latin typeface="Antique Olive" panose="020B0603020204030204"/>
                <a:ea typeface="Quicksand Bold"/>
                <a:cs typeface="Quicksand Bold"/>
                <a:sym typeface="Quicksand Bold"/>
              </a:rPr>
              <a:t>Try running this code:</a:t>
            </a:r>
          </a:p>
          <a:p>
            <a:pPr>
              <a:lnSpc>
                <a:spcPts val="3810"/>
              </a:lnSpc>
            </a:pPr>
            <a:r>
              <a:rPr lang="en-US" sz="2200" dirty="0">
                <a:latin typeface="Antique Olive" panose="020B0603020204030204"/>
                <a:ea typeface="Quicksand"/>
                <a:cs typeface="Quicksand"/>
                <a:sym typeface="Quicksand"/>
              </a:rPr>
              <a:t>try {alert( 'try' );</a:t>
            </a:r>
          </a:p>
          <a:p>
            <a:pPr>
              <a:lnSpc>
                <a:spcPts val="3810"/>
              </a:lnSpc>
            </a:pPr>
            <a:r>
              <a:rPr lang="en-US" sz="2200" dirty="0">
                <a:latin typeface="Antique Olive" panose="020B0603020204030204"/>
                <a:ea typeface="Quicksand"/>
                <a:cs typeface="Quicksand"/>
                <a:sym typeface="Quicksand"/>
              </a:rPr>
              <a:t>if (confirm('Make an error?')) BAD_CODE();} </a:t>
            </a:r>
          </a:p>
          <a:p>
            <a:pPr>
              <a:lnSpc>
                <a:spcPts val="3810"/>
              </a:lnSpc>
            </a:pPr>
            <a:r>
              <a:rPr lang="en-US" sz="2200" dirty="0">
                <a:latin typeface="Antique Olive" panose="020B0603020204030204"/>
                <a:ea typeface="Quicksand"/>
                <a:cs typeface="Quicksand"/>
                <a:sym typeface="Quicksand"/>
              </a:rPr>
              <a:t>catch (err) {alert( 'catch' );} finally {alert( 'finally' );}</a:t>
            </a:r>
            <a:endParaRPr lang="en-US" sz="2200" dirty="0">
              <a:latin typeface="Antique Olive" panose="020B0603020204030204"/>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6EAC1C"/>
              </a:solidFill>
              <a:latin typeface="Quicksand"/>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6EAC1C"/>
              </a:solidFill>
              <a:latin typeface="Quicksand"/>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6EAC1C"/>
              </a:solidFill>
              <a:latin typeface="Quicksand"/>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6EAC1C"/>
              </a:solidFill>
              <a:latin typeface="Quicksand"/>
              <a:ea typeface="Quicksand"/>
              <a:cs typeface="Quicksand"/>
              <a:sym typeface="Quicksa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
        <p:nvSpPr>
          <p:cNvPr id="3" name="TextBox 3"/>
          <p:cNvSpPr txBox="1"/>
          <p:nvPr/>
        </p:nvSpPr>
        <p:spPr>
          <a:xfrm>
            <a:off x="3700452" y="-37676"/>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Error handling</a:t>
            </a: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588319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577850"/>
            <a:ext cx="12192000" cy="3354829"/>
          </a:xfrm>
          <a:prstGeom prst="rect">
            <a:avLst/>
          </a:prstGeom>
        </p:spPr>
        <p:txBody>
          <a:bodyPr lIns="0" tIns="0" rIns="0" bIns="0" rtlCol="0" anchor="t">
            <a:spAutoFit/>
          </a:bodyPr>
          <a:lstStyle/>
          <a:p>
            <a:pPr>
              <a:lnSpc>
                <a:spcPts val="3810"/>
              </a:lnSpc>
            </a:pPr>
            <a:r>
              <a:rPr lang="en-US" sz="2200" u="sng" dirty="0">
                <a:latin typeface="Antique Olive" panose="020B0603020204030204"/>
                <a:ea typeface="Quicksand"/>
                <a:cs typeface="Quicksand"/>
                <a:sym typeface="Quicksand"/>
              </a:rPr>
              <a:t>try…catch…finally</a:t>
            </a:r>
          </a:p>
          <a:p>
            <a:pPr>
              <a:lnSpc>
                <a:spcPts val="3810"/>
              </a:lnSpc>
            </a:pPr>
            <a:r>
              <a:rPr lang="en-US" sz="2200" u="sng" dirty="0">
                <a:latin typeface="Antique Olive" panose="020B0603020204030204"/>
                <a:ea typeface="Quicksand"/>
                <a:cs typeface="Quicksand"/>
                <a:sym typeface="Quicksand"/>
              </a:rPr>
              <a:t>Example:</a:t>
            </a:r>
          </a:p>
          <a:p>
            <a:pPr>
              <a:lnSpc>
                <a:spcPts val="3810"/>
              </a:lnSpc>
            </a:pPr>
            <a:endParaRPr lang="en-US" sz="2241" u="sng" dirty="0">
              <a:solidFill>
                <a:srgbClr val="0F4662"/>
              </a:solidFill>
              <a:latin typeface="Quicksand"/>
              <a:ea typeface="Quicksand"/>
              <a:cs typeface="Quicksand"/>
              <a:sym typeface="Quicksand"/>
            </a:endParaRPr>
          </a:p>
          <a:p>
            <a:pPr>
              <a:lnSpc>
                <a:spcPts val="3810"/>
              </a:lnSpc>
            </a:pPr>
            <a:endParaRPr lang="en-US" sz="2241" u="sng" dirty="0">
              <a:solidFill>
                <a:srgbClr val="0F4662"/>
              </a:solidFill>
              <a:latin typeface="Quicksand"/>
              <a:ea typeface="Quicksand"/>
              <a:cs typeface="Quicksand"/>
              <a:sym typeface="Quicksand"/>
            </a:endParaRPr>
          </a:p>
          <a:p>
            <a:pPr>
              <a:lnSpc>
                <a:spcPts val="3810"/>
              </a:lnSpc>
            </a:pPr>
            <a:endParaRPr lang="en-US" sz="2241" u="sng" dirty="0">
              <a:solidFill>
                <a:srgbClr val="0F4662"/>
              </a:solidFill>
              <a:latin typeface="Quicksand"/>
              <a:ea typeface="Quicksand"/>
              <a:cs typeface="Quicksand"/>
              <a:sym typeface="Quicksand"/>
            </a:endParaRPr>
          </a:p>
          <a:p>
            <a:pPr>
              <a:lnSpc>
                <a:spcPts val="3810"/>
              </a:lnSpc>
            </a:pPr>
            <a:endParaRPr lang="en-US" sz="2241" u="sng" dirty="0">
              <a:solidFill>
                <a:srgbClr val="0F4662"/>
              </a:solidFill>
              <a:latin typeface="Quicksand"/>
              <a:ea typeface="Quicksand"/>
              <a:cs typeface="Quicksand"/>
              <a:sym typeface="Quicksand"/>
            </a:endParaRPr>
          </a:p>
          <a:p>
            <a:pPr>
              <a:lnSpc>
                <a:spcPts val="3810"/>
              </a:lnSpc>
            </a:pPr>
            <a:endParaRPr lang="en-US" sz="2241" u="sng" dirty="0">
              <a:solidFill>
                <a:srgbClr val="0F4662"/>
              </a:solidFill>
              <a:latin typeface="Quicksand"/>
              <a:ea typeface="Quicksand"/>
              <a:cs typeface="Quicksand"/>
              <a:sym typeface="Quicksand"/>
            </a:endParaRPr>
          </a:p>
        </p:txBody>
      </p:sp>
      <p:sp>
        <p:nvSpPr>
          <p:cNvPr id="3" name="TextBox 3"/>
          <p:cNvSpPr txBox="1"/>
          <p:nvPr/>
        </p:nvSpPr>
        <p:spPr>
          <a:xfrm>
            <a:off x="3700452" y="-37676"/>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Error handling</a:t>
            </a:r>
            <a:endParaRPr lang="en-US" sz="4000" b="1" dirty="0">
              <a:latin typeface="Antique Olive" panose="020B0603020204030204"/>
              <a:ea typeface="Cormorant Garamond"/>
              <a:cs typeface="Cormorant Garamond"/>
              <a:sym typeface="Cormorant Garamond"/>
              <a:hlinkClick r:id="rId2" tooltip="https://javascript.info/arrow-functions-basics#multiline-arrow-functions">
                <a:extLst>
                  <a:ext uri="{A12FA001-AC4F-418D-AE19-62706E023703}">
                    <ahyp:hlinkClr xmlns:ahyp="http://schemas.microsoft.com/office/drawing/2018/hyperlinkcolor" val="tx"/>
                  </a:ext>
                </a:extLst>
              </a:hlinkClick>
            </a:endParaRPr>
          </a:p>
        </p:txBody>
      </p:sp>
      <p:sp>
        <p:nvSpPr>
          <p:cNvPr id="4" name="Freeform 4"/>
          <p:cNvSpPr/>
          <p:nvPr/>
        </p:nvSpPr>
        <p:spPr>
          <a:xfrm>
            <a:off x="1459945" y="1755327"/>
            <a:ext cx="9013383" cy="4675693"/>
          </a:xfrm>
          <a:custGeom>
            <a:avLst/>
            <a:gdLst/>
            <a:ahLst/>
            <a:cxnLst/>
            <a:rect l="l" t="t" r="r" b="b"/>
            <a:pathLst>
              <a:path w="13520075" h="7013539">
                <a:moveTo>
                  <a:pt x="0" y="0"/>
                </a:moveTo>
                <a:lnTo>
                  <a:pt x="13520076" y="0"/>
                </a:lnTo>
                <a:lnTo>
                  <a:pt x="13520076" y="7013539"/>
                </a:lnTo>
                <a:lnTo>
                  <a:pt x="0" y="7013539"/>
                </a:lnTo>
                <a:lnTo>
                  <a:pt x="0" y="0"/>
                </a:lnTo>
                <a:close/>
              </a:path>
            </a:pathLst>
          </a:custGeom>
          <a:blipFill>
            <a:blip r:embed="rId3"/>
            <a:stretch>
              <a:fillRect/>
            </a:stretch>
          </a:blipFill>
        </p:spPr>
      </p:sp>
    </p:spTree>
    <p:extLst>
      <p:ext uri="{BB962C8B-B14F-4D97-AF65-F5344CB8AC3E}">
        <p14:creationId xmlns:p14="http://schemas.microsoft.com/office/powerpoint/2010/main" val="39840761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2745" y="1173036"/>
            <a:ext cx="12192000" cy="2867516"/>
          </a:xfrm>
          <a:prstGeom prst="rect">
            <a:avLst/>
          </a:prstGeom>
        </p:spPr>
        <p:txBody>
          <a:bodyPr lIns="0" tIns="0" rIns="0" bIns="0" rtlCol="0" anchor="t">
            <a:spAutoFit/>
          </a:bodyPr>
          <a:lstStyle/>
          <a:p>
            <a:pPr>
              <a:lnSpc>
                <a:spcPts val="3810"/>
              </a:lnSpc>
            </a:pPr>
            <a:r>
              <a:rPr lang="en-US" sz="2200" b="1" dirty="0">
                <a:latin typeface="Antique Olive" panose="020B0603020204030204"/>
                <a:ea typeface="Quicksand"/>
                <a:cs typeface="Quicksand"/>
                <a:sym typeface="Quicksand"/>
              </a:rPr>
              <a:t>Write a function that throws an error if the password is less than 8 characters.</a:t>
            </a: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p:txBody>
      </p:sp>
      <p:sp>
        <p:nvSpPr>
          <p:cNvPr id="3" name="TextBox 3"/>
          <p:cNvSpPr txBox="1"/>
          <p:nvPr/>
        </p:nvSpPr>
        <p:spPr>
          <a:xfrm>
            <a:off x="4384466" y="230178"/>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a:t>
            </a:r>
          </a:p>
        </p:txBody>
      </p:sp>
    </p:spTree>
    <p:extLst>
      <p:ext uri="{BB962C8B-B14F-4D97-AF65-F5344CB8AC3E}">
        <p14:creationId xmlns:p14="http://schemas.microsoft.com/office/powerpoint/2010/main" val="29326797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28781" y="805713"/>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What is Scope?</a:t>
            </a:r>
          </a:p>
        </p:txBody>
      </p:sp>
      <p:sp>
        <p:nvSpPr>
          <p:cNvPr id="5" name="TextBox 5"/>
          <p:cNvSpPr txBox="1"/>
          <p:nvPr/>
        </p:nvSpPr>
        <p:spPr>
          <a:xfrm>
            <a:off x="1235806" y="1393109"/>
            <a:ext cx="9508795" cy="2077877"/>
          </a:xfrm>
          <a:prstGeom prst="rect">
            <a:avLst/>
          </a:prstGeom>
        </p:spPr>
        <p:txBody>
          <a:bodyPr lIns="0" tIns="0" rIns="0" bIns="0" rtlCol="0" anchor="t">
            <a:spAutoFit/>
          </a:bodyPr>
          <a:lstStyle/>
          <a:p>
            <a:pPr>
              <a:lnSpc>
                <a:spcPts val="3267"/>
              </a:lnSpc>
            </a:pPr>
            <a:r>
              <a:rPr lang="en-US" sz="2000" dirty="0">
                <a:latin typeface="Antique Olive" panose="020B0603020204030204"/>
                <a:ea typeface="Kollektif"/>
                <a:cs typeface="Kollektif"/>
                <a:sym typeface="Kollektif"/>
              </a:rPr>
              <a:t>Scope determines where a variable can be accessed in your code.</a:t>
            </a:r>
          </a:p>
          <a:p>
            <a:pPr>
              <a:lnSpc>
                <a:spcPts val="3267"/>
              </a:lnSpc>
            </a:pPr>
            <a:r>
              <a:rPr lang="en-US" sz="2000" dirty="0">
                <a:latin typeface="Antique Olive" panose="020B0603020204030204"/>
                <a:ea typeface="Kollektif"/>
                <a:cs typeface="Kollektif"/>
                <a:sym typeface="Kollektif"/>
              </a:rPr>
              <a:t>Types of Scope:</a:t>
            </a:r>
          </a:p>
          <a:p>
            <a:pPr marL="503793" lvl="1" indent="-251896">
              <a:lnSpc>
                <a:spcPts val="3267"/>
              </a:lnSpc>
              <a:buFont typeface="Arial"/>
              <a:buChar char="•"/>
            </a:pPr>
            <a:r>
              <a:rPr lang="en-US" sz="2000" dirty="0">
                <a:latin typeface="Antique Olive" panose="020B0603020204030204"/>
                <a:ea typeface="Kollektif"/>
                <a:cs typeface="Kollektif"/>
                <a:sym typeface="Kollektif"/>
              </a:rPr>
              <a:t>Global Scope</a:t>
            </a:r>
          </a:p>
          <a:p>
            <a:pPr marL="503793" lvl="1" indent="-251896">
              <a:lnSpc>
                <a:spcPts val="3267"/>
              </a:lnSpc>
              <a:buFont typeface="Arial"/>
              <a:buChar char="•"/>
            </a:pPr>
            <a:r>
              <a:rPr lang="en-US" sz="2000" dirty="0">
                <a:latin typeface="Antique Olive" panose="020B0603020204030204"/>
                <a:ea typeface="Kollektif"/>
                <a:cs typeface="Kollektif"/>
                <a:sym typeface="Kollektif"/>
              </a:rPr>
              <a:t>Function Scope</a:t>
            </a:r>
          </a:p>
          <a:p>
            <a:pPr marL="503793" lvl="1" indent="-251896">
              <a:lnSpc>
                <a:spcPts val="3267"/>
              </a:lnSpc>
              <a:buFont typeface="Arial"/>
              <a:buChar char="•"/>
            </a:pPr>
            <a:r>
              <a:rPr lang="en-US" sz="2000" dirty="0">
                <a:latin typeface="Antique Olive" panose="020B0603020204030204"/>
                <a:ea typeface="Kollektif"/>
                <a:cs typeface="Kollektif"/>
                <a:sym typeface="Kollektif"/>
              </a:rPr>
              <a:t>Block Scope (let &amp; const)</a:t>
            </a:r>
          </a:p>
        </p:txBody>
      </p:sp>
    </p:spTree>
    <p:extLst>
      <p:ext uri="{BB962C8B-B14F-4D97-AF65-F5344CB8AC3E}">
        <p14:creationId xmlns:p14="http://schemas.microsoft.com/office/powerpoint/2010/main" val="3580512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872016" y="3174189"/>
            <a:ext cx="5223984" cy="2280715"/>
          </a:xfrm>
          <a:custGeom>
            <a:avLst/>
            <a:gdLst/>
            <a:ahLst/>
            <a:cxnLst/>
            <a:rect l="l" t="t" r="r" b="b"/>
            <a:pathLst>
              <a:path w="7835976" h="3421073">
                <a:moveTo>
                  <a:pt x="0" y="0"/>
                </a:moveTo>
                <a:lnTo>
                  <a:pt x="7835977" y="0"/>
                </a:lnTo>
                <a:lnTo>
                  <a:pt x="7835977" y="3421073"/>
                </a:lnTo>
                <a:lnTo>
                  <a:pt x="0" y="3421073"/>
                </a:lnTo>
                <a:lnTo>
                  <a:pt x="0" y="0"/>
                </a:lnTo>
                <a:close/>
              </a:path>
            </a:pathLst>
          </a:custGeom>
          <a:blipFill>
            <a:blip r:embed="rId2"/>
            <a:stretch>
              <a:fillRect/>
            </a:stretch>
          </a:blipFill>
        </p:spPr>
      </p:sp>
      <p:sp>
        <p:nvSpPr>
          <p:cNvPr id="5" name="Freeform 5"/>
          <p:cNvSpPr/>
          <p:nvPr/>
        </p:nvSpPr>
        <p:spPr>
          <a:xfrm>
            <a:off x="6749770" y="3174189"/>
            <a:ext cx="3846880" cy="2763887"/>
          </a:xfrm>
          <a:custGeom>
            <a:avLst/>
            <a:gdLst/>
            <a:ahLst/>
            <a:cxnLst/>
            <a:rect l="l" t="t" r="r" b="b"/>
            <a:pathLst>
              <a:path w="5770320" h="4145831">
                <a:moveTo>
                  <a:pt x="0" y="0"/>
                </a:moveTo>
                <a:lnTo>
                  <a:pt x="5770320" y="0"/>
                </a:lnTo>
                <a:lnTo>
                  <a:pt x="5770320" y="4145832"/>
                </a:lnTo>
                <a:lnTo>
                  <a:pt x="0" y="4145832"/>
                </a:lnTo>
                <a:lnTo>
                  <a:pt x="0" y="0"/>
                </a:lnTo>
                <a:close/>
              </a:path>
            </a:pathLst>
          </a:custGeom>
          <a:blipFill>
            <a:blip r:embed="rId3"/>
            <a:stretch>
              <a:fillRect/>
            </a:stretch>
          </a:blipFill>
        </p:spPr>
      </p:sp>
      <p:sp>
        <p:nvSpPr>
          <p:cNvPr id="6" name="TextBox 6"/>
          <p:cNvSpPr txBox="1"/>
          <p:nvPr/>
        </p:nvSpPr>
        <p:spPr>
          <a:xfrm>
            <a:off x="667328" y="1071662"/>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Types of Scope</a:t>
            </a:r>
          </a:p>
        </p:txBody>
      </p:sp>
      <p:sp>
        <p:nvSpPr>
          <p:cNvPr id="7" name="TextBox 7"/>
          <p:cNvSpPr txBox="1"/>
          <p:nvPr/>
        </p:nvSpPr>
        <p:spPr>
          <a:xfrm>
            <a:off x="978522" y="2034743"/>
            <a:ext cx="7787053" cy="1062599"/>
          </a:xfrm>
          <a:prstGeom prst="rect">
            <a:avLst/>
          </a:prstGeom>
        </p:spPr>
        <p:txBody>
          <a:bodyPr lIns="0" tIns="0" rIns="0" bIns="0" rtlCol="0" anchor="t">
            <a:spAutoFit/>
          </a:bodyPr>
          <a:lstStyle/>
          <a:p>
            <a:pPr marL="342900" indent="-342900">
              <a:buFont typeface="Arial" panose="020B0604020202020204" pitchFamily="34" charset="0"/>
              <a:buChar char="•"/>
            </a:pPr>
            <a:r>
              <a:rPr lang="en-US" sz="2400" b="1" dirty="0"/>
              <a:t>Global Scope</a:t>
            </a:r>
            <a:endParaRPr lang="en-US" sz="2400" dirty="0"/>
          </a:p>
          <a:p>
            <a:r>
              <a:rPr lang="en-US" sz="2000" dirty="0"/>
              <a:t>A variable defined outside any function or block.</a:t>
            </a:r>
          </a:p>
          <a:p>
            <a:pPr>
              <a:lnSpc>
                <a:spcPts val="3267"/>
              </a:lnSpc>
            </a:pPr>
            <a:endParaRPr lang="en-US" sz="2333" dirty="0">
              <a:solidFill>
                <a:srgbClr val="564033"/>
              </a:solidFill>
              <a:latin typeface="Kollektif"/>
              <a:ea typeface="Kollektif"/>
              <a:cs typeface="Kollektif"/>
              <a:sym typeface="Kollektif"/>
            </a:endParaRPr>
          </a:p>
        </p:txBody>
      </p:sp>
    </p:spTree>
    <p:extLst>
      <p:ext uri="{BB962C8B-B14F-4D97-AF65-F5344CB8AC3E}">
        <p14:creationId xmlns:p14="http://schemas.microsoft.com/office/powerpoint/2010/main" val="4233760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967261" y="3691424"/>
            <a:ext cx="4208592" cy="2168845"/>
          </a:xfrm>
          <a:custGeom>
            <a:avLst/>
            <a:gdLst/>
            <a:ahLst/>
            <a:cxnLst/>
            <a:rect l="l" t="t" r="r" b="b"/>
            <a:pathLst>
              <a:path w="6312888" h="3253267">
                <a:moveTo>
                  <a:pt x="0" y="0"/>
                </a:moveTo>
                <a:lnTo>
                  <a:pt x="6312888" y="0"/>
                </a:lnTo>
                <a:lnTo>
                  <a:pt x="6312888" y="3253268"/>
                </a:lnTo>
                <a:lnTo>
                  <a:pt x="0" y="3253268"/>
                </a:lnTo>
                <a:lnTo>
                  <a:pt x="0" y="0"/>
                </a:lnTo>
                <a:close/>
              </a:path>
            </a:pathLst>
          </a:custGeom>
          <a:blipFill>
            <a:blip r:embed="rId2"/>
            <a:stretch>
              <a:fillRect/>
            </a:stretch>
          </a:blipFill>
        </p:spPr>
      </p:sp>
      <p:sp>
        <p:nvSpPr>
          <p:cNvPr id="5" name="Freeform 5"/>
          <p:cNvSpPr/>
          <p:nvPr/>
        </p:nvSpPr>
        <p:spPr>
          <a:xfrm>
            <a:off x="5772787" y="3691424"/>
            <a:ext cx="4063836" cy="2588659"/>
          </a:xfrm>
          <a:custGeom>
            <a:avLst/>
            <a:gdLst/>
            <a:ahLst/>
            <a:cxnLst/>
            <a:rect l="l" t="t" r="r" b="b"/>
            <a:pathLst>
              <a:path w="6095754" h="3882988">
                <a:moveTo>
                  <a:pt x="0" y="0"/>
                </a:moveTo>
                <a:lnTo>
                  <a:pt x="6095755" y="0"/>
                </a:lnTo>
                <a:lnTo>
                  <a:pt x="6095755" y="3882988"/>
                </a:lnTo>
                <a:lnTo>
                  <a:pt x="0" y="3882988"/>
                </a:lnTo>
                <a:lnTo>
                  <a:pt x="0" y="0"/>
                </a:lnTo>
                <a:close/>
              </a:path>
            </a:pathLst>
          </a:custGeom>
          <a:blipFill>
            <a:blip r:embed="rId3"/>
            <a:stretch>
              <a:fillRect t="-3627" b="-3627"/>
            </a:stretch>
          </a:blipFill>
        </p:spPr>
      </p:sp>
      <p:sp>
        <p:nvSpPr>
          <p:cNvPr id="7" name="TextBox 7"/>
          <p:cNvSpPr txBox="1"/>
          <p:nvPr/>
        </p:nvSpPr>
        <p:spPr>
          <a:xfrm>
            <a:off x="978522" y="2034743"/>
            <a:ext cx="7787053" cy="1231876"/>
          </a:xfrm>
          <a:prstGeom prst="rect">
            <a:avLst/>
          </a:prstGeom>
        </p:spPr>
        <p:txBody>
          <a:bodyPr lIns="0" tIns="0" rIns="0" bIns="0" rtlCol="0" anchor="t">
            <a:spAutoFit/>
          </a:bodyPr>
          <a:lstStyle/>
          <a:p>
            <a:pPr marL="503793" lvl="1" indent="-251896">
              <a:lnSpc>
                <a:spcPts val="3267"/>
              </a:lnSpc>
              <a:buFont typeface="Arial"/>
              <a:buChar char="•"/>
            </a:pPr>
            <a:r>
              <a:rPr lang="en-US" sz="2000" b="1" dirty="0">
                <a:latin typeface="Antique Olive" panose="020B0603020204030204"/>
                <a:ea typeface="Kollektif Bold"/>
                <a:cs typeface="Kollektif Bold"/>
                <a:sym typeface="Kollektif Bold"/>
              </a:rPr>
              <a:t>Function Scope</a:t>
            </a:r>
          </a:p>
          <a:p>
            <a:pPr>
              <a:lnSpc>
                <a:spcPts val="3267"/>
              </a:lnSpc>
            </a:pPr>
            <a:r>
              <a:rPr lang="en-US" sz="2000" dirty="0">
                <a:latin typeface="Antique Olive" panose="020B0603020204030204"/>
                <a:ea typeface="Kollektif"/>
                <a:cs typeface="Kollektif"/>
                <a:sym typeface="Kollektif"/>
              </a:rPr>
              <a:t>Variables inside a function are only accessible inside it.</a:t>
            </a:r>
          </a:p>
          <a:p>
            <a:pPr>
              <a:lnSpc>
                <a:spcPts val="3267"/>
              </a:lnSpc>
            </a:pPr>
            <a:endParaRPr lang="en-US" sz="2000" dirty="0">
              <a:latin typeface="Antique Olive" panose="020B0603020204030204"/>
              <a:ea typeface="Kollektif"/>
              <a:cs typeface="Kollektif"/>
              <a:sym typeface="Kollektif"/>
            </a:endParaRPr>
          </a:p>
        </p:txBody>
      </p:sp>
      <p:sp>
        <p:nvSpPr>
          <p:cNvPr id="10" name="TextBox 10"/>
          <p:cNvSpPr txBox="1"/>
          <p:nvPr/>
        </p:nvSpPr>
        <p:spPr>
          <a:xfrm>
            <a:off x="10471988" y="3828619"/>
            <a:ext cx="872552" cy="1575303"/>
          </a:xfrm>
          <a:prstGeom prst="rect">
            <a:avLst/>
          </a:prstGeom>
        </p:spPr>
        <p:txBody>
          <a:bodyPr lIns="0" tIns="0" rIns="0" bIns="0" rtlCol="0" anchor="t">
            <a:spAutoFit/>
          </a:bodyPr>
          <a:lstStyle/>
          <a:p>
            <a:pPr>
              <a:lnSpc>
                <a:spcPts val="2513"/>
              </a:lnSpc>
            </a:pPr>
            <a:r>
              <a:rPr lang="en-US" sz="1795" b="1" dirty="0">
                <a:latin typeface="Kollektif Bold"/>
                <a:ea typeface="Kollektif Bold"/>
                <a:cs typeface="Kollektif Bold"/>
                <a:sym typeface="Kollektif Bold"/>
              </a:rPr>
              <a:t>Make this print not get error</a:t>
            </a:r>
          </a:p>
        </p:txBody>
      </p:sp>
      <p:sp>
        <p:nvSpPr>
          <p:cNvPr id="12" name="TextBox 6">
            <a:extLst>
              <a:ext uri="{FF2B5EF4-FFF2-40B4-BE49-F238E27FC236}">
                <a16:creationId xmlns:a16="http://schemas.microsoft.com/office/drawing/2014/main" id="{22DC94BA-1867-BAA5-E5E7-0CFD4CEB60B5}"/>
              </a:ext>
            </a:extLst>
          </p:cNvPr>
          <p:cNvSpPr txBox="1"/>
          <p:nvPr/>
        </p:nvSpPr>
        <p:spPr>
          <a:xfrm>
            <a:off x="667328" y="1071662"/>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Types of Scope</a:t>
            </a:r>
          </a:p>
        </p:txBody>
      </p:sp>
      <p:sp>
        <p:nvSpPr>
          <p:cNvPr id="13" name="TextBox 10">
            <a:extLst>
              <a:ext uri="{FF2B5EF4-FFF2-40B4-BE49-F238E27FC236}">
                <a16:creationId xmlns:a16="http://schemas.microsoft.com/office/drawing/2014/main" id="{E1616D9A-2928-192E-6F01-2C6E9FFED810}"/>
              </a:ext>
            </a:extLst>
          </p:cNvPr>
          <p:cNvSpPr txBox="1"/>
          <p:nvPr/>
        </p:nvSpPr>
        <p:spPr>
          <a:xfrm>
            <a:off x="9997281" y="4469819"/>
            <a:ext cx="872552" cy="298864"/>
          </a:xfrm>
          <a:prstGeom prst="rect">
            <a:avLst/>
          </a:prstGeom>
        </p:spPr>
        <p:txBody>
          <a:bodyPr lIns="0" tIns="0" rIns="0" bIns="0" rtlCol="0" anchor="t">
            <a:spAutoFit/>
          </a:bodyPr>
          <a:lstStyle/>
          <a:p>
            <a:pPr>
              <a:lnSpc>
                <a:spcPts val="2513"/>
              </a:lnSpc>
            </a:pPr>
            <a:r>
              <a:rPr lang="en-US" sz="2000" b="1" dirty="0">
                <a:latin typeface="Kollektif Bold"/>
                <a:ea typeface="Kollektif Bold"/>
                <a:cs typeface="Kollektif Bold"/>
                <a:sym typeface="Kollektif Bold"/>
              </a:rPr>
              <a:t>=&gt;</a:t>
            </a:r>
          </a:p>
        </p:txBody>
      </p:sp>
    </p:spTree>
    <p:extLst>
      <p:ext uri="{BB962C8B-B14F-4D97-AF65-F5344CB8AC3E}">
        <p14:creationId xmlns:p14="http://schemas.microsoft.com/office/powerpoint/2010/main" val="18186550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103232" y="3898469"/>
            <a:ext cx="4840161" cy="1684937"/>
          </a:xfrm>
          <a:custGeom>
            <a:avLst/>
            <a:gdLst/>
            <a:ahLst/>
            <a:cxnLst/>
            <a:rect l="l" t="t" r="r" b="b"/>
            <a:pathLst>
              <a:path w="7260241" h="2527406">
                <a:moveTo>
                  <a:pt x="0" y="0"/>
                </a:moveTo>
                <a:lnTo>
                  <a:pt x="7260241" y="0"/>
                </a:lnTo>
                <a:lnTo>
                  <a:pt x="7260241" y="2527405"/>
                </a:lnTo>
                <a:lnTo>
                  <a:pt x="0" y="2527405"/>
                </a:lnTo>
                <a:lnTo>
                  <a:pt x="0" y="0"/>
                </a:lnTo>
                <a:close/>
              </a:path>
            </a:pathLst>
          </a:custGeom>
          <a:blipFill>
            <a:blip r:embed="rId2"/>
            <a:stretch>
              <a:fillRect r="-20204"/>
            </a:stretch>
          </a:blipFill>
        </p:spPr>
      </p:sp>
      <p:sp>
        <p:nvSpPr>
          <p:cNvPr id="5" name="TextBox 5"/>
          <p:cNvSpPr txBox="1"/>
          <p:nvPr/>
        </p:nvSpPr>
        <p:spPr>
          <a:xfrm>
            <a:off x="685800" y="981886"/>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Types of Scope</a:t>
            </a:r>
          </a:p>
        </p:txBody>
      </p:sp>
      <p:sp>
        <p:nvSpPr>
          <p:cNvPr id="6" name="TextBox 6"/>
          <p:cNvSpPr txBox="1"/>
          <p:nvPr/>
        </p:nvSpPr>
        <p:spPr>
          <a:xfrm>
            <a:off x="978521" y="2034743"/>
            <a:ext cx="9929743" cy="1231876"/>
          </a:xfrm>
          <a:prstGeom prst="rect">
            <a:avLst/>
          </a:prstGeom>
        </p:spPr>
        <p:txBody>
          <a:bodyPr lIns="0" tIns="0" rIns="0" bIns="0" rtlCol="0" anchor="t">
            <a:spAutoFit/>
          </a:bodyPr>
          <a:lstStyle/>
          <a:p>
            <a:pPr marL="503793" lvl="1" indent="-251896">
              <a:lnSpc>
                <a:spcPts val="3267"/>
              </a:lnSpc>
              <a:buFont typeface="Arial"/>
              <a:buChar char="•"/>
            </a:pPr>
            <a:r>
              <a:rPr lang="en-US" sz="2200" b="1" dirty="0">
                <a:latin typeface="Antique Olive" panose="020B0603020204030204"/>
                <a:ea typeface="Kollektif Bold"/>
                <a:cs typeface="Kollektif Bold"/>
                <a:sym typeface="Kollektif Bold"/>
              </a:rPr>
              <a:t> Block Scope (let &amp; const)</a:t>
            </a:r>
          </a:p>
          <a:p>
            <a:pPr>
              <a:lnSpc>
                <a:spcPts val="3267"/>
              </a:lnSpc>
            </a:pPr>
            <a:r>
              <a:rPr lang="en-US" sz="2200" dirty="0">
                <a:latin typeface="Antique Olive" panose="020B0603020204030204"/>
                <a:ea typeface="Kollektif"/>
                <a:cs typeface="Kollektif"/>
                <a:sym typeface="Kollektif"/>
              </a:rPr>
              <a:t>Variables inside { } (if, for, while) work only inside that block.</a:t>
            </a:r>
          </a:p>
          <a:p>
            <a:pPr>
              <a:lnSpc>
                <a:spcPts val="3267"/>
              </a:lnSpc>
            </a:pPr>
            <a:endParaRPr lang="en-US" sz="2200" dirty="0">
              <a:latin typeface="Antique Olive" panose="020B0603020204030204"/>
              <a:ea typeface="Kollektif"/>
              <a:cs typeface="Kollektif"/>
              <a:sym typeface="Kollektif"/>
            </a:endParaRPr>
          </a:p>
        </p:txBody>
      </p:sp>
      <p:sp>
        <p:nvSpPr>
          <p:cNvPr id="8" name="TextBox 8"/>
          <p:cNvSpPr txBox="1"/>
          <p:nvPr/>
        </p:nvSpPr>
        <p:spPr>
          <a:xfrm>
            <a:off x="6911848" y="4411293"/>
            <a:ext cx="1350010" cy="384272"/>
          </a:xfrm>
          <a:prstGeom prst="rect">
            <a:avLst/>
          </a:prstGeom>
        </p:spPr>
        <p:txBody>
          <a:bodyPr lIns="0" tIns="0" rIns="0" bIns="0" rtlCol="0" anchor="t">
            <a:spAutoFit/>
          </a:bodyPr>
          <a:lstStyle/>
          <a:p>
            <a:pPr>
              <a:lnSpc>
                <a:spcPts val="3166"/>
              </a:lnSpc>
            </a:pPr>
            <a:r>
              <a:rPr lang="en-US" sz="2261" b="1" dirty="0">
                <a:latin typeface="Antique Olive" panose="020B0603020204030204"/>
                <a:ea typeface="Kollektif Bold"/>
                <a:cs typeface="Kollektif Bold"/>
                <a:sym typeface="Kollektif Bold"/>
              </a:rPr>
              <a:t>Output?</a:t>
            </a:r>
          </a:p>
        </p:txBody>
      </p:sp>
      <p:sp>
        <p:nvSpPr>
          <p:cNvPr id="9" name="TextBox 9"/>
          <p:cNvSpPr txBox="1"/>
          <p:nvPr/>
        </p:nvSpPr>
        <p:spPr>
          <a:xfrm>
            <a:off x="6318885" y="4362626"/>
            <a:ext cx="1360332" cy="481607"/>
          </a:xfrm>
          <a:prstGeom prst="rect">
            <a:avLst/>
          </a:prstGeom>
        </p:spPr>
        <p:txBody>
          <a:bodyPr lIns="0" tIns="0" rIns="0" bIns="0" rtlCol="0" anchor="t">
            <a:spAutoFit/>
          </a:bodyPr>
          <a:lstStyle/>
          <a:p>
            <a:pPr>
              <a:lnSpc>
                <a:spcPts val="4006"/>
              </a:lnSpc>
            </a:pPr>
            <a:r>
              <a:rPr lang="en-US" sz="2861" b="1" dirty="0">
                <a:latin typeface="Antique Olive" panose="020B0603020204030204"/>
                <a:ea typeface="Kollektif Bold"/>
                <a:cs typeface="Kollektif Bold"/>
                <a:sym typeface="Kollektif Bold"/>
              </a:rPr>
              <a:t>=&gt;</a:t>
            </a:r>
          </a:p>
        </p:txBody>
      </p:sp>
    </p:spTree>
    <p:extLst>
      <p:ext uri="{BB962C8B-B14F-4D97-AF65-F5344CB8AC3E}">
        <p14:creationId xmlns:p14="http://schemas.microsoft.com/office/powerpoint/2010/main" val="26703273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204799" y="1839060"/>
            <a:ext cx="4788018" cy="4697976"/>
          </a:xfrm>
          <a:custGeom>
            <a:avLst/>
            <a:gdLst/>
            <a:ahLst/>
            <a:cxnLst/>
            <a:rect l="l" t="t" r="r" b="b"/>
            <a:pathLst>
              <a:path w="5755204" h="5755204">
                <a:moveTo>
                  <a:pt x="0" y="0"/>
                </a:moveTo>
                <a:lnTo>
                  <a:pt x="5755204" y="0"/>
                </a:lnTo>
                <a:lnTo>
                  <a:pt x="5755204" y="5755204"/>
                </a:lnTo>
                <a:lnTo>
                  <a:pt x="0" y="5755204"/>
                </a:lnTo>
                <a:lnTo>
                  <a:pt x="0" y="0"/>
                </a:lnTo>
                <a:close/>
              </a:path>
            </a:pathLst>
          </a:custGeom>
          <a:blipFill>
            <a:blip r:embed="rId2"/>
            <a:stretch>
              <a:fillRect/>
            </a:stretch>
          </a:blipFill>
        </p:spPr>
      </p:sp>
      <p:sp>
        <p:nvSpPr>
          <p:cNvPr id="6" name="TextBox 6"/>
          <p:cNvSpPr txBox="1"/>
          <p:nvPr/>
        </p:nvSpPr>
        <p:spPr>
          <a:xfrm>
            <a:off x="844467" y="1684980"/>
            <a:ext cx="1360332" cy="308161"/>
          </a:xfrm>
          <a:prstGeom prst="rect">
            <a:avLst/>
          </a:prstGeom>
        </p:spPr>
        <p:txBody>
          <a:bodyPr lIns="0" tIns="0" rIns="0" bIns="0" rtlCol="0" anchor="t">
            <a:spAutoFit/>
          </a:bodyPr>
          <a:lstStyle/>
          <a:p>
            <a:pPr>
              <a:lnSpc>
                <a:spcPts val="2513"/>
              </a:lnSpc>
            </a:pPr>
            <a:r>
              <a:rPr lang="en-US" sz="2000" b="1" dirty="0">
                <a:latin typeface="Antique Olive" panose="020B0603020204030204"/>
                <a:ea typeface="Kollektif Bold"/>
                <a:cs typeface="Kollektif Bold"/>
                <a:sym typeface="Kollektif Bold"/>
              </a:rPr>
              <a:t>Example :</a:t>
            </a:r>
          </a:p>
        </p:txBody>
      </p:sp>
      <p:sp>
        <p:nvSpPr>
          <p:cNvPr id="7" name="TextBox 5">
            <a:extLst>
              <a:ext uri="{FF2B5EF4-FFF2-40B4-BE49-F238E27FC236}">
                <a16:creationId xmlns:a16="http://schemas.microsoft.com/office/drawing/2014/main" id="{6AD2A964-B1A0-FF9E-0657-14CECC7A1F69}"/>
              </a:ext>
            </a:extLst>
          </p:cNvPr>
          <p:cNvSpPr txBox="1"/>
          <p:nvPr/>
        </p:nvSpPr>
        <p:spPr>
          <a:xfrm>
            <a:off x="685800" y="981886"/>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Types of Scope</a:t>
            </a:r>
          </a:p>
        </p:txBody>
      </p:sp>
    </p:spTree>
    <p:extLst>
      <p:ext uri="{BB962C8B-B14F-4D97-AF65-F5344CB8AC3E}">
        <p14:creationId xmlns:p14="http://schemas.microsoft.com/office/powerpoint/2010/main" val="13577726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5578894" y="2495267"/>
            <a:ext cx="4297807" cy="1074452"/>
          </a:xfrm>
          <a:custGeom>
            <a:avLst/>
            <a:gdLst/>
            <a:ahLst/>
            <a:cxnLst/>
            <a:rect l="l" t="t" r="r" b="b"/>
            <a:pathLst>
              <a:path w="6446711" h="1611678">
                <a:moveTo>
                  <a:pt x="0" y="0"/>
                </a:moveTo>
                <a:lnTo>
                  <a:pt x="6446711" y="0"/>
                </a:lnTo>
                <a:lnTo>
                  <a:pt x="6446711" y="1611678"/>
                </a:lnTo>
                <a:lnTo>
                  <a:pt x="0" y="1611678"/>
                </a:lnTo>
                <a:lnTo>
                  <a:pt x="0" y="0"/>
                </a:lnTo>
                <a:close/>
              </a:path>
            </a:pathLst>
          </a:custGeom>
          <a:blipFill>
            <a:blip r:embed="rId2"/>
            <a:stretch>
              <a:fillRect/>
            </a:stretch>
          </a:blipFill>
        </p:spPr>
      </p:sp>
      <p:sp>
        <p:nvSpPr>
          <p:cNvPr id="5" name="Freeform 5"/>
          <p:cNvSpPr/>
          <p:nvPr/>
        </p:nvSpPr>
        <p:spPr>
          <a:xfrm>
            <a:off x="4685073" y="4414358"/>
            <a:ext cx="4656768" cy="960921"/>
          </a:xfrm>
          <a:custGeom>
            <a:avLst/>
            <a:gdLst/>
            <a:ahLst/>
            <a:cxnLst/>
            <a:rect l="l" t="t" r="r" b="b"/>
            <a:pathLst>
              <a:path w="6985152" h="1441381">
                <a:moveTo>
                  <a:pt x="0" y="0"/>
                </a:moveTo>
                <a:lnTo>
                  <a:pt x="6985152" y="0"/>
                </a:lnTo>
                <a:lnTo>
                  <a:pt x="6985152" y="1441380"/>
                </a:lnTo>
                <a:lnTo>
                  <a:pt x="0" y="1441380"/>
                </a:lnTo>
                <a:lnTo>
                  <a:pt x="0" y="0"/>
                </a:lnTo>
                <a:close/>
              </a:path>
            </a:pathLst>
          </a:custGeom>
          <a:blipFill>
            <a:blip r:embed="rId3"/>
            <a:stretch>
              <a:fillRect/>
            </a:stretch>
          </a:blipFill>
        </p:spPr>
      </p:sp>
      <p:sp>
        <p:nvSpPr>
          <p:cNvPr id="6" name="TextBox 6"/>
          <p:cNvSpPr txBox="1"/>
          <p:nvPr/>
        </p:nvSpPr>
        <p:spPr>
          <a:xfrm>
            <a:off x="685800" y="770221"/>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What is Hoisting?</a:t>
            </a:r>
          </a:p>
        </p:txBody>
      </p:sp>
      <p:sp>
        <p:nvSpPr>
          <p:cNvPr id="7" name="TextBox 7"/>
          <p:cNvSpPr txBox="1"/>
          <p:nvPr/>
        </p:nvSpPr>
        <p:spPr>
          <a:xfrm>
            <a:off x="443197" y="1715558"/>
            <a:ext cx="9929743" cy="1231876"/>
          </a:xfrm>
          <a:prstGeom prst="rect">
            <a:avLst/>
          </a:prstGeom>
        </p:spPr>
        <p:txBody>
          <a:bodyPr lIns="0" tIns="0" rIns="0" bIns="0" rtlCol="0" anchor="t">
            <a:spAutoFit/>
          </a:bodyPr>
          <a:lstStyle/>
          <a:p>
            <a:pPr marL="503793" lvl="1" indent="-251896">
              <a:lnSpc>
                <a:spcPts val="3267"/>
              </a:lnSpc>
              <a:buFont typeface="Arial"/>
              <a:buChar char="•"/>
            </a:pPr>
            <a:r>
              <a:rPr lang="en-US" sz="2333" dirty="0">
                <a:latin typeface="Kollektif Bold"/>
                <a:ea typeface="Kollektif Bold"/>
                <a:cs typeface="Kollektif Bold"/>
                <a:sym typeface="Kollektif Bold"/>
              </a:rPr>
              <a:t>JavaScript moves variable and function declarations to the top of the scope before execution.</a:t>
            </a:r>
          </a:p>
          <a:p>
            <a:pPr>
              <a:lnSpc>
                <a:spcPts val="3267"/>
              </a:lnSpc>
            </a:pPr>
            <a:endParaRPr lang="en-US" sz="2333" b="1" dirty="0">
              <a:solidFill>
                <a:srgbClr val="564033"/>
              </a:solidFill>
              <a:latin typeface="Kollektif Bold"/>
              <a:ea typeface="Kollektif Bold"/>
              <a:cs typeface="Kollektif Bold"/>
              <a:sym typeface="Kollektif Bold"/>
            </a:endParaRPr>
          </a:p>
        </p:txBody>
      </p:sp>
      <p:sp>
        <p:nvSpPr>
          <p:cNvPr id="8" name="TextBox 8"/>
          <p:cNvSpPr txBox="1"/>
          <p:nvPr/>
        </p:nvSpPr>
        <p:spPr>
          <a:xfrm>
            <a:off x="1450432" y="2872213"/>
            <a:ext cx="3957637" cy="396391"/>
          </a:xfrm>
          <a:prstGeom prst="rect">
            <a:avLst/>
          </a:prstGeom>
        </p:spPr>
        <p:txBody>
          <a:bodyPr lIns="0" tIns="0" rIns="0" bIns="0" rtlCol="0" anchor="t">
            <a:spAutoFit/>
          </a:bodyPr>
          <a:lstStyle/>
          <a:p>
            <a:pPr algn="ctr">
              <a:lnSpc>
                <a:spcPts val="3267"/>
              </a:lnSpc>
              <a:spcBef>
                <a:spcPct val="0"/>
              </a:spcBef>
            </a:pPr>
            <a:r>
              <a:rPr lang="en-US" sz="2333" dirty="0">
                <a:latin typeface="Antique Olive" panose="020B0603020204030204"/>
                <a:ea typeface="Kollektif"/>
                <a:cs typeface="Kollektif"/>
                <a:sym typeface="Kollektif"/>
              </a:rPr>
              <a:t>var is hoisted with “undefined”</a:t>
            </a:r>
          </a:p>
        </p:txBody>
      </p:sp>
      <p:sp>
        <p:nvSpPr>
          <p:cNvPr id="9" name="TextBox 9"/>
          <p:cNvSpPr txBox="1"/>
          <p:nvPr/>
        </p:nvSpPr>
        <p:spPr>
          <a:xfrm>
            <a:off x="1274941" y="3910567"/>
            <a:ext cx="5350589" cy="396391"/>
          </a:xfrm>
          <a:prstGeom prst="rect">
            <a:avLst/>
          </a:prstGeom>
        </p:spPr>
        <p:txBody>
          <a:bodyPr lIns="0" tIns="0" rIns="0" bIns="0" rtlCol="0" anchor="t">
            <a:spAutoFit/>
          </a:bodyPr>
          <a:lstStyle/>
          <a:p>
            <a:pPr>
              <a:lnSpc>
                <a:spcPts val="3267"/>
              </a:lnSpc>
              <a:spcBef>
                <a:spcPct val="0"/>
              </a:spcBef>
            </a:pPr>
            <a:r>
              <a:rPr lang="en-US" sz="2333" dirty="0">
                <a:latin typeface="Antique Olive" panose="020B0603020204030204"/>
                <a:ea typeface="Kollektif"/>
                <a:cs typeface="Kollektif"/>
                <a:sym typeface="Kollektif"/>
              </a:rPr>
              <a:t>let &amp; const are hoisted but NOT initialized</a:t>
            </a:r>
          </a:p>
        </p:txBody>
      </p:sp>
    </p:spTree>
    <p:extLst>
      <p:ext uri="{BB962C8B-B14F-4D97-AF65-F5344CB8AC3E}">
        <p14:creationId xmlns:p14="http://schemas.microsoft.com/office/powerpoint/2010/main" val="38580385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5391502" y="2303849"/>
            <a:ext cx="4175323" cy="1890494"/>
          </a:xfrm>
          <a:custGeom>
            <a:avLst/>
            <a:gdLst/>
            <a:ahLst/>
            <a:cxnLst/>
            <a:rect l="l" t="t" r="r" b="b"/>
            <a:pathLst>
              <a:path w="6262985" h="2835741">
                <a:moveTo>
                  <a:pt x="0" y="0"/>
                </a:moveTo>
                <a:lnTo>
                  <a:pt x="6262986" y="0"/>
                </a:lnTo>
                <a:lnTo>
                  <a:pt x="6262986" y="2835740"/>
                </a:lnTo>
                <a:lnTo>
                  <a:pt x="0" y="2835740"/>
                </a:lnTo>
                <a:lnTo>
                  <a:pt x="0" y="0"/>
                </a:lnTo>
                <a:close/>
              </a:path>
            </a:pathLst>
          </a:custGeom>
          <a:blipFill>
            <a:blip r:embed="rId2"/>
            <a:stretch>
              <a:fillRect/>
            </a:stretch>
          </a:blipFill>
        </p:spPr>
      </p:sp>
      <p:sp>
        <p:nvSpPr>
          <p:cNvPr id="5" name="Freeform 5"/>
          <p:cNvSpPr/>
          <p:nvPr/>
        </p:nvSpPr>
        <p:spPr>
          <a:xfrm>
            <a:off x="4577240" y="4778167"/>
            <a:ext cx="4779741" cy="2079833"/>
          </a:xfrm>
          <a:custGeom>
            <a:avLst/>
            <a:gdLst/>
            <a:ahLst/>
            <a:cxnLst/>
            <a:rect l="l" t="t" r="r" b="b"/>
            <a:pathLst>
              <a:path w="7169612" h="3119750">
                <a:moveTo>
                  <a:pt x="0" y="0"/>
                </a:moveTo>
                <a:lnTo>
                  <a:pt x="7169612" y="0"/>
                </a:lnTo>
                <a:lnTo>
                  <a:pt x="7169612" y="3119750"/>
                </a:lnTo>
                <a:lnTo>
                  <a:pt x="0" y="3119750"/>
                </a:lnTo>
                <a:lnTo>
                  <a:pt x="0" y="0"/>
                </a:lnTo>
                <a:close/>
              </a:path>
            </a:pathLst>
          </a:custGeom>
          <a:blipFill>
            <a:blip r:embed="rId3"/>
            <a:stretch>
              <a:fillRect/>
            </a:stretch>
          </a:blipFill>
        </p:spPr>
      </p:sp>
      <p:sp>
        <p:nvSpPr>
          <p:cNvPr id="7" name="TextBox 7"/>
          <p:cNvSpPr txBox="1"/>
          <p:nvPr/>
        </p:nvSpPr>
        <p:spPr>
          <a:xfrm>
            <a:off x="614022" y="1288038"/>
            <a:ext cx="9929743" cy="1231876"/>
          </a:xfrm>
          <a:prstGeom prst="rect">
            <a:avLst/>
          </a:prstGeom>
        </p:spPr>
        <p:txBody>
          <a:bodyPr lIns="0" tIns="0" rIns="0" bIns="0" rtlCol="0" anchor="t">
            <a:spAutoFit/>
          </a:bodyPr>
          <a:lstStyle/>
          <a:p>
            <a:pPr marL="503793" lvl="1" indent="-251896">
              <a:lnSpc>
                <a:spcPts val="3267"/>
              </a:lnSpc>
              <a:buFont typeface="Arial"/>
              <a:buChar char="•"/>
            </a:pPr>
            <a:r>
              <a:rPr lang="en-US" sz="2333" b="1" dirty="0">
                <a:latin typeface="Antique Olive" panose="020B0603020204030204"/>
                <a:ea typeface="Kollektif Bold"/>
                <a:cs typeface="Kollektif Bold"/>
                <a:sym typeface="Kollektif Bold"/>
              </a:rPr>
              <a:t>JavaScript moves variable and function declarations to the top of the scope before execution.</a:t>
            </a:r>
          </a:p>
          <a:p>
            <a:pPr>
              <a:lnSpc>
                <a:spcPts val="3267"/>
              </a:lnSpc>
            </a:pPr>
            <a:endParaRPr lang="en-US" sz="2333" b="1" dirty="0">
              <a:solidFill>
                <a:srgbClr val="564033"/>
              </a:solidFill>
              <a:latin typeface="Antique Olive" panose="020B0603020204030204"/>
              <a:ea typeface="Kollektif Bold"/>
              <a:cs typeface="Kollektif Bold"/>
              <a:sym typeface="Kollektif Bold"/>
            </a:endParaRPr>
          </a:p>
        </p:txBody>
      </p:sp>
      <p:sp>
        <p:nvSpPr>
          <p:cNvPr id="8" name="TextBox 8"/>
          <p:cNvSpPr txBox="1"/>
          <p:nvPr/>
        </p:nvSpPr>
        <p:spPr>
          <a:xfrm>
            <a:off x="920468" y="2519914"/>
            <a:ext cx="4323874" cy="396391"/>
          </a:xfrm>
          <a:prstGeom prst="rect">
            <a:avLst/>
          </a:prstGeom>
        </p:spPr>
        <p:txBody>
          <a:bodyPr lIns="0" tIns="0" rIns="0" bIns="0" rtlCol="0" anchor="t">
            <a:spAutoFit/>
          </a:bodyPr>
          <a:lstStyle/>
          <a:p>
            <a:pPr algn="ctr">
              <a:lnSpc>
                <a:spcPts val="3267"/>
              </a:lnSpc>
              <a:spcBef>
                <a:spcPct val="0"/>
              </a:spcBef>
            </a:pPr>
            <a:r>
              <a:rPr lang="en-US" sz="2333" dirty="0">
                <a:latin typeface="Antique Olive" panose="020B0603020204030204"/>
                <a:ea typeface="Kollektif"/>
                <a:cs typeface="Kollektif"/>
                <a:sym typeface="Kollektif"/>
              </a:rPr>
              <a:t>Function Declarations are hoisted</a:t>
            </a:r>
          </a:p>
        </p:txBody>
      </p:sp>
      <p:sp>
        <p:nvSpPr>
          <p:cNvPr id="9" name="TextBox 9"/>
          <p:cNvSpPr txBox="1"/>
          <p:nvPr/>
        </p:nvSpPr>
        <p:spPr>
          <a:xfrm>
            <a:off x="465190" y="4305713"/>
            <a:ext cx="5405140" cy="396391"/>
          </a:xfrm>
          <a:prstGeom prst="rect">
            <a:avLst/>
          </a:prstGeom>
        </p:spPr>
        <p:txBody>
          <a:bodyPr lIns="0" tIns="0" rIns="0" bIns="0" rtlCol="0" anchor="t">
            <a:spAutoFit/>
          </a:bodyPr>
          <a:lstStyle/>
          <a:p>
            <a:pPr algn="ctr">
              <a:lnSpc>
                <a:spcPts val="3267"/>
              </a:lnSpc>
              <a:spcBef>
                <a:spcPct val="0"/>
              </a:spcBef>
            </a:pPr>
            <a:r>
              <a:rPr lang="en-US" sz="2333" dirty="0">
                <a:latin typeface="Antique Olive" panose="020B0603020204030204"/>
                <a:ea typeface="Kollektif"/>
                <a:cs typeface="Kollektif"/>
                <a:sym typeface="Kollektif"/>
              </a:rPr>
              <a:t>Function Expressions are NOT hoisted</a:t>
            </a:r>
          </a:p>
        </p:txBody>
      </p:sp>
      <p:sp>
        <p:nvSpPr>
          <p:cNvPr id="10" name="TextBox 6">
            <a:extLst>
              <a:ext uri="{FF2B5EF4-FFF2-40B4-BE49-F238E27FC236}">
                <a16:creationId xmlns:a16="http://schemas.microsoft.com/office/drawing/2014/main" id="{DA4D6B58-CE93-50AB-7CF1-3D9E66B1E6DD}"/>
              </a:ext>
            </a:extLst>
          </p:cNvPr>
          <p:cNvSpPr txBox="1"/>
          <p:nvPr/>
        </p:nvSpPr>
        <p:spPr>
          <a:xfrm>
            <a:off x="685800" y="770221"/>
            <a:ext cx="9786188" cy="491288"/>
          </a:xfrm>
          <a:prstGeom prst="rect">
            <a:avLst/>
          </a:prstGeom>
        </p:spPr>
        <p:txBody>
          <a:bodyPr lIns="0" tIns="0" rIns="0" bIns="0" rtlCol="0" anchor="t">
            <a:spAutoFit/>
          </a:bodyPr>
          <a:lstStyle/>
          <a:p>
            <a:pPr algn="ctr">
              <a:lnSpc>
                <a:spcPts val="3733"/>
              </a:lnSpc>
            </a:pPr>
            <a:r>
              <a:rPr lang="en-US" sz="4000" b="1" dirty="0">
                <a:latin typeface="Antique Olive" panose="020B0603020204030204"/>
                <a:ea typeface="Yeseva One"/>
                <a:cs typeface="Yeseva One"/>
                <a:sym typeface="Yeseva One"/>
              </a:rPr>
              <a:t>What is Hoisting?</a:t>
            </a:r>
          </a:p>
        </p:txBody>
      </p:sp>
    </p:spTree>
    <p:extLst>
      <p:ext uri="{BB962C8B-B14F-4D97-AF65-F5344CB8AC3E}">
        <p14:creationId xmlns:p14="http://schemas.microsoft.com/office/powerpoint/2010/main" val="36390189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80084" y="2020237"/>
            <a:ext cx="11419858" cy="589777"/>
          </a:xfrm>
          <a:prstGeom prst="rect">
            <a:avLst/>
          </a:prstGeom>
        </p:spPr>
        <p:txBody>
          <a:bodyPr lIns="0" tIns="0" rIns="0" bIns="0" rtlCol="0" anchor="t">
            <a:spAutoFit/>
          </a:bodyPr>
          <a:lstStyle/>
          <a:p>
            <a:pPr algn="ctr">
              <a:lnSpc>
                <a:spcPts val="4901"/>
              </a:lnSpc>
            </a:pPr>
            <a:r>
              <a:rPr lang="en-US" sz="3501" dirty="0">
                <a:latin typeface="Antique Olive" panose="020B0603020204030204"/>
                <a:ea typeface="Yeseva One"/>
                <a:cs typeface="Yeseva One"/>
                <a:sym typeface="Yeseva One"/>
              </a:rPr>
              <a:t>Synchronous and Asynchronous</a:t>
            </a:r>
          </a:p>
        </p:txBody>
      </p:sp>
      <p:sp>
        <p:nvSpPr>
          <p:cNvPr id="5" name="TextBox 5"/>
          <p:cNvSpPr txBox="1"/>
          <p:nvPr/>
        </p:nvSpPr>
        <p:spPr>
          <a:xfrm>
            <a:off x="0" y="2765407"/>
            <a:ext cx="11419858" cy="456920"/>
          </a:xfrm>
          <a:prstGeom prst="rect">
            <a:avLst/>
          </a:prstGeom>
        </p:spPr>
        <p:txBody>
          <a:bodyPr lIns="0" tIns="0" rIns="0" bIns="0" rtlCol="0" anchor="t">
            <a:spAutoFit/>
          </a:bodyPr>
          <a:lstStyle/>
          <a:p>
            <a:pPr algn="ctr">
              <a:lnSpc>
                <a:spcPts val="3781"/>
              </a:lnSpc>
            </a:pPr>
            <a:r>
              <a:rPr lang="en-US" sz="2701" dirty="0">
                <a:latin typeface="Antique Olive" panose="020B0603020204030204"/>
                <a:ea typeface="Yeseva One"/>
                <a:cs typeface="Yeseva One"/>
                <a:sym typeface="Yeseva One"/>
              </a:rPr>
              <a:t>what is mean??????????</a:t>
            </a:r>
          </a:p>
        </p:txBody>
      </p:sp>
    </p:spTree>
    <p:extLst>
      <p:ext uri="{BB962C8B-B14F-4D97-AF65-F5344CB8AC3E}">
        <p14:creationId xmlns:p14="http://schemas.microsoft.com/office/powerpoint/2010/main" val="17091598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87551" y="1379179"/>
            <a:ext cx="9508795" cy="3771032"/>
          </a:xfrm>
          <a:prstGeom prst="rect">
            <a:avLst/>
          </a:prstGeom>
        </p:spPr>
        <p:txBody>
          <a:bodyPr lIns="0" tIns="0" rIns="0" bIns="0" rtlCol="0" anchor="t">
            <a:spAutoFit/>
          </a:bodyPr>
          <a:lstStyle/>
          <a:p>
            <a:pPr>
              <a:lnSpc>
                <a:spcPts val="3267"/>
              </a:lnSpc>
            </a:pPr>
            <a:r>
              <a:rPr lang="en-US" sz="2333" dirty="0">
                <a:solidFill>
                  <a:srgbClr val="564033"/>
                </a:solidFill>
                <a:latin typeface="Antique Olive" panose="020B0603020204030204"/>
                <a:ea typeface="Kollektif"/>
                <a:cs typeface="Kollektif"/>
                <a:sym typeface="Kollektif"/>
              </a:rPr>
              <a:t> </a:t>
            </a:r>
            <a:r>
              <a:rPr lang="en-US" sz="2333" dirty="0">
                <a:latin typeface="Antique Olive" panose="020B0603020204030204"/>
                <a:ea typeface="Kollektif"/>
                <a:cs typeface="Kollektif"/>
                <a:sym typeface="Kollektif"/>
              </a:rPr>
              <a:t>is the order in which statements are executed in a program.</a:t>
            </a:r>
          </a:p>
          <a:p>
            <a:pPr>
              <a:lnSpc>
                <a:spcPts val="3267"/>
              </a:lnSpc>
            </a:pPr>
            <a:r>
              <a:rPr lang="en-US" sz="2333" dirty="0">
                <a:latin typeface="Antique Olive" panose="020B0603020204030204"/>
                <a:ea typeface="Kollektif"/>
                <a:cs typeface="Kollektif"/>
                <a:sym typeface="Kollektif"/>
              </a:rPr>
              <a:t>By default, JavaScript runs code from top to bottom and left to right.</a:t>
            </a:r>
          </a:p>
          <a:p>
            <a:pPr>
              <a:lnSpc>
                <a:spcPts val="3267"/>
              </a:lnSpc>
            </a:pPr>
            <a:r>
              <a:rPr lang="en-US" sz="2333" dirty="0">
                <a:latin typeface="Antique Olive" panose="020B0603020204030204"/>
                <a:ea typeface="Kollektif"/>
                <a:cs typeface="Kollektif"/>
                <a:sym typeface="Kollektif"/>
              </a:rPr>
              <a:t>Control flow statements let you change that order, based on conditions, loops or keywords.</a:t>
            </a:r>
          </a:p>
          <a:p>
            <a:pPr>
              <a:lnSpc>
                <a:spcPts val="3267"/>
              </a:lnSpc>
            </a:pPr>
            <a:r>
              <a:rPr lang="en-US" sz="2333" b="1" dirty="0">
                <a:latin typeface="Antique Olive" panose="020B0603020204030204"/>
                <a:ea typeface="Kollektif Bold"/>
                <a:cs typeface="Kollektif Bold"/>
                <a:sym typeface="Kollektif Bold"/>
              </a:rPr>
              <a:t>Default Flow</a:t>
            </a:r>
          </a:p>
          <a:p>
            <a:pPr>
              <a:lnSpc>
                <a:spcPts val="3267"/>
              </a:lnSpc>
            </a:pPr>
            <a:r>
              <a:rPr lang="en-US" sz="2333" dirty="0">
                <a:latin typeface="Antique Olive" panose="020B0603020204030204"/>
                <a:ea typeface="Kollektif"/>
                <a:cs typeface="Kollektif"/>
                <a:sym typeface="Kollektif"/>
              </a:rPr>
              <a:t>Default flow executes code sequentially (from top to bottom / from left to right).</a:t>
            </a:r>
          </a:p>
          <a:p>
            <a:pPr>
              <a:lnSpc>
                <a:spcPts val="3267"/>
              </a:lnSpc>
            </a:pPr>
            <a:endParaRPr lang="en-US" sz="2333" dirty="0">
              <a:solidFill>
                <a:srgbClr val="564033"/>
              </a:solidFill>
              <a:latin typeface="Antique Olive" panose="020B0603020204030204"/>
              <a:ea typeface="Kollektif"/>
              <a:cs typeface="Kollektif"/>
              <a:sym typeface="Kollektif"/>
            </a:endParaRP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5" name="TextBox 5"/>
          <p:cNvSpPr txBox="1"/>
          <p:nvPr/>
        </p:nvSpPr>
        <p:spPr>
          <a:xfrm>
            <a:off x="648855" y="778003"/>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Control Flow</a:t>
            </a:r>
          </a:p>
        </p:txBody>
      </p:sp>
      <p:sp>
        <p:nvSpPr>
          <p:cNvPr id="6" name="TextBox 6"/>
          <p:cNvSpPr txBox="1"/>
          <p:nvPr/>
        </p:nvSpPr>
        <p:spPr>
          <a:xfrm>
            <a:off x="1473202" y="4668953"/>
            <a:ext cx="1360332" cy="613501"/>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 :</a:t>
            </a:r>
          </a:p>
          <a:p>
            <a:pPr>
              <a:lnSpc>
                <a:spcPts val="2513"/>
              </a:lnSpc>
            </a:pPr>
            <a:endParaRPr lang="en-US" sz="1795" b="1" dirty="0">
              <a:solidFill>
                <a:srgbClr val="564033"/>
              </a:solidFill>
              <a:latin typeface="Kollektif Bold"/>
              <a:ea typeface="Kollektif Bold"/>
              <a:cs typeface="Kollektif Bold"/>
              <a:sym typeface="Kollektif Bold"/>
            </a:endParaRPr>
          </a:p>
        </p:txBody>
      </p:sp>
      <p:sp>
        <p:nvSpPr>
          <p:cNvPr id="7" name="Freeform 7"/>
          <p:cNvSpPr/>
          <p:nvPr/>
        </p:nvSpPr>
        <p:spPr>
          <a:xfrm>
            <a:off x="2767084" y="4668953"/>
            <a:ext cx="3088771" cy="1248652"/>
          </a:xfrm>
          <a:custGeom>
            <a:avLst/>
            <a:gdLst/>
            <a:ahLst/>
            <a:cxnLst/>
            <a:rect l="l" t="t" r="r" b="b"/>
            <a:pathLst>
              <a:path w="4633157" h="1872978">
                <a:moveTo>
                  <a:pt x="0" y="0"/>
                </a:moveTo>
                <a:lnTo>
                  <a:pt x="4633157" y="0"/>
                </a:lnTo>
                <a:lnTo>
                  <a:pt x="4633157" y="1872978"/>
                </a:lnTo>
                <a:lnTo>
                  <a:pt x="0" y="1872978"/>
                </a:lnTo>
                <a:lnTo>
                  <a:pt x="0" y="0"/>
                </a:lnTo>
                <a:close/>
              </a:path>
            </a:pathLst>
          </a:custGeom>
          <a:blipFill>
            <a:blip r:embed="rId2"/>
            <a:stretch>
              <a:fillRect/>
            </a:stretch>
          </a:blipFill>
        </p:spPr>
      </p:sp>
    </p:spTree>
    <p:extLst>
      <p:ext uri="{BB962C8B-B14F-4D97-AF65-F5344CB8AC3E}">
        <p14:creationId xmlns:p14="http://schemas.microsoft.com/office/powerpoint/2010/main" val="2402912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87551" y="1725618"/>
            <a:ext cx="9508795" cy="2924647"/>
          </a:xfrm>
          <a:prstGeom prst="rect">
            <a:avLst/>
          </a:prstGeom>
        </p:spPr>
        <p:txBody>
          <a:bodyPr lIns="0" tIns="0" rIns="0" bIns="0" rtlCol="0" anchor="t">
            <a:spAutoFit/>
          </a:bodyPr>
          <a:lstStyle/>
          <a:p>
            <a:pPr>
              <a:lnSpc>
                <a:spcPts val="3267"/>
              </a:lnSpc>
            </a:pPr>
            <a:r>
              <a:rPr lang="en-US" sz="2333" b="1" dirty="0">
                <a:latin typeface="Antique Olive" panose="020B0603020204030204"/>
                <a:ea typeface="Kollektif Bold"/>
                <a:cs typeface="Kollektif Bold"/>
                <a:sym typeface="Kollektif Bold"/>
              </a:rPr>
              <a:t>Conditional Control Flow</a:t>
            </a:r>
          </a:p>
          <a:p>
            <a:pPr marL="503793" lvl="1" indent="-251896">
              <a:lnSpc>
                <a:spcPts val="3267"/>
              </a:lnSpc>
              <a:buFont typeface="Arial"/>
              <a:buChar char="•"/>
            </a:pPr>
            <a:r>
              <a:rPr lang="en-US" sz="2333" dirty="0">
                <a:latin typeface="Antique Olive" panose="020B0603020204030204"/>
                <a:ea typeface="Kollektif"/>
                <a:cs typeface="Kollektif"/>
                <a:sym typeface="Kollektif"/>
              </a:rPr>
              <a:t>Conditions let you make decisions using:</a:t>
            </a:r>
          </a:p>
          <a:p>
            <a:pPr marL="1007584" lvl="2" indent="-335861">
              <a:lnSpc>
                <a:spcPts val="3267"/>
              </a:lnSpc>
              <a:buFont typeface="Arial"/>
              <a:buChar char="⚬"/>
            </a:pPr>
            <a:r>
              <a:rPr lang="en-US" sz="2333" dirty="0">
                <a:latin typeface="Antique Olive" panose="020B0603020204030204"/>
                <a:ea typeface="Kollektif"/>
                <a:cs typeface="Kollektif"/>
                <a:sym typeface="Kollektif"/>
              </a:rPr>
              <a:t>if</a:t>
            </a:r>
          </a:p>
          <a:p>
            <a:pPr marL="1007584" lvl="2" indent="-335861">
              <a:lnSpc>
                <a:spcPts val="3267"/>
              </a:lnSpc>
              <a:buFont typeface="Arial"/>
              <a:buChar char="⚬"/>
            </a:pPr>
            <a:r>
              <a:rPr lang="en-US" sz="2333" dirty="0">
                <a:latin typeface="Antique Olive" panose="020B0603020204030204"/>
                <a:ea typeface="Kollektif"/>
                <a:cs typeface="Kollektif"/>
                <a:sym typeface="Kollektif"/>
              </a:rPr>
              <a:t>if...else</a:t>
            </a:r>
          </a:p>
          <a:p>
            <a:pPr marL="1007584" lvl="2" indent="-335861">
              <a:lnSpc>
                <a:spcPts val="3267"/>
              </a:lnSpc>
              <a:buFont typeface="Arial"/>
              <a:buChar char="⚬"/>
            </a:pPr>
            <a:r>
              <a:rPr lang="en-US" sz="2333" dirty="0">
                <a:latin typeface="Antique Olive" panose="020B0603020204030204"/>
                <a:ea typeface="Kollektif"/>
                <a:cs typeface="Kollektif"/>
                <a:sym typeface="Kollektif"/>
              </a:rPr>
              <a:t>switch</a:t>
            </a:r>
          </a:p>
          <a:p>
            <a:pPr>
              <a:lnSpc>
                <a:spcPts val="3267"/>
              </a:lnSpc>
            </a:pPr>
            <a:endParaRPr lang="en-US" sz="2333" dirty="0">
              <a:solidFill>
                <a:srgbClr val="564033"/>
              </a:solidFill>
              <a:latin typeface="Antique Olive" panose="020B0603020204030204"/>
              <a:ea typeface="Kollektif"/>
              <a:cs typeface="Kollektif"/>
              <a:sym typeface="Kollektif"/>
            </a:endParaRP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5" name="Freeform 5"/>
          <p:cNvSpPr/>
          <p:nvPr/>
        </p:nvSpPr>
        <p:spPr>
          <a:xfrm>
            <a:off x="3586044" y="4404835"/>
            <a:ext cx="3189115" cy="2453165"/>
          </a:xfrm>
          <a:custGeom>
            <a:avLst/>
            <a:gdLst/>
            <a:ahLst/>
            <a:cxnLst/>
            <a:rect l="l" t="t" r="r" b="b"/>
            <a:pathLst>
              <a:path w="4783673" h="3679748">
                <a:moveTo>
                  <a:pt x="0" y="0"/>
                </a:moveTo>
                <a:lnTo>
                  <a:pt x="4783673" y="0"/>
                </a:lnTo>
                <a:lnTo>
                  <a:pt x="4783673" y="3679748"/>
                </a:lnTo>
                <a:lnTo>
                  <a:pt x="0" y="3679748"/>
                </a:lnTo>
                <a:lnTo>
                  <a:pt x="0" y="0"/>
                </a:lnTo>
                <a:close/>
              </a:path>
            </a:pathLst>
          </a:custGeom>
          <a:blipFill>
            <a:blip r:embed="rId2"/>
            <a:stretch>
              <a:fillRect/>
            </a:stretch>
          </a:blipFill>
        </p:spPr>
      </p:sp>
      <p:sp>
        <p:nvSpPr>
          <p:cNvPr id="7" name="TextBox 7"/>
          <p:cNvSpPr txBox="1"/>
          <p:nvPr/>
        </p:nvSpPr>
        <p:spPr>
          <a:xfrm>
            <a:off x="1895654" y="4404835"/>
            <a:ext cx="1360332" cy="621837"/>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 :</a:t>
            </a:r>
          </a:p>
          <a:p>
            <a:pPr>
              <a:lnSpc>
                <a:spcPts val="2513"/>
              </a:lnSpc>
            </a:pPr>
            <a:endParaRPr lang="en-US" sz="1795" b="1" dirty="0">
              <a:solidFill>
                <a:srgbClr val="564033"/>
              </a:solidFill>
              <a:latin typeface="Antique Olive" panose="020B0603020204030204"/>
              <a:ea typeface="Kollektif Bold"/>
              <a:cs typeface="Kollektif Bold"/>
              <a:sym typeface="Kollektif Bold"/>
            </a:endParaRPr>
          </a:p>
        </p:txBody>
      </p:sp>
      <p:sp>
        <p:nvSpPr>
          <p:cNvPr id="8" name="TextBox 5">
            <a:extLst>
              <a:ext uri="{FF2B5EF4-FFF2-40B4-BE49-F238E27FC236}">
                <a16:creationId xmlns:a16="http://schemas.microsoft.com/office/drawing/2014/main" id="{B445EB40-383F-823C-BADC-7BABA421EE9B}"/>
              </a:ext>
            </a:extLst>
          </p:cNvPr>
          <p:cNvSpPr txBox="1"/>
          <p:nvPr/>
        </p:nvSpPr>
        <p:spPr>
          <a:xfrm>
            <a:off x="648855" y="778003"/>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Control Flow</a:t>
            </a:r>
          </a:p>
        </p:txBody>
      </p:sp>
    </p:spTree>
    <p:extLst>
      <p:ext uri="{BB962C8B-B14F-4D97-AF65-F5344CB8AC3E}">
        <p14:creationId xmlns:p14="http://schemas.microsoft.com/office/powerpoint/2010/main" val="28509693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67261" y="1522536"/>
            <a:ext cx="9508795" cy="3771032"/>
          </a:xfrm>
          <a:prstGeom prst="rect">
            <a:avLst/>
          </a:prstGeom>
        </p:spPr>
        <p:txBody>
          <a:bodyPr lIns="0" tIns="0" rIns="0" bIns="0" rtlCol="0" anchor="t">
            <a:spAutoFit/>
          </a:bodyPr>
          <a:lstStyle/>
          <a:p>
            <a:pPr>
              <a:lnSpc>
                <a:spcPts val="3267"/>
              </a:lnSpc>
            </a:pPr>
            <a:r>
              <a:rPr lang="en-US" sz="2333" b="1" dirty="0">
                <a:latin typeface="Antique Olive" panose="020B0603020204030204"/>
                <a:ea typeface="Kollektif Bold"/>
                <a:cs typeface="Kollektif Bold"/>
                <a:sym typeface="Kollektif Bold"/>
              </a:rPr>
              <a:t>Loops (Repetition Control Flow)</a:t>
            </a:r>
          </a:p>
          <a:p>
            <a:pPr>
              <a:lnSpc>
                <a:spcPts val="3267"/>
              </a:lnSpc>
            </a:pPr>
            <a:r>
              <a:rPr lang="en-US" sz="2333" dirty="0">
                <a:latin typeface="Antique Olive" panose="020B0603020204030204"/>
                <a:ea typeface="Kollektif"/>
                <a:cs typeface="Kollektif"/>
                <a:sym typeface="Kollektif"/>
              </a:rPr>
              <a:t>Loops let you run code multiple times using:</a:t>
            </a:r>
          </a:p>
          <a:p>
            <a:pPr marL="503793" lvl="1" indent="-251896">
              <a:lnSpc>
                <a:spcPts val="3267"/>
              </a:lnSpc>
              <a:buFont typeface="Arial"/>
              <a:buChar char="•"/>
            </a:pPr>
            <a:r>
              <a:rPr lang="en-US" sz="2333" dirty="0">
                <a:latin typeface="Antique Olive" panose="020B0603020204030204"/>
                <a:ea typeface="Kollektif"/>
                <a:cs typeface="Kollektif"/>
                <a:sym typeface="Kollektif"/>
              </a:rPr>
              <a:t>for</a:t>
            </a:r>
          </a:p>
          <a:p>
            <a:pPr marL="503793" lvl="1" indent="-251896">
              <a:lnSpc>
                <a:spcPts val="3267"/>
              </a:lnSpc>
              <a:buFont typeface="Arial"/>
              <a:buChar char="•"/>
            </a:pPr>
            <a:r>
              <a:rPr lang="en-US" sz="2333" dirty="0">
                <a:latin typeface="Antique Olive" panose="020B0603020204030204"/>
                <a:ea typeface="Kollektif"/>
                <a:cs typeface="Kollektif"/>
                <a:sym typeface="Kollektif"/>
              </a:rPr>
              <a:t>while</a:t>
            </a:r>
          </a:p>
          <a:p>
            <a:pPr marL="503793" lvl="1" indent="-251896">
              <a:lnSpc>
                <a:spcPts val="3267"/>
              </a:lnSpc>
              <a:buFont typeface="Arial"/>
              <a:buChar char="•"/>
            </a:pPr>
            <a:r>
              <a:rPr lang="en-US" sz="2333" dirty="0">
                <a:latin typeface="Antique Olive" panose="020B0603020204030204"/>
                <a:ea typeface="Kollektif"/>
                <a:cs typeface="Kollektif"/>
                <a:sym typeface="Kollektif"/>
              </a:rPr>
              <a:t>do...while</a:t>
            </a:r>
          </a:p>
          <a:p>
            <a:pPr>
              <a:lnSpc>
                <a:spcPts val="3267"/>
              </a:lnSpc>
            </a:pPr>
            <a:endParaRPr lang="en-US" sz="2333" dirty="0">
              <a:latin typeface="Antique Olive" panose="020B0603020204030204"/>
              <a:ea typeface="Kollektif"/>
              <a:cs typeface="Kollektif"/>
              <a:sym typeface="Kollektif"/>
            </a:endParaRPr>
          </a:p>
          <a:p>
            <a:pPr>
              <a:lnSpc>
                <a:spcPts val="3267"/>
              </a:lnSpc>
            </a:pPr>
            <a:r>
              <a:rPr lang="en-US" sz="2333" b="1" dirty="0">
                <a:latin typeface="Antique Olive" panose="020B0603020204030204"/>
                <a:ea typeface="Kollektif Bold"/>
                <a:cs typeface="Kollektif Bold"/>
                <a:sym typeface="Kollektif Bold"/>
              </a:rPr>
              <a:t>Function Flow</a:t>
            </a:r>
          </a:p>
          <a:p>
            <a:pPr>
              <a:lnSpc>
                <a:spcPts val="3267"/>
              </a:lnSpc>
            </a:pPr>
            <a:r>
              <a:rPr lang="en-US" sz="2333" dirty="0">
                <a:latin typeface="Antique Olive" panose="020B0603020204030204"/>
                <a:ea typeface="Kollektif"/>
                <a:cs typeface="Kollektif"/>
                <a:sym typeface="Kollektif"/>
              </a:rPr>
              <a:t>Functions are callable and reusable code blocks</a:t>
            </a: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6" name="TextBox 5">
            <a:extLst>
              <a:ext uri="{FF2B5EF4-FFF2-40B4-BE49-F238E27FC236}">
                <a16:creationId xmlns:a16="http://schemas.microsoft.com/office/drawing/2014/main" id="{00C05D36-3FBE-179B-29A3-22251470F9C0}"/>
              </a:ext>
            </a:extLst>
          </p:cNvPr>
          <p:cNvSpPr txBox="1"/>
          <p:nvPr/>
        </p:nvSpPr>
        <p:spPr>
          <a:xfrm>
            <a:off x="648855" y="778003"/>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Control Flow</a:t>
            </a:r>
          </a:p>
        </p:txBody>
      </p:sp>
    </p:spTree>
    <p:extLst>
      <p:ext uri="{BB962C8B-B14F-4D97-AF65-F5344CB8AC3E}">
        <p14:creationId xmlns:p14="http://schemas.microsoft.com/office/powerpoint/2010/main" val="3090521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26248" y="1601809"/>
            <a:ext cx="9508795" cy="2924647"/>
          </a:xfrm>
          <a:prstGeom prst="rect">
            <a:avLst/>
          </a:prstGeom>
        </p:spPr>
        <p:txBody>
          <a:bodyPr lIns="0" tIns="0" rIns="0" bIns="0" rtlCol="0" anchor="t">
            <a:spAutoFit/>
          </a:bodyPr>
          <a:lstStyle/>
          <a:p>
            <a:pPr>
              <a:lnSpc>
                <a:spcPts val="3267"/>
              </a:lnSpc>
            </a:pPr>
            <a:r>
              <a:rPr lang="en-US" sz="2333" b="1" dirty="0">
                <a:latin typeface="Antique Olive" panose="020B0603020204030204"/>
                <a:ea typeface="Kollektif Bold"/>
                <a:cs typeface="Kollektif Bold"/>
                <a:sym typeface="Kollektif Bold"/>
              </a:rPr>
              <a:t>Jump Statements</a:t>
            </a:r>
          </a:p>
          <a:p>
            <a:pPr>
              <a:lnSpc>
                <a:spcPts val="3267"/>
              </a:lnSpc>
            </a:pPr>
            <a:r>
              <a:rPr lang="en-US" sz="2333" dirty="0">
                <a:latin typeface="Antique Olive" panose="020B0603020204030204"/>
                <a:ea typeface="Kollektif"/>
                <a:cs typeface="Kollektif"/>
                <a:sym typeface="Kollektif"/>
              </a:rPr>
              <a:t>Jump statements let you change the flow abruptly using:</a:t>
            </a:r>
          </a:p>
          <a:p>
            <a:pPr marL="503793" lvl="1" indent="-251896">
              <a:lnSpc>
                <a:spcPts val="3267"/>
              </a:lnSpc>
              <a:buFont typeface="Arial"/>
              <a:buChar char="•"/>
            </a:pPr>
            <a:r>
              <a:rPr lang="en-US" sz="2333" dirty="0">
                <a:latin typeface="Antique Olive" panose="020B0603020204030204"/>
                <a:ea typeface="Kollektif"/>
                <a:cs typeface="Kollektif"/>
                <a:sym typeface="Kollektif"/>
              </a:rPr>
              <a:t>break - exits a loop or switch</a:t>
            </a:r>
          </a:p>
          <a:p>
            <a:pPr marL="503793" lvl="1" indent="-251896">
              <a:lnSpc>
                <a:spcPts val="3267"/>
              </a:lnSpc>
              <a:buFont typeface="Arial"/>
              <a:buChar char="•"/>
            </a:pPr>
            <a:r>
              <a:rPr lang="en-US" sz="2333" dirty="0">
                <a:latin typeface="Antique Olive" panose="020B0603020204030204"/>
                <a:ea typeface="Kollektif"/>
                <a:cs typeface="Kollektif"/>
                <a:sym typeface="Kollektif"/>
              </a:rPr>
              <a:t>continue - skips the current loop iteration</a:t>
            </a:r>
          </a:p>
          <a:p>
            <a:pPr marL="503793" lvl="1" indent="-251896">
              <a:lnSpc>
                <a:spcPts val="3267"/>
              </a:lnSpc>
              <a:buFont typeface="Arial"/>
              <a:buChar char="•"/>
            </a:pPr>
            <a:r>
              <a:rPr lang="en-US" sz="2333" dirty="0">
                <a:latin typeface="Antique Olive" panose="020B0603020204030204"/>
                <a:ea typeface="Kollektif"/>
                <a:cs typeface="Kollektif"/>
                <a:sym typeface="Kollektif"/>
              </a:rPr>
              <a:t>return - exits from a function</a:t>
            </a:r>
          </a:p>
          <a:p>
            <a:pPr marL="503793" lvl="1" indent="-251896">
              <a:lnSpc>
                <a:spcPts val="3267"/>
              </a:lnSpc>
              <a:buFont typeface="Arial"/>
              <a:buChar char="•"/>
            </a:pPr>
            <a:r>
              <a:rPr lang="en-US" sz="2333" dirty="0">
                <a:latin typeface="Antique Olive" panose="020B0603020204030204"/>
                <a:ea typeface="Kollektif"/>
                <a:cs typeface="Kollektif"/>
                <a:sym typeface="Kollektif"/>
              </a:rPr>
              <a:t>throw - jumps to error handling</a:t>
            </a: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6" name="TextBox 5">
            <a:extLst>
              <a:ext uri="{FF2B5EF4-FFF2-40B4-BE49-F238E27FC236}">
                <a16:creationId xmlns:a16="http://schemas.microsoft.com/office/drawing/2014/main" id="{2A856BF2-6C6D-462C-A9FE-9AF078A816FD}"/>
              </a:ext>
            </a:extLst>
          </p:cNvPr>
          <p:cNvSpPr txBox="1"/>
          <p:nvPr/>
        </p:nvSpPr>
        <p:spPr>
          <a:xfrm>
            <a:off x="648855" y="778003"/>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Control Flow</a:t>
            </a:r>
          </a:p>
        </p:txBody>
      </p:sp>
    </p:spTree>
    <p:extLst>
      <p:ext uri="{BB962C8B-B14F-4D97-AF65-F5344CB8AC3E}">
        <p14:creationId xmlns:p14="http://schemas.microsoft.com/office/powerpoint/2010/main" val="27601495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156876" y="1232017"/>
            <a:ext cx="9508795" cy="3538276"/>
          </a:xfrm>
          <a:prstGeom prst="rect">
            <a:avLst/>
          </a:prstGeom>
        </p:spPr>
        <p:txBody>
          <a:bodyPr lIns="0" tIns="0" rIns="0" bIns="0" rtlCol="0" anchor="t">
            <a:spAutoFit/>
          </a:bodyPr>
          <a:lstStyle/>
          <a:p>
            <a:pPr algn="ctr">
              <a:lnSpc>
                <a:spcPts val="4013"/>
              </a:lnSpc>
            </a:pPr>
            <a:r>
              <a:rPr lang="en-US" sz="4000" dirty="0">
                <a:latin typeface="Antique Olive" panose="020B0603020204030204"/>
                <a:ea typeface="Kollektif Bold"/>
                <a:cs typeface="Kollektif Bold"/>
                <a:sym typeface="Kollektif Bold"/>
              </a:rPr>
              <a:t>JavaScript Is Single-Threaded</a:t>
            </a:r>
          </a:p>
          <a:p>
            <a:pPr algn="ctr">
              <a:lnSpc>
                <a:spcPts val="4013"/>
              </a:lnSpc>
            </a:pPr>
            <a:endParaRPr lang="en-US" sz="2866" b="1" dirty="0">
              <a:solidFill>
                <a:srgbClr val="564033"/>
              </a:solidFill>
              <a:latin typeface="Antique Olive" panose="020B0603020204030204"/>
              <a:ea typeface="Kollektif Bold"/>
              <a:cs typeface="Kollektif Bold"/>
              <a:sym typeface="Kollektif Bold"/>
            </a:endParaRPr>
          </a:p>
          <a:p>
            <a:pPr marL="503793" lvl="1" indent="-251896">
              <a:lnSpc>
                <a:spcPts val="3267"/>
              </a:lnSpc>
              <a:buFont typeface="Arial"/>
              <a:buChar char="•"/>
            </a:pPr>
            <a:r>
              <a:rPr lang="en-US" sz="2500" b="1" dirty="0">
                <a:latin typeface="Antique Olive" panose="020B0603020204030204"/>
                <a:ea typeface="Kollektif Bold"/>
                <a:cs typeface="Kollektif Bold"/>
                <a:sym typeface="Kollektif Bold"/>
              </a:rPr>
              <a:t>JavaScript runs on a single thread.</a:t>
            </a:r>
          </a:p>
          <a:p>
            <a:pPr marL="503793" lvl="1" indent="-251896">
              <a:lnSpc>
                <a:spcPts val="3267"/>
              </a:lnSpc>
              <a:buFont typeface="Arial"/>
              <a:buChar char="•"/>
            </a:pPr>
            <a:r>
              <a:rPr lang="en-US" sz="2500" b="1" dirty="0">
                <a:latin typeface="Antique Olive" panose="020B0603020204030204"/>
                <a:ea typeface="Kollektif Bold"/>
                <a:cs typeface="Kollektif Bold"/>
                <a:sym typeface="Kollektif Bold"/>
              </a:rPr>
              <a:t>It can only do one thing at a time.</a:t>
            </a:r>
          </a:p>
          <a:p>
            <a:pPr marL="503793" lvl="1" indent="-251896">
              <a:lnSpc>
                <a:spcPts val="3267"/>
              </a:lnSpc>
              <a:buFont typeface="Arial"/>
              <a:buChar char="•"/>
            </a:pPr>
            <a:r>
              <a:rPr lang="en-US" sz="2500" b="1" dirty="0">
                <a:latin typeface="Antique Olive" panose="020B0603020204030204"/>
                <a:ea typeface="Kollektif Bold"/>
                <a:cs typeface="Kollektif Bold"/>
                <a:sym typeface="Kollektif Bold"/>
              </a:rPr>
              <a:t>Every task has to wait for the previous one to finish.</a:t>
            </a:r>
          </a:p>
          <a:p>
            <a:pPr marL="503793" lvl="1" indent="-251896">
              <a:lnSpc>
                <a:spcPts val="3267"/>
              </a:lnSpc>
              <a:buFont typeface="Arial"/>
              <a:buChar char="•"/>
            </a:pPr>
            <a:r>
              <a:rPr lang="en-US" sz="2500" b="1" dirty="0">
                <a:latin typeface="Antique Olive" panose="020B0603020204030204"/>
                <a:ea typeface="Kollektif Bold"/>
                <a:cs typeface="Kollektif Bold"/>
                <a:sym typeface="Kollektif Bold"/>
              </a:rPr>
              <a:t>This can freeze an application during slow operations (like file requests).</a:t>
            </a:r>
          </a:p>
          <a:p>
            <a:pPr>
              <a:lnSpc>
                <a:spcPts val="3267"/>
              </a:lnSpc>
            </a:pPr>
            <a:endParaRPr lang="en-US" sz="2333" b="1" dirty="0">
              <a:solidFill>
                <a:srgbClr val="564033"/>
              </a:solidFill>
              <a:latin typeface="Antique Olive" panose="020B0603020204030204"/>
              <a:ea typeface="Kollektif Bold"/>
              <a:cs typeface="Kollektif Bold"/>
              <a:sym typeface="Kollektif Bold"/>
            </a:endParaRPr>
          </a:p>
        </p:txBody>
      </p:sp>
    </p:spTree>
    <p:extLst>
      <p:ext uri="{BB962C8B-B14F-4D97-AF65-F5344CB8AC3E}">
        <p14:creationId xmlns:p14="http://schemas.microsoft.com/office/powerpoint/2010/main" val="33783095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53957" y="1775721"/>
            <a:ext cx="9508795" cy="2078261"/>
          </a:xfrm>
          <a:prstGeom prst="rect">
            <a:avLst/>
          </a:prstGeom>
        </p:spPr>
        <p:txBody>
          <a:bodyPr lIns="0" tIns="0" rIns="0" bIns="0" rtlCol="0" anchor="t">
            <a:spAutoFit/>
          </a:bodyPr>
          <a:lstStyle/>
          <a:p>
            <a:pPr>
              <a:lnSpc>
                <a:spcPts val="3267"/>
              </a:lnSpc>
            </a:pPr>
            <a:r>
              <a:rPr lang="en-US" sz="2333" dirty="0">
                <a:latin typeface="Antique Olive" panose="020B0603020204030204"/>
                <a:ea typeface="Kollektif"/>
                <a:cs typeface="Kollektif"/>
                <a:sym typeface="Kollektif"/>
              </a:rPr>
              <a:t>Synchronous = Line by line execution</a:t>
            </a:r>
          </a:p>
          <a:p>
            <a:pPr marL="503793" lvl="1" indent="-251896">
              <a:lnSpc>
                <a:spcPts val="3267"/>
              </a:lnSpc>
              <a:buFont typeface="Arial"/>
              <a:buChar char="•"/>
            </a:pPr>
            <a:r>
              <a:rPr lang="en-US" sz="2333" dirty="0">
                <a:latin typeface="Antique Olive" panose="020B0603020204030204"/>
                <a:ea typeface="Kollektif"/>
                <a:cs typeface="Kollektif"/>
                <a:sym typeface="Kollektif"/>
              </a:rPr>
              <a:t>JavaScript executes one line at a time</a:t>
            </a:r>
          </a:p>
          <a:p>
            <a:pPr marL="503793" lvl="1" indent="-251896">
              <a:lnSpc>
                <a:spcPts val="3267"/>
              </a:lnSpc>
              <a:buFont typeface="Arial"/>
              <a:buChar char="•"/>
            </a:pPr>
            <a:r>
              <a:rPr lang="en-US" sz="2333" dirty="0">
                <a:latin typeface="Antique Olive" panose="020B0603020204030204"/>
                <a:ea typeface="Kollektif"/>
                <a:cs typeface="Kollektif"/>
                <a:sym typeface="Kollektif"/>
              </a:rPr>
              <a:t>A new line cannot start until the previous one finishes</a:t>
            </a:r>
          </a:p>
          <a:p>
            <a:pPr marL="503793" lvl="1" indent="-251896">
              <a:lnSpc>
                <a:spcPts val="3267"/>
              </a:lnSpc>
              <a:buFont typeface="Arial"/>
              <a:buChar char="•"/>
            </a:pPr>
            <a:r>
              <a:rPr lang="en-US" sz="2333" dirty="0">
                <a:latin typeface="Antique Olive" panose="020B0603020204030204"/>
                <a:ea typeface="Kollektif"/>
                <a:cs typeface="Kollektif"/>
                <a:sym typeface="Kollektif"/>
              </a:rPr>
              <a:t>This is also called Blocking</a:t>
            </a: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5" name="Freeform 5"/>
          <p:cNvSpPr/>
          <p:nvPr/>
        </p:nvSpPr>
        <p:spPr>
          <a:xfrm>
            <a:off x="2904560" y="4103538"/>
            <a:ext cx="3514713" cy="1438279"/>
          </a:xfrm>
          <a:custGeom>
            <a:avLst/>
            <a:gdLst/>
            <a:ahLst/>
            <a:cxnLst/>
            <a:rect l="l" t="t" r="r" b="b"/>
            <a:pathLst>
              <a:path w="4633157" h="1872978">
                <a:moveTo>
                  <a:pt x="0" y="0"/>
                </a:moveTo>
                <a:lnTo>
                  <a:pt x="4633157" y="0"/>
                </a:lnTo>
                <a:lnTo>
                  <a:pt x="4633157" y="1872978"/>
                </a:lnTo>
                <a:lnTo>
                  <a:pt x="0" y="1872978"/>
                </a:lnTo>
                <a:lnTo>
                  <a:pt x="0" y="0"/>
                </a:lnTo>
                <a:close/>
              </a:path>
            </a:pathLst>
          </a:custGeom>
          <a:blipFill>
            <a:blip r:embed="rId2"/>
            <a:stretch>
              <a:fillRect/>
            </a:stretch>
          </a:blipFill>
        </p:spPr>
      </p:sp>
      <p:sp>
        <p:nvSpPr>
          <p:cNvPr id="6" name="TextBox 6"/>
          <p:cNvSpPr txBox="1"/>
          <p:nvPr/>
        </p:nvSpPr>
        <p:spPr>
          <a:xfrm>
            <a:off x="676564" y="971002"/>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Sync Programming</a:t>
            </a:r>
          </a:p>
        </p:txBody>
      </p:sp>
      <p:sp>
        <p:nvSpPr>
          <p:cNvPr id="7" name="TextBox 7"/>
          <p:cNvSpPr txBox="1"/>
          <p:nvPr/>
        </p:nvSpPr>
        <p:spPr>
          <a:xfrm>
            <a:off x="1544228" y="4114364"/>
            <a:ext cx="1360332" cy="613501"/>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 :</a:t>
            </a:r>
          </a:p>
          <a:p>
            <a:pPr>
              <a:lnSpc>
                <a:spcPts val="2513"/>
              </a:lnSpc>
            </a:pPr>
            <a:endParaRPr lang="en-US" sz="1795" b="1" dirty="0">
              <a:solidFill>
                <a:srgbClr val="564033"/>
              </a:solidFill>
              <a:latin typeface="Kollektif Bold"/>
              <a:ea typeface="Kollektif Bold"/>
              <a:cs typeface="Kollektif Bold"/>
              <a:sym typeface="Kollektif Bold"/>
            </a:endParaRPr>
          </a:p>
        </p:txBody>
      </p:sp>
    </p:spTree>
    <p:extLst>
      <p:ext uri="{BB962C8B-B14F-4D97-AF65-F5344CB8AC3E}">
        <p14:creationId xmlns:p14="http://schemas.microsoft.com/office/powerpoint/2010/main" val="32051013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908059" y="2429253"/>
            <a:ext cx="4187941" cy="1816079"/>
          </a:xfrm>
          <a:custGeom>
            <a:avLst/>
            <a:gdLst/>
            <a:ahLst/>
            <a:cxnLst/>
            <a:rect l="l" t="t" r="r" b="b"/>
            <a:pathLst>
              <a:path w="6281911" h="2724119">
                <a:moveTo>
                  <a:pt x="0" y="0"/>
                </a:moveTo>
                <a:lnTo>
                  <a:pt x="6281911" y="0"/>
                </a:lnTo>
                <a:lnTo>
                  <a:pt x="6281911" y="2724119"/>
                </a:lnTo>
                <a:lnTo>
                  <a:pt x="0" y="2724119"/>
                </a:lnTo>
                <a:lnTo>
                  <a:pt x="0" y="0"/>
                </a:lnTo>
                <a:close/>
              </a:path>
            </a:pathLst>
          </a:custGeom>
          <a:blipFill>
            <a:blip r:embed="rId2"/>
            <a:stretch>
              <a:fillRect/>
            </a:stretch>
          </a:blipFill>
        </p:spPr>
      </p:sp>
      <p:sp>
        <p:nvSpPr>
          <p:cNvPr id="5" name="TextBox 5"/>
          <p:cNvSpPr txBox="1"/>
          <p:nvPr/>
        </p:nvSpPr>
        <p:spPr>
          <a:xfrm>
            <a:off x="496897" y="1744627"/>
            <a:ext cx="9508795" cy="396391"/>
          </a:xfrm>
          <a:prstGeom prst="rect">
            <a:avLst/>
          </a:prstGeom>
        </p:spPr>
        <p:txBody>
          <a:bodyPr lIns="0" tIns="0" rIns="0" bIns="0" rtlCol="0" anchor="t">
            <a:spAutoFit/>
          </a:bodyPr>
          <a:lstStyle/>
          <a:p>
            <a:pPr>
              <a:lnSpc>
                <a:spcPts val="3267"/>
              </a:lnSpc>
            </a:pPr>
            <a:r>
              <a:rPr lang="en-US" sz="2333" dirty="0">
                <a:latin typeface="Antique Olive" panose="020B0603020204030204"/>
                <a:ea typeface="Kollektif"/>
                <a:cs typeface="Kollektif"/>
                <a:sym typeface="Kollektif"/>
              </a:rPr>
              <a:t>Why is Sync a Problem??</a:t>
            </a:r>
          </a:p>
        </p:txBody>
      </p:sp>
      <p:sp>
        <p:nvSpPr>
          <p:cNvPr id="7" name="TextBox 7"/>
          <p:cNvSpPr txBox="1"/>
          <p:nvPr/>
        </p:nvSpPr>
        <p:spPr>
          <a:xfrm>
            <a:off x="6519250" y="2721386"/>
            <a:ext cx="3486442" cy="1231812"/>
          </a:xfrm>
          <a:prstGeom prst="rect">
            <a:avLst/>
          </a:prstGeom>
        </p:spPr>
        <p:txBody>
          <a:bodyPr wrap="square" lIns="0" tIns="0" rIns="0" bIns="0" rtlCol="0" anchor="t">
            <a:spAutoFit/>
          </a:bodyPr>
          <a:lstStyle/>
          <a:p>
            <a:pPr>
              <a:lnSpc>
                <a:spcPts val="3267"/>
              </a:lnSpc>
              <a:spcBef>
                <a:spcPct val="0"/>
              </a:spcBef>
            </a:pPr>
            <a:r>
              <a:rPr lang="en-US" sz="2333" dirty="0">
                <a:solidFill>
                  <a:srgbClr val="564033"/>
                </a:solidFill>
                <a:latin typeface="Kollektif"/>
                <a:ea typeface="Kollektif"/>
                <a:cs typeface="Kollektif"/>
                <a:sym typeface="Kollektif"/>
              </a:rPr>
              <a:t> 👉 The browser freezes</a:t>
            </a:r>
          </a:p>
          <a:p>
            <a:pPr>
              <a:lnSpc>
                <a:spcPts val="3267"/>
              </a:lnSpc>
              <a:spcBef>
                <a:spcPct val="0"/>
              </a:spcBef>
            </a:pPr>
            <a:r>
              <a:rPr lang="en-US" sz="2333" dirty="0">
                <a:solidFill>
                  <a:srgbClr val="564033"/>
                </a:solidFill>
                <a:latin typeface="Kollektif"/>
                <a:ea typeface="Kollektif"/>
                <a:cs typeface="Kollektif"/>
                <a:sym typeface="Kollektif"/>
              </a:rPr>
              <a:t> 👉 UI stops responding</a:t>
            </a:r>
          </a:p>
          <a:p>
            <a:pPr>
              <a:lnSpc>
                <a:spcPts val="3267"/>
              </a:lnSpc>
              <a:spcBef>
                <a:spcPct val="0"/>
              </a:spcBef>
            </a:pPr>
            <a:r>
              <a:rPr lang="en-US" sz="2333" dirty="0">
                <a:solidFill>
                  <a:srgbClr val="564033"/>
                </a:solidFill>
                <a:latin typeface="Kollektif"/>
                <a:ea typeface="Kollektif"/>
                <a:cs typeface="Kollektif"/>
                <a:sym typeface="Kollektif"/>
              </a:rPr>
              <a:t> 👉 Bad user experience</a:t>
            </a:r>
          </a:p>
        </p:txBody>
      </p:sp>
      <p:sp>
        <p:nvSpPr>
          <p:cNvPr id="8" name="TextBox 6">
            <a:extLst>
              <a:ext uri="{FF2B5EF4-FFF2-40B4-BE49-F238E27FC236}">
                <a16:creationId xmlns:a16="http://schemas.microsoft.com/office/drawing/2014/main" id="{F849E22A-E0FE-22A5-89F5-F7D5ACC52926}"/>
              </a:ext>
            </a:extLst>
          </p:cNvPr>
          <p:cNvSpPr txBox="1"/>
          <p:nvPr/>
        </p:nvSpPr>
        <p:spPr>
          <a:xfrm>
            <a:off x="676564" y="971002"/>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Sync Programming</a:t>
            </a:r>
          </a:p>
        </p:txBody>
      </p:sp>
    </p:spTree>
    <p:extLst>
      <p:ext uri="{BB962C8B-B14F-4D97-AF65-F5344CB8AC3E}">
        <p14:creationId xmlns:p14="http://schemas.microsoft.com/office/powerpoint/2010/main" val="2777149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72429" y="1707145"/>
            <a:ext cx="9508795" cy="2924647"/>
          </a:xfrm>
          <a:prstGeom prst="rect">
            <a:avLst/>
          </a:prstGeom>
        </p:spPr>
        <p:txBody>
          <a:bodyPr lIns="0" tIns="0" rIns="0" bIns="0" rtlCol="0" anchor="t">
            <a:spAutoFit/>
          </a:bodyPr>
          <a:lstStyle/>
          <a:p>
            <a:pPr>
              <a:lnSpc>
                <a:spcPts val="3267"/>
              </a:lnSpc>
            </a:pPr>
            <a:r>
              <a:rPr lang="en-US" sz="2000" dirty="0">
                <a:latin typeface="Antique Olive" panose="020B0603020204030204"/>
                <a:ea typeface="Kollektif"/>
                <a:cs typeface="Kollektif"/>
                <a:sym typeface="Kollektif"/>
              </a:rPr>
              <a:t>JavaScript Asynchronous Flow refers to how JavaScript handles tasks that take time to complete, like reading files, or waiting for user input, without blocking the execution of other code.</a:t>
            </a:r>
          </a:p>
          <a:p>
            <a:pPr>
              <a:lnSpc>
                <a:spcPts val="3267"/>
              </a:lnSpc>
            </a:pPr>
            <a:r>
              <a:rPr lang="en-US" sz="2000" dirty="0">
                <a:latin typeface="Antique Olive" panose="020B0603020204030204"/>
                <a:ea typeface="Kollektif"/>
                <a:cs typeface="Kollektif"/>
                <a:sym typeface="Kollektif"/>
              </a:rPr>
              <a:t>To prevent blocking, JavaScript can use asynchronous programming.</a:t>
            </a:r>
          </a:p>
          <a:p>
            <a:pPr>
              <a:lnSpc>
                <a:spcPts val="3267"/>
              </a:lnSpc>
            </a:pPr>
            <a:r>
              <a:rPr lang="en-US" sz="2000" dirty="0">
                <a:latin typeface="Antique Olive" panose="020B0603020204030204"/>
                <a:ea typeface="Kollektif"/>
                <a:cs typeface="Kollektif"/>
                <a:sym typeface="Kollektif"/>
              </a:rPr>
              <a:t>This allows certain operations to run in the background, and their results are handled later, when they are ready.</a:t>
            </a: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5" name="TextBox 5"/>
          <p:cNvSpPr txBox="1"/>
          <p:nvPr/>
        </p:nvSpPr>
        <p:spPr>
          <a:xfrm>
            <a:off x="695036" y="824186"/>
            <a:ext cx="9786188" cy="474489"/>
          </a:xfrm>
          <a:prstGeom prst="rect">
            <a:avLst/>
          </a:prstGeom>
        </p:spPr>
        <p:txBody>
          <a:bodyPr lIns="0" tIns="0" rIns="0" bIns="0" rtlCol="0" anchor="t">
            <a:spAutoFit/>
          </a:bodyPr>
          <a:lstStyle/>
          <a:p>
            <a:pPr algn="ctr">
              <a:lnSpc>
                <a:spcPts val="3733"/>
              </a:lnSpc>
            </a:pPr>
            <a:r>
              <a:rPr lang="en-US" sz="4000" b="1" dirty="0" err="1">
                <a:latin typeface="Yeseva One"/>
                <a:ea typeface="Yeseva One"/>
                <a:cs typeface="Yeseva One"/>
                <a:sym typeface="Yeseva One"/>
              </a:rPr>
              <a:t>Asynchronus</a:t>
            </a:r>
            <a:r>
              <a:rPr lang="en-US" sz="4000" b="1" dirty="0">
                <a:latin typeface="Yeseva One"/>
                <a:ea typeface="Yeseva One"/>
                <a:cs typeface="Yeseva One"/>
                <a:sym typeface="Yeseva One"/>
              </a:rPr>
              <a:t> Flow</a:t>
            </a:r>
          </a:p>
        </p:txBody>
      </p:sp>
    </p:spTree>
    <p:extLst>
      <p:ext uri="{BB962C8B-B14F-4D97-AF65-F5344CB8AC3E}">
        <p14:creationId xmlns:p14="http://schemas.microsoft.com/office/powerpoint/2010/main" val="2909643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14134" y="1605546"/>
            <a:ext cx="9508795" cy="3399136"/>
          </a:xfrm>
          <a:prstGeom prst="rect">
            <a:avLst/>
          </a:prstGeom>
        </p:spPr>
        <p:txBody>
          <a:bodyPr lIns="0" tIns="0" rIns="0" bIns="0" rtlCol="0" anchor="t">
            <a:spAutoFit/>
          </a:bodyPr>
          <a:lstStyle/>
          <a:p>
            <a:pPr>
              <a:lnSpc>
                <a:spcPts val="3453"/>
              </a:lnSpc>
            </a:pPr>
            <a:r>
              <a:rPr lang="en-US" sz="2466" b="1" dirty="0">
                <a:latin typeface="Antique Olive" panose="020B0603020204030204"/>
                <a:ea typeface="Kollektif Bold"/>
                <a:cs typeface="Kollektif Bold"/>
                <a:sym typeface="Kollektif Bold"/>
              </a:rPr>
              <a:t>Synchronous life example:</a:t>
            </a:r>
          </a:p>
          <a:p>
            <a:pPr marL="503793" lvl="1" indent="-251896">
              <a:lnSpc>
                <a:spcPts val="3267"/>
              </a:lnSpc>
              <a:buFont typeface="Arial"/>
              <a:buChar char="•"/>
            </a:pPr>
            <a:r>
              <a:rPr lang="en-US" sz="2333" dirty="0">
                <a:latin typeface="Antique Olive" panose="020B0603020204030204"/>
                <a:ea typeface="Kollektif"/>
                <a:cs typeface="Kollektif"/>
                <a:sym typeface="Kollektif"/>
              </a:rPr>
              <a:t>You stand in a queue…</a:t>
            </a:r>
          </a:p>
          <a:p>
            <a:pPr marL="503793" lvl="1" indent="-251896">
              <a:lnSpc>
                <a:spcPts val="3267"/>
              </a:lnSpc>
              <a:buFont typeface="Arial"/>
              <a:buChar char="•"/>
            </a:pPr>
            <a:r>
              <a:rPr lang="en-US" sz="2333" dirty="0">
                <a:latin typeface="Antique Olive" panose="020B0603020204030204"/>
                <a:ea typeface="Kollektif"/>
                <a:cs typeface="Kollektif"/>
                <a:sym typeface="Kollektif"/>
              </a:rPr>
              <a:t> You cannot do anything until it’s your turn.</a:t>
            </a:r>
          </a:p>
          <a:p>
            <a:pPr>
              <a:lnSpc>
                <a:spcPts val="3453"/>
              </a:lnSpc>
            </a:pPr>
            <a:r>
              <a:rPr lang="en-US" sz="2466" b="1" dirty="0">
                <a:latin typeface="Antique Olive" panose="020B0603020204030204"/>
                <a:ea typeface="Kollektif Bold"/>
                <a:cs typeface="Kollektif Bold"/>
                <a:sym typeface="Kollektif Bold"/>
              </a:rPr>
              <a:t>Asynchronous life example:</a:t>
            </a:r>
          </a:p>
          <a:p>
            <a:pPr marL="503793" lvl="1" indent="-251896">
              <a:lnSpc>
                <a:spcPts val="3267"/>
              </a:lnSpc>
              <a:buFont typeface="Arial"/>
              <a:buChar char="•"/>
            </a:pPr>
            <a:r>
              <a:rPr lang="en-US" sz="2333" dirty="0">
                <a:latin typeface="Antique Olive" panose="020B0603020204030204"/>
                <a:ea typeface="Kollektif"/>
                <a:cs typeface="Kollektif"/>
                <a:sym typeface="Kollektif"/>
              </a:rPr>
              <a:t>You order food →</a:t>
            </a:r>
          </a:p>
          <a:p>
            <a:pPr marL="503793" lvl="1" indent="-251896">
              <a:lnSpc>
                <a:spcPts val="3267"/>
              </a:lnSpc>
              <a:buFont typeface="Arial"/>
              <a:buChar char="•"/>
            </a:pPr>
            <a:r>
              <a:rPr lang="en-US" sz="2333" dirty="0">
                <a:latin typeface="Antique Olive" panose="020B0603020204030204"/>
                <a:ea typeface="Kollektif"/>
                <a:cs typeface="Kollektif"/>
                <a:sym typeface="Kollektif"/>
              </a:rPr>
              <a:t> They call you when it’s ready →</a:t>
            </a:r>
          </a:p>
          <a:p>
            <a:pPr marL="503793" lvl="1" indent="-251896">
              <a:lnSpc>
                <a:spcPts val="3267"/>
              </a:lnSpc>
              <a:buFont typeface="Arial"/>
              <a:buChar char="•"/>
            </a:pPr>
            <a:r>
              <a:rPr lang="en-US" sz="2333" dirty="0">
                <a:latin typeface="Antique Olive" panose="020B0603020204030204"/>
                <a:ea typeface="Kollektif"/>
                <a:cs typeface="Kollektif"/>
                <a:sym typeface="Kollektif"/>
              </a:rPr>
              <a:t> Meanwhile you sit, talk, work…</a:t>
            </a: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5" name="TextBox 5"/>
          <p:cNvSpPr txBox="1"/>
          <p:nvPr/>
        </p:nvSpPr>
        <p:spPr>
          <a:xfrm>
            <a:off x="658091" y="874665"/>
            <a:ext cx="9786188" cy="433708"/>
          </a:xfrm>
          <a:prstGeom prst="rect">
            <a:avLst/>
          </a:prstGeom>
        </p:spPr>
        <p:txBody>
          <a:bodyPr lIns="0" tIns="0" rIns="0" bIns="0" rtlCol="0" anchor="t">
            <a:spAutoFit/>
          </a:bodyPr>
          <a:lstStyle/>
          <a:p>
            <a:pPr>
              <a:lnSpc>
                <a:spcPts val="3733"/>
              </a:lnSpc>
            </a:pPr>
            <a:r>
              <a:rPr lang="en-US" sz="2666" b="1" dirty="0">
                <a:latin typeface="Yeseva One"/>
                <a:ea typeface="Yeseva One"/>
                <a:cs typeface="Yeseva One"/>
                <a:sym typeface="Yeseva One"/>
              </a:rPr>
              <a:t>Real-Life Example (Simple)</a:t>
            </a:r>
          </a:p>
        </p:txBody>
      </p:sp>
    </p:spTree>
    <p:extLst>
      <p:ext uri="{BB962C8B-B14F-4D97-AF65-F5344CB8AC3E}">
        <p14:creationId xmlns:p14="http://schemas.microsoft.com/office/powerpoint/2010/main" val="20952328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115733" y="1462964"/>
            <a:ext cx="9508795" cy="2924647"/>
          </a:xfrm>
          <a:prstGeom prst="rect">
            <a:avLst/>
          </a:prstGeom>
        </p:spPr>
        <p:txBody>
          <a:bodyPr lIns="0" tIns="0" rIns="0" bIns="0" rtlCol="0" anchor="t">
            <a:spAutoFit/>
          </a:bodyPr>
          <a:lstStyle/>
          <a:p>
            <a:pPr>
              <a:lnSpc>
                <a:spcPts val="3267"/>
              </a:lnSpc>
            </a:pPr>
            <a:r>
              <a:rPr lang="en-US" sz="2500" dirty="0">
                <a:latin typeface="Antique Olive" panose="020B0603020204030204"/>
                <a:ea typeface="Kollektif"/>
                <a:cs typeface="Kollektif"/>
                <a:sym typeface="Kollektif"/>
              </a:rPr>
              <a:t>What is “Asynchronous”?</a:t>
            </a:r>
          </a:p>
          <a:p>
            <a:pPr>
              <a:lnSpc>
                <a:spcPts val="3267"/>
              </a:lnSpc>
            </a:pPr>
            <a:r>
              <a:rPr lang="en-US" sz="2500" dirty="0">
                <a:latin typeface="Antique Olive" panose="020B0603020204030204"/>
                <a:ea typeface="Kollektif"/>
                <a:cs typeface="Kollektif"/>
                <a:sym typeface="Kollektif"/>
              </a:rPr>
              <a:t>Asynchronous = Code that can run later, without blocking</a:t>
            </a:r>
          </a:p>
          <a:p>
            <a:pPr marL="503793" lvl="1" indent="-251896">
              <a:lnSpc>
                <a:spcPts val="3267"/>
              </a:lnSpc>
              <a:buFont typeface="Arial"/>
              <a:buChar char="•"/>
            </a:pPr>
            <a:r>
              <a:rPr lang="en-US" sz="2500" dirty="0">
                <a:latin typeface="Antique Olive" panose="020B0603020204030204"/>
                <a:ea typeface="Kollektif"/>
                <a:cs typeface="Kollektif"/>
                <a:sym typeface="Kollektif"/>
              </a:rPr>
              <a:t>JS sends the task to the browser (Web APIs)</a:t>
            </a:r>
          </a:p>
          <a:p>
            <a:pPr marL="503793" lvl="1" indent="-251896">
              <a:lnSpc>
                <a:spcPts val="3267"/>
              </a:lnSpc>
              <a:buFont typeface="Arial"/>
              <a:buChar char="•"/>
            </a:pPr>
            <a:r>
              <a:rPr lang="en-US" sz="2500" dirty="0">
                <a:latin typeface="Antique Olive" panose="020B0603020204030204"/>
                <a:ea typeface="Kollektif"/>
                <a:cs typeface="Kollektif"/>
                <a:sym typeface="Kollektif"/>
              </a:rPr>
              <a:t>JS continues executing the rest of the code</a:t>
            </a:r>
          </a:p>
          <a:p>
            <a:pPr marL="503793" lvl="1" indent="-251896">
              <a:lnSpc>
                <a:spcPts val="3267"/>
              </a:lnSpc>
              <a:buFont typeface="Arial"/>
              <a:buChar char="•"/>
            </a:pPr>
            <a:r>
              <a:rPr lang="en-US" sz="2500" dirty="0">
                <a:latin typeface="Antique Olive" panose="020B0603020204030204"/>
                <a:ea typeface="Kollektif"/>
                <a:cs typeface="Kollektif"/>
                <a:sym typeface="Kollektif"/>
              </a:rPr>
              <a:t>When the task finishes → JS gets the result</a:t>
            </a:r>
          </a:p>
          <a:p>
            <a:pPr>
              <a:lnSpc>
                <a:spcPts val="3267"/>
              </a:lnSpc>
            </a:pPr>
            <a:r>
              <a:rPr lang="en-US" sz="2500" dirty="0">
                <a:latin typeface="Antique Olive" panose="020B0603020204030204"/>
                <a:ea typeface="Kollektif"/>
                <a:cs typeface="Kollektif"/>
                <a:sym typeface="Kollektif"/>
              </a:rPr>
              <a:t>This is called Non-Blocking.</a:t>
            </a:r>
          </a:p>
          <a:p>
            <a:pPr>
              <a:lnSpc>
                <a:spcPts val="3267"/>
              </a:lnSpc>
            </a:pPr>
            <a:endParaRPr lang="en-US" sz="2333" dirty="0">
              <a:solidFill>
                <a:srgbClr val="564033"/>
              </a:solidFill>
              <a:latin typeface="Antique Olive" panose="020B0603020204030204"/>
              <a:ea typeface="Kollektif"/>
              <a:cs typeface="Kollektif"/>
              <a:sym typeface="Kollektif"/>
            </a:endParaRPr>
          </a:p>
        </p:txBody>
      </p:sp>
      <p:sp>
        <p:nvSpPr>
          <p:cNvPr id="5" name="Freeform 5"/>
          <p:cNvSpPr/>
          <p:nvPr/>
        </p:nvSpPr>
        <p:spPr>
          <a:xfrm>
            <a:off x="2830553" y="4387611"/>
            <a:ext cx="2538334" cy="2098479"/>
          </a:xfrm>
          <a:custGeom>
            <a:avLst/>
            <a:gdLst/>
            <a:ahLst/>
            <a:cxnLst/>
            <a:rect l="l" t="t" r="r" b="b"/>
            <a:pathLst>
              <a:path w="3807501" h="3147718">
                <a:moveTo>
                  <a:pt x="0" y="0"/>
                </a:moveTo>
                <a:lnTo>
                  <a:pt x="3807501" y="0"/>
                </a:lnTo>
                <a:lnTo>
                  <a:pt x="3807501" y="3147718"/>
                </a:lnTo>
                <a:lnTo>
                  <a:pt x="0" y="3147718"/>
                </a:lnTo>
                <a:lnTo>
                  <a:pt x="0" y="0"/>
                </a:lnTo>
                <a:close/>
              </a:path>
            </a:pathLst>
          </a:custGeom>
          <a:blipFill>
            <a:blip r:embed="rId2"/>
            <a:stretch>
              <a:fillRect/>
            </a:stretch>
          </a:blipFill>
        </p:spPr>
      </p:sp>
      <p:sp>
        <p:nvSpPr>
          <p:cNvPr id="6" name="TextBox 6"/>
          <p:cNvSpPr txBox="1"/>
          <p:nvPr/>
        </p:nvSpPr>
        <p:spPr>
          <a:xfrm>
            <a:off x="685800" y="713349"/>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Asynchronous</a:t>
            </a:r>
          </a:p>
        </p:txBody>
      </p:sp>
      <p:sp>
        <p:nvSpPr>
          <p:cNvPr id="7" name="TextBox 7"/>
          <p:cNvSpPr txBox="1"/>
          <p:nvPr/>
        </p:nvSpPr>
        <p:spPr>
          <a:xfrm>
            <a:off x="1470221" y="4452770"/>
            <a:ext cx="1360332" cy="613501"/>
          </a:xfrm>
          <a:prstGeom prst="rect">
            <a:avLst/>
          </a:prstGeom>
        </p:spPr>
        <p:txBody>
          <a:bodyPr lIns="0" tIns="0" rIns="0" bIns="0" rtlCol="0" anchor="t">
            <a:spAutoFit/>
          </a:bodyPr>
          <a:lstStyle/>
          <a:p>
            <a:pPr>
              <a:lnSpc>
                <a:spcPts val="2513"/>
              </a:lnSpc>
            </a:pPr>
            <a:r>
              <a:rPr lang="en-US" sz="1795" b="1" dirty="0">
                <a:latin typeface="Kollektif Bold"/>
                <a:ea typeface="Kollektif Bold"/>
                <a:cs typeface="Kollektif Bold"/>
                <a:sym typeface="Kollektif Bold"/>
              </a:rPr>
              <a:t>Example :</a:t>
            </a:r>
          </a:p>
          <a:p>
            <a:pPr>
              <a:lnSpc>
                <a:spcPts val="2513"/>
              </a:lnSpc>
            </a:pPr>
            <a:endParaRPr lang="en-US" sz="1795" b="1" dirty="0">
              <a:solidFill>
                <a:srgbClr val="564033"/>
              </a:solidFill>
              <a:latin typeface="Kollektif Bold"/>
              <a:ea typeface="Kollektif Bold"/>
              <a:cs typeface="Kollektif Bold"/>
              <a:sym typeface="Kollektif Bold"/>
            </a:endParaRPr>
          </a:p>
        </p:txBody>
      </p:sp>
    </p:spTree>
    <p:extLst>
      <p:ext uri="{BB962C8B-B14F-4D97-AF65-F5344CB8AC3E}">
        <p14:creationId xmlns:p14="http://schemas.microsoft.com/office/powerpoint/2010/main" val="253469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41843" y="1596310"/>
            <a:ext cx="9508795" cy="2633670"/>
          </a:xfrm>
          <a:prstGeom prst="rect">
            <a:avLst/>
          </a:prstGeom>
        </p:spPr>
        <p:txBody>
          <a:bodyPr lIns="0" tIns="0" rIns="0" bIns="0" rtlCol="0" anchor="t">
            <a:spAutoFit/>
          </a:bodyPr>
          <a:lstStyle/>
          <a:p>
            <a:pPr marL="532579" lvl="1" indent="-266290">
              <a:lnSpc>
                <a:spcPts val="3453"/>
              </a:lnSpc>
              <a:buFont typeface="Arial"/>
              <a:buChar char="•"/>
            </a:pPr>
            <a:r>
              <a:rPr lang="en-US" sz="2466" dirty="0">
                <a:latin typeface="Antique Olive" panose="020B0603020204030204"/>
                <a:ea typeface="Kollektif"/>
                <a:cs typeface="Kollektif"/>
                <a:sym typeface="Kollektif"/>
              </a:rPr>
              <a:t>UI doesn’t freeze</a:t>
            </a:r>
          </a:p>
          <a:p>
            <a:pPr marL="532579" lvl="1" indent="-266290">
              <a:lnSpc>
                <a:spcPts val="3453"/>
              </a:lnSpc>
              <a:buFont typeface="Arial"/>
              <a:buChar char="•"/>
            </a:pPr>
            <a:r>
              <a:rPr lang="en-US" sz="2466" dirty="0">
                <a:latin typeface="Antique Olive" panose="020B0603020204030204"/>
                <a:ea typeface="Kollektif"/>
                <a:cs typeface="Kollektif"/>
                <a:sym typeface="Kollektif"/>
              </a:rPr>
              <a:t>Performance is better</a:t>
            </a:r>
          </a:p>
          <a:p>
            <a:pPr marL="532579" lvl="1" indent="-266290">
              <a:lnSpc>
                <a:spcPts val="3453"/>
              </a:lnSpc>
              <a:buFont typeface="Arial"/>
              <a:buChar char="•"/>
            </a:pPr>
            <a:r>
              <a:rPr lang="en-US" sz="2466" dirty="0">
                <a:latin typeface="Antique Olive" panose="020B0603020204030204"/>
                <a:ea typeface="Kollektif"/>
                <a:cs typeface="Kollektif"/>
                <a:sym typeface="Kollektif"/>
              </a:rPr>
              <a:t>We can make API requests</a:t>
            </a:r>
          </a:p>
          <a:p>
            <a:pPr marL="532579" lvl="1" indent="-266290">
              <a:lnSpc>
                <a:spcPts val="3453"/>
              </a:lnSpc>
              <a:buFont typeface="Arial"/>
              <a:buChar char="•"/>
            </a:pPr>
            <a:r>
              <a:rPr lang="en-US" sz="2466" dirty="0">
                <a:latin typeface="Antique Olive" panose="020B0603020204030204"/>
                <a:ea typeface="Kollektif"/>
                <a:cs typeface="Kollektif"/>
                <a:sym typeface="Kollektif"/>
              </a:rPr>
              <a:t>User interacts normally</a:t>
            </a:r>
          </a:p>
          <a:p>
            <a:pPr marL="532579" lvl="1" indent="-266290">
              <a:lnSpc>
                <a:spcPts val="3453"/>
              </a:lnSpc>
              <a:buFont typeface="Arial"/>
              <a:buChar char="•"/>
            </a:pPr>
            <a:r>
              <a:rPr lang="en-US" sz="2466" dirty="0">
                <a:latin typeface="Antique Olive" panose="020B0603020204030204"/>
                <a:ea typeface="Kollektif"/>
                <a:cs typeface="Kollektif"/>
                <a:sym typeface="Kollektif"/>
              </a:rPr>
              <a:t>Modern web apps depend on it</a:t>
            </a:r>
          </a:p>
          <a:p>
            <a:pPr>
              <a:lnSpc>
                <a:spcPts val="3267"/>
              </a:lnSpc>
            </a:pPr>
            <a:endParaRPr lang="en-US" sz="2466" dirty="0">
              <a:solidFill>
                <a:srgbClr val="564033"/>
              </a:solidFill>
              <a:latin typeface="Antique Olive" panose="020B0603020204030204"/>
              <a:ea typeface="Kollektif"/>
              <a:cs typeface="Kollektif"/>
              <a:sym typeface="Kollektif"/>
            </a:endParaRPr>
          </a:p>
        </p:txBody>
      </p:sp>
      <p:sp>
        <p:nvSpPr>
          <p:cNvPr id="5" name="TextBox 5"/>
          <p:cNvSpPr txBox="1"/>
          <p:nvPr/>
        </p:nvSpPr>
        <p:spPr>
          <a:xfrm>
            <a:off x="482600" y="787241"/>
            <a:ext cx="9786188" cy="433708"/>
          </a:xfrm>
          <a:prstGeom prst="rect">
            <a:avLst/>
          </a:prstGeom>
        </p:spPr>
        <p:txBody>
          <a:bodyPr lIns="0" tIns="0" rIns="0" bIns="0" rtlCol="0" anchor="t">
            <a:spAutoFit/>
          </a:bodyPr>
          <a:lstStyle/>
          <a:p>
            <a:pPr>
              <a:lnSpc>
                <a:spcPts val="3733"/>
              </a:lnSpc>
            </a:pPr>
            <a:r>
              <a:rPr lang="en-US" sz="2666" b="1" dirty="0">
                <a:latin typeface="Yeseva One"/>
                <a:ea typeface="Yeseva One"/>
                <a:cs typeface="Yeseva One"/>
                <a:sym typeface="Yeseva One"/>
              </a:rPr>
              <a:t>Why Async is Important</a:t>
            </a:r>
          </a:p>
        </p:txBody>
      </p:sp>
    </p:spTree>
    <p:extLst>
      <p:ext uri="{BB962C8B-B14F-4D97-AF65-F5344CB8AC3E}">
        <p14:creationId xmlns:p14="http://schemas.microsoft.com/office/powerpoint/2010/main" val="2878200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24496" y="2060992"/>
            <a:ext cx="9508795" cy="1655068"/>
          </a:xfrm>
          <a:prstGeom prst="rect">
            <a:avLst/>
          </a:prstGeom>
        </p:spPr>
        <p:txBody>
          <a:bodyPr lIns="0" tIns="0" rIns="0" bIns="0" rtlCol="0" anchor="t">
            <a:spAutoFit/>
          </a:bodyPr>
          <a:lstStyle/>
          <a:p>
            <a:pPr marL="503793" lvl="1" indent="-251896">
              <a:lnSpc>
                <a:spcPts val="3267"/>
              </a:lnSpc>
              <a:buFont typeface="Arial"/>
              <a:buChar char="•"/>
            </a:pPr>
            <a:r>
              <a:rPr lang="en-US" sz="2333" dirty="0">
                <a:latin typeface="Antique Olive"/>
                <a:ea typeface="Kollektif"/>
                <a:cs typeface="Kollektif"/>
                <a:sym typeface="Kollektif"/>
              </a:rPr>
              <a:t>Promises </a:t>
            </a:r>
          </a:p>
          <a:p>
            <a:pPr marL="503793" lvl="1" indent="-251896">
              <a:lnSpc>
                <a:spcPts val="3267"/>
              </a:lnSpc>
              <a:buFont typeface="Arial"/>
              <a:buChar char="•"/>
            </a:pPr>
            <a:r>
              <a:rPr lang="en-US" sz="2333" dirty="0">
                <a:latin typeface="Antique Olive"/>
                <a:ea typeface="Kollektif"/>
                <a:cs typeface="Kollektif"/>
                <a:sym typeface="Kollektif"/>
              </a:rPr>
              <a:t>Async/Await </a:t>
            </a:r>
          </a:p>
          <a:p>
            <a:pPr marL="503793" lvl="1" indent="-251896">
              <a:lnSpc>
                <a:spcPts val="3267"/>
              </a:lnSpc>
              <a:buFont typeface="Arial"/>
              <a:buChar char="•"/>
            </a:pPr>
            <a:r>
              <a:rPr lang="en-US" sz="2333" dirty="0">
                <a:latin typeface="Antique Olive"/>
                <a:ea typeface="Kollektif"/>
                <a:cs typeface="Kollektif"/>
                <a:sym typeface="Kollektif"/>
              </a:rPr>
              <a:t>Events Loops</a:t>
            </a:r>
          </a:p>
          <a:p>
            <a:pPr>
              <a:lnSpc>
                <a:spcPts val="3267"/>
              </a:lnSpc>
            </a:pPr>
            <a:endParaRPr lang="en-US" sz="2333" dirty="0">
              <a:solidFill>
                <a:srgbClr val="564033"/>
              </a:solidFill>
              <a:latin typeface="Antique Olive"/>
              <a:ea typeface="Kollektif"/>
              <a:cs typeface="Kollektif"/>
              <a:sym typeface="Kollektif"/>
            </a:endParaRPr>
          </a:p>
        </p:txBody>
      </p:sp>
      <p:sp>
        <p:nvSpPr>
          <p:cNvPr id="5" name="TextBox 5"/>
          <p:cNvSpPr txBox="1"/>
          <p:nvPr/>
        </p:nvSpPr>
        <p:spPr>
          <a:xfrm>
            <a:off x="824496" y="833422"/>
            <a:ext cx="9786188" cy="474489"/>
          </a:xfrm>
          <a:prstGeom prst="rect">
            <a:avLst/>
          </a:prstGeom>
        </p:spPr>
        <p:txBody>
          <a:bodyPr lIns="0" tIns="0" rIns="0" bIns="0" rtlCol="0" anchor="t">
            <a:spAutoFit/>
          </a:bodyPr>
          <a:lstStyle/>
          <a:p>
            <a:pPr algn="ctr">
              <a:lnSpc>
                <a:spcPts val="3733"/>
              </a:lnSpc>
            </a:pPr>
            <a:r>
              <a:rPr lang="en-US" sz="4000" b="1" dirty="0" err="1">
                <a:latin typeface="Yeseva One"/>
                <a:ea typeface="Yeseva One"/>
                <a:cs typeface="Yeseva One"/>
                <a:sym typeface="Yeseva One"/>
              </a:rPr>
              <a:t>Asynchronus</a:t>
            </a:r>
            <a:r>
              <a:rPr lang="en-US" sz="4000" b="1" dirty="0">
                <a:latin typeface="Yeseva One"/>
                <a:ea typeface="Yeseva One"/>
                <a:cs typeface="Yeseva One"/>
                <a:sym typeface="Yeseva One"/>
              </a:rPr>
              <a:t> Patterns</a:t>
            </a:r>
          </a:p>
        </p:txBody>
      </p:sp>
    </p:spTree>
    <p:extLst>
      <p:ext uri="{BB962C8B-B14F-4D97-AF65-F5344CB8AC3E}">
        <p14:creationId xmlns:p14="http://schemas.microsoft.com/office/powerpoint/2010/main" val="1515101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21145" y="1634395"/>
            <a:ext cx="9508795" cy="2664319"/>
          </a:xfrm>
          <a:prstGeom prst="rect">
            <a:avLst/>
          </a:prstGeom>
        </p:spPr>
        <p:txBody>
          <a:bodyPr lIns="0" tIns="0" rIns="0" bIns="0" rtlCol="0" anchor="t">
            <a:spAutoFit/>
          </a:bodyPr>
          <a:lstStyle/>
          <a:p>
            <a:pPr>
              <a:lnSpc>
                <a:spcPts val="3453"/>
              </a:lnSpc>
            </a:pPr>
            <a:r>
              <a:rPr lang="en-US" sz="2466" dirty="0">
                <a:latin typeface="Antique Olive"/>
                <a:ea typeface="Kollektif"/>
                <a:cs typeface="Kollektif"/>
                <a:sym typeface="Kollektif"/>
              </a:rPr>
              <a:t>A Promise is an object representing the eventual completion (or failure) of an async operation. It has three states: pending, fulfilled, rejected.</a:t>
            </a:r>
          </a:p>
          <a:p>
            <a:pPr marL="532579" lvl="1" indent="-266290">
              <a:lnSpc>
                <a:spcPts val="3453"/>
              </a:lnSpc>
              <a:buFont typeface="Arial"/>
              <a:buChar char="•"/>
            </a:pPr>
            <a:r>
              <a:rPr lang="en-US" sz="2466" dirty="0">
                <a:latin typeface="Antique Olive"/>
                <a:ea typeface="Kollektif"/>
                <a:cs typeface="Kollektif"/>
                <a:sym typeface="Kollektif"/>
              </a:rPr>
              <a:t>resolved</a:t>
            </a:r>
          </a:p>
          <a:p>
            <a:pPr marL="532579" lvl="1" indent="-266290">
              <a:lnSpc>
                <a:spcPts val="3453"/>
              </a:lnSpc>
              <a:buFont typeface="Arial"/>
              <a:buChar char="•"/>
            </a:pPr>
            <a:r>
              <a:rPr lang="en-US" sz="2466" dirty="0">
                <a:latin typeface="Antique Olive"/>
                <a:ea typeface="Kollektif"/>
                <a:cs typeface="Kollektif"/>
                <a:sym typeface="Kollektif"/>
              </a:rPr>
              <a:t>rejected</a:t>
            </a:r>
          </a:p>
          <a:p>
            <a:pPr>
              <a:lnSpc>
                <a:spcPts val="3453"/>
              </a:lnSpc>
            </a:pPr>
            <a:r>
              <a:rPr lang="en-US" sz="2466" dirty="0">
                <a:latin typeface="Antique Olive"/>
                <a:ea typeface="Kollektif"/>
                <a:cs typeface="Kollektif"/>
                <a:sym typeface="Kollektif"/>
              </a:rPr>
              <a:t>You use .then() and .catch().</a:t>
            </a:r>
          </a:p>
          <a:p>
            <a:pPr>
              <a:lnSpc>
                <a:spcPts val="3453"/>
              </a:lnSpc>
            </a:pPr>
            <a:endParaRPr lang="en-US" sz="2466" dirty="0">
              <a:latin typeface="Antique Olive"/>
              <a:ea typeface="Kollektif"/>
              <a:cs typeface="Kollektif"/>
              <a:sym typeface="Kollektif"/>
            </a:endParaRPr>
          </a:p>
        </p:txBody>
      </p:sp>
      <p:sp>
        <p:nvSpPr>
          <p:cNvPr id="5" name="Freeform 5"/>
          <p:cNvSpPr/>
          <p:nvPr/>
        </p:nvSpPr>
        <p:spPr>
          <a:xfrm>
            <a:off x="4730893" y="2954291"/>
            <a:ext cx="5992691" cy="2418393"/>
          </a:xfrm>
          <a:custGeom>
            <a:avLst/>
            <a:gdLst/>
            <a:ahLst/>
            <a:cxnLst/>
            <a:rect l="l" t="t" r="r" b="b"/>
            <a:pathLst>
              <a:path w="8989037" h="3627590">
                <a:moveTo>
                  <a:pt x="0" y="0"/>
                </a:moveTo>
                <a:lnTo>
                  <a:pt x="8989037" y="0"/>
                </a:lnTo>
                <a:lnTo>
                  <a:pt x="8989037" y="3627591"/>
                </a:lnTo>
                <a:lnTo>
                  <a:pt x="0" y="3627591"/>
                </a:lnTo>
                <a:lnTo>
                  <a:pt x="0" y="0"/>
                </a:lnTo>
                <a:close/>
              </a:path>
            </a:pathLst>
          </a:custGeom>
          <a:blipFill>
            <a:blip r:embed="rId2"/>
            <a:stretch>
              <a:fillRect r="-19759"/>
            </a:stretch>
          </a:blipFill>
        </p:spPr>
      </p:sp>
      <p:sp>
        <p:nvSpPr>
          <p:cNvPr id="6" name="TextBox 6"/>
          <p:cNvSpPr txBox="1"/>
          <p:nvPr/>
        </p:nvSpPr>
        <p:spPr>
          <a:xfrm>
            <a:off x="621145" y="827992"/>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Promises</a:t>
            </a:r>
          </a:p>
        </p:txBody>
      </p:sp>
    </p:spTree>
    <p:extLst>
      <p:ext uri="{BB962C8B-B14F-4D97-AF65-F5344CB8AC3E}">
        <p14:creationId xmlns:p14="http://schemas.microsoft.com/office/powerpoint/2010/main" val="15610367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322772" y="1638951"/>
            <a:ext cx="5442576" cy="3580098"/>
          </a:xfrm>
          <a:custGeom>
            <a:avLst/>
            <a:gdLst/>
            <a:ahLst/>
            <a:cxnLst/>
            <a:rect l="l" t="t" r="r" b="b"/>
            <a:pathLst>
              <a:path w="8163864" h="5370147">
                <a:moveTo>
                  <a:pt x="0" y="0"/>
                </a:moveTo>
                <a:lnTo>
                  <a:pt x="8163865" y="0"/>
                </a:lnTo>
                <a:lnTo>
                  <a:pt x="8163865" y="5370147"/>
                </a:lnTo>
                <a:lnTo>
                  <a:pt x="0" y="5370147"/>
                </a:lnTo>
                <a:lnTo>
                  <a:pt x="0" y="0"/>
                </a:lnTo>
                <a:close/>
              </a:path>
            </a:pathLst>
          </a:custGeom>
          <a:blipFill>
            <a:blip r:embed="rId2"/>
            <a:stretch>
              <a:fillRect/>
            </a:stretch>
          </a:blipFill>
        </p:spPr>
      </p:sp>
      <p:sp>
        <p:nvSpPr>
          <p:cNvPr id="5" name="TextBox 5"/>
          <p:cNvSpPr txBox="1"/>
          <p:nvPr/>
        </p:nvSpPr>
        <p:spPr>
          <a:xfrm>
            <a:off x="658091" y="772645"/>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Promises</a:t>
            </a:r>
          </a:p>
        </p:txBody>
      </p:sp>
      <p:sp>
        <p:nvSpPr>
          <p:cNvPr id="6" name="TextBox 5">
            <a:extLst>
              <a:ext uri="{FF2B5EF4-FFF2-40B4-BE49-F238E27FC236}">
                <a16:creationId xmlns:a16="http://schemas.microsoft.com/office/drawing/2014/main" id="{1062834E-7511-1E8D-D0C3-3524F6D2D9FD}"/>
              </a:ext>
            </a:extLst>
          </p:cNvPr>
          <p:cNvSpPr txBox="1"/>
          <p:nvPr/>
        </p:nvSpPr>
        <p:spPr>
          <a:xfrm>
            <a:off x="-3622964" y="1793263"/>
            <a:ext cx="9786188" cy="408445"/>
          </a:xfrm>
          <a:prstGeom prst="rect">
            <a:avLst/>
          </a:prstGeom>
        </p:spPr>
        <p:txBody>
          <a:bodyPr lIns="0" tIns="0" rIns="0" bIns="0" rtlCol="0" anchor="t">
            <a:spAutoFit/>
          </a:bodyPr>
          <a:lstStyle/>
          <a:p>
            <a:pPr algn="ctr">
              <a:lnSpc>
                <a:spcPts val="3733"/>
              </a:lnSpc>
            </a:pPr>
            <a:r>
              <a:rPr lang="en-US" b="1" dirty="0">
                <a:latin typeface="Yeseva One"/>
                <a:ea typeface="Yeseva One"/>
                <a:cs typeface="Yeseva One"/>
                <a:sym typeface="Yeseva One"/>
              </a:rPr>
              <a:t>Example:</a:t>
            </a:r>
          </a:p>
        </p:txBody>
      </p:sp>
    </p:spTree>
    <p:extLst>
      <p:ext uri="{BB962C8B-B14F-4D97-AF65-F5344CB8AC3E}">
        <p14:creationId xmlns:p14="http://schemas.microsoft.com/office/powerpoint/2010/main" val="1086826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5990891" y="2682875"/>
            <a:ext cx="4542574" cy="3178861"/>
          </a:xfrm>
          <a:custGeom>
            <a:avLst/>
            <a:gdLst/>
            <a:ahLst/>
            <a:cxnLst/>
            <a:rect l="l" t="t" r="r" b="b"/>
            <a:pathLst>
              <a:path w="6813861" h="4768292">
                <a:moveTo>
                  <a:pt x="0" y="0"/>
                </a:moveTo>
                <a:lnTo>
                  <a:pt x="6813861" y="0"/>
                </a:lnTo>
                <a:lnTo>
                  <a:pt x="6813861" y="4768292"/>
                </a:lnTo>
                <a:lnTo>
                  <a:pt x="0" y="4768292"/>
                </a:lnTo>
                <a:lnTo>
                  <a:pt x="0" y="0"/>
                </a:lnTo>
                <a:close/>
              </a:path>
            </a:pathLst>
          </a:custGeom>
          <a:blipFill>
            <a:blip r:embed="rId2"/>
            <a:stretch>
              <a:fillRect/>
            </a:stretch>
          </a:blipFill>
        </p:spPr>
      </p:sp>
      <p:sp>
        <p:nvSpPr>
          <p:cNvPr id="5" name="Freeform 5"/>
          <p:cNvSpPr/>
          <p:nvPr/>
        </p:nvSpPr>
        <p:spPr>
          <a:xfrm>
            <a:off x="759841" y="2730005"/>
            <a:ext cx="5004759" cy="2883401"/>
          </a:xfrm>
          <a:custGeom>
            <a:avLst/>
            <a:gdLst/>
            <a:ahLst/>
            <a:cxnLst/>
            <a:rect l="l" t="t" r="r" b="b"/>
            <a:pathLst>
              <a:path w="7507139" h="4325101">
                <a:moveTo>
                  <a:pt x="0" y="0"/>
                </a:moveTo>
                <a:lnTo>
                  <a:pt x="7507139" y="0"/>
                </a:lnTo>
                <a:lnTo>
                  <a:pt x="7507139" y="4325101"/>
                </a:lnTo>
                <a:lnTo>
                  <a:pt x="0" y="4325101"/>
                </a:lnTo>
                <a:lnTo>
                  <a:pt x="0" y="0"/>
                </a:lnTo>
                <a:close/>
              </a:path>
            </a:pathLst>
          </a:custGeom>
          <a:blipFill>
            <a:blip r:embed="rId3"/>
            <a:stretch>
              <a:fillRect/>
            </a:stretch>
          </a:blipFill>
        </p:spPr>
      </p:sp>
      <p:sp>
        <p:nvSpPr>
          <p:cNvPr id="6" name="TextBox 6"/>
          <p:cNvSpPr txBox="1"/>
          <p:nvPr/>
        </p:nvSpPr>
        <p:spPr>
          <a:xfrm>
            <a:off x="759841" y="1423622"/>
            <a:ext cx="9508795" cy="1306383"/>
          </a:xfrm>
          <a:prstGeom prst="rect">
            <a:avLst/>
          </a:prstGeom>
        </p:spPr>
        <p:txBody>
          <a:bodyPr lIns="0" tIns="0" rIns="0" bIns="0" rtlCol="0" anchor="t">
            <a:spAutoFit/>
          </a:bodyPr>
          <a:lstStyle/>
          <a:p>
            <a:pPr>
              <a:lnSpc>
                <a:spcPts val="3453"/>
              </a:lnSpc>
            </a:pPr>
            <a:r>
              <a:rPr lang="en-US" sz="2000" dirty="0">
                <a:latin typeface="Antique Olive"/>
                <a:ea typeface="Kollektif"/>
                <a:cs typeface="Kollektif"/>
                <a:sym typeface="Kollektif"/>
              </a:rPr>
              <a:t>async/await is built on top of Promises.</a:t>
            </a:r>
          </a:p>
          <a:p>
            <a:pPr>
              <a:lnSpc>
                <a:spcPts val="3453"/>
              </a:lnSpc>
            </a:pPr>
            <a:r>
              <a:rPr lang="en-US" sz="2000" dirty="0">
                <a:latin typeface="Antique Olive"/>
                <a:ea typeface="Kollektif"/>
                <a:cs typeface="Kollektif"/>
                <a:sym typeface="Kollektif"/>
              </a:rPr>
              <a:t> It makes asynchronous code look synchronous.</a:t>
            </a:r>
          </a:p>
          <a:p>
            <a:pPr>
              <a:lnSpc>
                <a:spcPts val="3453"/>
              </a:lnSpc>
            </a:pPr>
            <a:endParaRPr lang="en-US" sz="2000" dirty="0">
              <a:latin typeface="Antique Olive"/>
              <a:ea typeface="Kollektif"/>
              <a:cs typeface="Kollektif"/>
              <a:sym typeface="Kollektif"/>
            </a:endParaRPr>
          </a:p>
        </p:txBody>
      </p:sp>
      <p:sp>
        <p:nvSpPr>
          <p:cNvPr id="7" name="TextBox 7"/>
          <p:cNvSpPr txBox="1"/>
          <p:nvPr/>
        </p:nvSpPr>
        <p:spPr>
          <a:xfrm>
            <a:off x="621145" y="623626"/>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Async / Await</a:t>
            </a:r>
          </a:p>
        </p:txBody>
      </p:sp>
    </p:spTree>
    <p:extLst>
      <p:ext uri="{BB962C8B-B14F-4D97-AF65-F5344CB8AC3E}">
        <p14:creationId xmlns:p14="http://schemas.microsoft.com/office/powerpoint/2010/main" val="15675718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272974" y="1776212"/>
            <a:ext cx="7110245" cy="4052839"/>
          </a:xfrm>
          <a:custGeom>
            <a:avLst/>
            <a:gdLst/>
            <a:ahLst/>
            <a:cxnLst/>
            <a:rect l="l" t="t" r="r" b="b"/>
            <a:pathLst>
              <a:path w="10665367" h="6079259">
                <a:moveTo>
                  <a:pt x="0" y="0"/>
                </a:moveTo>
                <a:lnTo>
                  <a:pt x="10665367" y="0"/>
                </a:lnTo>
                <a:lnTo>
                  <a:pt x="10665367" y="6079259"/>
                </a:lnTo>
                <a:lnTo>
                  <a:pt x="0" y="6079259"/>
                </a:lnTo>
                <a:lnTo>
                  <a:pt x="0" y="0"/>
                </a:lnTo>
                <a:close/>
              </a:path>
            </a:pathLst>
          </a:custGeom>
          <a:blipFill>
            <a:blip r:embed="rId2"/>
            <a:stretch>
              <a:fillRect/>
            </a:stretch>
          </a:blipFill>
        </p:spPr>
      </p:sp>
      <p:sp>
        <p:nvSpPr>
          <p:cNvPr id="5" name="TextBox 5"/>
          <p:cNvSpPr txBox="1"/>
          <p:nvPr/>
        </p:nvSpPr>
        <p:spPr>
          <a:xfrm>
            <a:off x="519546" y="610787"/>
            <a:ext cx="9786188" cy="1382686"/>
          </a:xfrm>
          <a:prstGeom prst="rect">
            <a:avLst/>
          </a:prstGeom>
        </p:spPr>
        <p:txBody>
          <a:bodyPr lIns="0" tIns="0" rIns="0" bIns="0" rtlCol="0" anchor="t">
            <a:spAutoFit/>
          </a:bodyPr>
          <a:lstStyle/>
          <a:p>
            <a:pPr>
              <a:lnSpc>
                <a:spcPts val="3733"/>
              </a:lnSpc>
            </a:pPr>
            <a:r>
              <a:rPr lang="en-US" sz="2666" dirty="0">
                <a:latin typeface="Antique Olive" panose="020B0603020204030204"/>
                <a:ea typeface="Yeseva One"/>
                <a:cs typeface="Yeseva One"/>
                <a:sym typeface="Yeseva One"/>
              </a:rPr>
              <a:t>Modern Recommendation </a:t>
            </a:r>
          </a:p>
          <a:p>
            <a:pPr>
              <a:lnSpc>
                <a:spcPts val="3733"/>
              </a:lnSpc>
            </a:pPr>
            <a:r>
              <a:rPr lang="en-US" sz="2666" dirty="0">
                <a:latin typeface="Antique Olive" panose="020B0603020204030204"/>
                <a:ea typeface="Yeseva One"/>
                <a:cs typeface="Yeseva One"/>
                <a:sym typeface="Yeseva One"/>
              </a:rPr>
              <a:t>Use Async/Await + </a:t>
            </a:r>
            <a:r>
              <a:rPr lang="en-US" sz="2666" dirty="0" err="1">
                <a:latin typeface="Antique Olive" panose="020B0603020204030204"/>
                <a:ea typeface="Yeseva One"/>
                <a:cs typeface="Yeseva One"/>
                <a:sym typeface="Yeseva One"/>
              </a:rPr>
              <a:t>Promise.all</a:t>
            </a:r>
            <a:r>
              <a:rPr lang="en-US" sz="2666" dirty="0">
                <a:latin typeface="Antique Olive" panose="020B0603020204030204"/>
                <a:ea typeface="Yeseva One"/>
                <a:cs typeface="Yeseva One"/>
                <a:sym typeface="Yeseva One"/>
              </a:rPr>
              <a:t> for 99% of cases.</a:t>
            </a:r>
          </a:p>
          <a:p>
            <a:pPr>
              <a:lnSpc>
                <a:spcPts val="3733"/>
              </a:lnSpc>
            </a:pPr>
            <a:endParaRPr lang="en-US" sz="2666" dirty="0">
              <a:latin typeface="Antique Olive" panose="020B0603020204030204"/>
              <a:ea typeface="Yeseva One"/>
              <a:cs typeface="Yeseva One"/>
              <a:sym typeface="Yeseva One"/>
            </a:endParaRPr>
          </a:p>
        </p:txBody>
      </p:sp>
    </p:spTree>
    <p:extLst>
      <p:ext uri="{BB962C8B-B14F-4D97-AF65-F5344CB8AC3E}">
        <p14:creationId xmlns:p14="http://schemas.microsoft.com/office/powerpoint/2010/main" val="2005969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65727" y="979354"/>
            <a:ext cx="9786188" cy="996876"/>
          </a:xfrm>
          <a:prstGeom prst="rect">
            <a:avLst/>
          </a:prstGeom>
        </p:spPr>
        <p:txBody>
          <a:bodyPr lIns="0" tIns="0" rIns="0" bIns="0" rtlCol="0" anchor="t">
            <a:spAutoFit/>
          </a:bodyPr>
          <a:lstStyle/>
          <a:p>
            <a:pPr algn="ctr">
              <a:lnSpc>
                <a:spcPts val="4293"/>
              </a:lnSpc>
            </a:pPr>
            <a:r>
              <a:rPr lang="en-US" sz="4000" b="1" dirty="0">
                <a:latin typeface="Yeseva One"/>
                <a:ea typeface="Yeseva One"/>
                <a:cs typeface="Yeseva One"/>
                <a:sym typeface="Yeseva One"/>
              </a:rPr>
              <a:t>Task</a:t>
            </a:r>
          </a:p>
          <a:p>
            <a:pPr>
              <a:lnSpc>
                <a:spcPts val="3733"/>
              </a:lnSpc>
            </a:pPr>
            <a:endParaRPr lang="en-US" sz="3066" dirty="0">
              <a:solidFill>
                <a:srgbClr val="564033"/>
              </a:solidFill>
              <a:latin typeface="Yeseva One"/>
              <a:ea typeface="Yeseva One"/>
              <a:cs typeface="Yeseva One"/>
              <a:sym typeface="Yeseva One"/>
            </a:endParaRPr>
          </a:p>
        </p:txBody>
      </p:sp>
      <p:sp>
        <p:nvSpPr>
          <p:cNvPr id="5" name="TextBox 5"/>
          <p:cNvSpPr txBox="1"/>
          <p:nvPr/>
        </p:nvSpPr>
        <p:spPr>
          <a:xfrm>
            <a:off x="1336717" y="1703784"/>
            <a:ext cx="8102953" cy="2806153"/>
          </a:xfrm>
          <a:prstGeom prst="rect">
            <a:avLst/>
          </a:prstGeom>
        </p:spPr>
        <p:txBody>
          <a:bodyPr lIns="0" tIns="0" rIns="0" bIns="0" rtlCol="0" anchor="t">
            <a:spAutoFit/>
          </a:bodyPr>
          <a:lstStyle/>
          <a:p>
            <a:pPr>
              <a:lnSpc>
                <a:spcPts val="3733"/>
              </a:lnSpc>
              <a:spcBef>
                <a:spcPct val="0"/>
              </a:spcBef>
            </a:pPr>
            <a:r>
              <a:rPr lang="en-US" sz="2800" dirty="0">
                <a:latin typeface="Antique Olive" panose="020B0603020204030204"/>
                <a:ea typeface="Yeseva One"/>
                <a:cs typeface="Yeseva One"/>
                <a:sym typeface="Yeseva One"/>
              </a:rPr>
              <a:t>Fake Weather App – Get weather for city "Paris"</a:t>
            </a:r>
          </a:p>
          <a:p>
            <a:pPr>
              <a:lnSpc>
                <a:spcPts val="3733"/>
              </a:lnSpc>
              <a:spcBef>
                <a:spcPct val="0"/>
              </a:spcBef>
            </a:pPr>
            <a:r>
              <a:rPr lang="en-US" sz="2800" dirty="0">
                <a:latin typeface="Antique Olive" panose="020B0603020204030204"/>
                <a:ea typeface="Yeseva One"/>
                <a:cs typeface="Yeseva One"/>
                <a:sym typeface="Yeseva One"/>
              </a:rPr>
              <a:t>What it does:</a:t>
            </a:r>
          </a:p>
          <a:p>
            <a:pPr>
              <a:lnSpc>
                <a:spcPts val="3733"/>
              </a:lnSpc>
              <a:spcBef>
                <a:spcPct val="0"/>
              </a:spcBef>
            </a:pPr>
            <a:r>
              <a:rPr lang="en-US" sz="2800" dirty="0">
                <a:latin typeface="Antique Olive" panose="020B0603020204030204"/>
                <a:ea typeface="Yeseva One"/>
                <a:cs typeface="Yeseva One"/>
                <a:sym typeface="Yeseva One"/>
              </a:rPr>
              <a:t>Click button → shows “Loading…” for 2 seconds</a:t>
            </a:r>
          </a:p>
          <a:p>
            <a:pPr>
              <a:lnSpc>
                <a:spcPts val="3733"/>
              </a:lnSpc>
              <a:spcBef>
                <a:spcPct val="0"/>
              </a:spcBef>
            </a:pPr>
            <a:r>
              <a:rPr lang="en-US" sz="2800" dirty="0">
                <a:latin typeface="Antique Olive" panose="020B0603020204030204"/>
                <a:ea typeface="Yeseva One"/>
                <a:cs typeface="Yeseva One"/>
                <a:sym typeface="Yeseva One"/>
              </a:rPr>
              <a:t>If city is exactly "Paris" → success</a:t>
            </a:r>
          </a:p>
          <a:p>
            <a:pPr>
              <a:lnSpc>
                <a:spcPts val="3733"/>
              </a:lnSpc>
              <a:spcBef>
                <a:spcPct val="0"/>
              </a:spcBef>
            </a:pPr>
            <a:r>
              <a:rPr lang="en-US" sz="2800" dirty="0">
                <a:latin typeface="Antique Olive" panose="020B0603020204030204"/>
                <a:ea typeface="Yeseva One"/>
                <a:cs typeface="Yeseva One"/>
                <a:sym typeface="Yeseva One"/>
              </a:rPr>
              <a:t>Any other city → error</a:t>
            </a:r>
          </a:p>
          <a:p>
            <a:pPr>
              <a:lnSpc>
                <a:spcPts val="3733"/>
              </a:lnSpc>
              <a:spcBef>
                <a:spcPct val="0"/>
              </a:spcBef>
            </a:pPr>
            <a:r>
              <a:rPr lang="en-US" sz="2800" dirty="0">
                <a:latin typeface="Antique Olive" panose="020B0603020204030204"/>
                <a:ea typeface="Yeseva One"/>
                <a:cs typeface="Yeseva One"/>
                <a:sym typeface="Yeseva One"/>
              </a:rPr>
              <a:t>Uses Promisea + async/await + try/catch</a:t>
            </a:r>
          </a:p>
        </p:txBody>
      </p:sp>
    </p:spTree>
    <p:extLst>
      <p:ext uri="{BB962C8B-B14F-4D97-AF65-F5344CB8AC3E}">
        <p14:creationId xmlns:p14="http://schemas.microsoft.com/office/powerpoint/2010/main" val="23450050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93588" y="1355990"/>
            <a:ext cx="9508795" cy="3101747"/>
          </a:xfrm>
          <a:prstGeom prst="rect">
            <a:avLst/>
          </a:prstGeom>
        </p:spPr>
        <p:txBody>
          <a:bodyPr lIns="0" tIns="0" rIns="0" bIns="0" rtlCol="0" anchor="t">
            <a:spAutoFit/>
          </a:bodyPr>
          <a:lstStyle/>
          <a:p>
            <a:pPr>
              <a:lnSpc>
                <a:spcPts val="3453"/>
              </a:lnSpc>
            </a:pPr>
            <a:r>
              <a:rPr lang="en-US" sz="2200" dirty="0">
                <a:latin typeface="Antique Olive" panose="020B0603020204030204"/>
                <a:ea typeface="Kollektif"/>
                <a:cs typeface="Kollektif"/>
                <a:sym typeface="Kollektif"/>
              </a:rPr>
              <a:t> The Event Loop decides when async code runs</a:t>
            </a:r>
          </a:p>
          <a:p>
            <a:pPr>
              <a:lnSpc>
                <a:spcPts val="3453"/>
              </a:lnSpc>
            </a:pPr>
            <a:r>
              <a:rPr lang="en-US" sz="2200" dirty="0">
                <a:latin typeface="Antique Olive" panose="020B0603020204030204"/>
                <a:ea typeface="Kollektif"/>
                <a:cs typeface="Kollektif"/>
                <a:sym typeface="Kollektif"/>
              </a:rPr>
              <a:t>JS has:</a:t>
            </a:r>
          </a:p>
          <a:p>
            <a:pPr marL="532579" lvl="1" indent="-266290">
              <a:lnSpc>
                <a:spcPts val="3453"/>
              </a:lnSpc>
              <a:buFont typeface="Arial"/>
              <a:buChar char="•"/>
            </a:pPr>
            <a:r>
              <a:rPr lang="en-US" sz="2200" dirty="0">
                <a:latin typeface="Antique Olive" panose="020B0603020204030204"/>
                <a:ea typeface="Kollektif"/>
                <a:cs typeface="Kollektif"/>
                <a:sym typeface="Kollektif"/>
              </a:rPr>
              <a:t>Call Stack</a:t>
            </a:r>
          </a:p>
          <a:p>
            <a:pPr marL="532579" lvl="1" indent="-266290">
              <a:lnSpc>
                <a:spcPts val="3453"/>
              </a:lnSpc>
              <a:buFont typeface="Arial"/>
              <a:buChar char="•"/>
            </a:pPr>
            <a:r>
              <a:rPr lang="en-US" sz="2200" dirty="0">
                <a:latin typeface="Antique Olive" panose="020B0603020204030204"/>
                <a:ea typeface="Kollektif"/>
                <a:cs typeface="Kollektif"/>
                <a:sym typeface="Kollektif"/>
              </a:rPr>
              <a:t>Web APIs</a:t>
            </a:r>
          </a:p>
          <a:p>
            <a:pPr marL="532579" lvl="1" indent="-266290">
              <a:lnSpc>
                <a:spcPts val="3453"/>
              </a:lnSpc>
              <a:buFont typeface="Arial"/>
              <a:buChar char="•"/>
            </a:pPr>
            <a:r>
              <a:rPr lang="en-US" sz="2200" dirty="0">
                <a:latin typeface="Antique Olive" panose="020B0603020204030204"/>
                <a:ea typeface="Kollektif"/>
                <a:cs typeface="Kollektif"/>
                <a:sym typeface="Kollektif"/>
              </a:rPr>
              <a:t>Callback Queue</a:t>
            </a:r>
          </a:p>
          <a:p>
            <a:pPr marL="532579" lvl="1" indent="-266290">
              <a:lnSpc>
                <a:spcPts val="3453"/>
              </a:lnSpc>
              <a:buFont typeface="Arial"/>
              <a:buChar char="•"/>
            </a:pPr>
            <a:r>
              <a:rPr lang="en-US" sz="2200" dirty="0">
                <a:latin typeface="Antique Olive" panose="020B0603020204030204"/>
                <a:ea typeface="Kollektif"/>
                <a:cs typeface="Kollektif"/>
                <a:sym typeface="Kollektif"/>
              </a:rPr>
              <a:t>Microtask Queue (Promises)</a:t>
            </a:r>
          </a:p>
          <a:p>
            <a:pPr>
              <a:lnSpc>
                <a:spcPts val="3453"/>
              </a:lnSpc>
            </a:pPr>
            <a:endParaRPr lang="en-US" sz="2200" dirty="0">
              <a:latin typeface="Antique Olive" panose="020B0603020204030204"/>
              <a:ea typeface="Kollektif"/>
              <a:cs typeface="Kollektif"/>
              <a:sym typeface="Kollektif"/>
            </a:endParaRPr>
          </a:p>
        </p:txBody>
      </p:sp>
      <p:sp>
        <p:nvSpPr>
          <p:cNvPr id="5" name="Freeform 5"/>
          <p:cNvSpPr/>
          <p:nvPr/>
        </p:nvSpPr>
        <p:spPr>
          <a:xfrm>
            <a:off x="5920342" y="2122017"/>
            <a:ext cx="4486845" cy="2072870"/>
          </a:xfrm>
          <a:custGeom>
            <a:avLst/>
            <a:gdLst/>
            <a:ahLst/>
            <a:cxnLst/>
            <a:rect l="l" t="t" r="r" b="b"/>
            <a:pathLst>
              <a:path w="6730268" h="3109305">
                <a:moveTo>
                  <a:pt x="0" y="0"/>
                </a:moveTo>
                <a:lnTo>
                  <a:pt x="6730268" y="0"/>
                </a:lnTo>
                <a:lnTo>
                  <a:pt x="6730268" y="3109305"/>
                </a:lnTo>
                <a:lnTo>
                  <a:pt x="0" y="3109305"/>
                </a:lnTo>
                <a:lnTo>
                  <a:pt x="0" y="0"/>
                </a:lnTo>
                <a:close/>
              </a:path>
            </a:pathLst>
          </a:custGeom>
          <a:blipFill>
            <a:blip r:embed="rId2"/>
            <a:stretch>
              <a:fillRect/>
            </a:stretch>
          </a:blipFill>
        </p:spPr>
      </p:sp>
      <p:sp>
        <p:nvSpPr>
          <p:cNvPr id="6" name="TextBox 6"/>
          <p:cNvSpPr txBox="1"/>
          <p:nvPr/>
        </p:nvSpPr>
        <p:spPr>
          <a:xfrm>
            <a:off x="685800" y="565567"/>
            <a:ext cx="9786188" cy="474489"/>
          </a:xfrm>
          <a:prstGeom prst="rect">
            <a:avLst/>
          </a:prstGeom>
        </p:spPr>
        <p:txBody>
          <a:bodyPr lIns="0" tIns="0" rIns="0" bIns="0" rtlCol="0" anchor="t">
            <a:spAutoFit/>
          </a:bodyPr>
          <a:lstStyle/>
          <a:p>
            <a:pPr algn="ctr">
              <a:lnSpc>
                <a:spcPts val="3733"/>
              </a:lnSpc>
            </a:pPr>
            <a:r>
              <a:rPr lang="en-US" sz="4000" b="1" dirty="0">
                <a:latin typeface="Yeseva One"/>
                <a:ea typeface="Yeseva One"/>
                <a:cs typeface="Yeseva One"/>
                <a:sym typeface="Yeseva One"/>
              </a:rPr>
              <a:t>Event Loop</a:t>
            </a:r>
          </a:p>
        </p:txBody>
      </p:sp>
    </p:spTree>
    <p:extLst>
      <p:ext uri="{BB962C8B-B14F-4D97-AF65-F5344CB8AC3E}">
        <p14:creationId xmlns:p14="http://schemas.microsoft.com/office/powerpoint/2010/main" val="1094116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67262" y="1106664"/>
            <a:ext cx="9508795" cy="5886611"/>
          </a:xfrm>
          <a:prstGeom prst="rect">
            <a:avLst/>
          </a:prstGeom>
        </p:spPr>
        <p:txBody>
          <a:bodyPr lIns="0" tIns="0" rIns="0" bIns="0" rtlCol="0" anchor="t">
            <a:spAutoFit/>
          </a:bodyPr>
          <a:lstStyle/>
          <a:p>
            <a:pPr>
              <a:lnSpc>
                <a:spcPts val="3267"/>
              </a:lnSpc>
            </a:pPr>
            <a:r>
              <a:rPr lang="en-US" sz="2000" dirty="0">
                <a:latin typeface="Antique Olive" panose="020B0603020204030204"/>
                <a:ea typeface="Kollektif"/>
                <a:cs typeface="Kollektif"/>
                <a:sym typeface="Kollektif"/>
              </a:rPr>
              <a:t>JavaScript has 3 main parts:</a:t>
            </a:r>
          </a:p>
          <a:p>
            <a:pPr>
              <a:lnSpc>
                <a:spcPts val="3267"/>
              </a:lnSpc>
            </a:pPr>
            <a:r>
              <a:rPr lang="en-US" sz="2000" dirty="0">
                <a:latin typeface="Antique Olive" panose="020B0603020204030204"/>
                <a:ea typeface="Kollektif"/>
                <a:cs typeface="Kollektif"/>
                <a:sym typeface="Kollektif"/>
              </a:rPr>
              <a:t>1️⃣ Call Stack</a:t>
            </a:r>
          </a:p>
          <a:p>
            <a:pPr>
              <a:lnSpc>
                <a:spcPts val="3267"/>
              </a:lnSpc>
            </a:pPr>
            <a:r>
              <a:rPr lang="en-US" sz="2000" dirty="0">
                <a:latin typeface="Antique Olive" panose="020B0603020204030204"/>
                <a:ea typeface="Kollektif"/>
                <a:cs typeface="Kollektif"/>
                <a:sym typeface="Kollektif"/>
              </a:rPr>
              <a:t>Where synchronous code runs.</a:t>
            </a:r>
          </a:p>
          <a:p>
            <a:pPr marL="503793" lvl="1" indent="-251896">
              <a:lnSpc>
                <a:spcPts val="3267"/>
              </a:lnSpc>
              <a:buFont typeface="Arial"/>
              <a:buChar char="•"/>
            </a:pPr>
            <a:r>
              <a:rPr lang="en-US" sz="2000" dirty="0">
                <a:latin typeface="Antique Olive" panose="020B0603020204030204"/>
                <a:ea typeface="Kollektif"/>
                <a:cs typeface="Kollektif"/>
                <a:sym typeface="Kollektif"/>
              </a:rPr>
              <a:t>Executes one thing at a time.</a:t>
            </a:r>
          </a:p>
          <a:p>
            <a:pPr marL="503793" lvl="1" indent="-251896">
              <a:lnSpc>
                <a:spcPts val="3267"/>
              </a:lnSpc>
              <a:buFont typeface="Arial"/>
              <a:buChar char="•"/>
            </a:pPr>
            <a:r>
              <a:rPr lang="en-US" sz="2000" dirty="0">
                <a:latin typeface="Antique Olive" panose="020B0603020204030204"/>
                <a:ea typeface="Kollektif"/>
                <a:cs typeface="Kollektif"/>
                <a:sym typeface="Kollektif"/>
              </a:rPr>
              <a:t>If a function is running → stack is busy.</a:t>
            </a:r>
          </a:p>
          <a:p>
            <a:pPr>
              <a:lnSpc>
                <a:spcPts val="3267"/>
              </a:lnSpc>
            </a:pPr>
            <a:r>
              <a:rPr lang="en-US" sz="2000" dirty="0">
                <a:latin typeface="Antique Olive" panose="020B0603020204030204"/>
                <a:ea typeface="Kollektif"/>
                <a:cs typeface="Kollektif"/>
                <a:sym typeface="Kollektif"/>
              </a:rPr>
              <a:t>2️⃣ Web APIs</a:t>
            </a:r>
          </a:p>
          <a:p>
            <a:pPr>
              <a:lnSpc>
                <a:spcPts val="3267"/>
              </a:lnSpc>
            </a:pPr>
            <a:r>
              <a:rPr lang="en-US" sz="2000" dirty="0">
                <a:latin typeface="Antique Olive" panose="020B0603020204030204"/>
                <a:ea typeface="Kollektif"/>
                <a:cs typeface="Kollektif"/>
                <a:sym typeface="Kollektif"/>
              </a:rPr>
              <a:t>The browser provides async features like:</a:t>
            </a:r>
          </a:p>
          <a:p>
            <a:pPr marL="503793" lvl="1" indent="-251896">
              <a:lnSpc>
                <a:spcPts val="3267"/>
              </a:lnSpc>
              <a:buFont typeface="Arial"/>
              <a:buChar char="•"/>
            </a:pPr>
            <a:r>
              <a:rPr lang="en-US" sz="2000" dirty="0" err="1">
                <a:latin typeface="Antique Olive" panose="020B0603020204030204"/>
                <a:ea typeface="Kollektif"/>
                <a:cs typeface="Kollektif"/>
                <a:sym typeface="Kollektif"/>
              </a:rPr>
              <a:t>setTimeout</a:t>
            </a:r>
            <a:endParaRPr lang="en-US" sz="2000" dirty="0">
              <a:latin typeface="Antique Olive" panose="020B0603020204030204"/>
              <a:ea typeface="Kollektif"/>
              <a:cs typeface="Kollektif"/>
              <a:sym typeface="Kollektif"/>
            </a:endParaRPr>
          </a:p>
          <a:p>
            <a:pPr marL="503793" lvl="1" indent="-251896">
              <a:lnSpc>
                <a:spcPts val="3267"/>
              </a:lnSpc>
              <a:buFont typeface="Arial"/>
              <a:buChar char="•"/>
            </a:pPr>
            <a:r>
              <a:rPr lang="en-US" sz="2000" dirty="0">
                <a:latin typeface="Antique Olive" panose="020B0603020204030204"/>
                <a:ea typeface="Kollektif"/>
                <a:cs typeface="Kollektif"/>
                <a:sym typeface="Kollektif"/>
              </a:rPr>
              <a:t>fetch</a:t>
            </a:r>
          </a:p>
          <a:p>
            <a:pPr marL="503793" lvl="1" indent="-251896">
              <a:lnSpc>
                <a:spcPts val="3267"/>
              </a:lnSpc>
              <a:buFont typeface="Arial"/>
              <a:buChar char="•"/>
            </a:pPr>
            <a:r>
              <a:rPr lang="en-US" sz="2000" dirty="0">
                <a:latin typeface="Antique Olive" panose="020B0603020204030204"/>
                <a:ea typeface="Kollektif"/>
                <a:cs typeface="Kollektif"/>
                <a:sym typeface="Kollektif"/>
              </a:rPr>
              <a:t>DOM events (click, </a:t>
            </a:r>
            <a:r>
              <a:rPr lang="en-US" sz="2000" dirty="0" err="1">
                <a:latin typeface="Antique Olive" panose="020B0603020204030204"/>
                <a:ea typeface="Kollektif"/>
                <a:cs typeface="Kollektif"/>
                <a:sym typeface="Kollektif"/>
              </a:rPr>
              <a:t>keyup</a:t>
            </a:r>
            <a:r>
              <a:rPr lang="en-US" sz="2000" dirty="0">
                <a:latin typeface="Antique Olive" panose="020B0603020204030204"/>
                <a:ea typeface="Kollektif"/>
                <a:cs typeface="Kollektif"/>
                <a:sym typeface="Kollektif"/>
              </a:rPr>
              <a:t>)</a:t>
            </a:r>
          </a:p>
          <a:p>
            <a:pPr marL="503793" lvl="1" indent="-251896">
              <a:lnSpc>
                <a:spcPts val="3267"/>
              </a:lnSpc>
              <a:buFont typeface="Arial"/>
              <a:buChar char="•"/>
            </a:pPr>
            <a:r>
              <a:rPr lang="en-US" sz="2000" dirty="0">
                <a:latin typeface="Antique Olive" panose="020B0603020204030204"/>
                <a:ea typeface="Kollektif"/>
                <a:cs typeface="Kollektif"/>
                <a:sym typeface="Kollektif"/>
              </a:rPr>
              <a:t>AJAX calls</a:t>
            </a:r>
          </a:p>
          <a:p>
            <a:pPr>
              <a:lnSpc>
                <a:spcPts val="3267"/>
              </a:lnSpc>
            </a:pPr>
            <a:r>
              <a:rPr lang="en-US" sz="2000" dirty="0">
                <a:latin typeface="Antique Olive" panose="020B0603020204030204"/>
                <a:ea typeface="Kollektif"/>
                <a:cs typeface="Kollektif"/>
                <a:sym typeface="Kollektif"/>
              </a:rPr>
              <a:t>They run outside the JS engine.</a:t>
            </a:r>
          </a:p>
          <a:p>
            <a:pPr marL="503793" lvl="1" indent="-251896">
              <a:lnSpc>
                <a:spcPts val="3267"/>
              </a:lnSpc>
              <a:buFont typeface="Arial"/>
              <a:buChar char="•"/>
            </a:pPr>
            <a:r>
              <a:rPr lang="en-US" sz="2000" dirty="0">
                <a:latin typeface="Antique Olive" panose="020B0603020204030204"/>
                <a:ea typeface="Kollektif"/>
                <a:cs typeface="Kollektif"/>
                <a:sym typeface="Kollektif"/>
              </a:rPr>
              <a:t>Microtask Queue → promises, async/await</a:t>
            </a:r>
          </a:p>
          <a:p>
            <a:pPr>
              <a:lnSpc>
                <a:spcPts val="3267"/>
              </a:lnSpc>
            </a:pPr>
            <a:endParaRPr lang="en-US" sz="2000" dirty="0">
              <a:latin typeface="Antique Olive" panose="020B0603020204030204"/>
              <a:ea typeface="Kollektif"/>
              <a:cs typeface="Kollektif"/>
              <a:sym typeface="Kollektif"/>
            </a:endParaRPr>
          </a:p>
        </p:txBody>
      </p:sp>
      <p:sp>
        <p:nvSpPr>
          <p:cNvPr id="5" name="TextBox 5"/>
          <p:cNvSpPr txBox="1"/>
          <p:nvPr/>
        </p:nvSpPr>
        <p:spPr>
          <a:xfrm>
            <a:off x="556491" y="599065"/>
            <a:ext cx="9786188" cy="446148"/>
          </a:xfrm>
          <a:prstGeom prst="rect">
            <a:avLst/>
          </a:prstGeom>
        </p:spPr>
        <p:txBody>
          <a:bodyPr lIns="0" tIns="0" rIns="0" bIns="0" rtlCol="0" anchor="t">
            <a:spAutoFit/>
          </a:bodyPr>
          <a:lstStyle/>
          <a:p>
            <a:pPr>
              <a:lnSpc>
                <a:spcPts val="3733"/>
              </a:lnSpc>
            </a:pPr>
            <a:r>
              <a:rPr lang="en-US" sz="2666" dirty="0">
                <a:latin typeface="Antique Olive" panose="020B0603020204030204"/>
                <a:ea typeface="Yeseva One"/>
                <a:cs typeface="Yeseva One"/>
                <a:sym typeface="Yeseva One"/>
              </a:rPr>
              <a:t>How JavaScript Works Internally</a:t>
            </a:r>
          </a:p>
        </p:txBody>
      </p:sp>
    </p:spTree>
    <p:extLst>
      <p:ext uri="{BB962C8B-B14F-4D97-AF65-F5344CB8AC3E}">
        <p14:creationId xmlns:p14="http://schemas.microsoft.com/office/powerpoint/2010/main" val="34803330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48789" y="1399643"/>
            <a:ext cx="9508795" cy="3101747"/>
          </a:xfrm>
          <a:prstGeom prst="rect">
            <a:avLst/>
          </a:prstGeom>
        </p:spPr>
        <p:txBody>
          <a:bodyPr lIns="0" tIns="0" rIns="0" bIns="0" rtlCol="0" anchor="t">
            <a:spAutoFit/>
          </a:bodyPr>
          <a:lstStyle/>
          <a:p>
            <a:pPr>
              <a:lnSpc>
                <a:spcPts val="3453"/>
              </a:lnSpc>
            </a:pPr>
            <a:endParaRPr sz="2000" dirty="0">
              <a:latin typeface="Antique Olive" panose="020B0603020204030204"/>
            </a:endParaRPr>
          </a:p>
          <a:p>
            <a:pPr>
              <a:lnSpc>
                <a:spcPts val="3453"/>
              </a:lnSpc>
            </a:pPr>
            <a:r>
              <a:rPr lang="en-US" sz="2000" dirty="0">
                <a:latin typeface="Antique Olive" panose="020B0603020204030204"/>
                <a:ea typeface="Kollektif"/>
                <a:cs typeface="Kollektif"/>
                <a:sym typeface="Kollektif"/>
              </a:rPr>
              <a:t>3️⃣ Task Queues</a:t>
            </a:r>
          </a:p>
          <a:p>
            <a:pPr>
              <a:lnSpc>
                <a:spcPts val="3453"/>
              </a:lnSpc>
            </a:pPr>
            <a:r>
              <a:rPr lang="en-US" sz="2000" dirty="0">
                <a:latin typeface="Antique Olive" panose="020B0603020204030204"/>
                <a:ea typeface="Kollektif"/>
                <a:cs typeface="Kollektif"/>
                <a:sym typeface="Kollektif"/>
              </a:rPr>
              <a:t>Where asynchronous callbacks wait:</a:t>
            </a:r>
          </a:p>
          <a:p>
            <a:pPr>
              <a:lnSpc>
                <a:spcPts val="3453"/>
              </a:lnSpc>
            </a:pPr>
            <a:r>
              <a:rPr lang="en-US" sz="2000" dirty="0">
                <a:latin typeface="Antique Olive" panose="020B0603020204030204"/>
                <a:ea typeface="Kollektif"/>
                <a:cs typeface="Kollektif"/>
                <a:sym typeface="Kollektif"/>
              </a:rPr>
              <a:t>Two types:</a:t>
            </a:r>
          </a:p>
          <a:p>
            <a:pPr marL="532579" lvl="1" indent="-266290">
              <a:lnSpc>
                <a:spcPts val="3453"/>
              </a:lnSpc>
              <a:buFont typeface="Arial"/>
              <a:buChar char="•"/>
            </a:pPr>
            <a:r>
              <a:rPr lang="en-US" sz="2000" dirty="0">
                <a:latin typeface="Antique Olive" panose="020B0603020204030204"/>
                <a:ea typeface="Kollektif"/>
                <a:cs typeface="Kollektif"/>
                <a:sym typeface="Kollektif"/>
              </a:rPr>
              <a:t>Callback Queue / </a:t>
            </a:r>
            <a:r>
              <a:rPr lang="en-US" sz="2000" dirty="0" err="1">
                <a:latin typeface="Antique Olive" panose="020B0603020204030204"/>
                <a:ea typeface="Kollektif"/>
                <a:cs typeface="Kollektif"/>
                <a:sym typeface="Kollektif"/>
              </a:rPr>
              <a:t>Macrotask</a:t>
            </a:r>
            <a:r>
              <a:rPr lang="en-US" sz="2000" dirty="0">
                <a:latin typeface="Antique Olive" panose="020B0603020204030204"/>
                <a:ea typeface="Kollektif"/>
                <a:cs typeface="Kollektif"/>
                <a:sym typeface="Kollektif"/>
              </a:rPr>
              <a:t> Queue → </a:t>
            </a:r>
            <a:r>
              <a:rPr lang="en-US" sz="2000" dirty="0" err="1">
                <a:latin typeface="Antique Olive" panose="020B0603020204030204"/>
                <a:ea typeface="Kollektif"/>
                <a:cs typeface="Kollektif"/>
                <a:sym typeface="Kollektif"/>
              </a:rPr>
              <a:t>setTimeout</a:t>
            </a:r>
            <a:r>
              <a:rPr lang="en-US" sz="2000" dirty="0">
                <a:latin typeface="Antique Olive" panose="020B0603020204030204"/>
                <a:ea typeface="Kollektif"/>
                <a:cs typeface="Kollektif"/>
                <a:sym typeface="Kollektif"/>
              </a:rPr>
              <a:t>, events</a:t>
            </a:r>
          </a:p>
          <a:p>
            <a:pPr marL="532579" lvl="1" indent="-266290">
              <a:lnSpc>
                <a:spcPts val="3453"/>
              </a:lnSpc>
              <a:buFont typeface="Arial"/>
              <a:buChar char="•"/>
            </a:pPr>
            <a:r>
              <a:rPr lang="en-US" sz="2000" dirty="0">
                <a:latin typeface="Antique Olive" panose="020B0603020204030204"/>
                <a:ea typeface="Kollektif"/>
                <a:cs typeface="Kollektif"/>
                <a:sym typeface="Kollektif"/>
              </a:rPr>
              <a:t>Microtask Queue → promises, async/await</a:t>
            </a:r>
          </a:p>
          <a:p>
            <a:pPr>
              <a:lnSpc>
                <a:spcPts val="3453"/>
              </a:lnSpc>
            </a:pPr>
            <a:endParaRPr lang="en-US" sz="2000" dirty="0">
              <a:latin typeface="Antique Olive" panose="020B0603020204030204"/>
              <a:ea typeface="Kollektif"/>
              <a:cs typeface="Kollektif"/>
              <a:sym typeface="Kollektif"/>
            </a:endParaRPr>
          </a:p>
        </p:txBody>
      </p:sp>
      <p:sp>
        <p:nvSpPr>
          <p:cNvPr id="5" name="TextBox 5"/>
          <p:cNvSpPr txBox="1"/>
          <p:nvPr/>
        </p:nvSpPr>
        <p:spPr>
          <a:xfrm>
            <a:off x="454891" y="953495"/>
            <a:ext cx="9786188" cy="446148"/>
          </a:xfrm>
          <a:prstGeom prst="rect">
            <a:avLst/>
          </a:prstGeom>
        </p:spPr>
        <p:txBody>
          <a:bodyPr lIns="0" tIns="0" rIns="0" bIns="0" rtlCol="0" anchor="t">
            <a:spAutoFit/>
          </a:bodyPr>
          <a:lstStyle/>
          <a:p>
            <a:pPr>
              <a:lnSpc>
                <a:spcPts val="3733"/>
              </a:lnSpc>
            </a:pPr>
            <a:r>
              <a:rPr lang="en-US" sz="2500" b="1" dirty="0">
                <a:latin typeface="Antique Olive" panose="020B0603020204030204"/>
                <a:ea typeface="Yeseva One"/>
                <a:cs typeface="Yeseva One"/>
                <a:sym typeface="Yeseva One"/>
              </a:rPr>
              <a:t>How JavaScript Works Internally</a:t>
            </a:r>
          </a:p>
        </p:txBody>
      </p:sp>
    </p:spTree>
    <p:extLst>
      <p:ext uri="{BB962C8B-B14F-4D97-AF65-F5344CB8AC3E}">
        <p14:creationId xmlns:p14="http://schemas.microsoft.com/office/powerpoint/2010/main" val="40387403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56703" y="1566601"/>
            <a:ext cx="9508795" cy="3101747"/>
          </a:xfrm>
          <a:prstGeom prst="rect">
            <a:avLst/>
          </a:prstGeom>
        </p:spPr>
        <p:txBody>
          <a:bodyPr lIns="0" tIns="0" rIns="0" bIns="0" rtlCol="0" anchor="t">
            <a:spAutoFit/>
          </a:bodyPr>
          <a:lstStyle/>
          <a:p>
            <a:pPr marL="532579" lvl="1" indent="-266290">
              <a:lnSpc>
                <a:spcPts val="3453"/>
              </a:lnSpc>
              <a:buFont typeface="Arial"/>
              <a:buChar char="•"/>
            </a:pPr>
            <a:r>
              <a:rPr lang="en-US" sz="2200" dirty="0">
                <a:latin typeface="Antique Olive" panose="020B0603020204030204"/>
                <a:ea typeface="Kollektif"/>
                <a:cs typeface="Kollektif"/>
                <a:sym typeface="Kollektif"/>
              </a:rPr>
              <a:t>Executes all synchronous code in the call stack</a:t>
            </a:r>
          </a:p>
          <a:p>
            <a:pPr marL="532579" lvl="1" indent="-266290">
              <a:lnSpc>
                <a:spcPts val="3453"/>
              </a:lnSpc>
              <a:buFont typeface="Arial"/>
              <a:buChar char="•"/>
            </a:pPr>
            <a:r>
              <a:rPr lang="en-US" sz="2200" dirty="0">
                <a:latin typeface="Antique Olive" panose="020B0603020204030204"/>
                <a:ea typeface="Kollektif"/>
                <a:cs typeface="Kollektif"/>
                <a:sym typeface="Kollektif"/>
              </a:rPr>
              <a:t>When stack is empty:</a:t>
            </a:r>
          </a:p>
          <a:p>
            <a:pPr marL="532579" lvl="1" indent="-266290">
              <a:lnSpc>
                <a:spcPts val="3453"/>
              </a:lnSpc>
              <a:buFont typeface="Arial"/>
              <a:buChar char="•"/>
            </a:pPr>
            <a:r>
              <a:rPr lang="en-US" sz="2200" dirty="0">
                <a:latin typeface="Antique Olive" panose="020B0603020204030204"/>
                <a:ea typeface="Kollektif"/>
                <a:cs typeface="Kollektif"/>
                <a:sym typeface="Kollektif"/>
              </a:rPr>
              <a:t>Check microtask queue (first priority)</a:t>
            </a:r>
          </a:p>
          <a:p>
            <a:pPr marL="532579" lvl="1" indent="-266290">
              <a:lnSpc>
                <a:spcPts val="3453"/>
              </a:lnSpc>
              <a:buFont typeface="Arial"/>
              <a:buChar char="•"/>
            </a:pPr>
            <a:r>
              <a:rPr lang="en-US" sz="2200" dirty="0">
                <a:latin typeface="Antique Olive" panose="020B0603020204030204"/>
                <a:ea typeface="Kollektif"/>
                <a:cs typeface="Kollektif"/>
                <a:sym typeface="Kollektif"/>
              </a:rPr>
              <a:t>Then check callback queue</a:t>
            </a:r>
          </a:p>
          <a:p>
            <a:pPr marL="532579" lvl="1" indent="-266290">
              <a:lnSpc>
                <a:spcPts val="3453"/>
              </a:lnSpc>
              <a:buFont typeface="Arial"/>
              <a:buChar char="•"/>
            </a:pPr>
            <a:r>
              <a:rPr lang="en-US" sz="2200" dirty="0">
                <a:latin typeface="Antique Olive" panose="020B0603020204030204"/>
                <a:ea typeface="Kollektif"/>
                <a:cs typeface="Kollektif"/>
                <a:sym typeface="Kollektif"/>
              </a:rPr>
              <a:t>Take the first task → push to stack → run it</a:t>
            </a:r>
          </a:p>
          <a:p>
            <a:pPr marL="532579" lvl="1" indent="-266290">
              <a:lnSpc>
                <a:spcPts val="3453"/>
              </a:lnSpc>
              <a:buFont typeface="Arial"/>
              <a:buChar char="•"/>
            </a:pPr>
            <a:r>
              <a:rPr lang="en-US" sz="2200" dirty="0">
                <a:latin typeface="Antique Olive" panose="020B0603020204030204"/>
                <a:ea typeface="Kollektif"/>
                <a:cs typeface="Kollektif"/>
                <a:sym typeface="Kollektif"/>
              </a:rPr>
              <a:t>Repeat forever</a:t>
            </a:r>
          </a:p>
          <a:p>
            <a:pPr>
              <a:lnSpc>
                <a:spcPts val="3453"/>
              </a:lnSpc>
            </a:pPr>
            <a:endParaRPr lang="en-US" sz="2200" dirty="0">
              <a:latin typeface="Antique Olive" panose="020B0603020204030204"/>
              <a:ea typeface="Kollektif"/>
              <a:cs typeface="Kollektif"/>
              <a:sym typeface="Kollektif"/>
            </a:endParaRPr>
          </a:p>
        </p:txBody>
      </p:sp>
      <p:sp>
        <p:nvSpPr>
          <p:cNvPr id="5" name="TextBox 5"/>
          <p:cNvSpPr txBox="1"/>
          <p:nvPr/>
        </p:nvSpPr>
        <p:spPr>
          <a:xfrm>
            <a:off x="565727" y="962731"/>
            <a:ext cx="9786188" cy="446148"/>
          </a:xfrm>
          <a:prstGeom prst="rect">
            <a:avLst/>
          </a:prstGeom>
        </p:spPr>
        <p:txBody>
          <a:bodyPr lIns="0" tIns="0" rIns="0" bIns="0" rtlCol="0" anchor="t">
            <a:spAutoFit/>
          </a:bodyPr>
          <a:lstStyle/>
          <a:p>
            <a:pPr>
              <a:lnSpc>
                <a:spcPts val="3733"/>
              </a:lnSpc>
            </a:pPr>
            <a:r>
              <a:rPr lang="en-US" sz="2500" b="1" dirty="0">
                <a:latin typeface="Antique Olive" panose="020B0603020204030204"/>
                <a:ea typeface="Yeseva One"/>
                <a:cs typeface="Yeseva One"/>
                <a:sym typeface="Yeseva One"/>
              </a:rPr>
              <a:t>How the Event Loop Works</a:t>
            </a:r>
          </a:p>
        </p:txBody>
      </p:sp>
    </p:spTree>
    <p:extLst>
      <p:ext uri="{BB962C8B-B14F-4D97-AF65-F5344CB8AC3E}">
        <p14:creationId xmlns:p14="http://schemas.microsoft.com/office/powerpoint/2010/main" val="2375362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65939" y="1552106"/>
            <a:ext cx="9508795" cy="3550587"/>
          </a:xfrm>
          <a:prstGeom prst="rect">
            <a:avLst/>
          </a:prstGeom>
        </p:spPr>
        <p:txBody>
          <a:bodyPr lIns="0" tIns="0" rIns="0" bIns="0" rtlCol="0" anchor="t">
            <a:spAutoFit/>
          </a:bodyPr>
          <a:lstStyle/>
          <a:p>
            <a:pPr>
              <a:lnSpc>
                <a:spcPts val="3453"/>
              </a:lnSpc>
            </a:pPr>
            <a:r>
              <a:rPr lang="en-US" sz="2466" dirty="0">
                <a:latin typeface="Antique Olive" panose="020B0603020204030204"/>
                <a:ea typeface="Kollektif"/>
                <a:cs typeface="Kollektif"/>
                <a:sym typeface="Kollektif"/>
              </a:rPr>
              <a:t>Microtasks run before </a:t>
            </a:r>
            <a:r>
              <a:rPr lang="en-US" sz="2466" dirty="0" err="1">
                <a:latin typeface="Antique Olive" panose="020B0603020204030204"/>
                <a:ea typeface="Kollektif"/>
                <a:cs typeface="Kollektif"/>
                <a:sym typeface="Kollektif"/>
              </a:rPr>
              <a:t>Macrotasks</a:t>
            </a:r>
            <a:endParaRPr lang="en-US" sz="2466" dirty="0">
              <a:latin typeface="Antique Olive" panose="020B0603020204030204"/>
              <a:ea typeface="Kollektif"/>
              <a:cs typeface="Kollektif"/>
              <a:sym typeface="Kollektif"/>
            </a:endParaRPr>
          </a:p>
          <a:p>
            <a:pPr>
              <a:lnSpc>
                <a:spcPts val="3453"/>
              </a:lnSpc>
            </a:pPr>
            <a:r>
              <a:rPr lang="en-US" sz="2466" dirty="0">
                <a:latin typeface="Antique Olive" panose="020B0603020204030204"/>
                <a:ea typeface="Kollektif"/>
                <a:cs typeface="Kollektif"/>
                <a:sym typeface="Kollektif"/>
              </a:rPr>
              <a:t>Example microtasks:</a:t>
            </a:r>
          </a:p>
          <a:p>
            <a:pPr marL="532579" lvl="1" indent="-266290">
              <a:lnSpc>
                <a:spcPts val="3453"/>
              </a:lnSpc>
              <a:buFont typeface="Arial"/>
              <a:buChar char="•"/>
            </a:pPr>
            <a:r>
              <a:rPr lang="en-US" sz="2466" dirty="0">
                <a:latin typeface="Antique Olive" panose="020B0603020204030204"/>
                <a:ea typeface="Kollektif"/>
                <a:cs typeface="Kollektif"/>
                <a:sym typeface="Kollektif"/>
              </a:rPr>
              <a:t>.then()</a:t>
            </a:r>
          </a:p>
          <a:p>
            <a:pPr marL="532579" lvl="1" indent="-266290">
              <a:lnSpc>
                <a:spcPts val="3453"/>
              </a:lnSpc>
              <a:buFont typeface="Arial"/>
              <a:buChar char="•"/>
            </a:pPr>
            <a:r>
              <a:rPr lang="en-US" sz="2466" dirty="0">
                <a:latin typeface="Antique Olive" panose="020B0603020204030204"/>
                <a:ea typeface="Kollektif"/>
                <a:cs typeface="Kollektif"/>
                <a:sym typeface="Kollektif"/>
              </a:rPr>
              <a:t>async/await</a:t>
            </a:r>
          </a:p>
          <a:p>
            <a:pPr>
              <a:lnSpc>
                <a:spcPts val="3453"/>
              </a:lnSpc>
            </a:pPr>
            <a:r>
              <a:rPr lang="en-US" sz="2466" dirty="0">
                <a:latin typeface="Antique Olive" panose="020B0603020204030204"/>
                <a:ea typeface="Kollektif"/>
                <a:cs typeface="Kollektif"/>
                <a:sym typeface="Kollektif"/>
              </a:rPr>
              <a:t>Example </a:t>
            </a:r>
            <a:r>
              <a:rPr lang="en-US" sz="2466" dirty="0" err="1">
                <a:latin typeface="Antique Olive" panose="020B0603020204030204"/>
                <a:ea typeface="Kollektif"/>
                <a:cs typeface="Kollektif"/>
                <a:sym typeface="Kollektif"/>
              </a:rPr>
              <a:t>macrotasks</a:t>
            </a:r>
            <a:r>
              <a:rPr lang="en-US" sz="2466" dirty="0">
                <a:latin typeface="Antique Olive" panose="020B0603020204030204"/>
                <a:ea typeface="Kollektif"/>
                <a:cs typeface="Kollektif"/>
                <a:sym typeface="Kollektif"/>
              </a:rPr>
              <a:t>:</a:t>
            </a:r>
          </a:p>
          <a:p>
            <a:pPr marL="532579" lvl="1" indent="-266290">
              <a:lnSpc>
                <a:spcPts val="3453"/>
              </a:lnSpc>
              <a:buFont typeface="Arial"/>
              <a:buChar char="•"/>
            </a:pPr>
            <a:r>
              <a:rPr lang="en-US" sz="2466" dirty="0" err="1">
                <a:latin typeface="Antique Olive" panose="020B0603020204030204"/>
                <a:ea typeface="Kollektif"/>
                <a:cs typeface="Kollektif"/>
                <a:sym typeface="Kollektif"/>
              </a:rPr>
              <a:t>setTimeout</a:t>
            </a:r>
            <a:endParaRPr lang="en-US" sz="2466" dirty="0">
              <a:latin typeface="Antique Olive" panose="020B0603020204030204"/>
              <a:ea typeface="Kollektif"/>
              <a:cs typeface="Kollektif"/>
              <a:sym typeface="Kollektif"/>
            </a:endParaRPr>
          </a:p>
          <a:p>
            <a:pPr marL="532579" lvl="1" indent="-266290">
              <a:lnSpc>
                <a:spcPts val="3453"/>
              </a:lnSpc>
              <a:buFont typeface="Arial"/>
              <a:buChar char="•"/>
            </a:pPr>
            <a:r>
              <a:rPr lang="en-US" sz="2466" dirty="0">
                <a:latin typeface="Antique Olive" panose="020B0603020204030204"/>
                <a:ea typeface="Kollektif"/>
                <a:cs typeface="Kollektif"/>
                <a:sym typeface="Kollektif"/>
              </a:rPr>
              <a:t>DOM events</a:t>
            </a:r>
          </a:p>
          <a:p>
            <a:pPr>
              <a:lnSpc>
                <a:spcPts val="3453"/>
              </a:lnSpc>
            </a:pPr>
            <a:endParaRPr lang="en-US" sz="2466" dirty="0">
              <a:latin typeface="Antique Olive" panose="020B0603020204030204"/>
              <a:ea typeface="Kollektif"/>
              <a:cs typeface="Kollektif"/>
              <a:sym typeface="Kollektif"/>
            </a:endParaRPr>
          </a:p>
        </p:txBody>
      </p:sp>
      <p:sp>
        <p:nvSpPr>
          <p:cNvPr id="5" name="TextBox 5"/>
          <p:cNvSpPr txBox="1"/>
          <p:nvPr/>
        </p:nvSpPr>
        <p:spPr>
          <a:xfrm>
            <a:off x="639618" y="786664"/>
            <a:ext cx="9786188" cy="450636"/>
          </a:xfrm>
          <a:prstGeom prst="rect">
            <a:avLst/>
          </a:prstGeom>
        </p:spPr>
        <p:txBody>
          <a:bodyPr lIns="0" tIns="0" rIns="0" bIns="0" rtlCol="0" anchor="t">
            <a:spAutoFit/>
          </a:bodyPr>
          <a:lstStyle/>
          <a:p>
            <a:pPr>
              <a:lnSpc>
                <a:spcPts val="3733"/>
              </a:lnSpc>
            </a:pPr>
            <a:r>
              <a:rPr lang="en-US" sz="2800" b="1" dirty="0">
                <a:latin typeface="Antique Olive" panose="020B0603020204030204"/>
                <a:ea typeface="Yeseva One"/>
                <a:cs typeface="Yeseva One"/>
                <a:sym typeface="Yeseva One"/>
              </a:rPr>
              <a:t>Important Rules</a:t>
            </a:r>
          </a:p>
        </p:txBody>
      </p:sp>
    </p:spTree>
    <p:extLst>
      <p:ext uri="{BB962C8B-B14F-4D97-AF65-F5344CB8AC3E}">
        <p14:creationId xmlns:p14="http://schemas.microsoft.com/office/powerpoint/2010/main" val="39206741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382289" y="1647836"/>
            <a:ext cx="3360885" cy="3562327"/>
          </a:xfrm>
          <a:custGeom>
            <a:avLst/>
            <a:gdLst/>
            <a:ahLst/>
            <a:cxnLst/>
            <a:rect l="l" t="t" r="r" b="b"/>
            <a:pathLst>
              <a:path w="5041328" h="5343490">
                <a:moveTo>
                  <a:pt x="0" y="0"/>
                </a:moveTo>
                <a:lnTo>
                  <a:pt x="5041328" y="0"/>
                </a:lnTo>
                <a:lnTo>
                  <a:pt x="5041328" y="5343490"/>
                </a:lnTo>
                <a:lnTo>
                  <a:pt x="0" y="5343490"/>
                </a:lnTo>
                <a:lnTo>
                  <a:pt x="0" y="0"/>
                </a:lnTo>
                <a:close/>
              </a:path>
            </a:pathLst>
          </a:custGeom>
          <a:blipFill>
            <a:blip r:embed="rId2"/>
            <a:stretch>
              <a:fillRect/>
            </a:stretch>
          </a:blipFill>
        </p:spPr>
      </p:sp>
      <p:sp>
        <p:nvSpPr>
          <p:cNvPr id="5" name="TextBox 5"/>
          <p:cNvSpPr txBox="1"/>
          <p:nvPr/>
        </p:nvSpPr>
        <p:spPr>
          <a:xfrm>
            <a:off x="621145" y="611749"/>
            <a:ext cx="9786188" cy="457433"/>
          </a:xfrm>
          <a:prstGeom prst="rect">
            <a:avLst/>
          </a:prstGeom>
        </p:spPr>
        <p:txBody>
          <a:bodyPr lIns="0" tIns="0" rIns="0" bIns="0" rtlCol="0" anchor="t">
            <a:spAutoFit/>
          </a:bodyPr>
          <a:lstStyle/>
          <a:p>
            <a:pPr algn="ctr">
              <a:lnSpc>
                <a:spcPts val="3733"/>
              </a:lnSpc>
            </a:pPr>
            <a:r>
              <a:rPr lang="en-US" sz="3000" b="1" dirty="0">
                <a:latin typeface="Antique Olive" panose="020B0603020204030204"/>
                <a:ea typeface="Yeseva One"/>
                <a:cs typeface="Yeseva One"/>
                <a:sym typeface="Yeseva One"/>
              </a:rPr>
              <a:t>Event Loop</a:t>
            </a:r>
          </a:p>
        </p:txBody>
      </p:sp>
      <p:sp>
        <p:nvSpPr>
          <p:cNvPr id="6" name="TextBox 6"/>
          <p:cNvSpPr txBox="1"/>
          <p:nvPr/>
        </p:nvSpPr>
        <p:spPr>
          <a:xfrm>
            <a:off x="1191516" y="2282162"/>
            <a:ext cx="1360332" cy="613501"/>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a:t>
            </a:r>
            <a:endParaRPr lang="en-US" sz="1795" b="1" dirty="0">
              <a:latin typeface="Kollektif Bold"/>
              <a:ea typeface="Kollektif Bold"/>
              <a:cs typeface="Kollektif Bold"/>
              <a:sym typeface="Kollektif Bold"/>
            </a:endParaRPr>
          </a:p>
          <a:p>
            <a:pPr>
              <a:lnSpc>
                <a:spcPts val="2513"/>
              </a:lnSpc>
            </a:pPr>
            <a:endParaRPr lang="en-US" sz="1795" b="1" dirty="0">
              <a:solidFill>
                <a:srgbClr val="564033"/>
              </a:solidFill>
              <a:latin typeface="Kollektif Bold"/>
              <a:ea typeface="Kollektif Bold"/>
              <a:cs typeface="Kollektif Bold"/>
              <a:sym typeface="Kollektif Bold"/>
            </a:endParaRPr>
          </a:p>
        </p:txBody>
      </p:sp>
      <p:sp>
        <p:nvSpPr>
          <p:cNvPr id="7" name="TextBox 7"/>
          <p:cNvSpPr txBox="1"/>
          <p:nvPr/>
        </p:nvSpPr>
        <p:spPr>
          <a:xfrm>
            <a:off x="6162499" y="3078585"/>
            <a:ext cx="2232885" cy="422231"/>
          </a:xfrm>
          <a:prstGeom prst="rect">
            <a:avLst/>
          </a:prstGeom>
        </p:spPr>
        <p:txBody>
          <a:bodyPr lIns="0" tIns="0" rIns="0" bIns="0" rtlCol="0" anchor="t">
            <a:spAutoFit/>
          </a:bodyPr>
          <a:lstStyle/>
          <a:p>
            <a:pPr>
              <a:lnSpc>
                <a:spcPts val="3540"/>
              </a:lnSpc>
            </a:pPr>
            <a:r>
              <a:rPr lang="en-US" sz="2528" b="1" dirty="0">
                <a:latin typeface="Antique Olive" panose="020B0603020204030204"/>
                <a:ea typeface="Kollektif Bold"/>
                <a:cs typeface="Kollektif Bold"/>
                <a:sym typeface="Kollektif Bold"/>
              </a:rPr>
              <a:t>=&gt; output</a:t>
            </a:r>
          </a:p>
        </p:txBody>
      </p:sp>
    </p:spTree>
    <p:extLst>
      <p:ext uri="{BB962C8B-B14F-4D97-AF65-F5344CB8AC3E}">
        <p14:creationId xmlns:p14="http://schemas.microsoft.com/office/powerpoint/2010/main" val="27559479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478839" y="1799981"/>
            <a:ext cx="3360885" cy="3562327"/>
          </a:xfrm>
          <a:custGeom>
            <a:avLst/>
            <a:gdLst/>
            <a:ahLst/>
            <a:cxnLst/>
            <a:rect l="l" t="t" r="r" b="b"/>
            <a:pathLst>
              <a:path w="5041328" h="5343490">
                <a:moveTo>
                  <a:pt x="0" y="0"/>
                </a:moveTo>
                <a:lnTo>
                  <a:pt x="5041328" y="0"/>
                </a:lnTo>
                <a:lnTo>
                  <a:pt x="5041328" y="5343490"/>
                </a:lnTo>
                <a:lnTo>
                  <a:pt x="0" y="5343490"/>
                </a:lnTo>
                <a:lnTo>
                  <a:pt x="0" y="0"/>
                </a:lnTo>
                <a:close/>
              </a:path>
            </a:pathLst>
          </a:custGeom>
          <a:blipFill>
            <a:blip r:embed="rId2"/>
            <a:stretch>
              <a:fillRect/>
            </a:stretch>
          </a:blipFill>
        </p:spPr>
      </p:sp>
      <p:sp>
        <p:nvSpPr>
          <p:cNvPr id="5" name="Freeform 5"/>
          <p:cNvSpPr/>
          <p:nvPr/>
        </p:nvSpPr>
        <p:spPr>
          <a:xfrm>
            <a:off x="8328885" y="1799981"/>
            <a:ext cx="1384276" cy="1577861"/>
          </a:xfrm>
          <a:custGeom>
            <a:avLst/>
            <a:gdLst/>
            <a:ahLst/>
            <a:cxnLst/>
            <a:rect l="l" t="t" r="r" b="b"/>
            <a:pathLst>
              <a:path w="2076414" h="2366792">
                <a:moveTo>
                  <a:pt x="0" y="0"/>
                </a:moveTo>
                <a:lnTo>
                  <a:pt x="2076414" y="0"/>
                </a:lnTo>
                <a:lnTo>
                  <a:pt x="2076414" y="2366792"/>
                </a:lnTo>
                <a:lnTo>
                  <a:pt x="0" y="2366792"/>
                </a:lnTo>
                <a:lnTo>
                  <a:pt x="0" y="0"/>
                </a:lnTo>
                <a:close/>
              </a:path>
            </a:pathLst>
          </a:custGeom>
          <a:blipFill>
            <a:blip r:embed="rId3"/>
            <a:stretch>
              <a:fillRect l="-2673"/>
            </a:stretch>
          </a:blipFill>
        </p:spPr>
      </p:sp>
      <p:sp>
        <p:nvSpPr>
          <p:cNvPr id="7" name="TextBox 7"/>
          <p:cNvSpPr txBox="1"/>
          <p:nvPr/>
        </p:nvSpPr>
        <p:spPr>
          <a:xfrm>
            <a:off x="1191516" y="2282162"/>
            <a:ext cx="1360332" cy="613501"/>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 :</a:t>
            </a:r>
          </a:p>
          <a:p>
            <a:pPr>
              <a:lnSpc>
                <a:spcPts val="2513"/>
              </a:lnSpc>
            </a:pPr>
            <a:endParaRPr lang="en-US" sz="1795" b="1" dirty="0">
              <a:solidFill>
                <a:srgbClr val="564033"/>
              </a:solidFill>
              <a:latin typeface="Kollektif Bold"/>
              <a:ea typeface="Kollektif Bold"/>
              <a:cs typeface="Kollektif Bold"/>
              <a:sym typeface="Kollektif Bold"/>
            </a:endParaRPr>
          </a:p>
        </p:txBody>
      </p:sp>
      <p:sp>
        <p:nvSpPr>
          <p:cNvPr id="8" name="TextBox 8"/>
          <p:cNvSpPr txBox="1"/>
          <p:nvPr/>
        </p:nvSpPr>
        <p:spPr>
          <a:xfrm>
            <a:off x="6096000" y="2265412"/>
            <a:ext cx="2232885" cy="422231"/>
          </a:xfrm>
          <a:prstGeom prst="rect">
            <a:avLst/>
          </a:prstGeom>
        </p:spPr>
        <p:txBody>
          <a:bodyPr lIns="0" tIns="0" rIns="0" bIns="0" rtlCol="0" anchor="t">
            <a:spAutoFit/>
          </a:bodyPr>
          <a:lstStyle/>
          <a:p>
            <a:pPr>
              <a:lnSpc>
                <a:spcPts val="3540"/>
              </a:lnSpc>
            </a:pPr>
            <a:r>
              <a:rPr lang="en-US" sz="2528" b="1" dirty="0">
                <a:latin typeface="Antique Olive" panose="020B0603020204030204"/>
                <a:ea typeface="Kollektif Bold"/>
                <a:cs typeface="Kollektif Bold"/>
                <a:sym typeface="Kollektif Bold"/>
              </a:rPr>
              <a:t>=&gt; output</a:t>
            </a:r>
          </a:p>
        </p:txBody>
      </p:sp>
      <p:sp>
        <p:nvSpPr>
          <p:cNvPr id="9" name="TextBox 9"/>
          <p:cNvSpPr txBox="1"/>
          <p:nvPr/>
        </p:nvSpPr>
        <p:spPr>
          <a:xfrm>
            <a:off x="6096000" y="3644945"/>
            <a:ext cx="5535877" cy="2333844"/>
          </a:xfrm>
          <a:prstGeom prst="rect">
            <a:avLst/>
          </a:prstGeom>
        </p:spPr>
        <p:txBody>
          <a:bodyPr lIns="0" tIns="0" rIns="0" bIns="0" rtlCol="0" anchor="t">
            <a:spAutoFit/>
          </a:bodyPr>
          <a:lstStyle/>
          <a:p>
            <a:pPr>
              <a:lnSpc>
                <a:spcPts val="2298"/>
              </a:lnSpc>
              <a:spcBef>
                <a:spcPct val="0"/>
              </a:spcBef>
            </a:pPr>
            <a:r>
              <a:rPr lang="en-US" sz="1641" dirty="0">
                <a:latin typeface="Antique Olive" panose="020B0603020204030204"/>
                <a:ea typeface="Yeseva One"/>
                <a:cs typeface="Yeseva One"/>
                <a:sym typeface="Yeseva One"/>
              </a:rPr>
              <a:t>Why?</a:t>
            </a:r>
          </a:p>
          <a:p>
            <a:pPr marL="354495" lvl="1" indent="-177248">
              <a:lnSpc>
                <a:spcPts val="2298"/>
              </a:lnSpc>
              <a:buFont typeface="Arial"/>
              <a:buChar char="•"/>
            </a:pPr>
            <a:r>
              <a:rPr lang="en-US" sz="1641" dirty="0">
                <a:latin typeface="Antique Olive" panose="020B0603020204030204"/>
                <a:ea typeface="Yeseva One"/>
                <a:cs typeface="Yeseva One"/>
                <a:sym typeface="Yeseva One"/>
              </a:rPr>
              <a:t>console.log("Start") → runs</a:t>
            </a:r>
          </a:p>
          <a:p>
            <a:pPr marL="354495" lvl="1" indent="-177248">
              <a:lnSpc>
                <a:spcPts val="2298"/>
              </a:lnSpc>
              <a:buFont typeface="Arial"/>
              <a:buChar char="•"/>
            </a:pPr>
            <a:r>
              <a:rPr lang="en-US" sz="1641" dirty="0" err="1">
                <a:latin typeface="Antique Olive" panose="020B0603020204030204"/>
                <a:ea typeface="Yeseva One"/>
                <a:cs typeface="Yeseva One"/>
                <a:sym typeface="Yeseva One"/>
              </a:rPr>
              <a:t>setTimeout</a:t>
            </a:r>
            <a:r>
              <a:rPr lang="en-US" sz="1641" dirty="0">
                <a:latin typeface="Antique Olive" panose="020B0603020204030204"/>
                <a:ea typeface="Yeseva One"/>
                <a:cs typeface="Yeseva One"/>
                <a:sym typeface="Yeseva One"/>
              </a:rPr>
              <a:t> goes to Web APIs → </a:t>
            </a:r>
            <a:r>
              <a:rPr lang="en-US" sz="1641" dirty="0" err="1">
                <a:latin typeface="Antique Olive" panose="020B0603020204030204"/>
                <a:ea typeface="Yeseva One"/>
                <a:cs typeface="Yeseva One"/>
                <a:sym typeface="Yeseva One"/>
              </a:rPr>
              <a:t>macrotask</a:t>
            </a:r>
            <a:r>
              <a:rPr lang="en-US" sz="1641" dirty="0">
                <a:latin typeface="Antique Olive" panose="020B0603020204030204"/>
                <a:ea typeface="Yeseva One"/>
                <a:cs typeface="Yeseva One"/>
                <a:sym typeface="Yeseva One"/>
              </a:rPr>
              <a:t> queue</a:t>
            </a:r>
          </a:p>
          <a:p>
            <a:pPr marL="354495" lvl="1" indent="-177248">
              <a:lnSpc>
                <a:spcPts val="2298"/>
              </a:lnSpc>
              <a:buFont typeface="Arial"/>
              <a:buChar char="•"/>
            </a:pPr>
            <a:r>
              <a:rPr lang="en-US" sz="1641" dirty="0">
                <a:latin typeface="Antique Olive" panose="020B0603020204030204"/>
                <a:ea typeface="Yeseva One"/>
                <a:cs typeface="Yeseva One"/>
                <a:sym typeface="Yeseva One"/>
              </a:rPr>
              <a:t>Promise → microtask queue</a:t>
            </a:r>
          </a:p>
          <a:p>
            <a:pPr marL="354495" lvl="1" indent="-177248">
              <a:lnSpc>
                <a:spcPts val="2298"/>
              </a:lnSpc>
              <a:buFont typeface="Arial"/>
              <a:buChar char="•"/>
            </a:pPr>
            <a:r>
              <a:rPr lang="en-US" sz="1641" dirty="0">
                <a:latin typeface="Antique Olive" panose="020B0603020204030204"/>
                <a:ea typeface="Yeseva One"/>
                <a:cs typeface="Yeseva One"/>
                <a:sym typeface="Yeseva One"/>
              </a:rPr>
              <a:t>console.log("End")</a:t>
            </a:r>
          </a:p>
          <a:p>
            <a:pPr marL="354495" lvl="1" indent="-177248">
              <a:lnSpc>
                <a:spcPts val="2298"/>
              </a:lnSpc>
              <a:buFont typeface="Arial"/>
              <a:buChar char="•"/>
            </a:pPr>
            <a:r>
              <a:rPr lang="en-US" sz="1641" dirty="0">
                <a:latin typeface="Antique Olive" panose="020B0603020204030204"/>
                <a:ea typeface="Yeseva One"/>
                <a:cs typeface="Yeseva One"/>
                <a:sym typeface="Yeseva One"/>
              </a:rPr>
              <a:t>Event loop checks queues:</a:t>
            </a:r>
          </a:p>
          <a:p>
            <a:pPr marL="354495" lvl="1" indent="-177248">
              <a:lnSpc>
                <a:spcPts val="2298"/>
              </a:lnSpc>
              <a:buFont typeface="Arial"/>
              <a:buChar char="•"/>
            </a:pPr>
            <a:r>
              <a:rPr lang="en-US" sz="1641" dirty="0">
                <a:latin typeface="Antique Olive" panose="020B0603020204030204"/>
                <a:ea typeface="Yeseva One"/>
                <a:cs typeface="Yeseva One"/>
                <a:sym typeface="Yeseva One"/>
              </a:rPr>
              <a:t>Microtask first → Promise</a:t>
            </a:r>
          </a:p>
          <a:p>
            <a:pPr marL="354495" lvl="1" indent="-177248">
              <a:lnSpc>
                <a:spcPts val="2298"/>
              </a:lnSpc>
              <a:buFont typeface="Arial"/>
              <a:buChar char="•"/>
            </a:pPr>
            <a:r>
              <a:rPr lang="en-US" sz="1641" dirty="0">
                <a:latin typeface="Antique Olive" panose="020B0603020204030204"/>
                <a:ea typeface="Yeseva One"/>
                <a:cs typeface="Yeseva One"/>
                <a:sym typeface="Yeseva One"/>
              </a:rPr>
              <a:t>Then </a:t>
            </a:r>
            <a:r>
              <a:rPr lang="en-US" sz="1641" dirty="0" err="1">
                <a:latin typeface="Antique Olive" panose="020B0603020204030204"/>
                <a:ea typeface="Yeseva One"/>
                <a:cs typeface="Yeseva One"/>
                <a:sym typeface="Yeseva One"/>
              </a:rPr>
              <a:t>macrotask</a:t>
            </a:r>
            <a:r>
              <a:rPr lang="en-US" sz="1641" dirty="0">
                <a:latin typeface="Antique Olive" panose="020B0603020204030204"/>
                <a:ea typeface="Yeseva One"/>
                <a:cs typeface="Yeseva One"/>
                <a:sym typeface="Yeseva One"/>
              </a:rPr>
              <a:t> → Timeout</a:t>
            </a:r>
          </a:p>
        </p:txBody>
      </p:sp>
      <p:sp>
        <p:nvSpPr>
          <p:cNvPr id="10" name="TextBox 5">
            <a:extLst>
              <a:ext uri="{FF2B5EF4-FFF2-40B4-BE49-F238E27FC236}">
                <a16:creationId xmlns:a16="http://schemas.microsoft.com/office/drawing/2014/main" id="{2ED29780-8BCC-4E1C-C646-DF376D2940B0}"/>
              </a:ext>
            </a:extLst>
          </p:cNvPr>
          <p:cNvSpPr txBox="1"/>
          <p:nvPr/>
        </p:nvSpPr>
        <p:spPr>
          <a:xfrm>
            <a:off x="621145" y="611749"/>
            <a:ext cx="9786188" cy="457433"/>
          </a:xfrm>
          <a:prstGeom prst="rect">
            <a:avLst/>
          </a:prstGeom>
        </p:spPr>
        <p:txBody>
          <a:bodyPr lIns="0" tIns="0" rIns="0" bIns="0" rtlCol="0" anchor="t">
            <a:spAutoFit/>
          </a:bodyPr>
          <a:lstStyle/>
          <a:p>
            <a:pPr algn="ctr">
              <a:lnSpc>
                <a:spcPts val="3733"/>
              </a:lnSpc>
            </a:pPr>
            <a:r>
              <a:rPr lang="en-US" sz="3000" b="1" dirty="0">
                <a:latin typeface="Antique Olive" panose="020B0603020204030204"/>
                <a:ea typeface="Yeseva One"/>
                <a:cs typeface="Yeseva One"/>
                <a:sym typeface="Yeseva One"/>
              </a:rPr>
              <a:t>Event Loop</a:t>
            </a:r>
          </a:p>
        </p:txBody>
      </p:sp>
    </p:spTree>
    <p:extLst>
      <p:ext uri="{BB962C8B-B14F-4D97-AF65-F5344CB8AC3E}">
        <p14:creationId xmlns:p14="http://schemas.microsoft.com/office/powerpoint/2010/main" val="27372743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327488" y="1871721"/>
            <a:ext cx="4713755" cy="3634122"/>
          </a:xfrm>
          <a:custGeom>
            <a:avLst/>
            <a:gdLst/>
            <a:ahLst/>
            <a:cxnLst/>
            <a:rect l="l" t="t" r="r" b="b"/>
            <a:pathLst>
              <a:path w="7070632" h="5451183">
                <a:moveTo>
                  <a:pt x="0" y="0"/>
                </a:moveTo>
                <a:lnTo>
                  <a:pt x="7070632" y="0"/>
                </a:lnTo>
                <a:lnTo>
                  <a:pt x="7070632" y="5451182"/>
                </a:lnTo>
                <a:lnTo>
                  <a:pt x="0" y="5451182"/>
                </a:lnTo>
                <a:lnTo>
                  <a:pt x="0" y="0"/>
                </a:lnTo>
                <a:close/>
              </a:path>
            </a:pathLst>
          </a:custGeom>
          <a:blipFill>
            <a:blip r:embed="rId2"/>
            <a:stretch>
              <a:fillRect/>
            </a:stretch>
          </a:blipFill>
        </p:spPr>
      </p:sp>
      <p:sp>
        <p:nvSpPr>
          <p:cNvPr id="6" name="TextBox 6"/>
          <p:cNvSpPr txBox="1"/>
          <p:nvPr/>
        </p:nvSpPr>
        <p:spPr>
          <a:xfrm>
            <a:off x="1191516" y="2282162"/>
            <a:ext cx="1360332" cy="613501"/>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 :</a:t>
            </a:r>
          </a:p>
          <a:p>
            <a:pPr>
              <a:lnSpc>
                <a:spcPts val="2513"/>
              </a:lnSpc>
            </a:pPr>
            <a:endParaRPr lang="en-US" sz="1795" b="1" dirty="0">
              <a:solidFill>
                <a:srgbClr val="564033"/>
              </a:solidFill>
              <a:latin typeface="Kollektif Bold"/>
              <a:ea typeface="Kollektif Bold"/>
              <a:cs typeface="Kollektif Bold"/>
              <a:sym typeface="Kollektif Bold"/>
            </a:endParaRPr>
          </a:p>
        </p:txBody>
      </p:sp>
      <p:sp>
        <p:nvSpPr>
          <p:cNvPr id="7" name="TextBox 7"/>
          <p:cNvSpPr txBox="1"/>
          <p:nvPr/>
        </p:nvSpPr>
        <p:spPr>
          <a:xfrm>
            <a:off x="7631627" y="3266551"/>
            <a:ext cx="2232885" cy="422231"/>
          </a:xfrm>
          <a:prstGeom prst="rect">
            <a:avLst/>
          </a:prstGeom>
        </p:spPr>
        <p:txBody>
          <a:bodyPr lIns="0" tIns="0" rIns="0" bIns="0" rtlCol="0" anchor="t">
            <a:spAutoFit/>
          </a:bodyPr>
          <a:lstStyle/>
          <a:p>
            <a:pPr>
              <a:lnSpc>
                <a:spcPts val="3540"/>
              </a:lnSpc>
            </a:pPr>
            <a:r>
              <a:rPr lang="en-US" sz="2528" b="1" dirty="0">
                <a:latin typeface="Antique Olive" panose="020B0603020204030204"/>
                <a:ea typeface="Kollektif Bold"/>
                <a:cs typeface="Kollektif Bold"/>
                <a:sym typeface="Kollektif Bold"/>
              </a:rPr>
              <a:t>=&gt; output</a:t>
            </a:r>
          </a:p>
        </p:txBody>
      </p:sp>
      <p:sp>
        <p:nvSpPr>
          <p:cNvPr id="8" name="TextBox 5">
            <a:extLst>
              <a:ext uri="{FF2B5EF4-FFF2-40B4-BE49-F238E27FC236}">
                <a16:creationId xmlns:a16="http://schemas.microsoft.com/office/drawing/2014/main" id="{CA9695DD-863F-A57E-4864-77CC62EBDE47}"/>
              </a:ext>
            </a:extLst>
          </p:cNvPr>
          <p:cNvSpPr txBox="1"/>
          <p:nvPr/>
        </p:nvSpPr>
        <p:spPr>
          <a:xfrm>
            <a:off x="621145" y="611749"/>
            <a:ext cx="9786188" cy="457433"/>
          </a:xfrm>
          <a:prstGeom prst="rect">
            <a:avLst/>
          </a:prstGeom>
        </p:spPr>
        <p:txBody>
          <a:bodyPr lIns="0" tIns="0" rIns="0" bIns="0" rtlCol="0" anchor="t">
            <a:spAutoFit/>
          </a:bodyPr>
          <a:lstStyle/>
          <a:p>
            <a:pPr algn="ctr">
              <a:lnSpc>
                <a:spcPts val="3733"/>
              </a:lnSpc>
            </a:pPr>
            <a:r>
              <a:rPr lang="en-US" sz="3000" b="1" dirty="0">
                <a:latin typeface="Antique Olive" panose="020B0603020204030204"/>
                <a:ea typeface="Yeseva One"/>
                <a:cs typeface="Yeseva One"/>
                <a:sym typeface="Yeseva One"/>
              </a:rPr>
              <a:t>Event Loop</a:t>
            </a:r>
          </a:p>
        </p:txBody>
      </p:sp>
    </p:spTree>
    <p:extLst>
      <p:ext uri="{BB962C8B-B14F-4D97-AF65-F5344CB8AC3E}">
        <p14:creationId xmlns:p14="http://schemas.microsoft.com/office/powerpoint/2010/main" val="42661409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551848" y="2029448"/>
            <a:ext cx="5454502" cy="3491351"/>
          </a:xfrm>
          <a:custGeom>
            <a:avLst/>
            <a:gdLst/>
            <a:ahLst/>
            <a:cxnLst/>
            <a:rect l="l" t="t" r="r" b="b"/>
            <a:pathLst>
              <a:path w="8181753" h="5237027">
                <a:moveTo>
                  <a:pt x="0" y="0"/>
                </a:moveTo>
                <a:lnTo>
                  <a:pt x="8181753" y="0"/>
                </a:lnTo>
                <a:lnTo>
                  <a:pt x="8181753" y="5237027"/>
                </a:lnTo>
                <a:lnTo>
                  <a:pt x="0" y="5237027"/>
                </a:lnTo>
                <a:lnTo>
                  <a:pt x="0" y="0"/>
                </a:lnTo>
                <a:close/>
              </a:path>
            </a:pathLst>
          </a:custGeom>
          <a:blipFill>
            <a:blip r:embed="rId2"/>
            <a:stretch>
              <a:fillRect/>
            </a:stretch>
          </a:blipFill>
        </p:spPr>
      </p:sp>
      <p:sp>
        <p:nvSpPr>
          <p:cNvPr id="6" name="TextBox 6"/>
          <p:cNvSpPr txBox="1"/>
          <p:nvPr/>
        </p:nvSpPr>
        <p:spPr>
          <a:xfrm>
            <a:off x="1191516" y="2282162"/>
            <a:ext cx="1360332" cy="613501"/>
          </a:xfrm>
          <a:prstGeom prst="rect">
            <a:avLst/>
          </a:prstGeom>
        </p:spPr>
        <p:txBody>
          <a:bodyPr lIns="0" tIns="0" rIns="0" bIns="0" rtlCol="0" anchor="t">
            <a:spAutoFit/>
          </a:bodyPr>
          <a:lstStyle/>
          <a:p>
            <a:pPr>
              <a:lnSpc>
                <a:spcPts val="2513"/>
              </a:lnSpc>
            </a:pPr>
            <a:r>
              <a:rPr lang="en-US" sz="1795" b="1" dirty="0">
                <a:latin typeface="Antique Olive" panose="020B0603020204030204"/>
                <a:ea typeface="Kollektif Bold"/>
                <a:cs typeface="Kollektif Bold"/>
                <a:sym typeface="Kollektif Bold"/>
              </a:rPr>
              <a:t>Example :</a:t>
            </a:r>
          </a:p>
          <a:p>
            <a:pPr>
              <a:lnSpc>
                <a:spcPts val="2513"/>
              </a:lnSpc>
            </a:pPr>
            <a:endParaRPr lang="en-US" sz="1795" b="1" dirty="0">
              <a:solidFill>
                <a:srgbClr val="564033"/>
              </a:solidFill>
              <a:latin typeface="Kollektif Bold"/>
              <a:ea typeface="Kollektif Bold"/>
              <a:cs typeface="Kollektif Bold"/>
              <a:sym typeface="Kollektif Bold"/>
            </a:endParaRPr>
          </a:p>
        </p:txBody>
      </p:sp>
      <p:sp>
        <p:nvSpPr>
          <p:cNvPr id="7" name="TextBox 7"/>
          <p:cNvSpPr txBox="1"/>
          <p:nvPr/>
        </p:nvSpPr>
        <p:spPr>
          <a:xfrm>
            <a:off x="8250239" y="3429000"/>
            <a:ext cx="2232885" cy="422231"/>
          </a:xfrm>
          <a:prstGeom prst="rect">
            <a:avLst/>
          </a:prstGeom>
        </p:spPr>
        <p:txBody>
          <a:bodyPr lIns="0" tIns="0" rIns="0" bIns="0" rtlCol="0" anchor="t">
            <a:spAutoFit/>
          </a:bodyPr>
          <a:lstStyle/>
          <a:p>
            <a:pPr>
              <a:lnSpc>
                <a:spcPts val="3540"/>
              </a:lnSpc>
            </a:pPr>
            <a:r>
              <a:rPr lang="en-US" sz="2528" b="1" dirty="0">
                <a:latin typeface="Antique Olive" panose="020B0603020204030204"/>
                <a:ea typeface="Kollektif Bold"/>
                <a:cs typeface="Kollektif Bold"/>
                <a:sym typeface="Kollektif Bold"/>
              </a:rPr>
              <a:t>=&gt; output</a:t>
            </a:r>
          </a:p>
        </p:txBody>
      </p:sp>
      <p:pic>
        <p:nvPicPr>
          <p:cNvPr id="9" name="Picture 8">
            <a:extLst>
              <a:ext uri="{FF2B5EF4-FFF2-40B4-BE49-F238E27FC236}">
                <a16:creationId xmlns:a16="http://schemas.microsoft.com/office/drawing/2014/main" id="{69E29FF3-F575-053F-606F-31500054FEA4}"/>
              </a:ext>
            </a:extLst>
          </p:cNvPr>
          <p:cNvPicPr>
            <a:picLocks noChangeAspect="1"/>
          </p:cNvPicPr>
          <p:nvPr/>
        </p:nvPicPr>
        <p:blipFill>
          <a:blip r:embed="rId3"/>
          <a:stretch>
            <a:fillRect/>
          </a:stretch>
        </p:blipFill>
        <p:spPr>
          <a:xfrm>
            <a:off x="814199" y="548841"/>
            <a:ext cx="8533001" cy="809625"/>
          </a:xfrm>
          <a:prstGeom prst="rect">
            <a:avLst/>
          </a:prstGeom>
        </p:spPr>
      </p:pic>
    </p:spTree>
    <p:extLst>
      <p:ext uri="{BB962C8B-B14F-4D97-AF65-F5344CB8AC3E}">
        <p14:creationId xmlns:p14="http://schemas.microsoft.com/office/powerpoint/2010/main" val="3671963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25946" y="1026808"/>
            <a:ext cx="9786188" cy="4357860"/>
          </a:xfrm>
          <a:prstGeom prst="rect">
            <a:avLst/>
          </a:prstGeom>
        </p:spPr>
        <p:txBody>
          <a:bodyPr lIns="0" tIns="0" rIns="0" bIns="0" rtlCol="0" anchor="t">
            <a:spAutoFit/>
          </a:bodyPr>
          <a:lstStyle/>
          <a:p>
            <a:pPr algn="ctr">
              <a:lnSpc>
                <a:spcPts val="4667"/>
              </a:lnSpc>
            </a:pPr>
            <a:r>
              <a:rPr lang="en-US" sz="3500" b="1" dirty="0">
                <a:latin typeface="Antique Olive" panose="020B0603020204030204"/>
                <a:ea typeface="Yeseva One"/>
                <a:cs typeface="Yeseva One"/>
                <a:sym typeface="Yeseva One"/>
              </a:rPr>
              <a:t>Task</a:t>
            </a:r>
          </a:p>
          <a:p>
            <a:pPr>
              <a:lnSpc>
                <a:spcPts val="3733"/>
              </a:lnSpc>
            </a:pPr>
            <a:r>
              <a:rPr lang="en-US" sz="2666" dirty="0">
                <a:latin typeface="Antique Olive" panose="020B0603020204030204"/>
                <a:ea typeface="Yeseva One"/>
                <a:cs typeface="Yeseva One"/>
                <a:sym typeface="Yeseva One"/>
              </a:rPr>
              <a:t>Build a small “Fake Login System” using async concepts:</a:t>
            </a:r>
          </a:p>
          <a:p>
            <a:pPr>
              <a:lnSpc>
                <a:spcPts val="3733"/>
              </a:lnSpc>
            </a:pPr>
            <a:r>
              <a:rPr lang="en-US" sz="2666" dirty="0">
                <a:latin typeface="Antique Olive" panose="020B0603020204030204"/>
                <a:ea typeface="Yeseva One"/>
                <a:cs typeface="Yeseva One"/>
                <a:sym typeface="Yeseva One"/>
              </a:rPr>
              <a:t>✔ Show “Loading…” for 2s</a:t>
            </a:r>
          </a:p>
          <a:p>
            <a:pPr>
              <a:lnSpc>
                <a:spcPts val="3733"/>
              </a:lnSpc>
            </a:pPr>
            <a:r>
              <a:rPr lang="en-US" sz="2666" dirty="0">
                <a:latin typeface="Antique Olive" panose="020B0603020204030204"/>
                <a:ea typeface="Yeseva One"/>
                <a:cs typeface="Yeseva One"/>
                <a:sym typeface="Yeseva One"/>
              </a:rPr>
              <a:t> ✔ If username === "admin", resolve promise</a:t>
            </a:r>
          </a:p>
          <a:p>
            <a:pPr>
              <a:lnSpc>
                <a:spcPts val="3733"/>
              </a:lnSpc>
            </a:pPr>
            <a:r>
              <a:rPr lang="en-US" sz="2666" dirty="0">
                <a:latin typeface="Antique Olive" panose="020B0603020204030204"/>
                <a:ea typeface="Yeseva One"/>
                <a:cs typeface="Yeseva One"/>
                <a:sym typeface="Yeseva One"/>
              </a:rPr>
              <a:t> ✔ Else reject</a:t>
            </a:r>
          </a:p>
          <a:p>
            <a:pPr>
              <a:lnSpc>
                <a:spcPts val="3733"/>
              </a:lnSpc>
            </a:pPr>
            <a:r>
              <a:rPr lang="en-US" sz="2666" dirty="0">
                <a:latin typeface="Antique Olive" panose="020B0603020204030204"/>
                <a:ea typeface="Yeseva One"/>
                <a:cs typeface="Yeseva One"/>
                <a:sym typeface="Yeseva One"/>
              </a:rPr>
              <a:t> ✔ Use async/await to call the function</a:t>
            </a:r>
          </a:p>
          <a:p>
            <a:pPr>
              <a:lnSpc>
                <a:spcPts val="3733"/>
              </a:lnSpc>
            </a:pPr>
            <a:r>
              <a:rPr lang="en-US" sz="2666" dirty="0">
                <a:latin typeface="Antique Olive" panose="020B0603020204030204"/>
                <a:ea typeface="Yeseva One"/>
                <a:cs typeface="Yeseva One"/>
                <a:sym typeface="Yeseva One"/>
              </a:rPr>
              <a:t> ✔ Use try/catch to handle error</a:t>
            </a:r>
          </a:p>
          <a:p>
            <a:pPr>
              <a:lnSpc>
                <a:spcPts val="3733"/>
              </a:lnSpc>
            </a:pPr>
            <a:r>
              <a:rPr lang="en-US" sz="2666" dirty="0">
                <a:latin typeface="Antique Olive" panose="020B0603020204030204"/>
                <a:ea typeface="Yeseva One"/>
                <a:cs typeface="Yeseva One"/>
                <a:sym typeface="Yeseva One"/>
              </a:rPr>
              <a:t> ✔ Show messages in the DOM using events</a:t>
            </a:r>
          </a:p>
          <a:p>
            <a:pPr algn="ctr">
              <a:lnSpc>
                <a:spcPts val="3733"/>
              </a:lnSpc>
            </a:pPr>
            <a:endParaRPr lang="en-US" sz="2666" dirty="0">
              <a:latin typeface="Antique Olive" panose="020B0603020204030204"/>
              <a:ea typeface="Yeseva One"/>
              <a:cs typeface="Yeseva One"/>
              <a:sym typeface="Yeseva One"/>
            </a:endParaRPr>
          </a:p>
        </p:txBody>
      </p:sp>
    </p:spTree>
    <p:extLst>
      <p:ext uri="{BB962C8B-B14F-4D97-AF65-F5344CB8AC3E}">
        <p14:creationId xmlns:p14="http://schemas.microsoft.com/office/powerpoint/2010/main" val="40472390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67261" y="659585"/>
            <a:ext cx="9786188" cy="1054584"/>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what is an Api?</a:t>
            </a:r>
          </a:p>
          <a:p>
            <a:pPr>
              <a:lnSpc>
                <a:spcPts val="4293"/>
              </a:lnSpc>
            </a:pPr>
            <a:endParaRPr lang="en-US" sz="3066" dirty="0">
              <a:solidFill>
                <a:srgbClr val="564033"/>
              </a:solidFill>
              <a:latin typeface="Yeseva One"/>
              <a:ea typeface="Yeseva One"/>
              <a:cs typeface="Yeseva One"/>
              <a:sym typeface="Yeseva One"/>
            </a:endParaRPr>
          </a:p>
        </p:txBody>
      </p:sp>
      <p:sp>
        <p:nvSpPr>
          <p:cNvPr id="5" name="TextBox 5"/>
          <p:cNvSpPr txBox="1"/>
          <p:nvPr/>
        </p:nvSpPr>
        <p:spPr>
          <a:xfrm>
            <a:off x="745588" y="1749630"/>
            <a:ext cx="9710644" cy="3358740"/>
          </a:xfrm>
          <a:prstGeom prst="rect">
            <a:avLst/>
          </a:prstGeom>
        </p:spPr>
        <p:txBody>
          <a:bodyPr lIns="0" tIns="0" rIns="0" bIns="0" rtlCol="0" anchor="t">
            <a:spAutoFit/>
          </a:bodyPr>
          <a:lstStyle/>
          <a:p>
            <a:pPr>
              <a:lnSpc>
                <a:spcPts val="3267"/>
              </a:lnSpc>
            </a:pPr>
            <a:r>
              <a:rPr lang="en-US" sz="2200" dirty="0">
                <a:latin typeface="Antique Olive" panose="020B0603020204030204"/>
                <a:ea typeface="Kollektif"/>
                <a:cs typeface="Kollektif"/>
                <a:sym typeface="Kollektif"/>
              </a:rPr>
              <a:t>API – (Application Programming Interface) A developer extensively uses APIs in his software to implement various features by using an API call without writing complex codes for the same. We can create an API for an operating system, database system, hardware system, JavaScript file, or similar object-oriented files. Also, an API is similar to a GUI(Graphical User Interface) with one major difference. Unlike GUIs, an API helps software developers to access web tools while a GUI helps to make a program easier to understand by users.</a:t>
            </a:r>
          </a:p>
          <a:p>
            <a:pPr>
              <a:lnSpc>
                <a:spcPts val="3267"/>
              </a:lnSpc>
            </a:pPr>
            <a:endParaRPr lang="en-US" sz="2200" dirty="0">
              <a:latin typeface="Antique Olive" panose="020B0603020204030204"/>
              <a:ea typeface="Kollektif"/>
              <a:cs typeface="Kollektif"/>
              <a:sym typeface="Kollektif"/>
            </a:endParaRPr>
          </a:p>
        </p:txBody>
      </p:sp>
    </p:spTree>
    <p:extLst>
      <p:ext uri="{BB962C8B-B14F-4D97-AF65-F5344CB8AC3E}">
        <p14:creationId xmlns:p14="http://schemas.microsoft.com/office/powerpoint/2010/main" val="37402573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54610" y="1466240"/>
            <a:ext cx="9710644" cy="5897897"/>
          </a:xfrm>
          <a:prstGeom prst="rect">
            <a:avLst/>
          </a:prstGeom>
        </p:spPr>
        <p:txBody>
          <a:bodyPr lIns="0" tIns="0" rIns="0" bIns="0" rtlCol="0" anchor="t">
            <a:spAutoFit/>
          </a:bodyPr>
          <a:lstStyle/>
          <a:p>
            <a:pPr>
              <a:lnSpc>
                <a:spcPts val="3267"/>
              </a:lnSpc>
            </a:pPr>
            <a:r>
              <a:rPr lang="en-US" sz="2200" dirty="0">
                <a:latin typeface="Antique Olive" panose="020B0603020204030204"/>
                <a:ea typeface="Kollektif"/>
                <a:cs typeface="Kollektif"/>
                <a:sym typeface="Kollektif"/>
              </a:rPr>
              <a:t>The client initiates the requests via the APIs URI (Uniform Resource Identifier)</a:t>
            </a:r>
          </a:p>
          <a:p>
            <a:pPr>
              <a:lnSpc>
                <a:spcPts val="3267"/>
              </a:lnSpc>
            </a:pPr>
            <a:r>
              <a:rPr lang="en-US" sz="2200" dirty="0">
                <a:latin typeface="Antique Olive" panose="020B0603020204030204"/>
                <a:ea typeface="Kollektif"/>
                <a:cs typeface="Kollektif"/>
                <a:sym typeface="Kollektif"/>
              </a:rPr>
              <a:t>The API makes a call to the server after receiving the request</a:t>
            </a:r>
          </a:p>
          <a:p>
            <a:pPr>
              <a:lnSpc>
                <a:spcPts val="3267"/>
              </a:lnSpc>
            </a:pPr>
            <a:r>
              <a:rPr lang="en-US" sz="2200" dirty="0">
                <a:latin typeface="Antique Olive" panose="020B0603020204030204"/>
                <a:ea typeface="Kollektif"/>
                <a:cs typeface="Kollektif"/>
                <a:sym typeface="Kollektif"/>
              </a:rPr>
              <a:t>Then the server sends the response back to the API with the information</a:t>
            </a:r>
          </a:p>
          <a:p>
            <a:pPr>
              <a:lnSpc>
                <a:spcPts val="3267"/>
              </a:lnSpc>
            </a:pPr>
            <a:r>
              <a:rPr lang="en-US" sz="2200" dirty="0">
                <a:latin typeface="Antique Olive" panose="020B0603020204030204"/>
                <a:ea typeface="Kollektif"/>
                <a:cs typeface="Kollektif"/>
                <a:sym typeface="Kollektif"/>
              </a:rPr>
              <a:t>Finally, the API transfers the data to the client</a:t>
            </a:r>
          </a:p>
          <a:p>
            <a:pPr>
              <a:lnSpc>
                <a:spcPts val="3267"/>
              </a:lnSpc>
            </a:pPr>
            <a:endParaRPr lang="en-US" sz="2200" dirty="0">
              <a:latin typeface="Antique Olive" panose="020B0603020204030204"/>
              <a:ea typeface="Kollektif"/>
              <a:cs typeface="Kollektif"/>
              <a:sym typeface="Kollektif"/>
            </a:endParaRPr>
          </a:p>
          <a:p>
            <a:pPr>
              <a:lnSpc>
                <a:spcPts val="3267"/>
              </a:lnSpc>
            </a:pPr>
            <a:endParaRPr lang="en-US" sz="2200" dirty="0">
              <a:latin typeface="Antique Olive" panose="020B0603020204030204"/>
              <a:ea typeface="Kollektif"/>
              <a:cs typeface="Kollektif"/>
              <a:sym typeface="Kollektif"/>
            </a:endParaRPr>
          </a:p>
          <a:p>
            <a:pPr>
              <a:lnSpc>
                <a:spcPts val="3267"/>
              </a:lnSpc>
            </a:pPr>
            <a:r>
              <a:rPr lang="en-US" sz="2200" b="1" spc="123" dirty="0">
                <a:latin typeface="Antique Olive" panose="020B0603020204030204"/>
                <a:ea typeface="Kollektif Bold"/>
                <a:cs typeface="Kollektif Bold"/>
                <a:sym typeface="Kollektif Bold"/>
              </a:rPr>
              <a:t> </a:t>
            </a:r>
          </a:p>
          <a:p>
            <a:pPr>
              <a:lnSpc>
                <a:spcPts val="3267"/>
              </a:lnSpc>
            </a:pPr>
            <a:endParaRPr lang="en-US" sz="2200" b="1" spc="123" dirty="0">
              <a:latin typeface="Antique Olive" panose="020B0603020204030204"/>
              <a:ea typeface="Kollektif Bold"/>
              <a:cs typeface="Kollektif Bold"/>
              <a:sym typeface="Kollektif Bold"/>
            </a:endParaRPr>
          </a:p>
          <a:p>
            <a:pPr>
              <a:lnSpc>
                <a:spcPts val="3267"/>
              </a:lnSpc>
            </a:pPr>
            <a:endParaRPr lang="en-US" sz="2200" b="1" spc="123" dirty="0">
              <a:latin typeface="Antique Olive" panose="020B0603020204030204"/>
              <a:ea typeface="Kollektif Bold"/>
              <a:cs typeface="Kollektif Bold"/>
              <a:sym typeface="Kollektif Bold"/>
            </a:endParaRPr>
          </a:p>
          <a:p>
            <a:pPr>
              <a:lnSpc>
                <a:spcPts val="3267"/>
              </a:lnSpc>
            </a:pPr>
            <a:endParaRPr lang="en-US" sz="2200" b="1" spc="123" dirty="0">
              <a:latin typeface="Antique Olive" panose="020B0603020204030204"/>
              <a:ea typeface="Kollektif Bold"/>
              <a:cs typeface="Kollektif Bold"/>
              <a:sym typeface="Kollektif Bold"/>
            </a:endParaRPr>
          </a:p>
          <a:p>
            <a:pPr>
              <a:lnSpc>
                <a:spcPts val="3267"/>
              </a:lnSpc>
            </a:pPr>
            <a:endParaRPr lang="en-US" sz="2200" b="1" spc="123" dirty="0">
              <a:latin typeface="Antique Olive" panose="020B0603020204030204"/>
              <a:ea typeface="Kollektif Bold"/>
              <a:cs typeface="Kollektif Bold"/>
              <a:sym typeface="Kollektif Bold"/>
            </a:endParaRPr>
          </a:p>
          <a:p>
            <a:pPr>
              <a:lnSpc>
                <a:spcPts val="3267"/>
              </a:lnSpc>
            </a:pPr>
            <a:endParaRPr lang="en-US" sz="2200" b="1" spc="123" dirty="0">
              <a:latin typeface="Antique Olive" panose="020B0603020204030204"/>
              <a:ea typeface="Kollektif Bold"/>
              <a:cs typeface="Kollektif Bold"/>
              <a:sym typeface="Kollektif Bold"/>
            </a:endParaRPr>
          </a:p>
          <a:p>
            <a:pPr>
              <a:lnSpc>
                <a:spcPts val="3267"/>
              </a:lnSpc>
            </a:pPr>
            <a:endParaRPr lang="en-US" sz="2200" b="1" spc="123" dirty="0">
              <a:latin typeface="Antique Olive" panose="020B0603020204030204"/>
              <a:ea typeface="Kollektif Bold"/>
              <a:cs typeface="Kollektif Bold"/>
              <a:sym typeface="Kollektif Bold"/>
            </a:endParaRPr>
          </a:p>
          <a:p>
            <a:pPr>
              <a:lnSpc>
                <a:spcPts val="3267"/>
              </a:lnSpc>
            </a:pPr>
            <a:endParaRPr lang="en-US" sz="2200" b="1" spc="123" dirty="0">
              <a:latin typeface="Antique Olive" panose="020B0603020204030204"/>
              <a:ea typeface="Kollektif Bold"/>
              <a:cs typeface="Kollektif Bold"/>
              <a:sym typeface="Kollektif Bold"/>
            </a:endParaRPr>
          </a:p>
        </p:txBody>
      </p:sp>
      <p:sp>
        <p:nvSpPr>
          <p:cNvPr id="5" name="TextBox 5"/>
          <p:cNvSpPr txBox="1"/>
          <p:nvPr/>
        </p:nvSpPr>
        <p:spPr>
          <a:xfrm>
            <a:off x="567549" y="763853"/>
            <a:ext cx="9786188" cy="532069"/>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How do APIs Work?</a:t>
            </a:r>
          </a:p>
        </p:txBody>
      </p:sp>
      <p:sp>
        <p:nvSpPr>
          <p:cNvPr id="6" name="Freeform 6"/>
          <p:cNvSpPr/>
          <p:nvPr/>
        </p:nvSpPr>
        <p:spPr>
          <a:xfrm>
            <a:off x="946975" y="3659137"/>
            <a:ext cx="8197877" cy="1977377"/>
          </a:xfrm>
          <a:custGeom>
            <a:avLst/>
            <a:gdLst/>
            <a:ahLst/>
            <a:cxnLst/>
            <a:rect l="l" t="t" r="r" b="b"/>
            <a:pathLst>
              <a:path w="12296816" h="2966066">
                <a:moveTo>
                  <a:pt x="0" y="0"/>
                </a:moveTo>
                <a:lnTo>
                  <a:pt x="12296817" y="0"/>
                </a:lnTo>
                <a:lnTo>
                  <a:pt x="12296817" y="2966066"/>
                </a:lnTo>
                <a:lnTo>
                  <a:pt x="0" y="2966066"/>
                </a:lnTo>
                <a:lnTo>
                  <a:pt x="0" y="0"/>
                </a:lnTo>
                <a:close/>
              </a:path>
            </a:pathLst>
          </a:custGeom>
          <a:blipFill>
            <a:blip r:embed="rId2"/>
            <a:stretch>
              <a:fillRect/>
            </a:stretch>
          </a:blipFill>
        </p:spPr>
      </p:sp>
    </p:spTree>
    <p:extLst>
      <p:ext uri="{BB962C8B-B14F-4D97-AF65-F5344CB8AC3E}">
        <p14:creationId xmlns:p14="http://schemas.microsoft.com/office/powerpoint/2010/main" val="10547213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19288" y="1379070"/>
            <a:ext cx="8969657" cy="7167475"/>
          </a:xfrm>
          <a:prstGeom prst="rect">
            <a:avLst/>
          </a:prstGeom>
        </p:spPr>
        <p:txBody>
          <a:bodyPr wrap="square" lIns="0" tIns="0" rIns="0" bIns="0" rtlCol="0" anchor="t">
            <a:spAutoFit/>
          </a:bodyPr>
          <a:lstStyle/>
          <a:p>
            <a:pPr marL="503793" lvl="1" indent="-251896">
              <a:lnSpc>
                <a:spcPts val="3267"/>
              </a:lnSpc>
              <a:buFont typeface="Arial"/>
              <a:buChar char="•"/>
            </a:pPr>
            <a:r>
              <a:rPr lang="en-US" sz="2333" spc="123" dirty="0">
                <a:latin typeface="Antique Olive" panose="020B0603020204030204"/>
                <a:ea typeface="Kollektif"/>
                <a:cs typeface="Kollektif"/>
                <a:sym typeface="Kollektif"/>
              </a:rPr>
              <a:t>WEB APIs</a:t>
            </a:r>
          </a:p>
          <a:p>
            <a:pPr>
              <a:lnSpc>
                <a:spcPts val="3267"/>
              </a:lnSpc>
            </a:pPr>
            <a:r>
              <a:rPr lang="en-US" sz="2333" dirty="0">
                <a:latin typeface="Antique Olive" panose="020B0603020204030204"/>
                <a:ea typeface="Kollektif"/>
                <a:cs typeface="Kollektif"/>
                <a:sym typeface="Kollektif"/>
              </a:rPr>
              <a:t>A Web API also called Web Services is an extensively used API over the web and can be easily accessed using the HTTP protocols(Rest </a:t>
            </a:r>
            <a:r>
              <a:rPr lang="en-US" sz="2333" dirty="0" err="1">
                <a:latin typeface="Antique Olive" panose="020B0603020204030204"/>
                <a:ea typeface="Kollektif"/>
                <a:cs typeface="Kollektif"/>
                <a:sym typeface="Kollektif"/>
              </a:rPr>
              <a:t>api</a:t>
            </a:r>
            <a:r>
              <a:rPr lang="en-US" sz="2333" dirty="0">
                <a:latin typeface="Antique Olive" panose="020B0603020204030204"/>
                <a:ea typeface="Kollektif"/>
                <a:cs typeface="Kollektif"/>
                <a:sym typeface="Kollektif"/>
              </a:rPr>
              <a:t>). A Web API is an open-source interface and can be used by a large number of clients through their phones, tablets, or PCs. </a:t>
            </a:r>
          </a:p>
          <a:p>
            <a:pPr>
              <a:lnSpc>
                <a:spcPts val="3267"/>
              </a:lnSpc>
            </a:pPr>
            <a:endParaRPr lang="en-US" sz="2333" dirty="0">
              <a:latin typeface="Antique Olive" panose="020B0603020204030204"/>
              <a:ea typeface="Kollektif"/>
              <a:cs typeface="Kollektif"/>
              <a:sym typeface="Kollektif"/>
            </a:endParaRPr>
          </a:p>
          <a:p>
            <a:pPr>
              <a:lnSpc>
                <a:spcPts val="3267"/>
              </a:lnSpc>
            </a:pPr>
            <a:endParaRPr lang="en-US" sz="2333" dirty="0">
              <a:latin typeface="Antique Olive" panose="020B0603020204030204"/>
              <a:ea typeface="Kollektif"/>
              <a:cs typeface="Kollektif"/>
              <a:sym typeface="Kollektif"/>
            </a:endParaRPr>
          </a:p>
          <a:p>
            <a:pPr>
              <a:lnSpc>
                <a:spcPts val="3267"/>
              </a:lnSpc>
            </a:pPr>
            <a:endParaRPr lang="en-US" sz="2333" dirty="0">
              <a:latin typeface="Antique Olive" panose="020B0603020204030204"/>
              <a:ea typeface="Kollektif"/>
              <a:cs typeface="Kollektif"/>
              <a:sym typeface="Kollektif"/>
            </a:endParaRPr>
          </a:p>
          <a:p>
            <a:pPr>
              <a:lnSpc>
                <a:spcPts val="3267"/>
              </a:lnSpc>
            </a:pPr>
            <a:endParaRPr lang="en-US" sz="2333" dirty="0">
              <a:latin typeface="Antique Olive" panose="020B0603020204030204"/>
              <a:ea typeface="Kollektif"/>
              <a:cs typeface="Kollektif"/>
              <a:sym typeface="Kollektif"/>
            </a:endParaRPr>
          </a:p>
          <a:p>
            <a:pPr>
              <a:lnSpc>
                <a:spcPts val="3267"/>
              </a:lnSpc>
            </a:pPr>
            <a:r>
              <a:rPr lang="en-US" sz="2333" spc="123" dirty="0">
                <a:latin typeface="Antique Olive" panose="020B0603020204030204"/>
                <a:ea typeface="Kollektif"/>
                <a:cs typeface="Kollektif"/>
                <a:sym typeface="Kollektif"/>
              </a:rPr>
              <a:t> </a:t>
            </a: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p:txBody>
      </p:sp>
      <p:sp>
        <p:nvSpPr>
          <p:cNvPr id="5" name="TextBox 5"/>
          <p:cNvSpPr txBox="1"/>
          <p:nvPr/>
        </p:nvSpPr>
        <p:spPr>
          <a:xfrm>
            <a:off x="985733" y="538778"/>
            <a:ext cx="9786188" cy="532069"/>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Type of APIs</a:t>
            </a:r>
          </a:p>
        </p:txBody>
      </p:sp>
    </p:spTree>
    <p:extLst>
      <p:ext uri="{BB962C8B-B14F-4D97-AF65-F5344CB8AC3E}">
        <p14:creationId xmlns:p14="http://schemas.microsoft.com/office/powerpoint/2010/main" val="646381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76551" y="1271380"/>
            <a:ext cx="9710644" cy="7579767"/>
          </a:xfrm>
          <a:prstGeom prst="rect">
            <a:avLst/>
          </a:prstGeom>
        </p:spPr>
        <p:txBody>
          <a:bodyPr lIns="0" tIns="0" rIns="0" bIns="0" rtlCol="0" anchor="t">
            <a:spAutoFit/>
          </a:bodyPr>
          <a:lstStyle/>
          <a:p>
            <a:pPr>
              <a:lnSpc>
                <a:spcPts val="3267"/>
              </a:lnSpc>
            </a:pPr>
            <a:r>
              <a:rPr lang="en-US" sz="2333" spc="123" dirty="0">
                <a:latin typeface="Antique Olive" panose="020B0603020204030204"/>
                <a:ea typeface="Kollektif"/>
                <a:cs typeface="Kollektif"/>
                <a:sym typeface="Kollektif"/>
              </a:rPr>
              <a:t>SOAP (SIMPLE OBJECT ACCESS PROTOCOL):</a:t>
            </a:r>
          </a:p>
          <a:p>
            <a:pPr marL="503793" lvl="1" indent="-251896">
              <a:lnSpc>
                <a:spcPts val="3267"/>
              </a:lnSpc>
              <a:buFont typeface="Arial"/>
              <a:buChar char="•"/>
            </a:pPr>
            <a:r>
              <a:rPr lang="en-US" sz="2333" dirty="0">
                <a:latin typeface="Antique Olive" panose="020B0603020204030204"/>
                <a:ea typeface="Kollektif"/>
                <a:cs typeface="Kollektif"/>
                <a:sym typeface="Kollektif"/>
              </a:rPr>
              <a:t> It defines messages in XML format used by web applications to communicate with each other.</a:t>
            </a:r>
          </a:p>
          <a:p>
            <a:pPr>
              <a:lnSpc>
                <a:spcPts val="3267"/>
              </a:lnSpc>
            </a:pPr>
            <a:r>
              <a:rPr lang="en-US" sz="2333" spc="123" dirty="0">
                <a:latin typeface="Antique Olive" panose="020B0603020204030204"/>
                <a:ea typeface="Kollektif"/>
                <a:cs typeface="Kollektif"/>
                <a:sym typeface="Kollektif"/>
              </a:rPr>
              <a:t>REST (Representational State Transfer): </a:t>
            </a:r>
          </a:p>
          <a:p>
            <a:pPr marL="503793" lvl="1" indent="-251896">
              <a:lnSpc>
                <a:spcPts val="3267"/>
              </a:lnSpc>
              <a:buFont typeface="Arial"/>
              <a:buChar char="•"/>
            </a:pPr>
            <a:r>
              <a:rPr lang="en-US" sz="2333" dirty="0">
                <a:latin typeface="Antique Olive" panose="020B0603020204030204"/>
                <a:ea typeface="Kollektif"/>
                <a:cs typeface="Kollektif"/>
                <a:sym typeface="Kollektif"/>
              </a:rPr>
              <a:t>It makes use of HTTP to GET, POST, PUT, or DELETE data. It is basically used to take advantage of the existing data.</a:t>
            </a:r>
          </a:p>
          <a:p>
            <a:pPr>
              <a:lnSpc>
                <a:spcPts val="3267"/>
              </a:lnSpc>
            </a:pPr>
            <a:endParaRPr lang="en-US" sz="2333" dirty="0">
              <a:latin typeface="Antique Olive" panose="020B0603020204030204"/>
              <a:ea typeface="Kollektif"/>
              <a:cs typeface="Kollektif"/>
              <a:sym typeface="Kollektif"/>
            </a:endParaRPr>
          </a:p>
          <a:p>
            <a:pPr>
              <a:lnSpc>
                <a:spcPts val="3267"/>
              </a:lnSpc>
            </a:pPr>
            <a:endParaRPr lang="en-US" sz="2333" dirty="0">
              <a:latin typeface="Antique Olive" panose="020B0603020204030204"/>
              <a:ea typeface="Kollektif"/>
              <a:cs typeface="Kollektif"/>
              <a:sym typeface="Kollektif"/>
            </a:endParaRPr>
          </a:p>
          <a:p>
            <a:pPr>
              <a:lnSpc>
                <a:spcPts val="3267"/>
              </a:lnSpc>
            </a:pPr>
            <a:endParaRPr lang="en-US" sz="2333" dirty="0">
              <a:latin typeface="Antique Olive" panose="020B0603020204030204"/>
              <a:ea typeface="Kollektif"/>
              <a:cs typeface="Kollektif"/>
              <a:sym typeface="Kollektif"/>
            </a:endParaRPr>
          </a:p>
          <a:p>
            <a:pPr>
              <a:lnSpc>
                <a:spcPts val="3267"/>
              </a:lnSpc>
            </a:pPr>
            <a:endParaRPr lang="en-US" sz="2333" dirty="0">
              <a:latin typeface="Antique Olive" panose="020B0603020204030204"/>
              <a:ea typeface="Kollektif"/>
              <a:cs typeface="Kollektif"/>
              <a:sym typeface="Kollektif"/>
            </a:endParaRPr>
          </a:p>
          <a:p>
            <a:pPr>
              <a:lnSpc>
                <a:spcPts val="3267"/>
              </a:lnSpc>
            </a:pPr>
            <a:r>
              <a:rPr lang="en-US" sz="2333" spc="123" dirty="0">
                <a:latin typeface="Antique Olive" panose="020B0603020204030204"/>
                <a:ea typeface="Kollektif"/>
                <a:cs typeface="Kollektif"/>
                <a:sym typeface="Kollektif"/>
              </a:rPr>
              <a:t> </a:t>
            </a: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p:txBody>
      </p:sp>
      <p:sp>
        <p:nvSpPr>
          <p:cNvPr id="5" name="TextBox 5"/>
          <p:cNvSpPr txBox="1"/>
          <p:nvPr/>
        </p:nvSpPr>
        <p:spPr>
          <a:xfrm>
            <a:off x="801007" y="373258"/>
            <a:ext cx="9786188" cy="532069"/>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Types of Web APIs</a:t>
            </a:r>
          </a:p>
        </p:txBody>
      </p:sp>
    </p:spTree>
    <p:extLst>
      <p:ext uri="{BB962C8B-B14F-4D97-AF65-F5344CB8AC3E}">
        <p14:creationId xmlns:p14="http://schemas.microsoft.com/office/powerpoint/2010/main" val="32664985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91717" y="1529998"/>
            <a:ext cx="9710644" cy="8002960"/>
          </a:xfrm>
          <a:prstGeom prst="rect">
            <a:avLst/>
          </a:prstGeom>
        </p:spPr>
        <p:txBody>
          <a:bodyPr lIns="0" tIns="0" rIns="0" bIns="0" rtlCol="0" anchor="t">
            <a:spAutoFit/>
          </a:bodyPr>
          <a:lstStyle/>
          <a:p>
            <a:pPr>
              <a:lnSpc>
                <a:spcPts val="3267"/>
              </a:lnSpc>
            </a:pPr>
            <a:r>
              <a:rPr lang="en-US" sz="2333" spc="123" dirty="0">
                <a:latin typeface="Antique Olive" panose="020B0603020204030204"/>
                <a:ea typeface="Kollektif"/>
                <a:cs typeface="Kollektif"/>
                <a:sym typeface="Kollektif"/>
              </a:rPr>
              <a:t>HTTP Methods and Operations:</a:t>
            </a:r>
          </a:p>
          <a:p>
            <a:pPr marL="503793" lvl="1" indent="-251896">
              <a:lnSpc>
                <a:spcPts val="3267"/>
              </a:lnSpc>
              <a:buFont typeface="Arial"/>
              <a:buChar char="•"/>
            </a:pPr>
            <a:r>
              <a:rPr lang="en-US" sz="2333" spc="123" dirty="0">
                <a:latin typeface="Antique Olive" panose="020B0603020204030204"/>
                <a:ea typeface="Kollektif"/>
                <a:cs typeface="Kollektif"/>
                <a:sym typeface="Kollektif"/>
              </a:rPr>
              <a:t>GET: Retrieve a representation of a resource.</a:t>
            </a:r>
          </a:p>
          <a:p>
            <a:pPr marL="503793" lvl="1" indent="-251896">
              <a:lnSpc>
                <a:spcPts val="3267"/>
              </a:lnSpc>
              <a:buFont typeface="Arial"/>
              <a:buChar char="•"/>
            </a:pPr>
            <a:r>
              <a:rPr lang="en-US" sz="2333" spc="123" dirty="0">
                <a:latin typeface="Antique Olive" panose="020B0603020204030204"/>
                <a:ea typeface="Kollektif"/>
                <a:cs typeface="Kollektif"/>
                <a:sym typeface="Kollektif"/>
              </a:rPr>
              <a:t>POST: Create a new resource or perform a custom action.</a:t>
            </a:r>
          </a:p>
          <a:p>
            <a:pPr marL="503793" lvl="1" indent="-251896">
              <a:lnSpc>
                <a:spcPts val="3267"/>
              </a:lnSpc>
              <a:buFont typeface="Arial"/>
              <a:buChar char="•"/>
            </a:pPr>
            <a:r>
              <a:rPr lang="en-US" sz="2333" spc="123" dirty="0">
                <a:latin typeface="Antique Olive" panose="020B0603020204030204"/>
                <a:ea typeface="Kollektif"/>
                <a:cs typeface="Kollektif"/>
                <a:sym typeface="Kollektif"/>
              </a:rPr>
              <a:t>PUT: Update a resource or create it if it doesn't exist.</a:t>
            </a:r>
          </a:p>
          <a:p>
            <a:pPr marL="503793" lvl="1" indent="-251896">
              <a:lnSpc>
                <a:spcPts val="3267"/>
              </a:lnSpc>
              <a:buFont typeface="Arial"/>
              <a:buChar char="•"/>
            </a:pPr>
            <a:r>
              <a:rPr lang="en-US" sz="2333" spc="123" dirty="0">
                <a:latin typeface="Antique Olive" panose="020B0603020204030204"/>
                <a:ea typeface="Kollektif"/>
                <a:cs typeface="Kollektif"/>
                <a:sym typeface="Kollektif"/>
              </a:rPr>
              <a:t>DELETE: Remove a resource.</a:t>
            </a:r>
          </a:p>
          <a:p>
            <a:pPr marL="503793" lvl="1" indent="-251896">
              <a:lnSpc>
                <a:spcPts val="3267"/>
              </a:lnSpc>
              <a:buFont typeface="Arial"/>
              <a:buChar char="•"/>
            </a:pPr>
            <a:r>
              <a:rPr lang="en-US" sz="2333" spc="123" dirty="0">
                <a:latin typeface="Antique Olive" panose="020B0603020204030204"/>
                <a:ea typeface="Kollektif"/>
                <a:cs typeface="Kollektif"/>
                <a:sym typeface="Kollektif"/>
              </a:rPr>
              <a:t>These methods map to CRUD (Create, Read, Update, Delete) operations on resources.</a:t>
            </a: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r>
              <a:rPr lang="en-US" sz="2333" spc="123" dirty="0">
                <a:latin typeface="Antique Olive" panose="020B0603020204030204"/>
                <a:ea typeface="Kollektif"/>
                <a:cs typeface="Kollektif"/>
                <a:sym typeface="Kollektif"/>
              </a:rPr>
              <a:t> </a:t>
            </a: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a:p>
            <a:pPr>
              <a:lnSpc>
                <a:spcPts val="3267"/>
              </a:lnSpc>
            </a:pPr>
            <a:endParaRPr lang="en-US" sz="2333" spc="123" dirty="0">
              <a:latin typeface="Antique Olive" panose="020B0603020204030204"/>
              <a:ea typeface="Kollektif"/>
              <a:cs typeface="Kollektif"/>
              <a:sym typeface="Kollektif"/>
            </a:endParaRPr>
          </a:p>
        </p:txBody>
      </p:sp>
      <p:sp>
        <p:nvSpPr>
          <p:cNvPr id="5" name="TextBox 5"/>
          <p:cNvSpPr txBox="1"/>
          <p:nvPr/>
        </p:nvSpPr>
        <p:spPr>
          <a:xfrm>
            <a:off x="891717" y="641112"/>
            <a:ext cx="9786188" cy="532069"/>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REST Api</a:t>
            </a:r>
          </a:p>
        </p:txBody>
      </p:sp>
    </p:spTree>
    <p:extLst>
      <p:ext uri="{BB962C8B-B14F-4D97-AF65-F5344CB8AC3E}">
        <p14:creationId xmlns:p14="http://schemas.microsoft.com/office/powerpoint/2010/main" val="3252872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16279" y="1733198"/>
            <a:ext cx="9710644" cy="2501454"/>
          </a:xfrm>
          <a:prstGeom prst="rect">
            <a:avLst/>
          </a:prstGeom>
        </p:spPr>
        <p:txBody>
          <a:bodyPr lIns="0" tIns="0" rIns="0" bIns="0" rtlCol="0" anchor="t">
            <a:spAutoFit/>
          </a:bodyPr>
          <a:lstStyle/>
          <a:p>
            <a:pPr marL="503793" lvl="1" indent="-251896">
              <a:lnSpc>
                <a:spcPts val="3267"/>
              </a:lnSpc>
              <a:buFont typeface="Arial"/>
              <a:buChar char="•"/>
            </a:pPr>
            <a:r>
              <a:rPr lang="en-US" sz="2200" spc="123" dirty="0">
                <a:latin typeface="Antique Olive" panose="020B0603020204030204"/>
                <a:ea typeface="Kollektif"/>
                <a:cs typeface="Kollektif"/>
                <a:sym typeface="Kollektif"/>
              </a:rPr>
              <a:t>Endpoints: Specific URLs or URIs where API requests can be made to access certain functionalities.</a:t>
            </a:r>
          </a:p>
          <a:p>
            <a:pPr marL="503793" lvl="1" indent="-251896">
              <a:lnSpc>
                <a:spcPts val="3267"/>
              </a:lnSpc>
              <a:buFont typeface="Arial"/>
              <a:buChar char="•"/>
            </a:pPr>
            <a:r>
              <a:rPr lang="en-US" sz="2200" spc="123" dirty="0">
                <a:latin typeface="Antique Olive" panose="020B0603020204030204"/>
                <a:ea typeface="Kollektif"/>
                <a:cs typeface="Kollektif"/>
                <a:sym typeface="Kollektif"/>
              </a:rPr>
              <a:t>Request and Response: APIs involve sending requests (commands or queries) from a client to an API, and receiving responses that contain the requested data or confirmations.</a:t>
            </a:r>
          </a:p>
          <a:p>
            <a:pPr>
              <a:lnSpc>
                <a:spcPts val="3267"/>
              </a:lnSpc>
            </a:pPr>
            <a:endParaRPr lang="en-US" sz="2200" spc="123" dirty="0">
              <a:latin typeface="Antique Olive" panose="020B0603020204030204"/>
              <a:ea typeface="Kollektif"/>
              <a:cs typeface="Kollektif"/>
              <a:sym typeface="Kollektif"/>
            </a:endParaRPr>
          </a:p>
        </p:txBody>
      </p:sp>
      <p:sp>
        <p:nvSpPr>
          <p:cNvPr id="5" name="TextBox 5"/>
          <p:cNvSpPr txBox="1"/>
          <p:nvPr/>
        </p:nvSpPr>
        <p:spPr>
          <a:xfrm>
            <a:off x="891717" y="724240"/>
            <a:ext cx="9786188" cy="515782"/>
          </a:xfrm>
          <a:prstGeom prst="rect">
            <a:avLst/>
          </a:prstGeom>
        </p:spPr>
        <p:txBody>
          <a:bodyPr lIns="0" tIns="0" rIns="0" bIns="0" rtlCol="0" anchor="t">
            <a:spAutoFit/>
          </a:bodyPr>
          <a:lstStyle/>
          <a:p>
            <a:pPr algn="ctr">
              <a:lnSpc>
                <a:spcPts val="4293"/>
              </a:lnSpc>
            </a:pPr>
            <a:r>
              <a:rPr lang="en-US" sz="3500" b="1" dirty="0">
                <a:latin typeface="Yeseva One"/>
                <a:ea typeface="Yeseva One"/>
                <a:cs typeface="Yeseva One"/>
                <a:sym typeface="Yeseva One"/>
              </a:rPr>
              <a:t>Components of an API</a:t>
            </a:r>
          </a:p>
        </p:txBody>
      </p:sp>
    </p:spTree>
    <p:extLst>
      <p:ext uri="{BB962C8B-B14F-4D97-AF65-F5344CB8AC3E}">
        <p14:creationId xmlns:p14="http://schemas.microsoft.com/office/powerpoint/2010/main" val="6621426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67262" y="1576180"/>
            <a:ext cx="9571429" cy="2931059"/>
          </a:xfrm>
          <a:prstGeom prst="rect">
            <a:avLst/>
          </a:prstGeom>
        </p:spPr>
        <p:txBody>
          <a:bodyPr wrap="square" lIns="0" tIns="0" rIns="0" bIns="0" rtlCol="0" anchor="t">
            <a:spAutoFit/>
          </a:bodyPr>
          <a:lstStyle/>
          <a:p>
            <a:pPr marL="503793" lvl="1" indent="-251896">
              <a:lnSpc>
                <a:spcPts val="3267"/>
              </a:lnSpc>
              <a:buFont typeface="Arial"/>
              <a:buChar char="•"/>
            </a:pPr>
            <a:r>
              <a:rPr lang="en-US" sz="2200" b="1" spc="123" dirty="0">
                <a:latin typeface="Antique Olive" panose="020B0603020204030204"/>
                <a:ea typeface="Kollektif"/>
                <a:cs typeface="Kollektif"/>
                <a:sym typeface="Kollektif"/>
              </a:rPr>
              <a:t>Postman</a:t>
            </a:r>
          </a:p>
          <a:p>
            <a:pPr marL="594797" lvl="1" indent="-342900">
              <a:lnSpc>
                <a:spcPts val="3267"/>
              </a:lnSpc>
              <a:buFont typeface="Arial" panose="020B0604020202020204" pitchFamily="34" charset="0"/>
              <a:buChar char="•"/>
            </a:pPr>
            <a:r>
              <a:rPr lang="en-US" sz="2200" b="1" spc="123" dirty="0">
                <a:latin typeface="Antique Olive" panose="020B0603020204030204"/>
                <a:ea typeface="Kollektif"/>
                <a:cs typeface="Kollektif"/>
                <a:sym typeface="Kollektif"/>
              </a:rPr>
              <a:t>we can use postman to test </a:t>
            </a:r>
            <a:r>
              <a:rPr lang="en-US" sz="2200" b="1" spc="123" dirty="0" err="1">
                <a:latin typeface="Antique Olive" panose="020B0603020204030204"/>
                <a:ea typeface="Kollektif"/>
                <a:cs typeface="Kollektif"/>
                <a:sym typeface="Kollektif"/>
              </a:rPr>
              <a:t>apis</a:t>
            </a:r>
            <a:r>
              <a:rPr lang="en-US" sz="2200" b="1" spc="123" dirty="0">
                <a:latin typeface="Antique Olive" panose="020B0603020204030204"/>
                <a:ea typeface="Kollektif"/>
                <a:cs typeface="Kollektif"/>
                <a:sym typeface="Kollektif"/>
              </a:rPr>
              <a:t> now: https://web.postman.co/https://www.postman.com/downloads/</a:t>
            </a:r>
          </a:p>
          <a:p>
            <a:pPr marL="251897" lvl="1">
              <a:lnSpc>
                <a:spcPts val="3267"/>
              </a:lnSpc>
            </a:pPr>
            <a:r>
              <a:rPr lang="en-US" sz="2200" b="1" spc="123" dirty="0">
                <a:latin typeface="Antique Olive" panose="020B0603020204030204"/>
                <a:ea typeface="Kollektif"/>
                <a:cs typeface="Kollektif"/>
                <a:sym typeface="Kollektif"/>
              </a:rPr>
              <a:t>and we can use this data (example):</a:t>
            </a:r>
          </a:p>
          <a:p>
            <a:pPr marL="503793" lvl="1" indent="-251896">
              <a:lnSpc>
                <a:spcPts val="3267"/>
              </a:lnSpc>
              <a:buFont typeface="Arial"/>
              <a:buChar char="•"/>
            </a:pPr>
            <a:r>
              <a:rPr lang="en-US" sz="2200" b="1" spc="123" dirty="0">
                <a:latin typeface="Antique Olive" panose="020B0603020204030204"/>
                <a:ea typeface="Kollektif"/>
                <a:cs typeface="Kollektif"/>
                <a:sym typeface="Kollektif"/>
              </a:rPr>
              <a:t>https://formatjsononline.com/dummy-api</a:t>
            </a:r>
          </a:p>
          <a:p>
            <a:pPr marL="503793" lvl="1" indent="-251896">
              <a:lnSpc>
                <a:spcPts val="3267"/>
              </a:lnSpc>
              <a:buFont typeface="Arial"/>
              <a:buChar char="•"/>
            </a:pPr>
            <a:r>
              <a:rPr lang="en-US" sz="2200" b="1" spc="123" dirty="0">
                <a:latin typeface="Antique Olive" panose="020B0603020204030204"/>
                <a:ea typeface="Kollektif"/>
                <a:cs typeface="Kollektif"/>
                <a:sym typeface="Kollektif"/>
              </a:rPr>
              <a:t>https://app.beeceptor.com/mock-server/json-placeholder</a:t>
            </a:r>
          </a:p>
          <a:p>
            <a:pPr>
              <a:lnSpc>
                <a:spcPts val="3267"/>
              </a:lnSpc>
            </a:pPr>
            <a:endParaRPr lang="en-US" sz="2200" b="1" spc="123" dirty="0">
              <a:latin typeface="Antique Olive" panose="020B0603020204030204"/>
              <a:ea typeface="Kollektif"/>
              <a:cs typeface="Kollektif"/>
              <a:sym typeface="Kollektif"/>
            </a:endParaRPr>
          </a:p>
        </p:txBody>
      </p:sp>
      <p:sp>
        <p:nvSpPr>
          <p:cNvPr id="5" name="TextBox 5"/>
          <p:cNvSpPr txBox="1"/>
          <p:nvPr/>
        </p:nvSpPr>
        <p:spPr>
          <a:xfrm>
            <a:off x="967262" y="742713"/>
            <a:ext cx="9786188" cy="532069"/>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API Testing Tool</a:t>
            </a:r>
          </a:p>
        </p:txBody>
      </p:sp>
    </p:spTree>
    <p:extLst>
      <p:ext uri="{BB962C8B-B14F-4D97-AF65-F5344CB8AC3E}">
        <p14:creationId xmlns:p14="http://schemas.microsoft.com/office/powerpoint/2010/main" val="35376611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27115" y="973622"/>
            <a:ext cx="9786188" cy="517386"/>
          </a:xfrm>
          <a:prstGeom prst="rect">
            <a:avLst/>
          </a:prstGeom>
        </p:spPr>
        <p:txBody>
          <a:bodyPr lIns="0" tIns="0" rIns="0" bIns="0" rtlCol="0" anchor="t">
            <a:spAutoFit/>
          </a:bodyPr>
          <a:lstStyle/>
          <a:p>
            <a:pPr>
              <a:lnSpc>
                <a:spcPts val="4293"/>
              </a:lnSpc>
            </a:pPr>
            <a:r>
              <a:rPr lang="en-US" sz="3066" b="1" dirty="0">
                <a:latin typeface="Antique Olive" panose="020B0603020204030204"/>
                <a:ea typeface="Yeseva One"/>
                <a:cs typeface="Yeseva One"/>
                <a:sym typeface="Yeseva One"/>
              </a:rPr>
              <a:t>Get Method</a:t>
            </a:r>
          </a:p>
        </p:txBody>
      </p:sp>
      <p:sp>
        <p:nvSpPr>
          <p:cNvPr id="5" name="Freeform 5"/>
          <p:cNvSpPr/>
          <p:nvPr/>
        </p:nvSpPr>
        <p:spPr>
          <a:xfrm>
            <a:off x="2656233" y="1491008"/>
            <a:ext cx="5197865" cy="4919516"/>
          </a:xfrm>
          <a:custGeom>
            <a:avLst/>
            <a:gdLst/>
            <a:ahLst/>
            <a:cxnLst/>
            <a:rect l="l" t="t" r="r" b="b"/>
            <a:pathLst>
              <a:path w="7796797" h="7379274">
                <a:moveTo>
                  <a:pt x="0" y="0"/>
                </a:moveTo>
                <a:lnTo>
                  <a:pt x="7796798" y="0"/>
                </a:lnTo>
                <a:lnTo>
                  <a:pt x="7796798" y="7379274"/>
                </a:lnTo>
                <a:lnTo>
                  <a:pt x="0" y="7379274"/>
                </a:lnTo>
                <a:lnTo>
                  <a:pt x="0" y="0"/>
                </a:lnTo>
                <a:close/>
              </a:path>
            </a:pathLst>
          </a:custGeom>
          <a:blipFill>
            <a:blip r:embed="rId2"/>
            <a:stretch>
              <a:fillRect/>
            </a:stretch>
          </a:blipFill>
        </p:spPr>
      </p:sp>
    </p:spTree>
    <p:extLst>
      <p:ext uri="{BB962C8B-B14F-4D97-AF65-F5344CB8AC3E}">
        <p14:creationId xmlns:p14="http://schemas.microsoft.com/office/powerpoint/2010/main" val="26052496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22818" y="685800"/>
            <a:ext cx="9786188" cy="517386"/>
          </a:xfrm>
          <a:prstGeom prst="rect">
            <a:avLst/>
          </a:prstGeom>
        </p:spPr>
        <p:txBody>
          <a:bodyPr lIns="0" tIns="0" rIns="0" bIns="0" rtlCol="0" anchor="t">
            <a:spAutoFit/>
          </a:bodyPr>
          <a:lstStyle/>
          <a:p>
            <a:pPr>
              <a:lnSpc>
                <a:spcPts val="4293"/>
              </a:lnSpc>
            </a:pPr>
            <a:r>
              <a:rPr lang="en-US" sz="3066" dirty="0">
                <a:latin typeface="Antique Olive" panose="020B0603020204030204"/>
                <a:ea typeface="Yeseva One"/>
                <a:cs typeface="Yeseva One"/>
                <a:sym typeface="Yeseva One"/>
              </a:rPr>
              <a:t>Post Method</a:t>
            </a:r>
          </a:p>
        </p:txBody>
      </p:sp>
      <p:sp>
        <p:nvSpPr>
          <p:cNvPr id="5" name="Freeform 5"/>
          <p:cNvSpPr/>
          <p:nvPr/>
        </p:nvSpPr>
        <p:spPr>
          <a:xfrm>
            <a:off x="1588380" y="1323384"/>
            <a:ext cx="6170473" cy="3907255"/>
          </a:xfrm>
          <a:custGeom>
            <a:avLst/>
            <a:gdLst/>
            <a:ahLst/>
            <a:cxnLst/>
            <a:rect l="l" t="t" r="r" b="b"/>
            <a:pathLst>
              <a:path w="9255709" h="5860882">
                <a:moveTo>
                  <a:pt x="0" y="0"/>
                </a:moveTo>
                <a:lnTo>
                  <a:pt x="9255709" y="0"/>
                </a:lnTo>
                <a:lnTo>
                  <a:pt x="9255709" y="5860882"/>
                </a:lnTo>
                <a:lnTo>
                  <a:pt x="0" y="5860882"/>
                </a:lnTo>
                <a:lnTo>
                  <a:pt x="0" y="0"/>
                </a:lnTo>
                <a:close/>
              </a:path>
            </a:pathLst>
          </a:custGeom>
          <a:blipFill>
            <a:blip r:embed="rId2"/>
            <a:stretch>
              <a:fillRect/>
            </a:stretch>
          </a:blipFill>
        </p:spPr>
      </p:sp>
    </p:spTree>
    <p:extLst>
      <p:ext uri="{BB962C8B-B14F-4D97-AF65-F5344CB8AC3E}">
        <p14:creationId xmlns:p14="http://schemas.microsoft.com/office/powerpoint/2010/main" val="35675988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95657" y="872661"/>
            <a:ext cx="9786188" cy="517386"/>
          </a:xfrm>
          <a:prstGeom prst="rect">
            <a:avLst/>
          </a:prstGeom>
        </p:spPr>
        <p:txBody>
          <a:bodyPr lIns="0" tIns="0" rIns="0" bIns="0" rtlCol="0" anchor="t">
            <a:spAutoFit/>
          </a:bodyPr>
          <a:lstStyle/>
          <a:p>
            <a:pPr>
              <a:lnSpc>
                <a:spcPts val="4293"/>
              </a:lnSpc>
            </a:pPr>
            <a:r>
              <a:rPr lang="en-US" sz="3066" dirty="0">
                <a:latin typeface="Antique Olive" panose="020B0603020204030204"/>
                <a:ea typeface="Yeseva One"/>
                <a:cs typeface="Yeseva One"/>
                <a:sym typeface="Yeseva One"/>
              </a:rPr>
              <a:t>Delete Method</a:t>
            </a:r>
          </a:p>
        </p:txBody>
      </p:sp>
      <p:sp>
        <p:nvSpPr>
          <p:cNvPr id="5" name="Freeform 5"/>
          <p:cNvSpPr/>
          <p:nvPr/>
        </p:nvSpPr>
        <p:spPr>
          <a:xfrm>
            <a:off x="1681652" y="1761147"/>
            <a:ext cx="6696938" cy="3816786"/>
          </a:xfrm>
          <a:custGeom>
            <a:avLst/>
            <a:gdLst/>
            <a:ahLst/>
            <a:cxnLst/>
            <a:rect l="l" t="t" r="r" b="b"/>
            <a:pathLst>
              <a:path w="10045407" h="5725179">
                <a:moveTo>
                  <a:pt x="0" y="0"/>
                </a:moveTo>
                <a:lnTo>
                  <a:pt x="10045407" y="0"/>
                </a:lnTo>
                <a:lnTo>
                  <a:pt x="10045407" y="5725179"/>
                </a:lnTo>
                <a:lnTo>
                  <a:pt x="0" y="5725179"/>
                </a:lnTo>
                <a:lnTo>
                  <a:pt x="0" y="0"/>
                </a:lnTo>
                <a:close/>
              </a:path>
            </a:pathLst>
          </a:custGeom>
          <a:blipFill>
            <a:blip r:embed="rId2"/>
            <a:stretch>
              <a:fillRect/>
            </a:stretch>
          </a:blipFill>
        </p:spPr>
      </p:sp>
    </p:spTree>
    <p:extLst>
      <p:ext uri="{BB962C8B-B14F-4D97-AF65-F5344CB8AC3E}">
        <p14:creationId xmlns:p14="http://schemas.microsoft.com/office/powerpoint/2010/main" val="32430375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826120" y="1879744"/>
            <a:ext cx="5458871" cy="1327833"/>
          </a:xfrm>
          <a:custGeom>
            <a:avLst/>
            <a:gdLst/>
            <a:ahLst/>
            <a:cxnLst/>
            <a:rect l="l" t="t" r="r" b="b"/>
            <a:pathLst>
              <a:path w="8188307" h="1991750">
                <a:moveTo>
                  <a:pt x="0" y="0"/>
                </a:moveTo>
                <a:lnTo>
                  <a:pt x="8188307" y="0"/>
                </a:lnTo>
                <a:lnTo>
                  <a:pt x="8188307" y="1991751"/>
                </a:lnTo>
                <a:lnTo>
                  <a:pt x="0" y="1991751"/>
                </a:lnTo>
                <a:lnTo>
                  <a:pt x="0" y="0"/>
                </a:lnTo>
                <a:close/>
              </a:path>
            </a:pathLst>
          </a:custGeom>
          <a:blipFill>
            <a:blip r:embed="rId2"/>
            <a:stretch>
              <a:fillRect/>
            </a:stretch>
          </a:blipFill>
        </p:spPr>
      </p:sp>
      <p:sp>
        <p:nvSpPr>
          <p:cNvPr id="5" name="Freeform 5"/>
          <p:cNvSpPr/>
          <p:nvPr/>
        </p:nvSpPr>
        <p:spPr>
          <a:xfrm>
            <a:off x="2471396" y="4033986"/>
            <a:ext cx="6168317" cy="1287071"/>
          </a:xfrm>
          <a:custGeom>
            <a:avLst/>
            <a:gdLst/>
            <a:ahLst/>
            <a:cxnLst/>
            <a:rect l="l" t="t" r="r" b="b"/>
            <a:pathLst>
              <a:path w="9252476" h="1930607">
                <a:moveTo>
                  <a:pt x="0" y="0"/>
                </a:moveTo>
                <a:lnTo>
                  <a:pt x="9252476" y="0"/>
                </a:lnTo>
                <a:lnTo>
                  <a:pt x="9252476" y="1930607"/>
                </a:lnTo>
                <a:lnTo>
                  <a:pt x="0" y="1930607"/>
                </a:lnTo>
                <a:lnTo>
                  <a:pt x="0" y="0"/>
                </a:lnTo>
                <a:close/>
              </a:path>
            </a:pathLst>
          </a:custGeom>
          <a:blipFill>
            <a:blip r:embed="rId3"/>
            <a:stretch>
              <a:fillRect r="-5913"/>
            </a:stretch>
          </a:blipFill>
        </p:spPr>
      </p:sp>
      <p:sp>
        <p:nvSpPr>
          <p:cNvPr id="6" name="TextBox 6"/>
          <p:cNvSpPr txBox="1"/>
          <p:nvPr/>
        </p:nvSpPr>
        <p:spPr>
          <a:xfrm>
            <a:off x="837352" y="673049"/>
            <a:ext cx="9786188" cy="1606017"/>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Fetch</a:t>
            </a:r>
          </a:p>
          <a:p>
            <a:pPr>
              <a:lnSpc>
                <a:spcPts val="4293"/>
              </a:lnSpc>
            </a:pPr>
            <a:endParaRPr lang="en-US" sz="3066" dirty="0">
              <a:solidFill>
                <a:srgbClr val="564033"/>
              </a:solidFill>
              <a:latin typeface="Yeseva One"/>
              <a:ea typeface="Yeseva One"/>
              <a:cs typeface="Yeseva One"/>
              <a:sym typeface="Yeseva One"/>
            </a:endParaRPr>
          </a:p>
          <a:p>
            <a:pPr>
              <a:lnSpc>
                <a:spcPts val="4293"/>
              </a:lnSpc>
            </a:pPr>
            <a:endParaRPr lang="en-US" sz="3066" dirty="0">
              <a:solidFill>
                <a:srgbClr val="564033"/>
              </a:solidFill>
              <a:latin typeface="Yeseva One"/>
              <a:ea typeface="Yeseva One"/>
              <a:cs typeface="Yeseva One"/>
              <a:sym typeface="Yeseva One"/>
            </a:endParaRPr>
          </a:p>
        </p:txBody>
      </p:sp>
      <p:sp>
        <p:nvSpPr>
          <p:cNvPr id="7" name="TextBox 7"/>
          <p:cNvSpPr txBox="1"/>
          <p:nvPr/>
        </p:nvSpPr>
        <p:spPr>
          <a:xfrm>
            <a:off x="1084511" y="1353487"/>
            <a:ext cx="8942090" cy="396391"/>
          </a:xfrm>
          <a:prstGeom prst="rect">
            <a:avLst/>
          </a:prstGeom>
        </p:spPr>
        <p:txBody>
          <a:bodyPr lIns="0" tIns="0" rIns="0" bIns="0" rtlCol="0" anchor="t">
            <a:spAutoFit/>
          </a:bodyPr>
          <a:lstStyle/>
          <a:p>
            <a:pPr>
              <a:lnSpc>
                <a:spcPts val="3267"/>
              </a:lnSpc>
              <a:spcBef>
                <a:spcPct val="0"/>
              </a:spcBef>
            </a:pPr>
            <a:r>
              <a:rPr lang="en-US" sz="2333" dirty="0">
                <a:latin typeface="Antique Olive" panose="020B0603020204030204"/>
                <a:ea typeface="Yeseva One"/>
                <a:cs typeface="Yeseva One"/>
                <a:sym typeface="Yeseva One"/>
              </a:rPr>
              <a:t>A built-in browser function for calling APIs using promises.</a:t>
            </a:r>
          </a:p>
        </p:txBody>
      </p:sp>
      <p:sp>
        <p:nvSpPr>
          <p:cNvPr id="8" name="TextBox 8"/>
          <p:cNvSpPr txBox="1"/>
          <p:nvPr/>
        </p:nvSpPr>
        <p:spPr>
          <a:xfrm>
            <a:off x="1084511" y="3557062"/>
            <a:ext cx="1265237" cy="396391"/>
          </a:xfrm>
          <a:prstGeom prst="rect">
            <a:avLst/>
          </a:prstGeom>
        </p:spPr>
        <p:txBody>
          <a:bodyPr lIns="0" tIns="0" rIns="0" bIns="0" rtlCol="0" anchor="t">
            <a:spAutoFit/>
          </a:bodyPr>
          <a:lstStyle/>
          <a:p>
            <a:pPr algn="ctr">
              <a:lnSpc>
                <a:spcPts val="3267"/>
              </a:lnSpc>
              <a:spcBef>
                <a:spcPct val="0"/>
              </a:spcBef>
            </a:pPr>
            <a:r>
              <a:rPr lang="en-US" sz="2333" dirty="0">
                <a:latin typeface="Antique Olive" panose="020B0603020204030204"/>
                <a:ea typeface="Yeseva One"/>
                <a:cs typeface="Yeseva One"/>
                <a:sym typeface="Yeseva One"/>
              </a:rPr>
              <a:t>Example</a:t>
            </a:r>
          </a:p>
        </p:txBody>
      </p:sp>
    </p:spTree>
    <p:extLst>
      <p:ext uri="{BB962C8B-B14F-4D97-AF65-F5344CB8AC3E}">
        <p14:creationId xmlns:p14="http://schemas.microsoft.com/office/powerpoint/2010/main" val="14916143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389312" y="1945018"/>
            <a:ext cx="8041016" cy="3098037"/>
          </a:xfrm>
          <a:custGeom>
            <a:avLst/>
            <a:gdLst/>
            <a:ahLst/>
            <a:cxnLst/>
            <a:rect l="l" t="t" r="r" b="b"/>
            <a:pathLst>
              <a:path w="12849727" h="5176990">
                <a:moveTo>
                  <a:pt x="0" y="0"/>
                </a:moveTo>
                <a:lnTo>
                  <a:pt x="12849726" y="0"/>
                </a:lnTo>
                <a:lnTo>
                  <a:pt x="12849726" y="5176990"/>
                </a:lnTo>
                <a:lnTo>
                  <a:pt x="0" y="5176990"/>
                </a:lnTo>
                <a:lnTo>
                  <a:pt x="0" y="0"/>
                </a:lnTo>
                <a:close/>
              </a:path>
            </a:pathLst>
          </a:custGeom>
          <a:blipFill>
            <a:blip r:embed="rId2"/>
            <a:stretch>
              <a:fillRect/>
            </a:stretch>
          </a:blipFill>
        </p:spPr>
      </p:sp>
      <p:sp>
        <p:nvSpPr>
          <p:cNvPr id="5" name="TextBox 5"/>
          <p:cNvSpPr txBox="1"/>
          <p:nvPr/>
        </p:nvSpPr>
        <p:spPr>
          <a:xfrm>
            <a:off x="893370" y="685800"/>
            <a:ext cx="9786188" cy="1606017"/>
          </a:xfrm>
          <a:prstGeom prst="rect">
            <a:avLst/>
          </a:prstGeom>
        </p:spPr>
        <p:txBody>
          <a:bodyPr lIns="0" tIns="0" rIns="0" bIns="0" rtlCol="0" anchor="t">
            <a:spAutoFit/>
          </a:bodyPr>
          <a:lstStyle/>
          <a:p>
            <a:pPr algn="ctr">
              <a:lnSpc>
                <a:spcPts val="4293"/>
              </a:lnSpc>
            </a:pPr>
            <a:r>
              <a:rPr lang="en-US" sz="3500" b="1" dirty="0">
                <a:latin typeface="Antique Olive" panose="020B0603020204030204"/>
                <a:ea typeface="Yeseva One"/>
                <a:cs typeface="Yeseva One"/>
                <a:sym typeface="Yeseva One"/>
              </a:rPr>
              <a:t>Fetch</a:t>
            </a:r>
          </a:p>
          <a:p>
            <a:pPr>
              <a:lnSpc>
                <a:spcPts val="4293"/>
              </a:lnSpc>
            </a:pPr>
            <a:endParaRPr lang="en-US" sz="3066" dirty="0">
              <a:solidFill>
                <a:srgbClr val="564033"/>
              </a:solidFill>
              <a:latin typeface="Yeseva One"/>
              <a:ea typeface="Yeseva One"/>
              <a:cs typeface="Yeseva One"/>
              <a:sym typeface="Yeseva One"/>
            </a:endParaRPr>
          </a:p>
          <a:p>
            <a:pPr>
              <a:lnSpc>
                <a:spcPts val="4293"/>
              </a:lnSpc>
            </a:pPr>
            <a:endParaRPr lang="en-US" sz="3066" dirty="0">
              <a:solidFill>
                <a:srgbClr val="564033"/>
              </a:solidFill>
              <a:latin typeface="Yeseva One"/>
              <a:ea typeface="Yeseva One"/>
              <a:cs typeface="Yeseva One"/>
              <a:sym typeface="Yeseva One"/>
            </a:endParaRPr>
          </a:p>
        </p:txBody>
      </p:sp>
      <p:sp>
        <p:nvSpPr>
          <p:cNvPr id="6" name="TextBox 6"/>
          <p:cNvSpPr txBox="1"/>
          <p:nvPr/>
        </p:nvSpPr>
        <p:spPr>
          <a:xfrm>
            <a:off x="1389311" y="1293321"/>
            <a:ext cx="6514009" cy="808683"/>
          </a:xfrm>
          <a:prstGeom prst="rect">
            <a:avLst/>
          </a:prstGeom>
        </p:spPr>
        <p:txBody>
          <a:bodyPr lIns="0" tIns="0" rIns="0" bIns="0" rtlCol="0" anchor="t">
            <a:spAutoFit/>
          </a:bodyPr>
          <a:lstStyle/>
          <a:p>
            <a:pPr>
              <a:lnSpc>
                <a:spcPts val="3267"/>
              </a:lnSpc>
              <a:spcBef>
                <a:spcPct val="0"/>
              </a:spcBef>
            </a:pPr>
            <a:r>
              <a:rPr lang="en-US" sz="2333" dirty="0">
                <a:latin typeface="Antique Olive" panose="020B0603020204030204"/>
                <a:ea typeface="Yeseva One"/>
                <a:cs typeface="Yeseva One"/>
                <a:sym typeface="Yeseva One"/>
              </a:rPr>
              <a:t>Task: Fetch User → Then Fetch User’s Todos</a:t>
            </a:r>
          </a:p>
          <a:p>
            <a:pPr>
              <a:lnSpc>
                <a:spcPts val="3267"/>
              </a:lnSpc>
              <a:spcBef>
                <a:spcPct val="0"/>
              </a:spcBef>
            </a:pPr>
            <a:endParaRPr lang="en-US" sz="2333" dirty="0">
              <a:solidFill>
                <a:srgbClr val="564033"/>
              </a:solidFill>
              <a:latin typeface="Yeseva One"/>
              <a:ea typeface="Yeseva One"/>
              <a:cs typeface="Yeseva One"/>
              <a:sym typeface="Yeseva One"/>
            </a:endParaRPr>
          </a:p>
        </p:txBody>
      </p:sp>
    </p:spTree>
    <p:extLst>
      <p:ext uri="{BB962C8B-B14F-4D97-AF65-F5344CB8AC3E}">
        <p14:creationId xmlns:p14="http://schemas.microsoft.com/office/powerpoint/2010/main" val="4854681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709554" y="2239665"/>
            <a:ext cx="7517573" cy="1494649"/>
          </a:xfrm>
          <a:custGeom>
            <a:avLst/>
            <a:gdLst/>
            <a:ahLst/>
            <a:cxnLst/>
            <a:rect l="l" t="t" r="r" b="b"/>
            <a:pathLst>
              <a:path w="12452403" h="2241973">
                <a:moveTo>
                  <a:pt x="0" y="0"/>
                </a:moveTo>
                <a:lnTo>
                  <a:pt x="12452403" y="0"/>
                </a:lnTo>
                <a:lnTo>
                  <a:pt x="12452403" y="2241973"/>
                </a:lnTo>
                <a:lnTo>
                  <a:pt x="0" y="2241973"/>
                </a:lnTo>
                <a:lnTo>
                  <a:pt x="0" y="0"/>
                </a:lnTo>
                <a:close/>
              </a:path>
            </a:pathLst>
          </a:custGeom>
          <a:blipFill>
            <a:blip r:embed="rId2"/>
            <a:stretch>
              <a:fillRect/>
            </a:stretch>
          </a:blipFill>
        </p:spPr>
      </p:sp>
      <p:sp>
        <p:nvSpPr>
          <p:cNvPr id="5" name="TextBox 5"/>
          <p:cNvSpPr txBox="1"/>
          <p:nvPr/>
        </p:nvSpPr>
        <p:spPr>
          <a:xfrm>
            <a:off x="967261" y="1315367"/>
            <a:ext cx="9786188" cy="532069"/>
          </a:xfrm>
          <a:prstGeom prst="rect">
            <a:avLst/>
          </a:prstGeom>
        </p:spPr>
        <p:txBody>
          <a:bodyPr lIns="0" tIns="0" rIns="0" bIns="0" rtlCol="0" anchor="t">
            <a:spAutoFit/>
          </a:bodyPr>
          <a:lstStyle/>
          <a:p>
            <a:pPr>
              <a:lnSpc>
                <a:spcPts val="4293"/>
              </a:lnSpc>
            </a:pPr>
            <a:r>
              <a:rPr lang="en-US" sz="3500" b="1" dirty="0">
                <a:latin typeface="Antique Olive" panose="020B0603020204030204"/>
                <a:ea typeface="Yeseva One"/>
                <a:cs typeface="Yeseva One"/>
                <a:sym typeface="Yeseva One"/>
              </a:rPr>
              <a:t>Handling JSON Data</a:t>
            </a:r>
          </a:p>
        </p:txBody>
      </p:sp>
    </p:spTree>
    <p:extLst>
      <p:ext uri="{BB962C8B-B14F-4D97-AF65-F5344CB8AC3E}">
        <p14:creationId xmlns:p14="http://schemas.microsoft.com/office/powerpoint/2010/main" val="12358860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15390" y="1398380"/>
            <a:ext cx="10376495" cy="2811475"/>
          </a:xfrm>
          <a:prstGeom prst="rect">
            <a:avLst/>
          </a:prstGeom>
        </p:spPr>
        <p:txBody>
          <a:bodyPr lIns="0" tIns="0" rIns="0" bIns="0" rtlCol="0" anchor="t">
            <a:spAutoFit/>
          </a:bodyPr>
          <a:lstStyle/>
          <a:p>
            <a:pPr algn="ctr">
              <a:lnSpc>
                <a:spcPts val="5133"/>
              </a:lnSpc>
              <a:spcBef>
                <a:spcPct val="0"/>
              </a:spcBef>
            </a:pPr>
            <a:r>
              <a:rPr lang="en-US" sz="3500" b="1" dirty="0">
                <a:latin typeface="Antique Olive" panose="020B0603020204030204"/>
                <a:ea typeface="Yeseva One"/>
                <a:cs typeface="Yeseva One"/>
                <a:sym typeface="Yeseva One"/>
              </a:rPr>
              <a:t>Task</a:t>
            </a:r>
          </a:p>
          <a:p>
            <a:pPr>
              <a:lnSpc>
                <a:spcPts val="4293"/>
              </a:lnSpc>
              <a:spcBef>
                <a:spcPct val="0"/>
              </a:spcBef>
            </a:pPr>
            <a:r>
              <a:rPr lang="en-US" sz="3000" dirty="0">
                <a:latin typeface="Antique Olive" panose="020B0603020204030204"/>
                <a:ea typeface="Yeseva One"/>
                <a:cs typeface="Yeseva One"/>
                <a:sym typeface="Yeseva One"/>
              </a:rPr>
              <a:t>Students must:</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Count how many </a:t>
            </a:r>
            <a:r>
              <a:rPr lang="en-US" sz="3000" dirty="0" err="1">
                <a:latin typeface="Antique Olive" panose="020B0603020204030204"/>
                <a:ea typeface="Yeseva One"/>
                <a:cs typeface="Yeseva One"/>
                <a:sym typeface="Yeseva One"/>
              </a:rPr>
              <a:t>todos</a:t>
            </a:r>
            <a:r>
              <a:rPr lang="en-US" sz="3000" dirty="0">
                <a:latin typeface="Antique Olive" panose="020B0603020204030204"/>
                <a:ea typeface="Yeseva One"/>
                <a:cs typeface="Yeseva One"/>
                <a:sym typeface="Yeseva One"/>
              </a:rPr>
              <a:t> are completed.</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Display only titles longer than 20 characters.</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Map </a:t>
            </a:r>
            <a:r>
              <a:rPr lang="en-US" sz="3000" dirty="0" err="1">
                <a:latin typeface="Antique Olive" panose="020B0603020204030204"/>
                <a:ea typeface="Yeseva One"/>
                <a:cs typeface="Yeseva One"/>
                <a:sym typeface="Yeseva One"/>
              </a:rPr>
              <a:t>todos</a:t>
            </a:r>
            <a:r>
              <a:rPr lang="en-US" sz="3000" dirty="0">
                <a:latin typeface="Antique Olive" panose="020B0603020204030204"/>
                <a:ea typeface="Yeseva One"/>
                <a:cs typeface="Yeseva One"/>
                <a:sym typeface="Yeseva One"/>
              </a:rPr>
              <a:t> into a new array with {id, </a:t>
            </a:r>
            <a:r>
              <a:rPr lang="en-US" sz="3000" dirty="0" err="1">
                <a:latin typeface="Antique Olive" panose="020B0603020204030204"/>
                <a:ea typeface="Yeseva One"/>
                <a:cs typeface="Yeseva One"/>
                <a:sym typeface="Yeseva One"/>
              </a:rPr>
              <a:t>titleLength</a:t>
            </a:r>
            <a:r>
              <a:rPr lang="en-US" sz="3000" dirty="0">
                <a:latin typeface="Antique Olive" panose="020B0603020204030204"/>
                <a:ea typeface="Yeseva One"/>
                <a:cs typeface="Yeseva One"/>
                <a:sym typeface="Yeseva One"/>
              </a:rPr>
              <a:t>}.</a:t>
            </a:r>
          </a:p>
        </p:txBody>
      </p:sp>
    </p:spTree>
    <p:extLst>
      <p:ext uri="{BB962C8B-B14F-4D97-AF65-F5344CB8AC3E}">
        <p14:creationId xmlns:p14="http://schemas.microsoft.com/office/powerpoint/2010/main" val="31536624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366915" y="988115"/>
            <a:ext cx="7075663" cy="5869885"/>
          </a:xfrm>
          <a:custGeom>
            <a:avLst/>
            <a:gdLst/>
            <a:ahLst/>
            <a:cxnLst/>
            <a:rect l="l" t="t" r="r" b="b"/>
            <a:pathLst>
              <a:path w="10613495" h="8804828">
                <a:moveTo>
                  <a:pt x="0" y="0"/>
                </a:moveTo>
                <a:lnTo>
                  <a:pt x="10613495" y="0"/>
                </a:lnTo>
                <a:lnTo>
                  <a:pt x="10613495" y="8804828"/>
                </a:lnTo>
                <a:lnTo>
                  <a:pt x="0" y="8804828"/>
                </a:lnTo>
                <a:lnTo>
                  <a:pt x="0" y="0"/>
                </a:lnTo>
                <a:close/>
              </a:path>
            </a:pathLst>
          </a:custGeom>
          <a:blipFill>
            <a:blip r:embed="rId2"/>
            <a:stretch>
              <a:fillRect/>
            </a:stretch>
          </a:blipFill>
        </p:spPr>
      </p:sp>
      <p:sp>
        <p:nvSpPr>
          <p:cNvPr id="5" name="TextBox 5"/>
          <p:cNvSpPr txBox="1"/>
          <p:nvPr/>
        </p:nvSpPr>
        <p:spPr>
          <a:xfrm>
            <a:off x="5362268" y="406954"/>
            <a:ext cx="1084957" cy="1205458"/>
          </a:xfrm>
          <a:prstGeom prst="rect">
            <a:avLst/>
          </a:prstGeom>
        </p:spPr>
        <p:txBody>
          <a:bodyPr lIns="0" tIns="0" rIns="0" bIns="0" rtlCol="0" anchor="t">
            <a:spAutoFit/>
          </a:bodyPr>
          <a:lstStyle/>
          <a:p>
            <a:pPr algn="ctr">
              <a:lnSpc>
                <a:spcPts val="5133"/>
              </a:lnSpc>
              <a:spcBef>
                <a:spcPct val="0"/>
              </a:spcBef>
            </a:pPr>
            <a:r>
              <a:rPr lang="en-US" sz="3666" b="1" dirty="0">
                <a:latin typeface="Antique Olive" panose="020B0603020204030204"/>
                <a:ea typeface="Yeseva One"/>
                <a:cs typeface="Yeseva One"/>
                <a:sym typeface="Yeseva One"/>
              </a:rPr>
              <a:t>Task</a:t>
            </a:r>
          </a:p>
          <a:p>
            <a:pPr>
              <a:lnSpc>
                <a:spcPts val="4293"/>
              </a:lnSpc>
            </a:pPr>
            <a:endParaRPr lang="en-US" sz="3666" dirty="0">
              <a:solidFill>
                <a:srgbClr val="564033"/>
              </a:solidFill>
              <a:latin typeface="Yeseva One"/>
              <a:ea typeface="Yeseva One"/>
              <a:cs typeface="Yeseva One"/>
              <a:sym typeface="Yeseva One"/>
            </a:endParaRPr>
          </a:p>
        </p:txBody>
      </p:sp>
    </p:spTree>
    <p:extLst>
      <p:ext uri="{BB962C8B-B14F-4D97-AF65-F5344CB8AC3E}">
        <p14:creationId xmlns:p14="http://schemas.microsoft.com/office/powerpoint/2010/main" val="39974404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84134" y="803903"/>
            <a:ext cx="9786188" cy="549381"/>
          </a:xfrm>
          <a:prstGeom prst="rect">
            <a:avLst/>
          </a:prstGeom>
        </p:spPr>
        <p:txBody>
          <a:bodyPr lIns="0" tIns="0" rIns="0" bIns="0" rtlCol="0" anchor="t">
            <a:spAutoFit/>
          </a:bodyPr>
          <a:lstStyle/>
          <a:p>
            <a:pPr algn="ctr">
              <a:lnSpc>
                <a:spcPts val="4666"/>
              </a:lnSpc>
            </a:pPr>
            <a:r>
              <a:rPr lang="en-US" sz="3500" b="1" dirty="0">
                <a:latin typeface="Yeseva One"/>
                <a:ea typeface="Yeseva One"/>
                <a:cs typeface="Yeseva One"/>
                <a:sym typeface="Yeseva One"/>
              </a:rPr>
              <a:t>API Error Handling</a:t>
            </a:r>
          </a:p>
        </p:txBody>
      </p:sp>
      <p:sp>
        <p:nvSpPr>
          <p:cNvPr id="5" name="TextBox 5"/>
          <p:cNvSpPr txBox="1"/>
          <p:nvPr/>
        </p:nvSpPr>
        <p:spPr>
          <a:xfrm>
            <a:off x="1215001" y="1919079"/>
            <a:ext cx="6322715" cy="3260316"/>
          </a:xfrm>
          <a:prstGeom prst="rect">
            <a:avLst/>
          </a:prstGeom>
        </p:spPr>
        <p:txBody>
          <a:bodyPr lIns="0" tIns="0" rIns="0" bIns="0" rtlCol="0" anchor="t">
            <a:spAutoFit/>
          </a:bodyPr>
          <a:lstStyle/>
          <a:p>
            <a:pPr>
              <a:lnSpc>
                <a:spcPts val="4293"/>
              </a:lnSpc>
              <a:spcBef>
                <a:spcPct val="0"/>
              </a:spcBef>
            </a:pPr>
            <a:r>
              <a:rPr lang="en-US" sz="3000" dirty="0">
                <a:latin typeface="Antique Olive" panose="020B0603020204030204"/>
                <a:ea typeface="Yeseva One"/>
                <a:cs typeface="Yeseva One"/>
                <a:sym typeface="Yeseva One"/>
              </a:rPr>
              <a:t>Types of Errors</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Network error → no internet</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Server error → status 500</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Not found → status 404</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Unauthorized → status 401</a:t>
            </a:r>
          </a:p>
          <a:p>
            <a:pPr marL="662124" lvl="1" indent="-331062">
              <a:lnSpc>
                <a:spcPts val="4293"/>
              </a:lnSpc>
              <a:buFont typeface="Arial"/>
              <a:buChar char="•"/>
            </a:pPr>
            <a:r>
              <a:rPr lang="en-US" sz="3000" dirty="0">
                <a:latin typeface="Antique Olive" panose="020B0603020204030204"/>
                <a:ea typeface="Yeseva One"/>
                <a:cs typeface="Yeseva One"/>
                <a:sym typeface="Yeseva One"/>
              </a:rPr>
              <a:t>Bad request → status 400</a:t>
            </a:r>
          </a:p>
        </p:txBody>
      </p:sp>
    </p:spTree>
    <p:extLst>
      <p:ext uri="{BB962C8B-B14F-4D97-AF65-F5344CB8AC3E}">
        <p14:creationId xmlns:p14="http://schemas.microsoft.com/office/powerpoint/2010/main" val="3886443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71698" y="933213"/>
            <a:ext cx="9786188" cy="570541"/>
          </a:xfrm>
          <a:prstGeom prst="rect">
            <a:avLst/>
          </a:prstGeom>
        </p:spPr>
        <p:txBody>
          <a:bodyPr lIns="0" tIns="0" rIns="0" bIns="0" rtlCol="0" anchor="t">
            <a:spAutoFit/>
          </a:bodyPr>
          <a:lstStyle/>
          <a:p>
            <a:pPr algn="ctr">
              <a:lnSpc>
                <a:spcPts val="4666"/>
              </a:lnSpc>
            </a:pPr>
            <a:r>
              <a:rPr lang="en-US" sz="3500" b="1" dirty="0">
                <a:latin typeface="Antique Olive" panose="020B0603020204030204"/>
                <a:ea typeface="Yeseva One"/>
                <a:cs typeface="Yeseva One"/>
                <a:sym typeface="Yeseva One"/>
              </a:rPr>
              <a:t>API Error Handling</a:t>
            </a:r>
          </a:p>
        </p:txBody>
      </p:sp>
      <p:sp>
        <p:nvSpPr>
          <p:cNvPr id="5" name="TextBox 5"/>
          <p:cNvSpPr txBox="1"/>
          <p:nvPr/>
        </p:nvSpPr>
        <p:spPr>
          <a:xfrm>
            <a:off x="164532" y="1657266"/>
            <a:ext cx="6645771" cy="564898"/>
          </a:xfrm>
          <a:prstGeom prst="rect">
            <a:avLst/>
          </a:prstGeom>
        </p:spPr>
        <p:txBody>
          <a:bodyPr lIns="0" tIns="0" rIns="0" bIns="0" rtlCol="0" anchor="t">
            <a:spAutoFit/>
          </a:bodyPr>
          <a:lstStyle/>
          <a:p>
            <a:pPr algn="ctr">
              <a:lnSpc>
                <a:spcPts val="4666"/>
              </a:lnSpc>
            </a:pPr>
            <a:r>
              <a:rPr lang="en-US" sz="3000" dirty="0">
                <a:latin typeface="Antique Olive" panose="020B0603020204030204"/>
                <a:ea typeface="Yeseva One"/>
                <a:cs typeface="Yeseva One"/>
                <a:sym typeface="Yeseva One"/>
              </a:rPr>
              <a:t>How to handle errors in Fetch?</a:t>
            </a:r>
          </a:p>
        </p:txBody>
      </p:sp>
    </p:spTree>
    <p:extLst>
      <p:ext uri="{BB962C8B-B14F-4D97-AF65-F5344CB8AC3E}">
        <p14:creationId xmlns:p14="http://schemas.microsoft.com/office/powerpoint/2010/main" val="22092255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530639" y="2885257"/>
            <a:ext cx="6530122" cy="3509941"/>
          </a:xfrm>
          <a:custGeom>
            <a:avLst/>
            <a:gdLst/>
            <a:ahLst/>
            <a:cxnLst/>
            <a:rect l="l" t="t" r="r" b="b"/>
            <a:pathLst>
              <a:path w="9795183" h="5264911">
                <a:moveTo>
                  <a:pt x="0" y="0"/>
                </a:moveTo>
                <a:lnTo>
                  <a:pt x="9795183" y="0"/>
                </a:lnTo>
                <a:lnTo>
                  <a:pt x="9795183" y="5264910"/>
                </a:lnTo>
                <a:lnTo>
                  <a:pt x="0" y="5264910"/>
                </a:lnTo>
                <a:lnTo>
                  <a:pt x="0" y="0"/>
                </a:lnTo>
                <a:close/>
              </a:path>
            </a:pathLst>
          </a:custGeom>
          <a:blipFill>
            <a:blip r:embed="rId2"/>
            <a:stretch>
              <a:fillRect/>
            </a:stretch>
          </a:blipFill>
        </p:spPr>
      </p:sp>
      <p:sp>
        <p:nvSpPr>
          <p:cNvPr id="5" name="TextBox 5"/>
          <p:cNvSpPr txBox="1"/>
          <p:nvPr/>
        </p:nvSpPr>
        <p:spPr>
          <a:xfrm>
            <a:off x="902606" y="689739"/>
            <a:ext cx="9786188" cy="570541"/>
          </a:xfrm>
          <a:prstGeom prst="rect">
            <a:avLst/>
          </a:prstGeom>
        </p:spPr>
        <p:txBody>
          <a:bodyPr lIns="0" tIns="0" rIns="0" bIns="0" rtlCol="0" anchor="t">
            <a:spAutoFit/>
          </a:bodyPr>
          <a:lstStyle/>
          <a:p>
            <a:pPr algn="ctr">
              <a:lnSpc>
                <a:spcPts val="4666"/>
              </a:lnSpc>
            </a:pPr>
            <a:r>
              <a:rPr lang="en-US" sz="3500" b="1" dirty="0">
                <a:latin typeface="Antique Olive" panose="020B0603020204030204"/>
                <a:ea typeface="Yeseva One"/>
                <a:cs typeface="Yeseva One"/>
                <a:sym typeface="Yeseva One"/>
              </a:rPr>
              <a:t>API Error Handling</a:t>
            </a:r>
          </a:p>
        </p:txBody>
      </p:sp>
      <p:sp>
        <p:nvSpPr>
          <p:cNvPr id="6" name="TextBox 6"/>
          <p:cNvSpPr txBox="1"/>
          <p:nvPr/>
        </p:nvSpPr>
        <p:spPr>
          <a:xfrm>
            <a:off x="902606" y="1527222"/>
            <a:ext cx="6645771" cy="564898"/>
          </a:xfrm>
          <a:prstGeom prst="rect">
            <a:avLst/>
          </a:prstGeom>
        </p:spPr>
        <p:txBody>
          <a:bodyPr lIns="0" tIns="0" rIns="0" bIns="0" rtlCol="0" anchor="t">
            <a:spAutoFit/>
          </a:bodyPr>
          <a:lstStyle/>
          <a:p>
            <a:pPr algn="ctr">
              <a:lnSpc>
                <a:spcPts val="4666"/>
              </a:lnSpc>
            </a:pPr>
            <a:r>
              <a:rPr lang="en-US" sz="3333" dirty="0">
                <a:latin typeface="Antique Olive" panose="020B0603020204030204"/>
                <a:ea typeface="Yeseva One"/>
                <a:cs typeface="Yeseva One"/>
                <a:sym typeface="Yeseva One"/>
              </a:rPr>
              <a:t>How to handle errors in Fetch?</a:t>
            </a:r>
          </a:p>
        </p:txBody>
      </p:sp>
      <p:sp>
        <p:nvSpPr>
          <p:cNvPr id="7" name="TextBox 7"/>
          <p:cNvSpPr txBox="1"/>
          <p:nvPr/>
        </p:nvSpPr>
        <p:spPr>
          <a:xfrm>
            <a:off x="1488346" y="2145289"/>
            <a:ext cx="5272485" cy="561436"/>
          </a:xfrm>
          <a:prstGeom prst="rect">
            <a:avLst/>
          </a:prstGeom>
        </p:spPr>
        <p:txBody>
          <a:bodyPr lIns="0" tIns="0" rIns="0" bIns="0" rtlCol="0" anchor="t">
            <a:spAutoFit/>
          </a:bodyPr>
          <a:lstStyle/>
          <a:p>
            <a:pPr algn="ctr">
              <a:lnSpc>
                <a:spcPts val="4666"/>
              </a:lnSpc>
              <a:spcBef>
                <a:spcPct val="0"/>
              </a:spcBef>
            </a:pPr>
            <a:r>
              <a:rPr lang="en-US" sz="3333" dirty="0">
                <a:latin typeface="Antique Olive" panose="020B0603020204030204"/>
                <a:ea typeface="Yeseva One"/>
                <a:cs typeface="Yeseva One"/>
                <a:sym typeface="Yeseva One"/>
              </a:rPr>
              <a:t>✔ Check response status</a:t>
            </a:r>
          </a:p>
        </p:txBody>
      </p:sp>
    </p:spTree>
    <p:extLst>
      <p:ext uri="{BB962C8B-B14F-4D97-AF65-F5344CB8AC3E}">
        <p14:creationId xmlns:p14="http://schemas.microsoft.com/office/powerpoint/2010/main" val="3622245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2094613" y="2649137"/>
            <a:ext cx="7058836" cy="3690117"/>
          </a:xfrm>
          <a:custGeom>
            <a:avLst/>
            <a:gdLst/>
            <a:ahLst/>
            <a:cxnLst/>
            <a:rect l="l" t="t" r="r" b="b"/>
            <a:pathLst>
              <a:path w="10588254" h="5535175">
                <a:moveTo>
                  <a:pt x="0" y="0"/>
                </a:moveTo>
                <a:lnTo>
                  <a:pt x="10588254" y="0"/>
                </a:lnTo>
                <a:lnTo>
                  <a:pt x="10588254" y="5535175"/>
                </a:lnTo>
                <a:lnTo>
                  <a:pt x="0" y="5535175"/>
                </a:lnTo>
                <a:lnTo>
                  <a:pt x="0" y="0"/>
                </a:lnTo>
                <a:close/>
              </a:path>
            </a:pathLst>
          </a:custGeom>
          <a:blipFill>
            <a:blip r:embed="rId2"/>
            <a:stretch>
              <a:fillRect/>
            </a:stretch>
          </a:blipFill>
        </p:spPr>
      </p:sp>
      <p:sp>
        <p:nvSpPr>
          <p:cNvPr id="5" name="TextBox 5"/>
          <p:cNvSpPr txBox="1"/>
          <p:nvPr/>
        </p:nvSpPr>
        <p:spPr>
          <a:xfrm>
            <a:off x="893370" y="674594"/>
            <a:ext cx="9786188" cy="570541"/>
          </a:xfrm>
          <a:prstGeom prst="rect">
            <a:avLst/>
          </a:prstGeom>
        </p:spPr>
        <p:txBody>
          <a:bodyPr lIns="0" tIns="0" rIns="0" bIns="0" rtlCol="0" anchor="t">
            <a:spAutoFit/>
          </a:bodyPr>
          <a:lstStyle/>
          <a:p>
            <a:pPr algn="ctr">
              <a:lnSpc>
                <a:spcPts val="4666"/>
              </a:lnSpc>
            </a:pPr>
            <a:r>
              <a:rPr lang="en-US" sz="3500" b="1" dirty="0">
                <a:latin typeface="Antique Olive" panose="020B0603020204030204"/>
                <a:ea typeface="Yeseva One"/>
                <a:cs typeface="Yeseva One"/>
                <a:sym typeface="Yeseva One"/>
              </a:rPr>
              <a:t>API Error Handling</a:t>
            </a:r>
          </a:p>
        </p:txBody>
      </p:sp>
      <p:sp>
        <p:nvSpPr>
          <p:cNvPr id="6" name="TextBox 6"/>
          <p:cNvSpPr txBox="1"/>
          <p:nvPr/>
        </p:nvSpPr>
        <p:spPr>
          <a:xfrm>
            <a:off x="647837" y="1282720"/>
            <a:ext cx="6645771" cy="564898"/>
          </a:xfrm>
          <a:prstGeom prst="rect">
            <a:avLst/>
          </a:prstGeom>
        </p:spPr>
        <p:txBody>
          <a:bodyPr lIns="0" tIns="0" rIns="0" bIns="0" rtlCol="0" anchor="t">
            <a:spAutoFit/>
          </a:bodyPr>
          <a:lstStyle/>
          <a:p>
            <a:pPr algn="ctr">
              <a:lnSpc>
                <a:spcPts val="4666"/>
              </a:lnSpc>
            </a:pPr>
            <a:r>
              <a:rPr lang="en-US" sz="3000" dirty="0">
                <a:latin typeface="Antique Olive" panose="020B0603020204030204"/>
                <a:ea typeface="Yeseva One"/>
                <a:cs typeface="Yeseva One"/>
                <a:sym typeface="Yeseva One"/>
              </a:rPr>
              <a:t>How to handle errors in Fetch?</a:t>
            </a:r>
          </a:p>
        </p:txBody>
      </p:sp>
      <p:sp>
        <p:nvSpPr>
          <p:cNvPr id="7" name="TextBox 7"/>
          <p:cNvSpPr txBox="1"/>
          <p:nvPr/>
        </p:nvSpPr>
        <p:spPr>
          <a:xfrm>
            <a:off x="647837" y="1885204"/>
            <a:ext cx="6470451" cy="561436"/>
          </a:xfrm>
          <a:prstGeom prst="rect">
            <a:avLst/>
          </a:prstGeom>
        </p:spPr>
        <p:txBody>
          <a:bodyPr lIns="0" tIns="0" rIns="0" bIns="0" rtlCol="0" anchor="t">
            <a:spAutoFit/>
          </a:bodyPr>
          <a:lstStyle/>
          <a:p>
            <a:pPr algn="ctr">
              <a:lnSpc>
                <a:spcPts val="4666"/>
              </a:lnSpc>
              <a:spcBef>
                <a:spcPct val="0"/>
              </a:spcBef>
            </a:pPr>
            <a:r>
              <a:rPr lang="en-US" sz="3000" dirty="0">
                <a:latin typeface="Antique Olive" panose="020B0603020204030204"/>
                <a:ea typeface="Yeseva One"/>
                <a:cs typeface="Yeseva One"/>
                <a:sym typeface="Yeseva One"/>
              </a:rPr>
              <a:t>✔ Try/Catch with Async/Await </a:t>
            </a:r>
          </a:p>
        </p:txBody>
      </p:sp>
    </p:spTree>
    <p:extLst>
      <p:ext uri="{BB962C8B-B14F-4D97-AF65-F5344CB8AC3E}">
        <p14:creationId xmlns:p14="http://schemas.microsoft.com/office/powerpoint/2010/main" val="1962715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3842810" y="1787887"/>
            <a:ext cx="5903793" cy="4458593"/>
          </a:xfrm>
          <a:custGeom>
            <a:avLst/>
            <a:gdLst/>
            <a:ahLst/>
            <a:cxnLst/>
            <a:rect l="l" t="t" r="r" b="b"/>
            <a:pathLst>
              <a:path w="8855689" h="6687890">
                <a:moveTo>
                  <a:pt x="0" y="0"/>
                </a:moveTo>
                <a:lnTo>
                  <a:pt x="8855689" y="0"/>
                </a:lnTo>
                <a:lnTo>
                  <a:pt x="8855689" y="6687890"/>
                </a:lnTo>
                <a:lnTo>
                  <a:pt x="0" y="6687890"/>
                </a:lnTo>
                <a:lnTo>
                  <a:pt x="0" y="0"/>
                </a:lnTo>
                <a:close/>
              </a:path>
            </a:pathLst>
          </a:custGeom>
          <a:blipFill>
            <a:blip r:embed="rId2"/>
            <a:stretch>
              <a:fillRect/>
            </a:stretch>
          </a:blipFill>
        </p:spPr>
      </p:sp>
      <p:sp>
        <p:nvSpPr>
          <p:cNvPr id="5" name="TextBox 5"/>
          <p:cNvSpPr txBox="1"/>
          <p:nvPr/>
        </p:nvSpPr>
        <p:spPr>
          <a:xfrm>
            <a:off x="542388" y="822376"/>
            <a:ext cx="9786188" cy="564898"/>
          </a:xfrm>
          <a:prstGeom prst="rect">
            <a:avLst/>
          </a:prstGeom>
        </p:spPr>
        <p:txBody>
          <a:bodyPr lIns="0" tIns="0" rIns="0" bIns="0" rtlCol="0" anchor="t">
            <a:spAutoFit/>
          </a:bodyPr>
          <a:lstStyle/>
          <a:p>
            <a:pPr>
              <a:lnSpc>
                <a:spcPts val="4666"/>
              </a:lnSpc>
            </a:pPr>
            <a:r>
              <a:rPr lang="en-US" sz="3200" b="1" dirty="0">
                <a:latin typeface="Antique Olive" panose="020B0603020204030204"/>
                <a:ea typeface="Yeseva One"/>
                <a:cs typeface="Yeseva One"/>
                <a:sym typeface="Yeseva One"/>
              </a:rPr>
              <a:t>Fetch — POST, PUT, DELETE</a:t>
            </a:r>
          </a:p>
        </p:txBody>
      </p:sp>
      <p:sp>
        <p:nvSpPr>
          <p:cNvPr id="6" name="TextBox 6"/>
          <p:cNvSpPr txBox="1"/>
          <p:nvPr/>
        </p:nvSpPr>
        <p:spPr>
          <a:xfrm>
            <a:off x="958025" y="1513197"/>
            <a:ext cx="2884785" cy="549381"/>
          </a:xfrm>
          <a:prstGeom prst="rect">
            <a:avLst/>
          </a:prstGeom>
        </p:spPr>
        <p:txBody>
          <a:bodyPr lIns="0" tIns="0" rIns="0" bIns="0" rtlCol="0" anchor="t">
            <a:spAutoFit/>
          </a:bodyPr>
          <a:lstStyle/>
          <a:p>
            <a:pPr algn="ctr">
              <a:lnSpc>
                <a:spcPts val="4666"/>
              </a:lnSpc>
            </a:pPr>
            <a:r>
              <a:rPr lang="en-US" sz="3000" b="1" dirty="0">
                <a:latin typeface="Yeseva One"/>
                <a:ea typeface="Yeseva One"/>
                <a:cs typeface="Yeseva One"/>
                <a:sym typeface="Yeseva One"/>
              </a:rPr>
              <a:t>POST Method</a:t>
            </a:r>
          </a:p>
        </p:txBody>
      </p:sp>
    </p:spTree>
    <p:extLst>
      <p:ext uri="{BB962C8B-B14F-4D97-AF65-F5344CB8AC3E}">
        <p14:creationId xmlns:p14="http://schemas.microsoft.com/office/powerpoint/2010/main" val="30293730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304776" y="2494176"/>
            <a:ext cx="7726333" cy="2885739"/>
          </a:xfrm>
          <a:custGeom>
            <a:avLst/>
            <a:gdLst/>
            <a:ahLst/>
            <a:cxnLst/>
            <a:rect l="l" t="t" r="r" b="b"/>
            <a:pathLst>
              <a:path w="11589500" h="4328608">
                <a:moveTo>
                  <a:pt x="0" y="0"/>
                </a:moveTo>
                <a:lnTo>
                  <a:pt x="11589499" y="0"/>
                </a:lnTo>
                <a:lnTo>
                  <a:pt x="11589499" y="4328608"/>
                </a:lnTo>
                <a:lnTo>
                  <a:pt x="0" y="4328608"/>
                </a:lnTo>
                <a:lnTo>
                  <a:pt x="0" y="0"/>
                </a:lnTo>
                <a:close/>
              </a:path>
            </a:pathLst>
          </a:custGeom>
          <a:blipFill>
            <a:blip r:embed="rId2"/>
            <a:stretch>
              <a:fillRect/>
            </a:stretch>
          </a:blipFill>
        </p:spPr>
      </p:sp>
      <p:sp>
        <p:nvSpPr>
          <p:cNvPr id="6" name="TextBox 6"/>
          <p:cNvSpPr txBox="1"/>
          <p:nvPr/>
        </p:nvSpPr>
        <p:spPr>
          <a:xfrm>
            <a:off x="776247" y="1603780"/>
            <a:ext cx="2620268" cy="549381"/>
          </a:xfrm>
          <a:prstGeom prst="rect">
            <a:avLst/>
          </a:prstGeom>
        </p:spPr>
        <p:txBody>
          <a:bodyPr lIns="0" tIns="0" rIns="0" bIns="0" rtlCol="0" anchor="t">
            <a:spAutoFit/>
          </a:bodyPr>
          <a:lstStyle/>
          <a:p>
            <a:pPr algn="ctr">
              <a:lnSpc>
                <a:spcPts val="4666"/>
              </a:lnSpc>
            </a:pPr>
            <a:r>
              <a:rPr lang="en-US" sz="3000" dirty="0">
                <a:latin typeface="Antique Olive" panose="020B0603020204030204"/>
                <a:ea typeface="Yeseva One"/>
                <a:cs typeface="Yeseva One"/>
                <a:sym typeface="Yeseva One"/>
              </a:rPr>
              <a:t>PUT Method</a:t>
            </a:r>
          </a:p>
        </p:txBody>
      </p:sp>
      <p:sp>
        <p:nvSpPr>
          <p:cNvPr id="7" name="TextBox 5">
            <a:extLst>
              <a:ext uri="{FF2B5EF4-FFF2-40B4-BE49-F238E27FC236}">
                <a16:creationId xmlns:a16="http://schemas.microsoft.com/office/drawing/2014/main" id="{EDEBCA06-673B-A7D3-7662-BC080C363291}"/>
              </a:ext>
            </a:extLst>
          </p:cNvPr>
          <p:cNvSpPr txBox="1"/>
          <p:nvPr/>
        </p:nvSpPr>
        <p:spPr>
          <a:xfrm>
            <a:off x="542388" y="822376"/>
            <a:ext cx="9786188" cy="564898"/>
          </a:xfrm>
          <a:prstGeom prst="rect">
            <a:avLst/>
          </a:prstGeom>
        </p:spPr>
        <p:txBody>
          <a:bodyPr lIns="0" tIns="0" rIns="0" bIns="0" rtlCol="0" anchor="t">
            <a:spAutoFit/>
          </a:bodyPr>
          <a:lstStyle/>
          <a:p>
            <a:pPr>
              <a:lnSpc>
                <a:spcPts val="4666"/>
              </a:lnSpc>
            </a:pPr>
            <a:r>
              <a:rPr lang="en-US" sz="3200" b="1" dirty="0">
                <a:latin typeface="Antique Olive" panose="020B0603020204030204"/>
                <a:ea typeface="Yeseva One"/>
                <a:cs typeface="Yeseva One"/>
                <a:sym typeface="Yeseva One"/>
              </a:rPr>
              <a:t>Fetch — POST, PUT, DELETE</a:t>
            </a:r>
          </a:p>
        </p:txBody>
      </p:sp>
    </p:spTree>
    <p:extLst>
      <p:ext uri="{BB962C8B-B14F-4D97-AF65-F5344CB8AC3E}">
        <p14:creationId xmlns:p14="http://schemas.microsoft.com/office/powerpoint/2010/main" val="1385731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469656" y="2477474"/>
            <a:ext cx="8073547" cy="1903051"/>
          </a:xfrm>
          <a:custGeom>
            <a:avLst/>
            <a:gdLst/>
            <a:ahLst/>
            <a:cxnLst/>
            <a:rect l="l" t="t" r="r" b="b"/>
            <a:pathLst>
              <a:path w="12110321" h="2854576">
                <a:moveTo>
                  <a:pt x="0" y="0"/>
                </a:moveTo>
                <a:lnTo>
                  <a:pt x="12110321" y="0"/>
                </a:lnTo>
                <a:lnTo>
                  <a:pt x="12110321" y="2854576"/>
                </a:lnTo>
                <a:lnTo>
                  <a:pt x="0" y="2854576"/>
                </a:lnTo>
                <a:lnTo>
                  <a:pt x="0" y="0"/>
                </a:lnTo>
                <a:close/>
              </a:path>
            </a:pathLst>
          </a:custGeom>
          <a:blipFill>
            <a:blip r:embed="rId3"/>
            <a:stretch>
              <a:fillRect/>
            </a:stretch>
          </a:blipFill>
        </p:spPr>
      </p:sp>
      <p:sp>
        <p:nvSpPr>
          <p:cNvPr id="6" name="TextBox 6"/>
          <p:cNvSpPr txBox="1"/>
          <p:nvPr/>
        </p:nvSpPr>
        <p:spPr>
          <a:xfrm>
            <a:off x="1013443" y="1641113"/>
            <a:ext cx="3413919" cy="561564"/>
          </a:xfrm>
          <a:prstGeom prst="rect">
            <a:avLst/>
          </a:prstGeom>
        </p:spPr>
        <p:txBody>
          <a:bodyPr lIns="0" tIns="0" rIns="0" bIns="0" rtlCol="0" anchor="t">
            <a:spAutoFit/>
          </a:bodyPr>
          <a:lstStyle/>
          <a:p>
            <a:pPr algn="ctr">
              <a:lnSpc>
                <a:spcPts val="4666"/>
              </a:lnSpc>
            </a:pPr>
            <a:r>
              <a:rPr lang="en-US" sz="3333" dirty="0">
                <a:latin typeface="Antique Olive" panose="020B0603020204030204"/>
                <a:ea typeface="Yeseva One"/>
                <a:cs typeface="Yeseva One"/>
                <a:sym typeface="Yeseva One"/>
              </a:rPr>
              <a:t>DELETE Method</a:t>
            </a:r>
          </a:p>
        </p:txBody>
      </p:sp>
      <p:sp>
        <p:nvSpPr>
          <p:cNvPr id="7" name="TextBox 5">
            <a:extLst>
              <a:ext uri="{FF2B5EF4-FFF2-40B4-BE49-F238E27FC236}">
                <a16:creationId xmlns:a16="http://schemas.microsoft.com/office/drawing/2014/main" id="{EAE41455-35DD-7783-B4AB-25398C2DB126}"/>
              </a:ext>
            </a:extLst>
          </p:cNvPr>
          <p:cNvSpPr txBox="1"/>
          <p:nvPr/>
        </p:nvSpPr>
        <p:spPr>
          <a:xfrm>
            <a:off x="542388" y="822376"/>
            <a:ext cx="9786188" cy="564898"/>
          </a:xfrm>
          <a:prstGeom prst="rect">
            <a:avLst/>
          </a:prstGeom>
        </p:spPr>
        <p:txBody>
          <a:bodyPr lIns="0" tIns="0" rIns="0" bIns="0" rtlCol="0" anchor="t">
            <a:spAutoFit/>
          </a:bodyPr>
          <a:lstStyle/>
          <a:p>
            <a:pPr>
              <a:lnSpc>
                <a:spcPts val="4666"/>
              </a:lnSpc>
            </a:pPr>
            <a:r>
              <a:rPr lang="en-US" sz="3200" b="1" dirty="0">
                <a:latin typeface="Antique Olive" panose="020B0603020204030204"/>
                <a:ea typeface="Yeseva One"/>
                <a:cs typeface="Yeseva One"/>
                <a:sym typeface="Yeseva One"/>
              </a:rPr>
              <a:t>Fetch — POST, PUT, DELETE</a:t>
            </a:r>
          </a:p>
        </p:txBody>
      </p:sp>
    </p:spTree>
    <p:extLst>
      <p:ext uri="{BB962C8B-B14F-4D97-AF65-F5344CB8AC3E}">
        <p14:creationId xmlns:p14="http://schemas.microsoft.com/office/powerpoint/2010/main" val="24867580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67262" y="1466004"/>
            <a:ext cx="9054193" cy="2261325"/>
          </a:xfrm>
          <a:prstGeom prst="rect">
            <a:avLst/>
          </a:prstGeom>
        </p:spPr>
        <p:txBody>
          <a:bodyPr wrap="square" lIns="0" tIns="0" rIns="0" bIns="0" rtlCol="0" anchor="t">
            <a:spAutoFit/>
          </a:bodyPr>
          <a:lstStyle/>
          <a:p>
            <a:pPr algn="ctr">
              <a:lnSpc>
                <a:spcPts val="5413"/>
              </a:lnSpc>
            </a:pPr>
            <a:r>
              <a:rPr lang="en-US" sz="3866" dirty="0">
                <a:latin typeface="Antique Olive" panose="020B0603020204030204"/>
                <a:ea typeface="Yeseva One"/>
                <a:cs typeface="Yeseva One"/>
                <a:sym typeface="Yeseva One"/>
              </a:rPr>
              <a:t>Task</a:t>
            </a:r>
          </a:p>
          <a:p>
            <a:pPr>
              <a:lnSpc>
                <a:spcPts val="4200"/>
              </a:lnSpc>
            </a:pPr>
            <a:r>
              <a:rPr lang="en-US" sz="2999" dirty="0">
                <a:latin typeface="Antique Olive" panose="020B0603020204030204"/>
                <a:ea typeface="Yeseva One"/>
                <a:cs typeface="Yeseva One"/>
                <a:sym typeface="Yeseva One"/>
              </a:rPr>
              <a:t>Create dashboard for users to get all and detailed, add, edit, delete on users table with a good </a:t>
            </a:r>
            <a:r>
              <a:rPr lang="en-US" sz="2999" dirty="0" err="1">
                <a:latin typeface="Antique Olive" panose="020B0603020204030204"/>
                <a:ea typeface="Yeseva One"/>
                <a:cs typeface="Yeseva One"/>
                <a:sym typeface="Yeseva One"/>
              </a:rPr>
              <a:t>desgin</a:t>
            </a:r>
            <a:r>
              <a:rPr lang="en-US" sz="2999" dirty="0">
                <a:latin typeface="Antique Olive" panose="020B0603020204030204"/>
                <a:ea typeface="Yeseva One"/>
                <a:cs typeface="Yeseva One"/>
                <a:sym typeface="Yeseva One"/>
              </a:rPr>
              <a:t> </a:t>
            </a:r>
          </a:p>
          <a:p>
            <a:pPr algn="ctr">
              <a:lnSpc>
                <a:spcPts val="4200"/>
              </a:lnSpc>
            </a:pPr>
            <a:endParaRPr lang="en-US" sz="2999" dirty="0">
              <a:solidFill>
                <a:srgbClr val="564033"/>
              </a:solidFill>
              <a:latin typeface="Antique Olive" panose="020B0603020204030204"/>
              <a:ea typeface="Yeseva One"/>
              <a:cs typeface="Yeseva One"/>
              <a:sym typeface="Yeseva One"/>
            </a:endParaRPr>
          </a:p>
        </p:txBody>
      </p:sp>
    </p:spTree>
    <p:extLst>
      <p:ext uri="{BB962C8B-B14F-4D97-AF65-F5344CB8AC3E}">
        <p14:creationId xmlns:p14="http://schemas.microsoft.com/office/powerpoint/2010/main" val="11834505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B5FCF-BCC3-8703-A87E-95547366AB16}"/>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B65FDA7-DCA3-DBEE-BEAA-94A2F02E1E26}"/>
              </a:ext>
            </a:extLst>
          </p:cNvPr>
          <p:cNvSpPr txBox="1"/>
          <p:nvPr/>
        </p:nvSpPr>
        <p:spPr>
          <a:xfrm>
            <a:off x="1080602" y="1603641"/>
            <a:ext cx="10030795" cy="3693319"/>
          </a:xfrm>
          <a:prstGeom prst="rect">
            <a:avLst/>
          </a:prstGeom>
        </p:spPr>
        <p:txBody>
          <a:bodyPr wrap="square" lIns="0" tIns="0" rIns="0" bIns="0" rtlCol="0" anchor="t">
            <a:spAutoFit/>
          </a:bodyPr>
          <a:lstStyle/>
          <a:p>
            <a:r>
              <a:rPr lang="en-US" sz="2400" b="1" dirty="0"/>
              <a:t>What is Local Storage?</a:t>
            </a:r>
          </a:p>
          <a:p>
            <a:r>
              <a:rPr lang="en-US" sz="2400" b="1" dirty="0"/>
              <a:t>Local Storage</a:t>
            </a:r>
            <a:r>
              <a:rPr lang="en-US" sz="2400" dirty="0"/>
              <a:t> is a web storage feature that allows us to store data in the browser.</a:t>
            </a:r>
          </a:p>
          <a:p>
            <a:r>
              <a:rPr lang="en-US" sz="2400" dirty="0"/>
              <a:t>Data is stored as </a:t>
            </a:r>
            <a:r>
              <a:rPr lang="en-US" sz="2400" b="1" dirty="0"/>
              <a:t>key–value pairs</a:t>
            </a:r>
            <a:endParaRPr lang="en-US" sz="2400" dirty="0"/>
          </a:p>
          <a:p>
            <a:r>
              <a:rPr lang="en-US" sz="2400" dirty="0"/>
              <a:t>Data is saved </a:t>
            </a:r>
            <a:r>
              <a:rPr lang="en-US" sz="2400" b="1" dirty="0"/>
              <a:t>in the browser</a:t>
            </a:r>
            <a:endParaRPr lang="en-US" sz="2400" dirty="0"/>
          </a:p>
          <a:p>
            <a:r>
              <a:rPr lang="en-US" sz="2400" dirty="0"/>
              <a:t>Data remains even after:</a:t>
            </a:r>
          </a:p>
          <a:p>
            <a:pPr marL="800100" lvl="1" indent="-342900">
              <a:buFont typeface="Arial" panose="020B0604020202020204" pitchFamily="34" charset="0"/>
              <a:buChar char="•"/>
            </a:pPr>
            <a:r>
              <a:rPr lang="en-US" sz="2400" dirty="0"/>
              <a:t>Refreshing the page</a:t>
            </a:r>
          </a:p>
          <a:p>
            <a:pPr marL="800100" lvl="1" indent="-342900">
              <a:buFont typeface="Arial" panose="020B0604020202020204" pitchFamily="34" charset="0"/>
              <a:buChar char="•"/>
            </a:pPr>
            <a:r>
              <a:rPr lang="en-US" sz="2400" dirty="0"/>
              <a:t>Closing the browser</a:t>
            </a:r>
          </a:p>
          <a:p>
            <a:pPr marL="800100" lvl="1" indent="-342900">
              <a:buFont typeface="Arial" panose="020B0604020202020204" pitchFamily="34" charset="0"/>
              <a:buChar char="•"/>
            </a:pPr>
            <a:r>
              <a:rPr lang="en-US" sz="2400" dirty="0"/>
              <a:t>Restarting the computer</a:t>
            </a:r>
          </a:p>
          <a:p>
            <a:r>
              <a:rPr lang="en-US" sz="2400" b="1" dirty="0"/>
              <a:t>It is part of the Web Storage API</a:t>
            </a:r>
          </a:p>
        </p:txBody>
      </p:sp>
      <p:sp>
        <p:nvSpPr>
          <p:cNvPr id="7" name="TextBox 5">
            <a:extLst>
              <a:ext uri="{FF2B5EF4-FFF2-40B4-BE49-F238E27FC236}">
                <a16:creationId xmlns:a16="http://schemas.microsoft.com/office/drawing/2014/main" id="{6B2143D3-CC2F-BDC4-4940-894EFCC3DD39}"/>
              </a:ext>
            </a:extLst>
          </p:cNvPr>
          <p:cNvSpPr txBox="1"/>
          <p:nvPr/>
        </p:nvSpPr>
        <p:spPr>
          <a:xfrm>
            <a:off x="542388" y="822376"/>
            <a:ext cx="9786188" cy="492443"/>
          </a:xfrm>
          <a:prstGeom prst="rect">
            <a:avLst/>
          </a:prstGeom>
        </p:spPr>
        <p:txBody>
          <a:bodyPr lIns="0" tIns="0" rIns="0" bIns="0" rtlCol="0" anchor="t">
            <a:spAutoFit/>
          </a:bodyPr>
          <a:lstStyle/>
          <a:p>
            <a:r>
              <a:rPr lang="en-US" sz="3200" b="1" dirty="0" err="1"/>
              <a:t>LocalStorage</a:t>
            </a:r>
            <a:r>
              <a:rPr lang="en-US" sz="3200" b="1" dirty="0"/>
              <a:t> in JavaScript</a:t>
            </a:r>
          </a:p>
        </p:txBody>
      </p:sp>
    </p:spTree>
    <p:extLst>
      <p:ext uri="{BB962C8B-B14F-4D97-AF65-F5344CB8AC3E}">
        <p14:creationId xmlns:p14="http://schemas.microsoft.com/office/powerpoint/2010/main" val="3810884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invX="1"/>
      </p:transition>
    </mc:Choice>
    <mc:Fallback>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7901C-32E8-0B22-112A-66587E8D2FDC}"/>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4418615A-58E8-DDE4-BDC1-16AC89C5CB53}"/>
              </a:ext>
            </a:extLst>
          </p:cNvPr>
          <p:cNvSpPr txBox="1"/>
          <p:nvPr/>
        </p:nvSpPr>
        <p:spPr>
          <a:xfrm>
            <a:off x="1080602" y="1603641"/>
            <a:ext cx="10030795" cy="2585323"/>
          </a:xfrm>
          <a:prstGeom prst="rect">
            <a:avLst/>
          </a:prstGeom>
        </p:spPr>
        <p:txBody>
          <a:bodyPr wrap="square" lIns="0" tIns="0" rIns="0" bIns="0" rtlCol="0" anchor="t">
            <a:spAutoFit/>
          </a:bodyPr>
          <a:lstStyle/>
          <a:p>
            <a:r>
              <a:rPr lang="en-US" sz="2400" b="1" dirty="0"/>
              <a:t>Why Do We Use Local Storage?</a:t>
            </a:r>
          </a:p>
          <a:p>
            <a:pPr marL="342900" indent="-342900">
              <a:buFont typeface="Arial" panose="020B0604020202020204" pitchFamily="34" charset="0"/>
              <a:buChar char="•"/>
            </a:pPr>
            <a:r>
              <a:rPr lang="en-US" sz="2400" dirty="0"/>
              <a:t>We use it to store:</a:t>
            </a:r>
          </a:p>
          <a:p>
            <a:pPr marL="342900" indent="-342900">
              <a:buFont typeface="Arial" panose="020B0604020202020204" pitchFamily="34" charset="0"/>
              <a:buChar char="•"/>
            </a:pPr>
            <a:r>
              <a:rPr lang="en-US" sz="2400" dirty="0"/>
              <a:t>User preferences (dark mode, language)</a:t>
            </a:r>
          </a:p>
          <a:p>
            <a:pPr marL="342900" indent="-342900">
              <a:buFont typeface="Arial" panose="020B0604020202020204" pitchFamily="34" charset="0"/>
              <a:buChar char="•"/>
            </a:pPr>
            <a:r>
              <a:rPr lang="en-US" sz="2400" dirty="0"/>
              <a:t>Login information</a:t>
            </a:r>
          </a:p>
          <a:p>
            <a:pPr marL="342900" indent="-342900">
              <a:buFont typeface="Arial" panose="020B0604020202020204" pitchFamily="34" charset="0"/>
              <a:buChar char="•"/>
            </a:pPr>
            <a:r>
              <a:rPr lang="en-US" sz="2400" dirty="0"/>
              <a:t>Cart items in e-commerce</a:t>
            </a:r>
          </a:p>
          <a:p>
            <a:pPr marL="342900" indent="-342900">
              <a:buFont typeface="Arial" panose="020B0604020202020204" pitchFamily="34" charset="0"/>
              <a:buChar char="•"/>
            </a:pPr>
            <a:r>
              <a:rPr lang="en-US" sz="2400" dirty="0"/>
              <a:t>Form data</a:t>
            </a:r>
          </a:p>
          <a:p>
            <a:pPr marL="342900" indent="-342900">
              <a:buFont typeface="Arial" panose="020B0604020202020204" pitchFamily="34" charset="0"/>
              <a:buChar char="•"/>
            </a:pPr>
            <a:r>
              <a:rPr lang="en-US" sz="2400" dirty="0"/>
              <a:t>Simple application data</a:t>
            </a:r>
          </a:p>
        </p:txBody>
      </p:sp>
      <p:sp>
        <p:nvSpPr>
          <p:cNvPr id="7" name="TextBox 5">
            <a:extLst>
              <a:ext uri="{FF2B5EF4-FFF2-40B4-BE49-F238E27FC236}">
                <a16:creationId xmlns:a16="http://schemas.microsoft.com/office/drawing/2014/main" id="{837172C7-3073-EB0B-3F8E-3C00C0F45F09}"/>
              </a:ext>
            </a:extLst>
          </p:cNvPr>
          <p:cNvSpPr txBox="1"/>
          <p:nvPr/>
        </p:nvSpPr>
        <p:spPr>
          <a:xfrm>
            <a:off x="542388" y="822376"/>
            <a:ext cx="9786188" cy="492443"/>
          </a:xfrm>
          <a:prstGeom prst="rect">
            <a:avLst/>
          </a:prstGeom>
        </p:spPr>
        <p:txBody>
          <a:bodyPr lIns="0" tIns="0" rIns="0" bIns="0" rtlCol="0" anchor="t">
            <a:spAutoFit/>
          </a:bodyPr>
          <a:lstStyle/>
          <a:p>
            <a:r>
              <a:rPr lang="en-US" sz="3200" b="1" dirty="0" err="1"/>
              <a:t>LocalStorage</a:t>
            </a:r>
            <a:r>
              <a:rPr lang="en-US" sz="3200" b="1" dirty="0"/>
              <a:t> in JavaScript</a:t>
            </a:r>
          </a:p>
        </p:txBody>
      </p:sp>
    </p:spTree>
    <p:extLst>
      <p:ext uri="{BB962C8B-B14F-4D97-AF65-F5344CB8AC3E}">
        <p14:creationId xmlns:p14="http://schemas.microsoft.com/office/powerpoint/2010/main" val="39590041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invX="1"/>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ED835-0621-005C-50C9-A9635F506936}"/>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712C671F-B3A0-1E83-8DE1-197A4BBFAE9A}"/>
              </a:ext>
            </a:extLst>
          </p:cNvPr>
          <p:cNvSpPr txBox="1"/>
          <p:nvPr/>
        </p:nvSpPr>
        <p:spPr>
          <a:xfrm>
            <a:off x="1080602" y="1603641"/>
            <a:ext cx="10030795" cy="4585871"/>
          </a:xfrm>
          <a:prstGeom prst="rect">
            <a:avLst/>
          </a:prstGeom>
        </p:spPr>
        <p:txBody>
          <a:bodyPr wrap="square" lIns="0" tIns="0" rIns="0" bIns="0" rtlCol="0" anchor="t">
            <a:spAutoFit/>
          </a:bodyPr>
          <a:lstStyle/>
          <a:p>
            <a:r>
              <a:rPr lang="en-US" sz="2000" b="1" dirty="0"/>
              <a:t>Local Storage Methods</a:t>
            </a:r>
          </a:p>
          <a:p>
            <a:r>
              <a:rPr lang="en-US" sz="2000" b="1" dirty="0"/>
              <a:t>1. </a:t>
            </a:r>
            <a:r>
              <a:rPr lang="en-US" sz="2000" b="1" dirty="0" err="1"/>
              <a:t>setItem</a:t>
            </a:r>
            <a:r>
              <a:rPr lang="en-US" sz="2000" b="1" dirty="0"/>
              <a:t>()</a:t>
            </a:r>
          </a:p>
          <a:p>
            <a:r>
              <a:rPr lang="en-US" sz="2000" dirty="0"/>
              <a:t>Used to store data.</a:t>
            </a:r>
          </a:p>
          <a:p>
            <a:r>
              <a:rPr lang="en-US" sz="2000" dirty="0" err="1"/>
              <a:t>localStorage.setItem</a:t>
            </a:r>
            <a:r>
              <a:rPr lang="en-US" sz="2000" dirty="0"/>
              <a:t>("username", "Sandy");</a:t>
            </a:r>
            <a:br>
              <a:rPr lang="en-US" sz="2000" dirty="0"/>
            </a:br>
            <a:r>
              <a:rPr lang="en-US" sz="2000" b="1" dirty="0"/>
              <a:t>2. </a:t>
            </a:r>
            <a:r>
              <a:rPr lang="en-US" sz="2000" b="1" dirty="0" err="1"/>
              <a:t>getItem</a:t>
            </a:r>
            <a:r>
              <a:rPr lang="en-US" sz="2000" b="1" dirty="0"/>
              <a:t>()</a:t>
            </a:r>
          </a:p>
          <a:p>
            <a:r>
              <a:rPr lang="en-US" sz="2000" dirty="0"/>
              <a:t>Used to get stored data.</a:t>
            </a:r>
          </a:p>
          <a:p>
            <a:r>
              <a:rPr lang="en-US" sz="2000" dirty="0"/>
              <a:t>let name = </a:t>
            </a:r>
            <a:r>
              <a:rPr lang="en-US" sz="2000" dirty="0" err="1"/>
              <a:t>localStorage.getItem</a:t>
            </a:r>
            <a:r>
              <a:rPr lang="en-US" sz="2000" dirty="0"/>
              <a:t>("username");</a:t>
            </a:r>
          </a:p>
          <a:p>
            <a:r>
              <a:rPr lang="en-US" sz="2000" dirty="0"/>
              <a:t>console.log(name);</a:t>
            </a:r>
          </a:p>
          <a:p>
            <a:r>
              <a:rPr lang="en-US" sz="2000" b="1" dirty="0"/>
              <a:t>3. </a:t>
            </a:r>
            <a:r>
              <a:rPr lang="en-US" sz="2000" b="1" dirty="0" err="1"/>
              <a:t>removeItem</a:t>
            </a:r>
            <a:r>
              <a:rPr lang="en-US" sz="2000" b="1" dirty="0"/>
              <a:t>()</a:t>
            </a:r>
          </a:p>
          <a:p>
            <a:r>
              <a:rPr lang="en-US" sz="2000" dirty="0"/>
              <a:t>Removes a specific item.</a:t>
            </a:r>
          </a:p>
          <a:p>
            <a:r>
              <a:rPr lang="en-US" sz="2000" dirty="0" err="1"/>
              <a:t>localStorage.removeItem</a:t>
            </a:r>
            <a:r>
              <a:rPr lang="en-US" sz="2000" dirty="0"/>
              <a:t>("username");</a:t>
            </a:r>
          </a:p>
          <a:p>
            <a:r>
              <a:rPr lang="en-US" sz="2000" b="1" dirty="0"/>
              <a:t> 4. clear()</a:t>
            </a:r>
          </a:p>
          <a:p>
            <a:r>
              <a:rPr lang="en-US" sz="2000" dirty="0"/>
              <a:t>Removes all data.</a:t>
            </a:r>
          </a:p>
          <a:p>
            <a:r>
              <a:rPr lang="en-US" sz="2000" dirty="0" err="1"/>
              <a:t>localStorage.clear</a:t>
            </a:r>
            <a:r>
              <a:rPr lang="en-US" sz="2000" dirty="0"/>
              <a:t>();</a:t>
            </a:r>
          </a:p>
          <a:p>
            <a:endParaRPr lang="en-US" dirty="0"/>
          </a:p>
        </p:txBody>
      </p:sp>
      <p:sp>
        <p:nvSpPr>
          <p:cNvPr id="7" name="TextBox 5">
            <a:extLst>
              <a:ext uri="{FF2B5EF4-FFF2-40B4-BE49-F238E27FC236}">
                <a16:creationId xmlns:a16="http://schemas.microsoft.com/office/drawing/2014/main" id="{6DE3765E-A61A-E7D8-87E2-10F93333DEFA}"/>
              </a:ext>
            </a:extLst>
          </p:cNvPr>
          <p:cNvSpPr txBox="1"/>
          <p:nvPr/>
        </p:nvSpPr>
        <p:spPr>
          <a:xfrm>
            <a:off x="542388" y="822376"/>
            <a:ext cx="9786188" cy="492443"/>
          </a:xfrm>
          <a:prstGeom prst="rect">
            <a:avLst/>
          </a:prstGeom>
        </p:spPr>
        <p:txBody>
          <a:bodyPr lIns="0" tIns="0" rIns="0" bIns="0" rtlCol="0" anchor="t">
            <a:spAutoFit/>
          </a:bodyPr>
          <a:lstStyle/>
          <a:p>
            <a:r>
              <a:rPr lang="en-US" sz="3200" b="1" dirty="0" err="1"/>
              <a:t>LocalStorage</a:t>
            </a:r>
            <a:r>
              <a:rPr lang="en-US" sz="3200" b="1" dirty="0"/>
              <a:t> in JavaScript</a:t>
            </a:r>
          </a:p>
        </p:txBody>
      </p:sp>
    </p:spTree>
    <p:extLst>
      <p:ext uri="{BB962C8B-B14F-4D97-AF65-F5344CB8AC3E}">
        <p14:creationId xmlns:p14="http://schemas.microsoft.com/office/powerpoint/2010/main" val="21489717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invX="1"/>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9088E-494F-DA32-3782-6513E5BE676F}"/>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63D557B5-CC97-7A32-2F5C-B01454660000}"/>
              </a:ext>
            </a:extLst>
          </p:cNvPr>
          <p:cNvSpPr txBox="1"/>
          <p:nvPr/>
        </p:nvSpPr>
        <p:spPr>
          <a:xfrm>
            <a:off x="1080602" y="1603641"/>
            <a:ext cx="10030795" cy="4678204"/>
          </a:xfrm>
          <a:prstGeom prst="rect">
            <a:avLst/>
          </a:prstGeom>
        </p:spPr>
        <p:txBody>
          <a:bodyPr wrap="square" lIns="0" tIns="0" rIns="0" bIns="0" rtlCol="0" anchor="t">
            <a:spAutoFit/>
          </a:bodyPr>
          <a:lstStyle/>
          <a:p>
            <a:r>
              <a:rPr lang="en-US" sz="2000" dirty="0"/>
              <a:t>Storing Objects in Local Storage</a:t>
            </a:r>
          </a:p>
          <a:p>
            <a:r>
              <a:rPr lang="en-US" sz="2000" dirty="0"/>
              <a:t>Since Local Storage stores only </a:t>
            </a:r>
            <a:r>
              <a:rPr lang="en-US" sz="2400" b="1" dirty="0"/>
              <a:t>strings</a:t>
            </a:r>
            <a:r>
              <a:rPr lang="en-US" sz="2000" dirty="0"/>
              <a:t>, we must convert objects to JSON.</a:t>
            </a:r>
          </a:p>
          <a:p>
            <a:r>
              <a:rPr lang="en-US" sz="2000" b="1" dirty="0"/>
              <a:t>Save Object</a:t>
            </a:r>
          </a:p>
          <a:p>
            <a:r>
              <a:rPr lang="en-US" sz="2000" dirty="0"/>
              <a:t>let user = {</a:t>
            </a:r>
          </a:p>
          <a:p>
            <a:r>
              <a:rPr lang="en-US" sz="2000" dirty="0"/>
              <a:t>  name: "Sandy",</a:t>
            </a:r>
          </a:p>
          <a:p>
            <a:r>
              <a:rPr lang="en-US" sz="2000" dirty="0"/>
              <a:t>  age: 25</a:t>
            </a:r>
          </a:p>
          <a:p>
            <a:r>
              <a:rPr lang="en-US" sz="2000" dirty="0"/>
              <a:t>};</a:t>
            </a:r>
          </a:p>
          <a:p>
            <a:r>
              <a:rPr lang="en-US" sz="2000" dirty="0" err="1"/>
              <a:t>localStorage.setItem</a:t>
            </a:r>
            <a:r>
              <a:rPr lang="en-US" sz="2000" dirty="0"/>
              <a:t>("user", </a:t>
            </a:r>
            <a:r>
              <a:rPr lang="en-US" sz="2000" dirty="0" err="1"/>
              <a:t>JSON.stringify</a:t>
            </a:r>
            <a:r>
              <a:rPr lang="en-US" sz="2000" dirty="0"/>
              <a:t>(user));</a:t>
            </a:r>
          </a:p>
          <a:p>
            <a:endParaRPr lang="en-US" sz="2000" dirty="0"/>
          </a:p>
          <a:p>
            <a:r>
              <a:rPr lang="en-US" sz="2000" b="1" dirty="0"/>
              <a:t>Get Object</a:t>
            </a:r>
          </a:p>
          <a:p>
            <a:r>
              <a:rPr lang="en-US" sz="2000" dirty="0"/>
              <a:t>let data = </a:t>
            </a:r>
            <a:r>
              <a:rPr lang="en-US" sz="2000" dirty="0" err="1"/>
              <a:t>localStorage.getItem</a:t>
            </a:r>
            <a:r>
              <a:rPr lang="en-US" sz="2000" dirty="0"/>
              <a:t>("user");</a:t>
            </a:r>
          </a:p>
          <a:p>
            <a:r>
              <a:rPr lang="en-US" sz="2000" dirty="0"/>
              <a:t>let </a:t>
            </a:r>
            <a:r>
              <a:rPr lang="en-US" sz="2000" dirty="0" err="1"/>
              <a:t>parsedUser</a:t>
            </a:r>
            <a:r>
              <a:rPr lang="en-US" sz="2000" dirty="0"/>
              <a:t> = </a:t>
            </a:r>
            <a:r>
              <a:rPr lang="en-US" sz="2000" dirty="0" err="1"/>
              <a:t>JSON.parse</a:t>
            </a:r>
            <a:r>
              <a:rPr lang="en-US" sz="2000" dirty="0"/>
              <a:t>(data);</a:t>
            </a:r>
          </a:p>
          <a:p>
            <a:endParaRPr lang="en-US" sz="2000" dirty="0"/>
          </a:p>
          <a:p>
            <a:r>
              <a:rPr lang="en-US" sz="2000" dirty="0"/>
              <a:t>console.log(parsedUser.name);</a:t>
            </a:r>
          </a:p>
          <a:p>
            <a:endParaRPr lang="en-US" sz="2000" dirty="0"/>
          </a:p>
        </p:txBody>
      </p:sp>
      <p:sp>
        <p:nvSpPr>
          <p:cNvPr id="7" name="TextBox 5">
            <a:extLst>
              <a:ext uri="{FF2B5EF4-FFF2-40B4-BE49-F238E27FC236}">
                <a16:creationId xmlns:a16="http://schemas.microsoft.com/office/drawing/2014/main" id="{3A67A7B0-DFBA-D46A-EBFC-D8D883DF22E6}"/>
              </a:ext>
            </a:extLst>
          </p:cNvPr>
          <p:cNvSpPr txBox="1"/>
          <p:nvPr/>
        </p:nvSpPr>
        <p:spPr>
          <a:xfrm>
            <a:off x="542388" y="822376"/>
            <a:ext cx="9786188" cy="492443"/>
          </a:xfrm>
          <a:prstGeom prst="rect">
            <a:avLst/>
          </a:prstGeom>
        </p:spPr>
        <p:txBody>
          <a:bodyPr lIns="0" tIns="0" rIns="0" bIns="0" rtlCol="0" anchor="t">
            <a:spAutoFit/>
          </a:bodyPr>
          <a:lstStyle/>
          <a:p>
            <a:r>
              <a:rPr lang="en-US" sz="3200" b="1" dirty="0" err="1"/>
              <a:t>LocalStorage</a:t>
            </a:r>
            <a:r>
              <a:rPr lang="en-US" sz="3200" b="1" dirty="0"/>
              <a:t> in JavaScript</a:t>
            </a:r>
          </a:p>
        </p:txBody>
      </p:sp>
    </p:spTree>
    <p:extLst>
      <p:ext uri="{BB962C8B-B14F-4D97-AF65-F5344CB8AC3E}">
        <p14:creationId xmlns:p14="http://schemas.microsoft.com/office/powerpoint/2010/main" val="336902821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invX="1"/>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17587" y="1873581"/>
            <a:ext cx="7601720" cy="1792478"/>
          </a:xfrm>
          <a:prstGeom prst="rect">
            <a:avLst/>
          </a:prstGeom>
        </p:spPr>
        <p:txBody>
          <a:bodyPr lIns="0" tIns="0" rIns="0" bIns="0" rtlCol="0" anchor="t">
            <a:spAutoFit/>
          </a:bodyPr>
          <a:lstStyle/>
          <a:p>
            <a:pPr algn="ctr">
              <a:lnSpc>
                <a:spcPts val="17340"/>
              </a:lnSpc>
              <a:spcBef>
                <a:spcPct val="0"/>
              </a:spcBef>
            </a:pPr>
            <a:r>
              <a:rPr lang="en-US" sz="4400" b="1" i="1" dirty="0">
                <a:latin typeface="Cormorant Garamond Bold Italics"/>
                <a:ea typeface="Cormorant Garamond Bold Italics"/>
                <a:cs typeface="Cormorant Garamond Bold Italics"/>
                <a:sym typeface="Cormorant Garamond Bold Italics"/>
              </a:rPr>
              <a:t>Thank you</a:t>
            </a:r>
          </a:p>
        </p:txBody>
      </p:sp>
    </p:spTree>
    <p:extLst>
      <p:ext uri="{BB962C8B-B14F-4D97-AF65-F5344CB8AC3E}">
        <p14:creationId xmlns:p14="http://schemas.microsoft.com/office/powerpoint/2010/main" val="1259783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5186</TotalTime>
  <Words>4431</Words>
  <Application>Microsoft Office PowerPoint</Application>
  <PresentationFormat>Widescreen</PresentationFormat>
  <Paragraphs>719</Paragraphs>
  <Slides>94</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94</vt:i4>
      </vt:variant>
    </vt:vector>
  </HeadingPairs>
  <TitlesOfParts>
    <vt:vector size="107" baseType="lpstr">
      <vt:lpstr>Antique Olive</vt:lpstr>
      <vt:lpstr>Arial</vt:lpstr>
      <vt:lpstr>Calibri</vt:lpstr>
      <vt:lpstr>Calibri Light</vt:lpstr>
      <vt:lpstr>Cormorant Garamond Bold Italics</vt:lpstr>
      <vt:lpstr>Kollektif</vt:lpstr>
      <vt:lpstr>Kollektif Bold</vt:lpstr>
      <vt:lpstr>Quicksand</vt:lpstr>
      <vt:lpstr>Trebuchet MS</vt:lpstr>
      <vt:lpstr>Wingdings 3</vt:lpstr>
      <vt:lpstr>Yeseva One</vt:lpstr>
      <vt:lpstr>Facet</vt:lpstr>
      <vt:lpstr>Custom Design</vt:lpstr>
      <vt:lpstr> JavaScript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Petra</dc:creator>
  <cp:lastModifiedBy>dell</cp:lastModifiedBy>
  <cp:revision>42</cp:revision>
  <dcterms:created xsi:type="dcterms:W3CDTF">2026-01-26T08:52:25Z</dcterms:created>
  <dcterms:modified xsi:type="dcterms:W3CDTF">2026-02-16T23:08:49Z</dcterms:modified>
</cp:coreProperties>
</file>