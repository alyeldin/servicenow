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731" r:id="rId1"/>
    <p:sldMasterId id="2147483748" r:id="rId2"/>
  </p:sldMasterIdLst>
  <p:notesMasterIdLst>
    <p:notesMasterId r:id="rId139"/>
  </p:notesMasterIdLst>
  <p:sldIdLst>
    <p:sldId id="256" r:id="rId3"/>
    <p:sldId id="395"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4" r:id="rId78"/>
    <p:sldId id="335" r:id="rId79"/>
    <p:sldId id="336" r:id="rId80"/>
    <p:sldId id="337" r:id="rId81"/>
    <p:sldId id="338" r:id="rId82"/>
    <p:sldId id="339" r:id="rId83"/>
    <p:sldId id="340" r:id="rId84"/>
    <p:sldId id="341" r:id="rId85"/>
    <p:sldId id="342" r:id="rId86"/>
    <p:sldId id="343" r:id="rId87"/>
    <p:sldId id="344" r:id="rId88"/>
    <p:sldId id="345" r:id="rId89"/>
    <p:sldId id="346" r:id="rId90"/>
    <p:sldId id="347" r:id="rId91"/>
    <p:sldId id="348" r:id="rId92"/>
    <p:sldId id="349" r:id="rId93"/>
    <p:sldId id="350" r:id="rId94"/>
    <p:sldId id="351" r:id="rId95"/>
    <p:sldId id="352" r:id="rId96"/>
    <p:sldId id="353" r:id="rId97"/>
    <p:sldId id="354" r:id="rId98"/>
    <p:sldId id="355" r:id="rId99"/>
    <p:sldId id="356" r:id="rId100"/>
    <p:sldId id="357" r:id="rId101"/>
    <p:sldId id="358" r:id="rId102"/>
    <p:sldId id="359" r:id="rId103"/>
    <p:sldId id="360" r:id="rId104"/>
    <p:sldId id="361" r:id="rId105"/>
    <p:sldId id="362" r:id="rId106"/>
    <p:sldId id="363" r:id="rId107"/>
    <p:sldId id="364" r:id="rId108"/>
    <p:sldId id="365" r:id="rId109"/>
    <p:sldId id="366" r:id="rId110"/>
    <p:sldId id="367" r:id="rId111"/>
    <p:sldId id="368" r:id="rId112"/>
    <p:sldId id="369" r:id="rId113"/>
    <p:sldId id="370" r:id="rId114"/>
    <p:sldId id="371" r:id="rId115"/>
    <p:sldId id="372" r:id="rId116"/>
    <p:sldId id="396" r:id="rId117"/>
    <p:sldId id="397"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4483" autoAdjust="0"/>
    <p:restoredTop sz="94660"/>
  </p:normalViewPr>
  <p:slideViewPr>
    <p:cSldViewPr snapToGrid="0">
      <p:cViewPr varScale="1">
        <p:scale>
          <a:sx n="67" d="100"/>
          <a:sy n="67" d="100"/>
        </p:scale>
        <p:origin x="840" y="60"/>
      </p:cViewPr>
      <p:guideLst>
        <p:guide orient="horz" pos="2160"/>
        <p:guide pos="3840"/>
      </p:guideLst>
    </p:cSldViewPr>
  </p:slideViewPr>
  <p:notesTextViewPr>
    <p:cViewPr>
      <p:scale>
        <a:sx n="1" d="1"/>
        <a:sy n="1" d="1"/>
      </p:scale>
      <p:origin x="0" y="0"/>
    </p:cViewPr>
  </p:notesTextViewPr>
  <p:notesViewPr>
    <p:cSldViewPr snapToGrid="0">
      <p:cViewPr varScale="1">
        <p:scale>
          <a:sx n="96" d="100"/>
          <a:sy n="96" d="100"/>
        </p:scale>
        <p:origin x="3558" y="10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38" Type="http://schemas.openxmlformats.org/officeDocument/2006/relationships/slide" Target="slides/slide136.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slide" Target="slides/slide126.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slide" Target="slides/slide101.xml"/><Relationship Id="rId108" Type="http://schemas.openxmlformats.org/officeDocument/2006/relationships/slide" Target="slides/slide106.xml"/><Relationship Id="rId116" Type="http://schemas.openxmlformats.org/officeDocument/2006/relationships/slide" Target="slides/slide114.xml"/><Relationship Id="rId124" Type="http://schemas.openxmlformats.org/officeDocument/2006/relationships/slide" Target="slides/slide122.xml"/><Relationship Id="rId129" Type="http://schemas.openxmlformats.org/officeDocument/2006/relationships/slide" Target="slides/slide127.xml"/><Relationship Id="rId137" Type="http://schemas.openxmlformats.org/officeDocument/2006/relationships/slide" Target="slides/slide13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11" Type="http://schemas.openxmlformats.org/officeDocument/2006/relationships/slide" Target="slides/slide109.xml"/><Relationship Id="rId132" Type="http://schemas.openxmlformats.org/officeDocument/2006/relationships/slide" Target="slides/slide130.xml"/><Relationship Id="rId14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slide" Target="slides/slide104.xml"/><Relationship Id="rId114" Type="http://schemas.openxmlformats.org/officeDocument/2006/relationships/slide" Target="slides/slide112.xml"/><Relationship Id="rId119" Type="http://schemas.openxmlformats.org/officeDocument/2006/relationships/slide" Target="slides/slide117.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30" Type="http://schemas.openxmlformats.org/officeDocument/2006/relationships/slide" Target="slides/slide128.xml"/><Relationship Id="rId135" Type="http://schemas.openxmlformats.org/officeDocument/2006/relationships/slide" Target="slides/slide133.xml"/><Relationship Id="rId143"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B7E296-0428-41DA-B2FD-629865C14C9A}" type="datetimeFigureOut">
              <a:rPr lang="en-GB" smtClean="0"/>
              <a:t>12/02/2026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CD3839-9FE5-42F2-BECC-1535DA6E108D}" type="slidenum">
              <a:rPr lang="en-GB" smtClean="0"/>
              <a:t>‹#›</a:t>
            </a:fld>
            <a:endParaRPr lang="en-GB"/>
          </a:p>
        </p:txBody>
      </p:sp>
    </p:spTree>
    <p:extLst>
      <p:ext uri="{BB962C8B-B14F-4D97-AF65-F5344CB8AC3E}">
        <p14:creationId xmlns:p14="http://schemas.microsoft.com/office/powerpoint/2010/main" val="31600606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ACD3839-9FE5-42F2-BECC-1535DA6E108D}" type="slidenum">
              <a:rPr lang="en-GB" smtClean="0"/>
              <a:t>1</a:t>
            </a:fld>
            <a:endParaRPr lang="en-GB"/>
          </a:p>
        </p:txBody>
      </p:sp>
    </p:spTree>
    <p:extLst>
      <p:ext uri="{BB962C8B-B14F-4D97-AF65-F5344CB8AC3E}">
        <p14:creationId xmlns:p14="http://schemas.microsoft.com/office/powerpoint/2010/main" val="2139321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39EB2C1-3CEE-41D9-9027-001A41D0B6A2}"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DC63D1-4BC8-4D7B-B6FE-C4E6B3A818D4}" type="slidenum">
              <a:rPr lang="en-US" smtClean="0"/>
              <a:t>‹#›</a:t>
            </a:fld>
            <a:endParaRPr lang="en-US"/>
          </a:p>
        </p:txBody>
      </p:sp>
    </p:spTree>
    <p:extLst>
      <p:ext uri="{BB962C8B-B14F-4D97-AF65-F5344CB8AC3E}">
        <p14:creationId xmlns:p14="http://schemas.microsoft.com/office/powerpoint/2010/main" val="5838737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39EB2C1-3CEE-41D9-9027-001A41D0B6A2}"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DC63D1-4BC8-4D7B-B6FE-C4E6B3A818D4}" type="slidenum">
              <a:rPr lang="en-US" smtClean="0"/>
              <a:t>‹#›</a:t>
            </a:fld>
            <a:endParaRPr lang="en-US"/>
          </a:p>
        </p:txBody>
      </p:sp>
    </p:spTree>
    <p:extLst>
      <p:ext uri="{BB962C8B-B14F-4D97-AF65-F5344CB8AC3E}">
        <p14:creationId xmlns:p14="http://schemas.microsoft.com/office/powerpoint/2010/main" val="11294372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9EB2C1-3CEE-41D9-9027-001A41D0B6A2}"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DC63D1-4BC8-4D7B-B6FE-C4E6B3A818D4}" type="slidenum">
              <a:rPr lang="en-US" smtClean="0"/>
              <a:t>‹#›</a:t>
            </a:fld>
            <a:endParaRPr lang="en-US"/>
          </a:p>
        </p:txBody>
      </p:sp>
    </p:spTree>
    <p:extLst>
      <p:ext uri="{BB962C8B-B14F-4D97-AF65-F5344CB8AC3E}">
        <p14:creationId xmlns:p14="http://schemas.microsoft.com/office/powerpoint/2010/main" val="97825255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39EB2C1-3CEE-41D9-9027-001A41D0B6A2}" type="datetimeFigureOut">
              <a:rPr lang="en-US" smtClean="0"/>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DC63D1-4BC8-4D7B-B6FE-C4E6B3A818D4}" type="slidenum">
              <a:rPr lang="en-US" smtClean="0"/>
              <a:t>‹#›</a:t>
            </a:fld>
            <a:endParaRPr lang="en-US"/>
          </a:p>
        </p:txBody>
      </p:sp>
    </p:spTree>
    <p:extLst>
      <p:ext uri="{BB962C8B-B14F-4D97-AF65-F5344CB8AC3E}">
        <p14:creationId xmlns:p14="http://schemas.microsoft.com/office/powerpoint/2010/main" val="302150960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39EB2C1-3CEE-41D9-9027-001A41D0B6A2}" type="datetimeFigureOut">
              <a:rPr lang="en-US" smtClean="0"/>
              <a:t>2/12/2026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DDC63D1-4BC8-4D7B-B6FE-C4E6B3A818D4}" type="slidenum">
              <a:rPr lang="en-US" smtClean="0"/>
              <a:t>‹#›</a:t>
            </a:fld>
            <a:endParaRPr lang="en-US"/>
          </a:p>
        </p:txBody>
      </p:sp>
    </p:spTree>
    <p:extLst>
      <p:ext uri="{BB962C8B-B14F-4D97-AF65-F5344CB8AC3E}">
        <p14:creationId xmlns:p14="http://schemas.microsoft.com/office/powerpoint/2010/main" val="270549356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39EB2C1-3CEE-41D9-9027-001A41D0B6A2}" type="datetimeFigureOut">
              <a:rPr lang="en-US" smtClean="0"/>
              <a:t>2/12/2026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DDC63D1-4BC8-4D7B-B6FE-C4E6B3A818D4}" type="slidenum">
              <a:rPr lang="en-US" smtClean="0"/>
              <a:t>‹#›</a:t>
            </a:fld>
            <a:endParaRPr lang="en-US"/>
          </a:p>
        </p:txBody>
      </p:sp>
    </p:spTree>
    <p:extLst>
      <p:ext uri="{BB962C8B-B14F-4D97-AF65-F5344CB8AC3E}">
        <p14:creationId xmlns:p14="http://schemas.microsoft.com/office/powerpoint/2010/main" val="195773947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9EB2C1-3CEE-41D9-9027-001A41D0B6A2}" type="datetimeFigureOut">
              <a:rPr lang="en-US" smtClean="0"/>
              <a:t>2/12/2026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DDC63D1-4BC8-4D7B-B6FE-C4E6B3A818D4}" type="slidenum">
              <a:rPr lang="en-US" smtClean="0"/>
              <a:t>‹#›</a:t>
            </a:fld>
            <a:endParaRPr lang="en-US"/>
          </a:p>
        </p:txBody>
      </p:sp>
    </p:spTree>
    <p:extLst>
      <p:ext uri="{BB962C8B-B14F-4D97-AF65-F5344CB8AC3E}">
        <p14:creationId xmlns:p14="http://schemas.microsoft.com/office/powerpoint/2010/main" val="8051910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39EB2C1-3CEE-41D9-9027-001A41D0B6A2}" type="datetimeFigureOut">
              <a:rPr lang="en-US" smtClean="0"/>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DC63D1-4BC8-4D7B-B6FE-C4E6B3A818D4}" type="slidenum">
              <a:rPr lang="en-US" smtClean="0"/>
              <a:t>‹#›</a:t>
            </a:fld>
            <a:endParaRPr lang="en-US"/>
          </a:p>
        </p:txBody>
      </p:sp>
    </p:spTree>
    <p:extLst>
      <p:ext uri="{BB962C8B-B14F-4D97-AF65-F5344CB8AC3E}">
        <p14:creationId xmlns:p14="http://schemas.microsoft.com/office/powerpoint/2010/main" val="41575765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DC63D1-4BC8-4D7B-B6FE-C4E6B3A818D4}" type="slidenum">
              <a:rPr lang="en-US" smtClean="0"/>
              <a:t>‹#›</a:t>
            </a:fld>
            <a:endParaRPr lang="en-US"/>
          </a:p>
        </p:txBody>
      </p:sp>
      <p:sp>
        <p:nvSpPr>
          <p:cNvPr id="5" name="Date Placeholder 4"/>
          <p:cNvSpPr>
            <a:spLocks noGrp="1"/>
          </p:cNvSpPr>
          <p:nvPr>
            <p:ph type="dt" sz="half" idx="10"/>
          </p:nvPr>
        </p:nvSpPr>
        <p:spPr/>
        <p:txBody>
          <a:bodyPr/>
          <a:lstStyle/>
          <a:p>
            <a:fld id="{B39EB2C1-3CEE-41D9-9027-001A41D0B6A2}" type="datetimeFigureOut">
              <a:rPr lang="en-US" smtClean="0"/>
              <a:t>2/12/2026</a:t>
            </a:fld>
            <a:endParaRPr lang="en-US"/>
          </a:p>
        </p:txBody>
      </p:sp>
    </p:spTree>
    <p:extLst>
      <p:ext uri="{BB962C8B-B14F-4D97-AF65-F5344CB8AC3E}">
        <p14:creationId xmlns:p14="http://schemas.microsoft.com/office/powerpoint/2010/main" val="32229180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9EB2C1-3CEE-41D9-9027-001A41D0B6A2}"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DC63D1-4BC8-4D7B-B6FE-C4E6B3A818D4}" type="slidenum">
              <a:rPr lang="en-US" smtClean="0"/>
              <a:t>‹#›</a:t>
            </a:fld>
            <a:endParaRPr lang="en-US"/>
          </a:p>
        </p:txBody>
      </p:sp>
    </p:spTree>
    <p:extLst>
      <p:ext uri="{BB962C8B-B14F-4D97-AF65-F5344CB8AC3E}">
        <p14:creationId xmlns:p14="http://schemas.microsoft.com/office/powerpoint/2010/main" val="12560181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9EB2C1-3CEE-41D9-9027-001A41D0B6A2}"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DC63D1-4BC8-4D7B-B6FE-C4E6B3A818D4}"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ntique Olive" panose="020B0603020204030204"/>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ntique Olive" panose="020B0603020204030204"/>
              </a:rPr>
              <a:t>”</a:t>
            </a:r>
          </a:p>
        </p:txBody>
      </p:sp>
    </p:spTree>
    <p:extLst>
      <p:ext uri="{BB962C8B-B14F-4D97-AF65-F5344CB8AC3E}">
        <p14:creationId xmlns:p14="http://schemas.microsoft.com/office/powerpoint/2010/main" val="209979888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9EB2C1-3CEE-41D9-9027-001A41D0B6A2}"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DC63D1-4BC8-4D7B-B6FE-C4E6B3A818D4}" type="slidenum">
              <a:rPr lang="en-US" smtClean="0"/>
              <a:t>‹#›</a:t>
            </a:fld>
            <a:endParaRPr lang="en-US"/>
          </a:p>
        </p:txBody>
      </p:sp>
    </p:spTree>
    <p:extLst>
      <p:ext uri="{BB962C8B-B14F-4D97-AF65-F5344CB8AC3E}">
        <p14:creationId xmlns:p14="http://schemas.microsoft.com/office/powerpoint/2010/main" val="15133101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9EB2C1-3CEE-41D9-9027-001A41D0B6A2}"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DC63D1-4BC8-4D7B-B6FE-C4E6B3A818D4}"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ntique Olive" panose="020B0603020204030204"/>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ntique Olive" panose="020B0603020204030204"/>
              </a:rPr>
              <a:t>”</a:t>
            </a:r>
          </a:p>
        </p:txBody>
      </p:sp>
    </p:spTree>
    <p:extLst>
      <p:ext uri="{BB962C8B-B14F-4D97-AF65-F5344CB8AC3E}">
        <p14:creationId xmlns:p14="http://schemas.microsoft.com/office/powerpoint/2010/main" val="34257855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9EB2C1-3CEE-41D9-9027-001A41D0B6A2}"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DC63D1-4BC8-4D7B-B6FE-C4E6B3A818D4}" type="slidenum">
              <a:rPr lang="en-US" smtClean="0"/>
              <a:t>‹#›</a:t>
            </a:fld>
            <a:endParaRPr lang="en-US"/>
          </a:p>
        </p:txBody>
      </p:sp>
    </p:spTree>
    <p:extLst>
      <p:ext uri="{BB962C8B-B14F-4D97-AF65-F5344CB8AC3E}">
        <p14:creationId xmlns:p14="http://schemas.microsoft.com/office/powerpoint/2010/main" val="358433684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39EB2C1-3CEE-41D9-9027-001A41D0B6A2}"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DC63D1-4BC8-4D7B-B6FE-C4E6B3A818D4}" type="slidenum">
              <a:rPr lang="en-US" smtClean="0"/>
              <a:t>‹#›</a:t>
            </a:fld>
            <a:endParaRPr lang="en-US"/>
          </a:p>
        </p:txBody>
      </p:sp>
    </p:spTree>
    <p:extLst>
      <p:ext uri="{BB962C8B-B14F-4D97-AF65-F5344CB8AC3E}">
        <p14:creationId xmlns:p14="http://schemas.microsoft.com/office/powerpoint/2010/main" val="297121075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39EB2C1-3CEE-41D9-9027-001A41D0B6A2}"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DC63D1-4BC8-4D7B-B6FE-C4E6B3A818D4}" type="slidenum">
              <a:rPr lang="en-US" smtClean="0"/>
              <a:t>‹#›</a:t>
            </a:fld>
            <a:endParaRPr lang="en-US"/>
          </a:p>
        </p:txBody>
      </p:sp>
    </p:spTree>
    <p:extLst>
      <p:ext uri="{BB962C8B-B14F-4D97-AF65-F5344CB8AC3E}">
        <p14:creationId xmlns:p14="http://schemas.microsoft.com/office/powerpoint/2010/main" val="21641652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84C05-9696-BEBD-7362-5C88FF3B61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C53093AE-3464-57D7-9AC8-8F6D5485A3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B7B3810A-7863-2CAE-A291-9C3FEE189BFD}"/>
              </a:ext>
            </a:extLst>
          </p:cNvPr>
          <p:cNvSpPr>
            <a:spLocks noGrp="1"/>
          </p:cNvSpPr>
          <p:nvPr>
            <p:ph type="dt" sz="half" idx="10"/>
          </p:nvPr>
        </p:nvSpPr>
        <p:spPr/>
        <p:txBody>
          <a:bodyPr/>
          <a:lstStyle/>
          <a:p>
            <a:fld id="{5AC71BDA-3A19-4C68-B388-AA927C043E3D}" type="datetimeFigureOut">
              <a:rPr lang="en-GB" smtClean="0"/>
              <a:t>12/02/2026</a:t>
            </a:fld>
            <a:endParaRPr lang="en-GB"/>
          </a:p>
        </p:txBody>
      </p:sp>
      <p:sp>
        <p:nvSpPr>
          <p:cNvPr id="5" name="Footer Placeholder 4">
            <a:extLst>
              <a:ext uri="{FF2B5EF4-FFF2-40B4-BE49-F238E27FC236}">
                <a16:creationId xmlns:a16="http://schemas.microsoft.com/office/drawing/2014/main" id="{F1133BAD-98FC-16EF-B78A-9E15DA1FA5E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EEFECF4-2B3C-EBF0-7FA7-D5A6371ECB81}"/>
              </a:ext>
            </a:extLst>
          </p:cNvPr>
          <p:cNvSpPr>
            <a:spLocks noGrp="1"/>
          </p:cNvSpPr>
          <p:nvPr>
            <p:ph type="sldNum" sz="quarter" idx="12"/>
          </p:nvPr>
        </p:nvSpPr>
        <p:spPr/>
        <p:txBody>
          <a:bodyPr/>
          <a:lstStyle/>
          <a:p>
            <a:fld id="{CA11724D-5708-428A-A351-EB4628D41725}" type="slidenum">
              <a:rPr lang="en-GB" smtClean="0"/>
              <a:t>‹#›</a:t>
            </a:fld>
            <a:endParaRPr lang="en-GB"/>
          </a:p>
        </p:txBody>
      </p:sp>
    </p:spTree>
    <p:extLst>
      <p:ext uri="{BB962C8B-B14F-4D97-AF65-F5344CB8AC3E}">
        <p14:creationId xmlns:p14="http://schemas.microsoft.com/office/powerpoint/2010/main" val="278011172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CC052-8807-FB2B-F760-A6C34285DDC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380031-2C25-A794-9BCB-F84AE6BFB6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DAA0056-6F21-78BC-CD0C-D3AE8AB82636}"/>
              </a:ext>
            </a:extLst>
          </p:cNvPr>
          <p:cNvSpPr>
            <a:spLocks noGrp="1"/>
          </p:cNvSpPr>
          <p:nvPr>
            <p:ph type="dt" sz="half" idx="10"/>
          </p:nvPr>
        </p:nvSpPr>
        <p:spPr/>
        <p:txBody>
          <a:bodyPr/>
          <a:lstStyle/>
          <a:p>
            <a:fld id="{5AC71BDA-3A19-4C68-B388-AA927C043E3D}" type="datetimeFigureOut">
              <a:rPr lang="en-GB" smtClean="0"/>
              <a:t>12/02/2026</a:t>
            </a:fld>
            <a:endParaRPr lang="en-GB"/>
          </a:p>
        </p:txBody>
      </p:sp>
      <p:sp>
        <p:nvSpPr>
          <p:cNvPr id="5" name="Footer Placeholder 4">
            <a:extLst>
              <a:ext uri="{FF2B5EF4-FFF2-40B4-BE49-F238E27FC236}">
                <a16:creationId xmlns:a16="http://schemas.microsoft.com/office/drawing/2014/main" id="{5352762E-1E65-B2E2-5A48-74889369B6C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8C8A673-FC5C-5DA3-4D90-22D4C6F2D0B7}"/>
              </a:ext>
            </a:extLst>
          </p:cNvPr>
          <p:cNvSpPr>
            <a:spLocks noGrp="1"/>
          </p:cNvSpPr>
          <p:nvPr>
            <p:ph type="sldNum" sz="quarter" idx="12"/>
          </p:nvPr>
        </p:nvSpPr>
        <p:spPr/>
        <p:txBody>
          <a:bodyPr/>
          <a:lstStyle/>
          <a:p>
            <a:fld id="{CA11724D-5708-428A-A351-EB4628D41725}" type="slidenum">
              <a:rPr lang="en-GB" smtClean="0"/>
              <a:t>‹#›</a:t>
            </a:fld>
            <a:endParaRPr lang="en-GB"/>
          </a:p>
        </p:txBody>
      </p:sp>
    </p:spTree>
    <p:extLst>
      <p:ext uri="{BB962C8B-B14F-4D97-AF65-F5344CB8AC3E}">
        <p14:creationId xmlns:p14="http://schemas.microsoft.com/office/powerpoint/2010/main" val="7410247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4A849-60EF-B006-2F22-3985ACD0796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8D30AAD3-850E-5052-F25E-95A8A67ABC2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1A23601-2075-6ACA-DFCA-5C5BCBAB5BD8}"/>
              </a:ext>
            </a:extLst>
          </p:cNvPr>
          <p:cNvSpPr>
            <a:spLocks noGrp="1"/>
          </p:cNvSpPr>
          <p:nvPr>
            <p:ph type="dt" sz="half" idx="10"/>
          </p:nvPr>
        </p:nvSpPr>
        <p:spPr/>
        <p:txBody>
          <a:bodyPr/>
          <a:lstStyle/>
          <a:p>
            <a:fld id="{5AC71BDA-3A19-4C68-B388-AA927C043E3D}" type="datetimeFigureOut">
              <a:rPr lang="en-GB" smtClean="0"/>
              <a:t>12/02/2026</a:t>
            </a:fld>
            <a:endParaRPr lang="en-GB"/>
          </a:p>
        </p:txBody>
      </p:sp>
      <p:sp>
        <p:nvSpPr>
          <p:cNvPr id="5" name="Footer Placeholder 4">
            <a:extLst>
              <a:ext uri="{FF2B5EF4-FFF2-40B4-BE49-F238E27FC236}">
                <a16:creationId xmlns:a16="http://schemas.microsoft.com/office/drawing/2014/main" id="{8E73FB7F-AF21-00E7-279A-CA1AEFAD3B8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37AF13D-2C0E-64B5-E7A9-6BEF035FEC9C}"/>
              </a:ext>
            </a:extLst>
          </p:cNvPr>
          <p:cNvSpPr>
            <a:spLocks noGrp="1"/>
          </p:cNvSpPr>
          <p:nvPr>
            <p:ph type="sldNum" sz="quarter" idx="12"/>
          </p:nvPr>
        </p:nvSpPr>
        <p:spPr/>
        <p:txBody>
          <a:bodyPr/>
          <a:lstStyle/>
          <a:p>
            <a:fld id="{CA11724D-5708-428A-A351-EB4628D41725}" type="slidenum">
              <a:rPr lang="en-GB" smtClean="0"/>
              <a:t>‹#›</a:t>
            </a:fld>
            <a:endParaRPr lang="en-GB"/>
          </a:p>
        </p:txBody>
      </p:sp>
    </p:spTree>
    <p:extLst>
      <p:ext uri="{BB962C8B-B14F-4D97-AF65-F5344CB8AC3E}">
        <p14:creationId xmlns:p14="http://schemas.microsoft.com/office/powerpoint/2010/main" val="2777910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44482-9AF1-3A73-6298-00EF41CDC9B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8646968-9CB3-813E-2692-BA801CEF8AB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46DA5136-2B4D-73C2-22BD-BB455001FC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73A5755A-30CE-7F1C-4683-F507EA77DC6D}"/>
              </a:ext>
            </a:extLst>
          </p:cNvPr>
          <p:cNvSpPr>
            <a:spLocks noGrp="1"/>
          </p:cNvSpPr>
          <p:nvPr>
            <p:ph type="dt" sz="half" idx="10"/>
          </p:nvPr>
        </p:nvSpPr>
        <p:spPr/>
        <p:txBody>
          <a:bodyPr/>
          <a:lstStyle/>
          <a:p>
            <a:fld id="{5AC71BDA-3A19-4C68-B388-AA927C043E3D}" type="datetimeFigureOut">
              <a:rPr lang="en-GB" smtClean="0"/>
              <a:t>12/02/2026</a:t>
            </a:fld>
            <a:endParaRPr lang="en-GB"/>
          </a:p>
        </p:txBody>
      </p:sp>
      <p:sp>
        <p:nvSpPr>
          <p:cNvPr id="6" name="Footer Placeholder 5">
            <a:extLst>
              <a:ext uri="{FF2B5EF4-FFF2-40B4-BE49-F238E27FC236}">
                <a16:creationId xmlns:a16="http://schemas.microsoft.com/office/drawing/2014/main" id="{70D55C21-5BF2-105C-2FEA-07E3F2B8E4B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1F09443-C309-26E2-C471-5E437CE9F983}"/>
              </a:ext>
            </a:extLst>
          </p:cNvPr>
          <p:cNvSpPr>
            <a:spLocks noGrp="1"/>
          </p:cNvSpPr>
          <p:nvPr>
            <p:ph type="sldNum" sz="quarter" idx="12"/>
          </p:nvPr>
        </p:nvSpPr>
        <p:spPr/>
        <p:txBody>
          <a:bodyPr/>
          <a:lstStyle/>
          <a:p>
            <a:fld id="{CA11724D-5708-428A-A351-EB4628D41725}" type="slidenum">
              <a:rPr lang="en-GB" smtClean="0"/>
              <a:t>‹#›</a:t>
            </a:fld>
            <a:endParaRPr lang="en-GB"/>
          </a:p>
        </p:txBody>
      </p:sp>
    </p:spTree>
    <p:extLst>
      <p:ext uri="{BB962C8B-B14F-4D97-AF65-F5344CB8AC3E}">
        <p14:creationId xmlns:p14="http://schemas.microsoft.com/office/powerpoint/2010/main" val="389574219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BADD4-18F9-9597-EECE-98C21AB24EED}"/>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87496A9-65E4-AD8D-EADC-A65B6500123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1FFC373-4D6F-68D4-0C12-06CE51E8A7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B3735FA-F7D6-278E-9780-8E91FDBB22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9EBC14D-D3FD-1773-5B62-08DF280E9E6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D3BBAD2E-E2EE-ECCE-8BA9-926867822270}"/>
              </a:ext>
            </a:extLst>
          </p:cNvPr>
          <p:cNvSpPr>
            <a:spLocks noGrp="1"/>
          </p:cNvSpPr>
          <p:nvPr>
            <p:ph type="dt" sz="half" idx="10"/>
          </p:nvPr>
        </p:nvSpPr>
        <p:spPr/>
        <p:txBody>
          <a:bodyPr/>
          <a:lstStyle/>
          <a:p>
            <a:fld id="{5AC71BDA-3A19-4C68-B388-AA927C043E3D}" type="datetimeFigureOut">
              <a:rPr lang="en-GB" smtClean="0"/>
              <a:t>12/02/2026</a:t>
            </a:fld>
            <a:endParaRPr lang="en-GB"/>
          </a:p>
        </p:txBody>
      </p:sp>
      <p:sp>
        <p:nvSpPr>
          <p:cNvPr id="8" name="Footer Placeholder 7">
            <a:extLst>
              <a:ext uri="{FF2B5EF4-FFF2-40B4-BE49-F238E27FC236}">
                <a16:creationId xmlns:a16="http://schemas.microsoft.com/office/drawing/2014/main" id="{7259E8F1-D316-889F-F7FF-B3041B16ADB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62EB5863-AA6C-54CA-2ED7-2827A37D5B09}"/>
              </a:ext>
            </a:extLst>
          </p:cNvPr>
          <p:cNvSpPr>
            <a:spLocks noGrp="1"/>
          </p:cNvSpPr>
          <p:nvPr>
            <p:ph type="sldNum" sz="quarter" idx="12"/>
          </p:nvPr>
        </p:nvSpPr>
        <p:spPr/>
        <p:txBody>
          <a:bodyPr/>
          <a:lstStyle/>
          <a:p>
            <a:fld id="{CA11724D-5708-428A-A351-EB4628D41725}" type="slidenum">
              <a:rPr lang="en-GB" smtClean="0"/>
              <a:t>‹#›</a:t>
            </a:fld>
            <a:endParaRPr lang="en-GB"/>
          </a:p>
        </p:txBody>
      </p:sp>
    </p:spTree>
    <p:extLst>
      <p:ext uri="{BB962C8B-B14F-4D97-AF65-F5344CB8AC3E}">
        <p14:creationId xmlns:p14="http://schemas.microsoft.com/office/powerpoint/2010/main" val="37265885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2DE7E-CAAE-46DC-EBA7-D376525D0A3D}"/>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3D2FC342-6B1E-A899-0AC0-7179CBF15D8B}"/>
              </a:ext>
            </a:extLst>
          </p:cNvPr>
          <p:cNvSpPr>
            <a:spLocks noGrp="1"/>
          </p:cNvSpPr>
          <p:nvPr>
            <p:ph type="dt" sz="half" idx="10"/>
          </p:nvPr>
        </p:nvSpPr>
        <p:spPr/>
        <p:txBody>
          <a:bodyPr/>
          <a:lstStyle/>
          <a:p>
            <a:fld id="{5AC71BDA-3A19-4C68-B388-AA927C043E3D}" type="datetimeFigureOut">
              <a:rPr lang="en-GB" smtClean="0"/>
              <a:t>12/02/2026</a:t>
            </a:fld>
            <a:endParaRPr lang="en-GB"/>
          </a:p>
        </p:txBody>
      </p:sp>
      <p:sp>
        <p:nvSpPr>
          <p:cNvPr id="4" name="Footer Placeholder 3">
            <a:extLst>
              <a:ext uri="{FF2B5EF4-FFF2-40B4-BE49-F238E27FC236}">
                <a16:creationId xmlns:a16="http://schemas.microsoft.com/office/drawing/2014/main" id="{89CCE001-2DAE-92B0-6625-1190253B3E1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2ACCDCE7-1FEA-AE1D-5A86-3AADEEB95627}"/>
              </a:ext>
            </a:extLst>
          </p:cNvPr>
          <p:cNvSpPr>
            <a:spLocks noGrp="1"/>
          </p:cNvSpPr>
          <p:nvPr>
            <p:ph type="sldNum" sz="quarter" idx="12"/>
          </p:nvPr>
        </p:nvSpPr>
        <p:spPr/>
        <p:txBody>
          <a:bodyPr/>
          <a:lstStyle/>
          <a:p>
            <a:fld id="{CA11724D-5708-428A-A351-EB4628D41725}" type="slidenum">
              <a:rPr lang="en-GB" smtClean="0"/>
              <a:t>‹#›</a:t>
            </a:fld>
            <a:endParaRPr lang="en-GB"/>
          </a:p>
        </p:txBody>
      </p:sp>
    </p:spTree>
    <p:extLst>
      <p:ext uri="{BB962C8B-B14F-4D97-AF65-F5344CB8AC3E}">
        <p14:creationId xmlns:p14="http://schemas.microsoft.com/office/powerpoint/2010/main" val="351597435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B038C8-D53B-A186-1A3B-68343A4DD225}"/>
              </a:ext>
            </a:extLst>
          </p:cNvPr>
          <p:cNvSpPr>
            <a:spLocks noGrp="1"/>
          </p:cNvSpPr>
          <p:nvPr>
            <p:ph type="dt" sz="half" idx="10"/>
          </p:nvPr>
        </p:nvSpPr>
        <p:spPr/>
        <p:txBody>
          <a:bodyPr/>
          <a:lstStyle/>
          <a:p>
            <a:fld id="{5AC71BDA-3A19-4C68-B388-AA927C043E3D}" type="datetimeFigureOut">
              <a:rPr lang="en-GB" smtClean="0"/>
              <a:t>12/02/2026</a:t>
            </a:fld>
            <a:endParaRPr lang="en-GB"/>
          </a:p>
        </p:txBody>
      </p:sp>
      <p:sp>
        <p:nvSpPr>
          <p:cNvPr id="3" name="Footer Placeholder 2">
            <a:extLst>
              <a:ext uri="{FF2B5EF4-FFF2-40B4-BE49-F238E27FC236}">
                <a16:creationId xmlns:a16="http://schemas.microsoft.com/office/drawing/2014/main" id="{95A37522-AF1A-36A1-CDBC-F6CD468A1A41}"/>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F545AA9-91CE-DAD3-1468-1B4D699034CA}"/>
              </a:ext>
            </a:extLst>
          </p:cNvPr>
          <p:cNvSpPr>
            <a:spLocks noGrp="1"/>
          </p:cNvSpPr>
          <p:nvPr>
            <p:ph type="sldNum" sz="quarter" idx="12"/>
          </p:nvPr>
        </p:nvSpPr>
        <p:spPr/>
        <p:txBody>
          <a:bodyPr/>
          <a:lstStyle/>
          <a:p>
            <a:fld id="{CA11724D-5708-428A-A351-EB4628D41725}" type="slidenum">
              <a:rPr lang="en-GB" smtClean="0"/>
              <a:t>‹#›</a:t>
            </a:fld>
            <a:endParaRPr lang="en-GB"/>
          </a:p>
        </p:txBody>
      </p:sp>
    </p:spTree>
    <p:extLst>
      <p:ext uri="{BB962C8B-B14F-4D97-AF65-F5344CB8AC3E}">
        <p14:creationId xmlns:p14="http://schemas.microsoft.com/office/powerpoint/2010/main" val="11249264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3D843-EC0F-70ED-0C7F-EA16DB3A31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31D13193-D853-04FA-7829-607C85F5E8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B7C1CC16-0CEC-C434-BB6F-37998454E4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8E8119-876E-0597-A150-EBFEDCBFFC71}"/>
              </a:ext>
            </a:extLst>
          </p:cNvPr>
          <p:cNvSpPr>
            <a:spLocks noGrp="1"/>
          </p:cNvSpPr>
          <p:nvPr>
            <p:ph type="dt" sz="half" idx="10"/>
          </p:nvPr>
        </p:nvSpPr>
        <p:spPr/>
        <p:txBody>
          <a:bodyPr/>
          <a:lstStyle/>
          <a:p>
            <a:fld id="{5AC71BDA-3A19-4C68-B388-AA927C043E3D}" type="datetimeFigureOut">
              <a:rPr lang="en-GB" smtClean="0"/>
              <a:t>12/02/2026</a:t>
            </a:fld>
            <a:endParaRPr lang="en-GB"/>
          </a:p>
        </p:txBody>
      </p:sp>
      <p:sp>
        <p:nvSpPr>
          <p:cNvPr id="6" name="Footer Placeholder 5">
            <a:extLst>
              <a:ext uri="{FF2B5EF4-FFF2-40B4-BE49-F238E27FC236}">
                <a16:creationId xmlns:a16="http://schemas.microsoft.com/office/drawing/2014/main" id="{AF9432E6-8E71-952C-5BD2-A544097FABF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457DBFA-6354-65D6-057D-E4934DBDA946}"/>
              </a:ext>
            </a:extLst>
          </p:cNvPr>
          <p:cNvSpPr>
            <a:spLocks noGrp="1"/>
          </p:cNvSpPr>
          <p:nvPr>
            <p:ph type="sldNum" sz="quarter" idx="12"/>
          </p:nvPr>
        </p:nvSpPr>
        <p:spPr/>
        <p:txBody>
          <a:bodyPr/>
          <a:lstStyle/>
          <a:p>
            <a:fld id="{CA11724D-5708-428A-A351-EB4628D41725}" type="slidenum">
              <a:rPr lang="en-GB" smtClean="0"/>
              <a:t>‹#›</a:t>
            </a:fld>
            <a:endParaRPr lang="en-GB"/>
          </a:p>
        </p:txBody>
      </p:sp>
    </p:spTree>
    <p:extLst>
      <p:ext uri="{BB962C8B-B14F-4D97-AF65-F5344CB8AC3E}">
        <p14:creationId xmlns:p14="http://schemas.microsoft.com/office/powerpoint/2010/main" val="101636883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47C2D-2AC8-F729-E57E-74AFCC4C58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D930F5E9-6925-635A-B995-13375BD1E2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7D0E4612-ECC5-387D-290F-B204253EAD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729A5D-A4D7-D0A4-36C4-B6B68D3212CF}"/>
              </a:ext>
            </a:extLst>
          </p:cNvPr>
          <p:cNvSpPr>
            <a:spLocks noGrp="1"/>
          </p:cNvSpPr>
          <p:nvPr>
            <p:ph type="dt" sz="half" idx="10"/>
          </p:nvPr>
        </p:nvSpPr>
        <p:spPr/>
        <p:txBody>
          <a:bodyPr/>
          <a:lstStyle/>
          <a:p>
            <a:fld id="{5AC71BDA-3A19-4C68-B388-AA927C043E3D}" type="datetimeFigureOut">
              <a:rPr lang="en-GB" smtClean="0"/>
              <a:t>12/02/2026</a:t>
            </a:fld>
            <a:endParaRPr lang="en-GB"/>
          </a:p>
        </p:txBody>
      </p:sp>
      <p:sp>
        <p:nvSpPr>
          <p:cNvPr id="6" name="Footer Placeholder 5">
            <a:extLst>
              <a:ext uri="{FF2B5EF4-FFF2-40B4-BE49-F238E27FC236}">
                <a16:creationId xmlns:a16="http://schemas.microsoft.com/office/drawing/2014/main" id="{E29A99D9-F393-52B2-AB41-48305F3B3B6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1616B71-A785-4927-BC42-CB3A9329C081}"/>
              </a:ext>
            </a:extLst>
          </p:cNvPr>
          <p:cNvSpPr>
            <a:spLocks noGrp="1"/>
          </p:cNvSpPr>
          <p:nvPr>
            <p:ph type="sldNum" sz="quarter" idx="12"/>
          </p:nvPr>
        </p:nvSpPr>
        <p:spPr/>
        <p:txBody>
          <a:bodyPr/>
          <a:lstStyle/>
          <a:p>
            <a:fld id="{CA11724D-5708-428A-A351-EB4628D41725}" type="slidenum">
              <a:rPr lang="en-GB" smtClean="0"/>
              <a:t>‹#›</a:t>
            </a:fld>
            <a:endParaRPr lang="en-GB"/>
          </a:p>
        </p:txBody>
      </p:sp>
    </p:spTree>
    <p:extLst>
      <p:ext uri="{BB962C8B-B14F-4D97-AF65-F5344CB8AC3E}">
        <p14:creationId xmlns:p14="http://schemas.microsoft.com/office/powerpoint/2010/main" val="176874646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9A1A9-CF48-3810-4950-16842703EF62}"/>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EEC0171-9295-C4A0-3C54-2231615E0FA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B58C2C7-AD69-814F-1B16-FE4C09FFD77A}"/>
              </a:ext>
            </a:extLst>
          </p:cNvPr>
          <p:cNvSpPr>
            <a:spLocks noGrp="1"/>
          </p:cNvSpPr>
          <p:nvPr>
            <p:ph type="dt" sz="half" idx="10"/>
          </p:nvPr>
        </p:nvSpPr>
        <p:spPr/>
        <p:txBody>
          <a:bodyPr/>
          <a:lstStyle/>
          <a:p>
            <a:fld id="{5AC71BDA-3A19-4C68-B388-AA927C043E3D}" type="datetimeFigureOut">
              <a:rPr lang="en-GB" smtClean="0"/>
              <a:t>12/02/2026</a:t>
            </a:fld>
            <a:endParaRPr lang="en-GB"/>
          </a:p>
        </p:txBody>
      </p:sp>
      <p:sp>
        <p:nvSpPr>
          <p:cNvPr id="5" name="Footer Placeholder 4">
            <a:extLst>
              <a:ext uri="{FF2B5EF4-FFF2-40B4-BE49-F238E27FC236}">
                <a16:creationId xmlns:a16="http://schemas.microsoft.com/office/drawing/2014/main" id="{08CAA943-52B4-2D49-FBA2-91C0098E11E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3DC9569-50F4-4F62-A4D4-980C227E0599}"/>
              </a:ext>
            </a:extLst>
          </p:cNvPr>
          <p:cNvSpPr>
            <a:spLocks noGrp="1"/>
          </p:cNvSpPr>
          <p:nvPr>
            <p:ph type="sldNum" sz="quarter" idx="12"/>
          </p:nvPr>
        </p:nvSpPr>
        <p:spPr/>
        <p:txBody>
          <a:bodyPr/>
          <a:lstStyle/>
          <a:p>
            <a:fld id="{CA11724D-5708-428A-A351-EB4628D41725}" type="slidenum">
              <a:rPr lang="en-GB" smtClean="0"/>
              <a:t>‹#›</a:t>
            </a:fld>
            <a:endParaRPr lang="en-GB"/>
          </a:p>
        </p:txBody>
      </p:sp>
    </p:spTree>
    <p:extLst>
      <p:ext uri="{BB962C8B-B14F-4D97-AF65-F5344CB8AC3E}">
        <p14:creationId xmlns:p14="http://schemas.microsoft.com/office/powerpoint/2010/main" val="24799172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B9A05D2-C145-3A7C-947C-A4F5C91E601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F23354D-E4E5-A40F-5A6F-8C847C318C5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7C40079-5E12-3CB4-DF15-D1B1582183FB}"/>
              </a:ext>
            </a:extLst>
          </p:cNvPr>
          <p:cNvSpPr>
            <a:spLocks noGrp="1"/>
          </p:cNvSpPr>
          <p:nvPr>
            <p:ph type="dt" sz="half" idx="10"/>
          </p:nvPr>
        </p:nvSpPr>
        <p:spPr/>
        <p:txBody>
          <a:bodyPr/>
          <a:lstStyle/>
          <a:p>
            <a:fld id="{5AC71BDA-3A19-4C68-B388-AA927C043E3D}" type="datetimeFigureOut">
              <a:rPr lang="en-GB" smtClean="0"/>
              <a:t>12/02/2026</a:t>
            </a:fld>
            <a:endParaRPr lang="en-GB"/>
          </a:p>
        </p:txBody>
      </p:sp>
      <p:sp>
        <p:nvSpPr>
          <p:cNvPr id="5" name="Footer Placeholder 4">
            <a:extLst>
              <a:ext uri="{FF2B5EF4-FFF2-40B4-BE49-F238E27FC236}">
                <a16:creationId xmlns:a16="http://schemas.microsoft.com/office/drawing/2014/main" id="{56D0D9D9-0089-238F-F78A-6FED727C00A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F165DB6-AF59-30F2-25FF-1534DAFCB3DE}"/>
              </a:ext>
            </a:extLst>
          </p:cNvPr>
          <p:cNvSpPr>
            <a:spLocks noGrp="1"/>
          </p:cNvSpPr>
          <p:nvPr>
            <p:ph type="sldNum" sz="quarter" idx="12"/>
          </p:nvPr>
        </p:nvSpPr>
        <p:spPr/>
        <p:txBody>
          <a:bodyPr/>
          <a:lstStyle/>
          <a:p>
            <a:fld id="{CA11724D-5708-428A-A351-EB4628D41725}" type="slidenum">
              <a:rPr lang="en-GB" smtClean="0"/>
              <a:t>‹#›</a:t>
            </a:fld>
            <a:endParaRPr lang="en-GB"/>
          </a:p>
        </p:txBody>
      </p:sp>
    </p:spTree>
    <p:extLst>
      <p:ext uri="{BB962C8B-B14F-4D97-AF65-F5344CB8AC3E}">
        <p14:creationId xmlns:p14="http://schemas.microsoft.com/office/powerpoint/2010/main" val="400001869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2.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39EB2C1-3CEE-41D9-9027-001A41D0B6A2}" type="datetimeFigureOut">
              <a:rPr lang="en-US" smtClean="0"/>
              <a:t>2/12/2026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9DDC63D1-4BC8-4D7B-B6FE-C4E6B3A818D4}" type="slidenum">
              <a:rPr lang="en-US" smtClean="0"/>
              <a:t>‹#›</a:t>
            </a:fld>
            <a:endParaRPr lang="en-US"/>
          </a:p>
        </p:txBody>
      </p:sp>
    </p:spTree>
    <p:extLst>
      <p:ext uri="{BB962C8B-B14F-4D97-AF65-F5344CB8AC3E}">
        <p14:creationId xmlns:p14="http://schemas.microsoft.com/office/powerpoint/2010/main" val="309122809"/>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 id="2147483743" r:id="rId12"/>
    <p:sldLayoutId id="2147483744" r:id="rId13"/>
    <p:sldLayoutId id="2147483745" r:id="rId14"/>
    <p:sldLayoutId id="2147483746" r:id="rId15"/>
    <p:sldLayoutId id="2147483747" r:id="rId16"/>
  </p:sldLayoutIdLst>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txStyles>
    <p:titleStyle>
      <a:lvl1pPr algn="l" defTabSz="457200" rtl="0" eaLnBrk="1" latinLnBrk="0" hangingPunct="1">
        <a:spcBef>
          <a:spcPct val="0"/>
        </a:spcBef>
        <a:buNone/>
        <a:defRPr sz="3200" u="none"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ABD2985-A48A-4FCE-5D51-E8E176F2C6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53AC2E1-540F-5A5B-8259-B51FB6F866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8994273-7860-81C7-8174-DE3F24445D3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C71BDA-3A19-4C68-B388-AA927C043E3D}" type="datetimeFigureOut">
              <a:rPr lang="en-GB" smtClean="0"/>
              <a:t>12/02/2026</a:t>
            </a:fld>
            <a:endParaRPr lang="en-GB"/>
          </a:p>
        </p:txBody>
      </p:sp>
      <p:sp>
        <p:nvSpPr>
          <p:cNvPr id="5" name="Footer Placeholder 4">
            <a:extLst>
              <a:ext uri="{FF2B5EF4-FFF2-40B4-BE49-F238E27FC236}">
                <a16:creationId xmlns:a16="http://schemas.microsoft.com/office/drawing/2014/main" id="{1A4E18E7-D115-4B1D-1330-0731ABB73F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BF6B25B6-B513-E9E3-6780-9126B4B0CB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11724D-5708-428A-A351-EB4628D41725}" type="slidenum">
              <a:rPr lang="en-GB" smtClean="0"/>
              <a:t>‹#›</a:t>
            </a:fld>
            <a:endParaRPr lang="en-GB"/>
          </a:p>
        </p:txBody>
      </p:sp>
    </p:spTree>
    <p:extLst>
      <p:ext uri="{BB962C8B-B14F-4D97-AF65-F5344CB8AC3E}">
        <p14:creationId xmlns:p14="http://schemas.microsoft.com/office/powerpoint/2010/main" val="1760811425"/>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Lst>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hyperlink" Target="http://en.wikipedia.org/wiki/ECMAScript"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en.wikipedia.org/wiki/V8_(JavaScript_engine)" TargetMode="External"/><Relationship Id="rId2" Type="http://schemas.openxmlformats.org/officeDocument/2006/relationships/hyperlink" Target="https://en.wikipedia.org/wiki/JavaScript_engine" TargetMode="External"/><Relationship Id="rId1" Type="http://schemas.openxmlformats.org/officeDocument/2006/relationships/slideLayout" Target="../slideLayouts/slideLayout7.xml"/><Relationship Id="rId4" Type="http://schemas.openxmlformats.org/officeDocument/2006/relationships/hyperlink" Target="https://en.wikipedia.org/wiki/SpiderMonkey"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javascript.info/intro#what-can-in-browser-javascript-do" TargetMode="External"/><Relationship Id="rId2" Type="http://schemas.openxmlformats.org/officeDocument/2006/relationships/hyperlink" Target="https://wikipedia.org/wiki/Node.js"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hyperlink" Target="https://javascript.info/intro#what-makes-javascript-unique"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hyperlink" Target="https://javascript.info/intro#summary"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hyperlink" Target="https://javascript.info/intro#summary"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javascript.info/intro#summary" TargetMode="External"/><Relationship Id="rId2" Type="http://schemas.openxmlformats.org/officeDocument/2006/relationships/hyperlink" Target="https://en.wikipedia.org/wiki/Bender_(Futurama)"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hyperlink" Target="https://javascript.info/hello-world#modern-markup"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javascript.info/hello-world#modern-markup" TargetMode="External"/><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hyperlink" Target="https://javascript.info/hello-world#external-scripts"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hyperlink" Target="https://javascript.info/hello-world#show-an-alert" TargetMode="External"/></Relationships>
</file>

<file path=ppt/slides/_rels/slide16.xml.rels><?xml version="1.0" encoding="UTF-8" standalone="yes"?>
<Relationships xmlns="http://schemas.openxmlformats.org/package/2006/relationships"><Relationship Id="rId2" Type="http://schemas.openxmlformats.org/officeDocument/2006/relationships/hyperlink" Target="https://javascript.info/hello-world#show-an-alert"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javascript.info/hello-world#show-an-alert"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javascript.info/strict-mode#use-strict" TargetMode="External"/><Relationship Id="rId1" Type="http://schemas.openxmlformats.org/officeDocument/2006/relationships/slideLayout" Target="../slideLayouts/slideLayout7.xml"/><Relationship Id="rId4" Type="http://schemas.openxmlformats.org/officeDocument/2006/relationships/hyperlink" Target="https://javascript.info/structure#code-comments"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javascript.info/strict-mode#use-strict" TargetMode="External"/><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hyperlink" Target="https://javascript.info/structure#code-comments" TargetMode="External"/></Relationships>
</file>

<file path=ppt/slides/_rels/slide20.xml.rels><?xml version="1.0" encoding="UTF-8" standalone="yes"?>
<Relationships xmlns="http://schemas.openxmlformats.org/package/2006/relationships"><Relationship Id="rId2" Type="http://schemas.openxmlformats.org/officeDocument/2006/relationships/hyperlink" Target="https://javascript.info/strict-mode#use-strict" TargetMode="Externa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hyperlink" Target="https://javascript.info/strict-mode#use-strict" TargetMode="External"/><Relationship Id="rId2" Type="http://schemas.openxmlformats.org/officeDocument/2006/relationships/slideLayout" Target="../slideLayouts/slideLayout7.xml"/><Relationship Id="rId1" Type="http://schemas.openxmlformats.org/officeDocument/2006/relationships/themeOverride" Target="../theme/themeOverride1.xml"/></Relationships>
</file>

<file path=ppt/slides/_rels/slide22.xml.rels><?xml version="1.0" encoding="UTF-8" standalone="yes"?>
<Relationships xmlns="http://schemas.openxmlformats.org/package/2006/relationships"><Relationship Id="rId3" Type="http://schemas.openxmlformats.org/officeDocument/2006/relationships/hyperlink" Target="https://javascript.info/strict-mode#use-strict" TargetMode="External"/><Relationship Id="rId2" Type="http://schemas.openxmlformats.org/officeDocument/2006/relationships/slideLayout" Target="../slideLayouts/slideLayout7.xml"/><Relationship Id="rId1" Type="http://schemas.openxmlformats.org/officeDocument/2006/relationships/themeOverride" Target="../theme/themeOverride2.xml"/></Relationships>
</file>

<file path=ppt/slides/_rels/slide23.xml.rels><?xml version="1.0" encoding="UTF-8" standalone="yes"?>
<Relationships xmlns="http://schemas.openxmlformats.org/package/2006/relationships"><Relationship Id="rId3" Type="http://schemas.openxmlformats.org/officeDocument/2006/relationships/hyperlink" Target="https://javascript.info/variables#variable-naming" TargetMode="External"/><Relationship Id="rId2" Type="http://schemas.openxmlformats.org/officeDocument/2006/relationships/hyperlink" Target="https://javascript.info/strict-mode#use-strict" TargetMode="Externa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hyperlink" Target="https://javascript.info/variables#variable-naming" TargetMode="External"/><Relationship Id="rId2" Type="http://schemas.openxmlformats.org/officeDocument/2006/relationships/hyperlink" Target="https://javascript.info/strict-mode#use-strict" TargetMode="Externa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hyperlink" Target="https://javascript.info/variables#constants" TargetMode="External"/><Relationship Id="rId2" Type="http://schemas.openxmlformats.org/officeDocument/2006/relationships/hyperlink" Target="https://javascript.info/strict-mode#use-strict" TargetMode="Externa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hyperlink" Target="https://javascript.info/types#type-typeof" TargetMode="Externa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hyperlink" Target="https://javascript.info/types#type-typeof" TargetMode="Externa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hyperlink" Target="https://javascript.info/alert-prompt-confirm#prompt" TargetMode="Externa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hyperlink" Target="https://javascript.info/alert-prompt-confirm#confirm" TargetMode="External"/><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hyperlink" Target="https://javascript.info/variables#constants" TargetMode="External"/><Relationship Id="rId2" Type="http://schemas.openxmlformats.org/officeDocument/2006/relationships/hyperlink" Target="https://javascript.info/strict-mode#use-strict" TargetMode="Externa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hyperlink" Target="https://javascript.info/variables#constants" TargetMode="Externa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hyperlink" Target="https://en.wikipedia.org/wiki/Infinity" TargetMode="External"/><Relationship Id="rId2" Type="http://schemas.openxmlformats.org/officeDocument/2006/relationships/hyperlink" Target="https://javascript.info/types#number" TargetMode="External"/><Relationship Id="rId1" Type="http://schemas.openxmlformats.org/officeDocument/2006/relationships/slideLayout" Target="../slideLayouts/slideLayout7.xml"/><Relationship Id="rId4" Type="http://schemas.openxmlformats.org/officeDocument/2006/relationships/hyperlink" Target="https://javascript.info/variables#constants" TargetMode="External"/></Relationships>
</file>

<file path=ppt/slides/_rels/slide34.xml.rels><?xml version="1.0" encoding="UTF-8" standalone="yes"?>
<Relationships xmlns="http://schemas.openxmlformats.org/package/2006/relationships"><Relationship Id="rId3" Type="http://schemas.openxmlformats.org/officeDocument/2006/relationships/hyperlink" Target="https://javascript.info/number#rounding" TargetMode="External"/><Relationship Id="rId2" Type="http://schemas.openxmlformats.org/officeDocument/2006/relationships/hyperlink" Target="https://javascript.info/types#number" TargetMode="External"/><Relationship Id="rId1" Type="http://schemas.openxmlformats.org/officeDocument/2006/relationships/slideLayout" Target="../slideLayouts/slideLayout7.xml"/><Relationship Id="rId4" Type="http://schemas.openxmlformats.org/officeDocument/2006/relationships/hyperlink" Target="https://javascript.info/variables#constants" TargetMode="External"/></Relationships>
</file>

<file path=ppt/slides/_rels/slide35.xml.rels><?xml version="1.0" encoding="UTF-8" standalone="yes"?>
<Relationships xmlns="http://schemas.openxmlformats.org/package/2006/relationships"><Relationship Id="rId3" Type="http://schemas.openxmlformats.org/officeDocument/2006/relationships/hyperlink" Target="https://javascript.info/number#parseint-and-parsefloat" TargetMode="External"/><Relationship Id="rId2" Type="http://schemas.openxmlformats.org/officeDocument/2006/relationships/hyperlink" Target="https://javascript.info/types#number" TargetMode="External"/><Relationship Id="rId1" Type="http://schemas.openxmlformats.org/officeDocument/2006/relationships/slideLayout" Target="../slideLayouts/slideLayout7.xml"/><Relationship Id="rId4" Type="http://schemas.openxmlformats.org/officeDocument/2006/relationships/hyperlink" Target="https://javascript.info/variables#constants" TargetMode="External"/></Relationships>
</file>

<file path=ppt/slides/_rels/slide36.xml.rels><?xml version="1.0" encoding="UTF-8" standalone="yes"?>
<Relationships xmlns="http://schemas.openxmlformats.org/package/2006/relationships"><Relationship Id="rId3" Type="http://schemas.openxmlformats.org/officeDocument/2006/relationships/hyperlink" Target="https://javascript.info/number#parseint-and-parsefloat" TargetMode="External"/><Relationship Id="rId2" Type="http://schemas.openxmlformats.org/officeDocument/2006/relationships/hyperlink" Target="https://javascript.info/types#number" TargetMode="External"/><Relationship Id="rId1" Type="http://schemas.openxmlformats.org/officeDocument/2006/relationships/slideLayout" Target="../slideLayouts/slideLayout7.xml"/><Relationship Id="rId4" Type="http://schemas.openxmlformats.org/officeDocument/2006/relationships/hyperlink" Target="https://javascript.info/variables#constants" TargetMode="External"/></Relationships>
</file>

<file path=ppt/slides/_rels/slide37.xml.rels><?xml version="1.0" encoding="UTF-8" standalone="yes"?>
<Relationships xmlns="http://schemas.openxmlformats.org/package/2006/relationships"><Relationship Id="rId2" Type="http://schemas.openxmlformats.org/officeDocument/2006/relationships/hyperlink" Target="https://javascript.info/variables#constants" TargetMode="Externa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hyperlink" Target="https://javascript.info/variables#constants" TargetMode="External"/><Relationship Id="rId2" Type="http://schemas.openxmlformats.org/officeDocument/2006/relationships/hyperlink" Target="https://javascript.info/types#number" TargetMode="Externa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hyperlink" Target="https://javascript.info/variables#constants" TargetMode="External"/><Relationship Id="rId2" Type="http://schemas.openxmlformats.org/officeDocument/2006/relationships/hyperlink" Target="https://javascript.info/types#number" TargetMode="Externa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hyperlink" Target="https://javascript.info/variables#constants" TargetMode="External"/><Relationship Id="rId2" Type="http://schemas.openxmlformats.org/officeDocument/2006/relationships/hyperlink" Target="https://javascript.info/types#number" TargetMode="Externa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hyperlink" Target="https://javascript.info/variables#constants" TargetMode="External"/><Relationship Id="rId2" Type="http://schemas.openxmlformats.org/officeDocument/2006/relationships/hyperlink" Target="https://javascript.info/string#includes-startswith-endswith" TargetMode="Externa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hyperlink" Target="https://javascript.info/variables#constants" TargetMode="External"/><Relationship Id="rId2" Type="http://schemas.openxmlformats.org/officeDocument/2006/relationships/hyperlink" Target="https://javascript.info/array#declaration" TargetMode="Externa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hyperlink" Target="https://javascript.info/variables#constants" TargetMode="Externa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hyperlink" Target="https://javascript.info/variables#constants" TargetMode="Externa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javascript.info/string#getting-a-substring" TargetMode="External"/><Relationship Id="rId1" Type="http://schemas.openxmlformats.org/officeDocument/2006/relationships/slideLayout" Target="../slideLayouts/slideLayout7.xml"/><Relationship Id="rId4" Type="http://schemas.openxmlformats.org/officeDocument/2006/relationships/hyperlink" Target="https://javascript.info/variables#constants" TargetMode="External"/></Relationships>
</file>

<file path=ppt/slides/_rels/slide4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javascript.info/string#getting-a-substring" TargetMode="External"/><Relationship Id="rId1" Type="http://schemas.openxmlformats.org/officeDocument/2006/relationships/slideLayout" Target="../slideLayouts/slideLayout7.xml"/><Relationship Id="rId4" Type="http://schemas.openxmlformats.org/officeDocument/2006/relationships/hyperlink" Target="https://javascript.info/variables#constants" TargetMode="External"/></Relationships>
</file>

<file path=ppt/slides/_rels/slide47.xml.rels><?xml version="1.0" encoding="UTF-8" standalone="yes"?>
<Relationships xmlns="http://schemas.openxmlformats.org/package/2006/relationships"><Relationship Id="rId3" Type="http://schemas.openxmlformats.org/officeDocument/2006/relationships/hyperlink" Target="https://javascript.info/variables#constants" TargetMode="External"/><Relationship Id="rId2" Type="http://schemas.openxmlformats.org/officeDocument/2006/relationships/hyperlink" Target="https://javascript.info/array#methods-pop-push-shift-unshift" TargetMode="Externa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hyperlink" Target="https://javascript.info/variables#constants" TargetMode="External"/><Relationship Id="rId2" Type="http://schemas.openxmlformats.org/officeDocument/2006/relationships/hyperlink" Target="https://javascript.info/array#methods-pop-push-shift-unshift" TargetMode="Externa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hyperlink" Target="https://javascript.info/variables#constants" TargetMode="External"/><Relationship Id="rId2" Type="http://schemas.openxmlformats.org/officeDocument/2006/relationships/hyperlink" Target="https://javascript.info/array#loops" TargetMode="Externa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hyperlink" Target="https://javascript.info/variables#constants" TargetMode="Externa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hyperlink" Target="https://javascript.info/variables#constants" TargetMode="External"/><Relationship Id="rId2" Type="http://schemas.openxmlformats.org/officeDocument/2006/relationships/hyperlink" Target="https://javascript.info/array-methods#map" TargetMode="Externa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hyperlink" Target="https://javascript.info/variables#constants" TargetMode="External"/><Relationship Id="rId2" Type="http://schemas.openxmlformats.org/officeDocument/2006/relationships/hyperlink" Target="https://javascript.info/array-methods#map" TargetMode="Externa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hyperlink" Target="https://javascript.info/variables#constants" TargetMode="External"/><Relationship Id="rId2" Type="http://schemas.openxmlformats.org/officeDocument/2006/relationships/hyperlink" Target="https://javascript.info/types#string" TargetMode="Externa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hyperlink" Target="https://javascript.info/variables#constants" TargetMode="External"/><Relationship Id="rId2" Type="http://schemas.openxmlformats.org/officeDocument/2006/relationships/hyperlink" Target="https://javascript.info/types#boolean-logical-type" TargetMode="Externa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hyperlink" Target="https://javascript.info/variables#constants" TargetMode="External"/><Relationship Id="rId2" Type="http://schemas.openxmlformats.org/officeDocument/2006/relationships/hyperlink" Target="https://javascript.info/types#the-null-value" TargetMode="Externa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hyperlink" Target="https://javascript.info/variables#constants" TargetMode="External"/><Relationship Id="rId2" Type="http://schemas.openxmlformats.org/officeDocument/2006/relationships/hyperlink" Target="https://javascript.info/types#the-undefined-value" TargetMode="Externa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hyperlink" Target="https://javascript.info/variables#constants" TargetMode="External"/><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javascript.info/types#the-undefined-value" TargetMode="External"/><Relationship Id="rId1" Type="http://schemas.openxmlformats.org/officeDocument/2006/relationships/slideLayout" Target="../slideLayouts/slideLayout7.xml"/><Relationship Id="rId4" Type="http://schemas.openxmlformats.org/officeDocument/2006/relationships/hyperlink" Target="https://javascript.info/variables#constants" TargetMode="External"/></Relationships>
</file>

<file path=ppt/slides/_rels/slide5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javascript.info/types#the-undefined-value" TargetMode="External"/><Relationship Id="rId1" Type="http://schemas.openxmlformats.org/officeDocument/2006/relationships/slideLayout" Target="../slideLayouts/slideLayout7.xml"/><Relationship Id="rId5" Type="http://schemas.openxmlformats.org/officeDocument/2006/relationships/hyperlink" Target="https://javascript.info/variables#constants" TargetMode="External"/><Relationship Id="rId4" Type="http://schemas.openxmlformats.org/officeDocument/2006/relationships/image" Target="../media/image14.png"/></Relationships>
</file>

<file path=ppt/slides/_rels/slide60.xml.rels><?xml version="1.0" encoding="UTF-8" standalone="yes"?>
<Relationships xmlns="http://schemas.openxmlformats.org/package/2006/relationships"><Relationship Id="rId2" Type="http://schemas.openxmlformats.org/officeDocument/2006/relationships/hyperlink" Target="https://javascript.info/object#literals-and-properties" TargetMode="Externa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hyperlink" Target="https://javascript.info/object#literals-and-properties" TargetMode="Externa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javascript.info/object#literals-and-properties" TargetMode="Externa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hyperlink" Target="https://javascript.info/variables#constants" TargetMode="External"/><Relationship Id="rId2" Type="http://schemas.openxmlformats.org/officeDocument/2006/relationships/hyperlink" Target="https://javascript.info/object#literals-and-properties" TargetMode="Externa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hyperlink" Target="https://javascript.info/variables#constants" TargetMode="External"/><Relationship Id="rId2" Type="http://schemas.openxmlformats.org/officeDocument/2006/relationships/hyperlink" Target="https://javascript.info/object#literals-and-properties" TargetMode="Externa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hyperlink" Target="https://javascript.info/types#type-typeof" TargetMode="Externa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hyperlink" Target="https://javascript.info/types#type-typeof" TargetMode="Externa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hyperlink" Target="https://javascript.info/types#type-typeof" TargetMode="Externa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hyperlink" Target="https://javascript.info/date#access-date-components" TargetMode="Externa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hyperlink" Target="https://en.wikipedia.org/wiki/JSON" TargetMode="Externa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hyperlink" Target="https://developer.mozilla.org/en-US/docs/Web/JavaScript/Reference/Global_Objects/JSON/parse" TargetMode="External"/><Relationship Id="rId2" Type="http://schemas.openxmlformats.org/officeDocument/2006/relationships/hyperlink" Target="https://javascript.info/json#json-parse" TargetMode="Externa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hyperlink" Target="https://javascript.info/json#json-parse" TargetMode="Externa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hyperlink" Target="https://en.wikipedia.org/wiki/Remainder" TargetMode="External"/><Relationship Id="rId2" Type="http://schemas.openxmlformats.org/officeDocument/2006/relationships/hyperlink" Target="https://javascript.info/operators#remainder" TargetMode="Externa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hyperlink" Target="https://javascript.info/operators#remainder" TargetMode="Externa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hyperlink" Target="https://javascript.info/operators#string-concatenation-with-binary" TargetMode="Externa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hyperlink" Target="https://javascript.info/operators#string-concatenation-with-binary" TargetMode="Externa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hyperlink" Target="https://javascript.info/operators#string-concatenation-with-binary" TargetMode="Externa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hyperlink" Target="https://javascript.info/operators#string-concatenation-with-binary" TargetMode="Externa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hyperlink" Target="https://javascript.info/operators#string-concatenation-with-binary" TargetMode="Externa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hyperlink" Target="https://javascript.info/operators#string-concatenation-with-binary" TargetMode="Externa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hyperlink" Target="https://javascript.info/comparison#boolean-is-the-result" TargetMode="Externa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hyperlink" Target="https://javascript.info/comparison#string-comparison" TargetMode="Externa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hyperlink" Target="https://javascript.info/comparison#string-comparison" TargetMode="Externa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hyperlink" Target="https://javascript.info/comparison#string-comparison" TargetMode="Externa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hyperlink" Target="https://javascript.info/comparison#strict-equality" TargetMode="Externa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hyperlink" Target="https://javascript.info/comparison#strict-equality" TargetMode="Externa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hyperlink" Target="https://javascript.info/comparison#strict-equality" TargetMode="External"/><Relationship Id="rId2" Type="http://schemas.openxmlformats.org/officeDocument/2006/relationships/hyperlink" Target="https://javascript.info/ifelse#the-else-clause" TargetMode="Externa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hyperlink" Target="https://javascript.info/comparison#strict-equality" TargetMode="Externa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hyperlink" Target="https://javascript.info/comparison#strict-equality" TargetMode="External"/><Relationship Id="rId2" Type="http://schemas.openxmlformats.org/officeDocument/2006/relationships/hyperlink" Target="https://javascript.info/ifelse#several-conditions-else-if" TargetMode="Externa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hyperlink" Target="https://javascript.info/comparison#strict-equality" TargetMode="External"/><Relationship Id="rId2" Type="http://schemas.openxmlformats.org/officeDocument/2006/relationships/hyperlink" Target="https://javascript.info/ifelse#conditional-operator" TargetMode="Externa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3" Type="http://schemas.openxmlformats.org/officeDocument/2006/relationships/hyperlink" Target="https://javascript.info/comparison#strict-equality" TargetMode="External"/><Relationship Id="rId2" Type="http://schemas.openxmlformats.org/officeDocument/2006/relationships/hyperlink" Target="https://javascript.info/ifelse#several-conditions-else-if" TargetMode="Externa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3" Type="http://schemas.openxmlformats.org/officeDocument/2006/relationships/hyperlink" Target="https://javascript.info/ifelse#conditional-operator" TargetMode="External"/><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3" Type="http://schemas.openxmlformats.org/officeDocument/2006/relationships/hyperlink" Target="https://javascript.info/ifelse#conditional-operator" TargetMode="External"/><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hyperlink" Target="https://javascript.info/ifelse#conditional-operator" TargetMode="Externa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hyperlink" Target="https://javascript.info/ifelse#conditional-operator" TargetMode="Externa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hyperlink" Target="https://javascript.info/ifelse#conditional-operator" TargetMode="Externa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hyperlink" Target="https://javascript.info/ifelse#conditional-operator" TargetMode="Externa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hyperlink" Target="https://javascript.info/ifelse#conditional-operator" TargetMode="Externa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javascript.info/logical-operators#not" TargetMode="Externa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3" Type="http://schemas.openxmlformats.org/officeDocument/2006/relationships/hyperlink" Target="https://javascript.info/logical-operators#check-the-login" TargetMode="External"/><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hyperlink" Target="https://javascript.info/while-for#the-while-loop" TargetMode="Externa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hyperlink" Target="https://javascript.info/while-for#the-do-while-loop" TargetMode="Externa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hyperlink" Target="https://javascript.info/while-for#the-do-while-loop" TargetMode="Externa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hyperlink" Target="https://javascript.info/while-for#the-for-loop" TargetMode="Externa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hyperlink" Target="https://javascript.info/while-for#breaking-the-loop" TargetMode="Externa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hyperlink" Target="https://javascript.info/while-for#continue" TargetMode="Externa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javascript.info/while-for#continue" TargetMode="Externa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hyperlink" Target="https://javascript.info/while-for#repeat-until-the-input-is-correct" TargetMode="Externa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3" Type="http://schemas.openxmlformats.org/officeDocument/2006/relationships/hyperlink" Target="https://javascript.info/while-for#output-prime-numbers" TargetMode="External"/><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hyperlink" Target="https://javascript.info/while-for#output-prime-numbers" TargetMode="Externa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hyperlink" Target="https://javascript.info/while-for#output-prime-numbers" TargetMode="Externa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3" Type="http://schemas.openxmlformats.org/officeDocument/2006/relationships/hyperlink" Target="https://javascript.info/while-for#output-prime-numbers" TargetMode="External"/><Relationship Id="rId2" Type="http://schemas.openxmlformats.org/officeDocument/2006/relationships/hyperlink" Target="https://javascript.info/function-basics#function-declaration" TargetMode="Externa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3" Type="http://schemas.openxmlformats.org/officeDocument/2006/relationships/hyperlink" Target="https://javascript.info/function-basics#local-variables" TargetMode="External"/><Relationship Id="rId2" Type="http://schemas.openxmlformats.org/officeDocument/2006/relationships/hyperlink" Target="https://javascript.info/function-basics#outer-variables" TargetMode="External"/><Relationship Id="rId1" Type="http://schemas.openxmlformats.org/officeDocument/2006/relationships/slideLayout" Target="../slideLayouts/slideLayout7.xml"/><Relationship Id="rId4" Type="http://schemas.openxmlformats.org/officeDocument/2006/relationships/hyperlink" Target="https://javascript.info/while-for#output-prime-numbers" TargetMode="External"/></Relationships>
</file>

<file path=ppt/slides/_rels/slide121.xml.rels><?xml version="1.0" encoding="UTF-8" standalone="yes"?>
<Relationships xmlns="http://schemas.openxmlformats.org/package/2006/relationships"><Relationship Id="rId3" Type="http://schemas.openxmlformats.org/officeDocument/2006/relationships/hyperlink" Target="https://javascript.info/while-for#output-prime-numbers" TargetMode="External"/><Relationship Id="rId2" Type="http://schemas.openxmlformats.org/officeDocument/2006/relationships/hyperlink" Target="https://javascript.info/function-basics#outer-variables" TargetMode="Externa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hyperlink" Target="https://javascript.info/while-for#output-prime-numbers" TargetMode="Externa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3" Type="http://schemas.openxmlformats.org/officeDocument/2006/relationships/hyperlink" Target="https://javascript.info/while-for#output-prime-numbers" TargetMode="External"/><Relationship Id="rId2" Type="http://schemas.openxmlformats.org/officeDocument/2006/relationships/hyperlink" Target="https://javascript.info/function-basics#default-values" TargetMode="Externa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3" Type="http://schemas.openxmlformats.org/officeDocument/2006/relationships/hyperlink" Target="https://javascript.info/while-for#output-prime-numbers" TargetMode="External"/><Relationship Id="rId2" Type="http://schemas.openxmlformats.org/officeDocument/2006/relationships/hyperlink" Target="https://javascript.info/function-basics#returning-a-value" TargetMode="Externa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3" Type="http://schemas.openxmlformats.org/officeDocument/2006/relationships/hyperlink" Target="https://javascript.info/while-for#output-prime-numbers" TargetMode="External"/><Relationship Id="rId2" Type="http://schemas.openxmlformats.org/officeDocument/2006/relationships/hyperlink" Target="https://javascript.info/function-basics#returning-a-value" TargetMode="Externa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hyperlink" Target="https://javascript.info/function-basics#function-naming" TargetMode="Externa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3" Type="http://schemas.openxmlformats.org/officeDocument/2006/relationships/hyperlink" Target="https://javascript.info/function-basics#function-pow-x-n" TargetMode="External"/><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hyperlink" Target="https://javascript.info/function-basics#function-pow-x-n" TargetMode="Externa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hyperlink" Target="https://javascript.info/function-basics#function-pow-x-n" TargetMode="Externa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3" Type="http://schemas.openxmlformats.org/officeDocument/2006/relationships/hyperlink" Target="https://javascript.info/function-basics#function-pow-x-n" TargetMode="External"/><Relationship Id="rId2" Type="http://schemas.openxmlformats.org/officeDocument/2006/relationships/hyperlink" Target="https://javascript.info/function-expressions#callback-functions" TargetMode="Externa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hyperlink" Target="https://javascript.info/function-expressions#callback-functions" TargetMode="Externa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hyperlink" Target="https://javascript.info/function-expressions#function-expression-vs-function-declaration" TargetMode="Externa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hyperlink" Target="https://javascript.info/function-expressions#function-expression-vs-function-declaration" TargetMode="Externa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hyperlink" Target="https://javascript.info/function-expressions#function-expression-vs-function-declaration" TargetMode="Externa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968C8-67C4-8011-F335-527CB36AE1F8}"/>
              </a:ext>
            </a:extLst>
          </p:cNvPr>
          <p:cNvSpPr>
            <a:spLocks noGrp="1"/>
          </p:cNvSpPr>
          <p:nvPr>
            <p:ph type="ctrTitle"/>
          </p:nvPr>
        </p:nvSpPr>
        <p:spPr>
          <a:xfrm>
            <a:off x="615325" y="195720"/>
            <a:ext cx="9279144" cy="3330934"/>
          </a:xfrm>
        </p:spPr>
        <p:txBody>
          <a:bodyPr/>
          <a:lstStyle/>
          <a:p>
            <a:pPr algn="ctr"/>
            <a:r>
              <a:rPr lang="ar-EG" sz="6000" b="1" dirty="0">
                <a:solidFill>
                  <a:schemeClr val="tx1"/>
                </a:solidFill>
                <a:latin typeface="Antique Olive" panose="020B0603020204030204"/>
              </a:rPr>
              <a:t> </a:t>
            </a:r>
            <a:r>
              <a:rPr lang="en-US" sz="6000" b="1" dirty="0">
                <a:solidFill>
                  <a:schemeClr val="tx1"/>
                </a:solidFill>
                <a:latin typeface="Antique Olive" panose="020B0603020204030204"/>
              </a:rPr>
              <a:t>JavaScript</a:t>
            </a:r>
          </a:p>
        </p:txBody>
      </p:sp>
    </p:spTree>
    <p:extLst>
      <p:ext uri="{BB962C8B-B14F-4D97-AF65-F5344CB8AC3E}">
        <p14:creationId xmlns:p14="http://schemas.microsoft.com/office/powerpoint/2010/main" val="89226056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08718" y="1652616"/>
            <a:ext cx="8694575" cy="3694025"/>
          </a:xfrm>
          <a:prstGeom prst="rect">
            <a:avLst/>
          </a:prstGeom>
        </p:spPr>
        <p:txBody>
          <a:bodyPr wrap="square" lIns="0" tIns="0" rIns="0" bIns="0" rtlCol="0" anchor="t">
            <a:spAutoFit/>
          </a:bodyPr>
          <a:lstStyle/>
          <a:p>
            <a:pPr>
              <a:lnSpc>
                <a:spcPts val="4150"/>
              </a:lnSpc>
            </a:pPr>
            <a:r>
              <a:rPr lang="en-US" sz="2000" dirty="0">
                <a:latin typeface="Antique Olive" panose="020B0603020204030204"/>
                <a:ea typeface="Quicksand"/>
                <a:cs typeface="Quicksand"/>
                <a:sym typeface="Quicksand"/>
              </a:rPr>
              <a:t>JavaScript was initially created to “</a:t>
            </a:r>
            <a:r>
              <a:rPr lang="en-US" sz="2000" b="1" dirty="0">
                <a:latin typeface="Antique Olive" panose="020B0603020204030204"/>
                <a:ea typeface="Quicksand"/>
                <a:cs typeface="Quicksand"/>
                <a:sym typeface="Quicksand"/>
              </a:rPr>
              <a:t>make web pages alive</a:t>
            </a:r>
            <a:r>
              <a:rPr lang="en-US" sz="2000" dirty="0">
                <a:latin typeface="Antique Olive" panose="020B0603020204030204"/>
                <a:ea typeface="Quicksand"/>
                <a:cs typeface="Quicksand"/>
                <a:sym typeface="Quicksand"/>
              </a:rPr>
              <a:t>”.</a:t>
            </a:r>
          </a:p>
          <a:p>
            <a:pPr>
              <a:lnSpc>
                <a:spcPts val="4150"/>
              </a:lnSpc>
            </a:pPr>
            <a:r>
              <a:rPr lang="en-US" sz="2000" dirty="0">
                <a:latin typeface="Antique Olive" panose="020B0603020204030204"/>
                <a:ea typeface="Quicksand"/>
                <a:cs typeface="Quicksand"/>
                <a:sym typeface="Quicksand"/>
              </a:rPr>
              <a:t>The programs in this language are called scripts. They can be written right in a web page’s HTML and run automatically as the page loads.</a:t>
            </a:r>
          </a:p>
          <a:p>
            <a:pPr>
              <a:lnSpc>
                <a:spcPts val="4150"/>
              </a:lnSpc>
            </a:pPr>
            <a:r>
              <a:rPr lang="en-US" sz="2000" dirty="0">
                <a:latin typeface="Antique Olive" panose="020B0603020204030204"/>
                <a:ea typeface="Quicksand"/>
                <a:cs typeface="Quicksand"/>
                <a:sym typeface="Quicksand"/>
              </a:rPr>
              <a:t>Scripts are provided and executed as plain text. They don’t need special preparation or compilation to run.</a:t>
            </a:r>
          </a:p>
          <a:p>
            <a:pPr>
              <a:lnSpc>
                <a:spcPts val="4150"/>
              </a:lnSpc>
            </a:pPr>
            <a:r>
              <a:rPr lang="en-US" sz="2000" dirty="0">
                <a:latin typeface="Antique Olive" panose="020B0603020204030204"/>
                <a:ea typeface="Quicksand"/>
                <a:cs typeface="Quicksand"/>
                <a:sym typeface="Quicksand"/>
              </a:rPr>
              <a:t>In this aspect, </a:t>
            </a:r>
            <a:r>
              <a:rPr lang="en-US" sz="2000" b="1" dirty="0">
                <a:latin typeface="Antique Olive" panose="020B0603020204030204"/>
                <a:ea typeface="Quicksand"/>
                <a:cs typeface="Quicksand"/>
                <a:sym typeface="Quicksand"/>
              </a:rPr>
              <a:t>JavaScript</a:t>
            </a:r>
            <a:r>
              <a:rPr lang="en-US" sz="2000" dirty="0">
                <a:latin typeface="Antique Olive" panose="020B0603020204030204"/>
                <a:ea typeface="Quicksand"/>
                <a:cs typeface="Quicksand"/>
                <a:sym typeface="Quicksand"/>
              </a:rPr>
              <a:t> is very different from another language called </a:t>
            </a:r>
            <a:r>
              <a:rPr lang="en-US" sz="2000" b="1" dirty="0">
                <a:latin typeface="Antique Olive" panose="020B0603020204030204"/>
                <a:ea typeface="Quicksand"/>
                <a:cs typeface="Quicksand"/>
                <a:sym typeface="Quicksand"/>
              </a:rPr>
              <a:t>java</a:t>
            </a:r>
            <a:r>
              <a:rPr lang="en-US" sz="2000" dirty="0">
                <a:latin typeface="Antique Olive" panose="020B0603020204030204"/>
                <a:ea typeface="Quicksand"/>
                <a:cs typeface="Quicksand"/>
                <a:sym typeface="Quicksand"/>
              </a:rPr>
              <a:t>.</a:t>
            </a:r>
          </a:p>
          <a:p>
            <a:pPr>
              <a:lnSpc>
                <a:spcPts val="4150"/>
              </a:lnSpc>
            </a:pPr>
            <a:endParaRPr lang="en-US" sz="2000" dirty="0">
              <a:latin typeface="Antique Olive" panose="020B0603020204030204"/>
              <a:ea typeface="Quicksand"/>
              <a:cs typeface="Quicksand"/>
              <a:sym typeface="Quicksand"/>
            </a:endParaRPr>
          </a:p>
        </p:txBody>
      </p:sp>
      <p:sp>
        <p:nvSpPr>
          <p:cNvPr id="3" name="TextBox 3"/>
          <p:cNvSpPr txBox="1"/>
          <p:nvPr/>
        </p:nvSpPr>
        <p:spPr>
          <a:xfrm>
            <a:off x="3391215" y="609600"/>
            <a:ext cx="5365442" cy="721480"/>
          </a:xfrm>
          <a:prstGeom prst="rect">
            <a:avLst/>
          </a:prstGeom>
        </p:spPr>
        <p:txBody>
          <a:bodyPr lIns="0" tIns="0" rIns="0" bIns="0" rtlCol="0" anchor="t">
            <a:spAutoFit/>
          </a:bodyPr>
          <a:lstStyle/>
          <a:p>
            <a:pPr>
              <a:lnSpc>
                <a:spcPts val="5973"/>
              </a:lnSpc>
              <a:spcBef>
                <a:spcPct val="0"/>
              </a:spcBef>
            </a:pPr>
            <a:r>
              <a:rPr lang="en-US" sz="4000" b="1" dirty="0">
                <a:latin typeface="Antique Olive" panose="020B0603020204030204"/>
                <a:ea typeface="Cormorant Garamond Bold Italics"/>
                <a:cs typeface="Cormorant Garamond Bold Italics"/>
                <a:sym typeface="Cormorant Garamond Bold Italics"/>
              </a:rPr>
              <a:t>what is JavaScript ?</a:t>
            </a:r>
          </a:p>
        </p:txBody>
      </p:sp>
    </p:spTree>
    <p:extLst>
      <p:ext uri="{BB962C8B-B14F-4D97-AF65-F5344CB8AC3E}">
        <p14:creationId xmlns:p14="http://schemas.microsoft.com/office/powerpoint/2010/main" val="1318514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08718" y="1652616"/>
            <a:ext cx="10130436" cy="3155416"/>
          </a:xfrm>
          <a:prstGeom prst="rect">
            <a:avLst/>
          </a:prstGeom>
        </p:spPr>
        <p:txBody>
          <a:bodyPr lIns="0" tIns="0" rIns="0" bIns="0" rtlCol="0" anchor="t">
            <a:spAutoFit/>
          </a:bodyPr>
          <a:lstStyle/>
          <a:p>
            <a:pPr>
              <a:lnSpc>
                <a:spcPts val="4150"/>
              </a:lnSpc>
            </a:pPr>
            <a:r>
              <a:rPr lang="en-US" sz="2000" dirty="0">
                <a:latin typeface="Antique Olive" panose="020B0603020204030204"/>
                <a:ea typeface="Quicksand"/>
                <a:cs typeface="Quicksand"/>
                <a:sym typeface="Quicksand"/>
              </a:rPr>
              <a:t>When JavaScript was created, it initially had another name: “</a:t>
            </a:r>
            <a:r>
              <a:rPr lang="en-US" sz="2000" dirty="0" err="1">
                <a:latin typeface="Antique Olive" panose="020B0603020204030204"/>
                <a:ea typeface="Quicksand"/>
                <a:cs typeface="Quicksand"/>
                <a:sym typeface="Quicksand"/>
              </a:rPr>
              <a:t>LiveScript</a:t>
            </a:r>
            <a:r>
              <a:rPr lang="en-US" sz="2000" dirty="0">
                <a:latin typeface="Antique Olive" panose="020B0603020204030204"/>
                <a:ea typeface="Quicksand"/>
                <a:cs typeface="Quicksand"/>
                <a:sym typeface="Quicksand"/>
              </a:rPr>
              <a:t>”. But Java was very popular at that time, so it was decided that positioning a new language as a “younger brother” of Java would help.</a:t>
            </a:r>
          </a:p>
          <a:p>
            <a:pPr>
              <a:lnSpc>
                <a:spcPts val="4150"/>
              </a:lnSpc>
            </a:pPr>
            <a:r>
              <a:rPr lang="en-US" sz="2000" dirty="0">
                <a:latin typeface="Antique Olive" panose="020B0603020204030204"/>
                <a:ea typeface="Quicksand"/>
                <a:cs typeface="Quicksand"/>
                <a:sym typeface="Quicksand"/>
              </a:rPr>
              <a:t>But as it evolved, JavaScript became a fully independent language with its own specification called </a:t>
            </a:r>
            <a:r>
              <a:rPr lang="en-US" sz="2000" dirty="0">
                <a:latin typeface="Antique Olive" panose="020B0603020204030204"/>
                <a:ea typeface="Quicksand"/>
                <a:cs typeface="Quicksand"/>
                <a:sym typeface="Quicksand"/>
                <a:hlinkClick r:id="rId2" tooltip="http://en.wikipedia.org/wiki/ECMAScript">
                  <a:extLst>
                    <a:ext uri="{A12FA001-AC4F-418D-AE19-62706E023703}">
                      <ahyp:hlinkClr xmlns:ahyp="http://schemas.microsoft.com/office/drawing/2018/hyperlinkcolor" val="tx"/>
                    </a:ext>
                  </a:extLst>
                </a:hlinkClick>
              </a:rPr>
              <a:t>ECMAScript</a:t>
            </a:r>
            <a:r>
              <a:rPr lang="en-US" sz="2000" dirty="0">
                <a:latin typeface="Antique Olive" panose="020B0603020204030204"/>
                <a:ea typeface="Quicksand"/>
                <a:cs typeface="Quicksand"/>
                <a:sym typeface="Quicksand"/>
              </a:rPr>
              <a:t>, and now it has no relation to Java at all.</a:t>
            </a:r>
          </a:p>
          <a:p>
            <a:pPr>
              <a:lnSpc>
                <a:spcPts val="4150"/>
              </a:lnSpc>
            </a:pPr>
            <a:endParaRPr lang="en-US" sz="2000" dirty="0">
              <a:latin typeface="Antique Olive" panose="020B0603020204030204"/>
              <a:ea typeface="Quicksand"/>
              <a:cs typeface="Quicksand"/>
              <a:sym typeface="Quicksand"/>
            </a:endParaRPr>
          </a:p>
        </p:txBody>
      </p:sp>
      <p:sp>
        <p:nvSpPr>
          <p:cNvPr id="3" name="TextBox 3"/>
          <p:cNvSpPr txBox="1"/>
          <p:nvPr/>
        </p:nvSpPr>
        <p:spPr>
          <a:xfrm>
            <a:off x="2810549" y="609600"/>
            <a:ext cx="7048412" cy="712503"/>
          </a:xfrm>
          <a:prstGeom prst="rect">
            <a:avLst/>
          </a:prstGeom>
        </p:spPr>
        <p:txBody>
          <a:bodyPr lIns="0" tIns="0" rIns="0" bIns="0" rtlCol="0" anchor="t">
            <a:spAutoFit/>
          </a:bodyPr>
          <a:lstStyle/>
          <a:p>
            <a:pPr>
              <a:lnSpc>
                <a:spcPts val="5973"/>
              </a:lnSpc>
              <a:spcBef>
                <a:spcPct val="0"/>
              </a:spcBef>
            </a:pPr>
            <a:r>
              <a:rPr lang="en-US" sz="4000" b="1" dirty="0">
                <a:latin typeface="Antique Olive" panose="020B0603020204030204"/>
                <a:ea typeface="Cormorant Garamond Bold Italics"/>
                <a:cs typeface="Cormorant Garamond Bold Italics"/>
                <a:sym typeface="Cormorant Garamond Bold Italics"/>
              </a:rPr>
              <a:t>Why is it called JavaScript?</a:t>
            </a:r>
          </a:p>
        </p:txBody>
      </p:sp>
    </p:spTree>
    <p:extLst>
      <p:ext uri="{BB962C8B-B14F-4D97-AF65-F5344CB8AC3E}">
        <p14:creationId xmlns:p14="http://schemas.microsoft.com/office/powerpoint/2010/main" val="399047082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08718" y="1652615"/>
            <a:ext cx="10130436" cy="3694025"/>
          </a:xfrm>
          <a:prstGeom prst="rect">
            <a:avLst/>
          </a:prstGeom>
        </p:spPr>
        <p:txBody>
          <a:bodyPr lIns="0" tIns="0" rIns="0" bIns="0" rtlCol="0" anchor="t">
            <a:spAutoFit/>
          </a:bodyPr>
          <a:lstStyle/>
          <a:p>
            <a:pPr>
              <a:lnSpc>
                <a:spcPts val="4150"/>
              </a:lnSpc>
            </a:pPr>
            <a:r>
              <a:rPr lang="en-US" sz="2000" dirty="0">
                <a:latin typeface="Antique Olive" panose="020B0603020204030204"/>
                <a:ea typeface="Quicksand"/>
                <a:cs typeface="Quicksand"/>
                <a:sym typeface="Quicksand"/>
              </a:rPr>
              <a:t>Today, JavaScript can execute not only in the browser, but also on the server, or actually on any device that has a special program called </a:t>
            </a:r>
            <a:r>
              <a:rPr lang="en-US" sz="2000" u="sng" dirty="0">
                <a:latin typeface="Antique Olive" panose="020B0603020204030204"/>
                <a:ea typeface="Quicksand"/>
                <a:cs typeface="Quicksand"/>
                <a:sym typeface="Quicksand"/>
                <a:hlinkClick r:id="rId2" tooltip="https://en.wikipedia.org/wiki/JavaScript_engine">
                  <a:extLst>
                    <a:ext uri="{A12FA001-AC4F-418D-AE19-62706E023703}">
                      <ahyp:hlinkClr xmlns:ahyp="http://schemas.microsoft.com/office/drawing/2018/hyperlinkcolor" val="tx"/>
                    </a:ext>
                  </a:extLst>
                </a:hlinkClick>
              </a:rPr>
              <a:t>the JavaScript engine</a:t>
            </a:r>
            <a:r>
              <a:rPr lang="en-US" sz="2000" dirty="0">
                <a:latin typeface="Antique Olive" panose="020B0603020204030204"/>
                <a:ea typeface="Quicksand"/>
                <a:cs typeface="Quicksand"/>
                <a:sym typeface="Quicksand"/>
              </a:rPr>
              <a:t>.</a:t>
            </a:r>
          </a:p>
          <a:p>
            <a:pPr>
              <a:lnSpc>
                <a:spcPts val="4150"/>
              </a:lnSpc>
            </a:pPr>
            <a:r>
              <a:rPr lang="en-US" sz="2000" dirty="0">
                <a:latin typeface="Antique Olive" panose="020B0603020204030204"/>
                <a:ea typeface="Quicksand"/>
                <a:cs typeface="Quicksand"/>
                <a:sym typeface="Quicksand"/>
              </a:rPr>
              <a:t>The browser has an embedded engine sometimes called a “JavaScript virtual machine”.</a:t>
            </a:r>
          </a:p>
          <a:p>
            <a:pPr>
              <a:lnSpc>
                <a:spcPts val="4150"/>
              </a:lnSpc>
            </a:pPr>
            <a:r>
              <a:rPr lang="en-US" sz="2000" dirty="0">
                <a:latin typeface="Antique Olive" panose="020B0603020204030204"/>
                <a:ea typeface="Quicksand"/>
                <a:cs typeface="Quicksand"/>
                <a:sym typeface="Quicksand"/>
              </a:rPr>
              <a:t>Different engines have different “codenames”. For example:</a:t>
            </a:r>
          </a:p>
          <a:p>
            <a:pPr marL="527028" lvl="1" indent="-263514">
              <a:lnSpc>
                <a:spcPts val="4150"/>
              </a:lnSpc>
              <a:buFont typeface="Arial"/>
              <a:buChar char="•"/>
            </a:pPr>
            <a:r>
              <a:rPr lang="en-US" sz="2000" u="sng" dirty="0">
                <a:latin typeface="Antique Olive" panose="020B0603020204030204"/>
                <a:ea typeface="Quicksand"/>
                <a:cs typeface="Quicksand"/>
                <a:sym typeface="Quicksand"/>
                <a:hlinkClick r:id="rId3" tooltip="https://en.wikipedia.org/wiki/V8_(JavaScript_engine)">
                  <a:extLst>
                    <a:ext uri="{A12FA001-AC4F-418D-AE19-62706E023703}">
                      <ahyp:hlinkClr xmlns:ahyp="http://schemas.microsoft.com/office/drawing/2018/hyperlinkcolor" val="tx"/>
                    </a:ext>
                  </a:extLst>
                </a:hlinkClick>
              </a:rPr>
              <a:t>V8</a:t>
            </a:r>
            <a:r>
              <a:rPr lang="en-US" sz="2000" dirty="0">
                <a:latin typeface="Antique Olive" panose="020B0603020204030204"/>
                <a:ea typeface="Quicksand"/>
                <a:cs typeface="Quicksand"/>
                <a:sym typeface="Quicksand"/>
              </a:rPr>
              <a:t> – in Chrome, Opera and Edge.</a:t>
            </a:r>
          </a:p>
          <a:p>
            <a:pPr marL="527028" lvl="1" indent="-263514">
              <a:lnSpc>
                <a:spcPts val="4150"/>
              </a:lnSpc>
              <a:buFont typeface="Arial"/>
              <a:buChar char="•"/>
            </a:pPr>
            <a:r>
              <a:rPr lang="en-US" sz="2000" u="sng" dirty="0" err="1">
                <a:latin typeface="Antique Olive" panose="020B0603020204030204"/>
                <a:ea typeface="Quicksand"/>
                <a:cs typeface="Quicksand"/>
                <a:sym typeface="Quicksand"/>
                <a:hlinkClick r:id="rId4" tooltip="https://en.wikipedia.org/wiki/SpiderMonkey">
                  <a:extLst>
                    <a:ext uri="{A12FA001-AC4F-418D-AE19-62706E023703}">
                      <ahyp:hlinkClr xmlns:ahyp="http://schemas.microsoft.com/office/drawing/2018/hyperlinkcolor" val="tx"/>
                    </a:ext>
                  </a:extLst>
                </a:hlinkClick>
              </a:rPr>
              <a:t>SpiderMonkey</a:t>
            </a:r>
            <a:r>
              <a:rPr lang="en-US" sz="2000" dirty="0">
                <a:latin typeface="Antique Olive" panose="020B0603020204030204"/>
                <a:ea typeface="Quicksand"/>
                <a:cs typeface="Quicksand"/>
                <a:sym typeface="Quicksand"/>
              </a:rPr>
              <a:t> – in Firefox.</a:t>
            </a:r>
          </a:p>
          <a:p>
            <a:pPr>
              <a:lnSpc>
                <a:spcPts val="4150"/>
              </a:lnSpc>
            </a:pPr>
            <a:endParaRPr lang="en-US" sz="2000" dirty="0">
              <a:latin typeface="Antique Olive" panose="020B0603020204030204"/>
              <a:ea typeface="Quicksand"/>
              <a:cs typeface="Quicksand"/>
              <a:sym typeface="Quicksand"/>
            </a:endParaRPr>
          </a:p>
        </p:txBody>
      </p:sp>
      <p:sp>
        <p:nvSpPr>
          <p:cNvPr id="3" name="TextBox 3"/>
          <p:cNvSpPr txBox="1"/>
          <p:nvPr/>
        </p:nvSpPr>
        <p:spPr>
          <a:xfrm>
            <a:off x="2810549" y="609600"/>
            <a:ext cx="7048412" cy="712503"/>
          </a:xfrm>
          <a:prstGeom prst="rect">
            <a:avLst/>
          </a:prstGeom>
        </p:spPr>
        <p:txBody>
          <a:bodyPr lIns="0" tIns="0" rIns="0" bIns="0" rtlCol="0" anchor="t">
            <a:spAutoFit/>
          </a:bodyPr>
          <a:lstStyle/>
          <a:p>
            <a:pPr>
              <a:lnSpc>
                <a:spcPts val="5973"/>
              </a:lnSpc>
              <a:spcBef>
                <a:spcPct val="0"/>
              </a:spcBef>
            </a:pPr>
            <a:r>
              <a:rPr lang="en-US" sz="4000" b="1" dirty="0">
                <a:latin typeface="Antique Olive" panose="020B0603020204030204"/>
                <a:ea typeface="Cormorant Garamond Bold Italics"/>
                <a:cs typeface="Cormorant Garamond Bold Italics"/>
                <a:sym typeface="Cormorant Garamond Bold Italics"/>
              </a:rPr>
              <a:t>Why is it called JavaScript?</a:t>
            </a:r>
          </a:p>
        </p:txBody>
      </p:sp>
    </p:spTree>
    <p:extLst>
      <p:ext uri="{BB962C8B-B14F-4D97-AF65-F5344CB8AC3E}">
        <p14:creationId xmlns:p14="http://schemas.microsoft.com/office/powerpoint/2010/main" val="5821140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08718" y="1652615"/>
            <a:ext cx="10130436" cy="4232634"/>
          </a:xfrm>
          <a:prstGeom prst="rect">
            <a:avLst/>
          </a:prstGeom>
        </p:spPr>
        <p:txBody>
          <a:bodyPr lIns="0" tIns="0" rIns="0" bIns="0" rtlCol="0" anchor="t">
            <a:spAutoFit/>
          </a:bodyPr>
          <a:lstStyle/>
          <a:p>
            <a:pPr>
              <a:lnSpc>
                <a:spcPts val="4150"/>
              </a:lnSpc>
            </a:pPr>
            <a:r>
              <a:rPr lang="en-US" sz="2000" dirty="0">
                <a:latin typeface="Antique Olive"/>
                <a:ea typeface="Quicksand"/>
                <a:cs typeface="Quicksand"/>
                <a:sym typeface="Quicksand"/>
              </a:rPr>
              <a:t>Engines are complicated. But the basics are easy.</a:t>
            </a:r>
          </a:p>
          <a:p>
            <a:pPr marL="527028" lvl="1" indent="-263514">
              <a:lnSpc>
                <a:spcPts val="4150"/>
              </a:lnSpc>
              <a:buAutoNum type="arabicPeriod"/>
            </a:pPr>
            <a:r>
              <a:rPr lang="en-US" sz="2000" dirty="0">
                <a:latin typeface="Antique Olive"/>
                <a:ea typeface="Quicksand"/>
                <a:cs typeface="Quicksand"/>
                <a:sym typeface="Quicksand"/>
              </a:rPr>
              <a:t>The engine (embedded if it’s a browser) reads (“parses”) the script.</a:t>
            </a:r>
          </a:p>
          <a:p>
            <a:pPr marL="527028" lvl="1" indent="-263514">
              <a:lnSpc>
                <a:spcPts val="4150"/>
              </a:lnSpc>
              <a:buAutoNum type="arabicPeriod"/>
            </a:pPr>
            <a:r>
              <a:rPr lang="en-US" sz="2000" dirty="0">
                <a:latin typeface="Antique Olive"/>
                <a:ea typeface="Quicksand"/>
                <a:cs typeface="Quicksand"/>
                <a:sym typeface="Quicksand"/>
              </a:rPr>
              <a:t>Then it converts (“compiles”) the script to machine code.</a:t>
            </a:r>
          </a:p>
          <a:p>
            <a:pPr marL="527028" lvl="1" indent="-263514">
              <a:lnSpc>
                <a:spcPts val="4150"/>
              </a:lnSpc>
              <a:buAutoNum type="arabicPeriod"/>
            </a:pPr>
            <a:r>
              <a:rPr lang="en-US" sz="2000" dirty="0">
                <a:latin typeface="Antique Olive"/>
                <a:ea typeface="Quicksand"/>
                <a:cs typeface="Quicksand"/>
                <a:sym typeface="Quicksand"/>
              </a:rPr>
              <a:t>And then the machine code runs, pretty fast.</a:t>
            </a:r>
          </a:p>
          <a:p>
            <a:pPr>
              <a:lnSpc>
                <a:spcPts val="4150"/>
              </a:lnSpc>
            </a:pPr>
            <a:r>
              <a:rPr lang="en-US" sz="2000" dirty="0">
                <a:latin typeface="Antique Olive"/>
                <a:ea typeface="Quicksand"/>
                <a:cs typeface="Quicksand"/>
                <a:sym typeface="Quicksand"/>
              </a:rPr>
              <a:t>The engine applies optimizations at each step of the process. It even watches the compiled script as it runs, analyzes the data that flows through it, and further optimizes the machine code based on that knowledge.</a:t>
            </a:r>
          </a:p>
          <a:p>
            <a:pPr>
              <a:lnSpc>
                <a:spcPts val="4150"/>
              </a:lnSpc>
            </a:pPr>
            <a:endParaRPr lang="en-US" sz="2000" dirty="0">
              <a:latin typeface="Antique Olive"/>
              <a:ea typeface="Quicksand"/>
              <a:cs typeface="Quicksand"/>
              <a:sym typeface="Quicksand"/>
            </a:endParaRPr>
          </a:p>
        </p:txBody>
      </p:sp>
      <p:sp>
        <p:nvSpPr>
          <p:cNvPr id="3" name="TextBox 3"/>
          <p:cNvSpPr txBox="1"/>
          <p:nvPr/>
        </p:nvSpPr>
        <p:spPr>
          <a:xfrm>
            <a:off x="2810549" y="609600"/>
            <a:ext cx="7048412" cy="712503"/>
          </a:xfrm>
          <a:prstGeom prst="rect">
            <a:avLst/>
          </a:prstGeom>
        </p:spPr>
        <p:txBody>
          <a:bodyPr lIns="0" tIns="0" rIns="0" bIns="0" rtlCol="0" anchor="t">
            <a:spAutoFit/>
          </a:bodyPr>
          <a:lstStyle/>
          <a:p>
            <a:pPr>
              <a:lnSpc>
                <a:spcPts val="5973"/>
              </a:lnSpc>
              <a:spcBef>
                <a:spcPct val="0"/>
              </a:spcBef>
            </a:pPr>
            <a:r>
              <a:rPr lang="en-US" sz="4000" b="1" dirty="0">
                <a:latin typeface="Antique Olive" panose="020B0603020204030204"/>
                <a:ea typeface="Cormorant Garamond Bold Italics"/>
                <a:cs typeface="Cormorant Garamond Bold Italics"/>
                <a:sym typeface="Cormorant Garamond Bold Italics"/>
              </a:rPr>
              <a:t>How do engines work?</a:t>
            </a:r>
          </a:p>
        </p:txBody>
      </p:sp>
    </p:spTree>
    <p:extLst>
      <p:ext uri="{BB962C8B-B14F-4D97-AF65-F5344CB8AC3E}">
        <p14:creationId xmlns:p14="http://schemas.microsoft.com/office/powerpoint/2010/main" val="82780161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08718" y="1652615"/>
            <a:ext cx="10130436" cy="4241930"/>
          </a:xfrm>
          <a:prstGeom prst="rect">
            <a:avLst/>
          </a:prstGeom>
        </p:spPr>
        <p:txBody>
          <a:bodyPr lIns="0" tIns="0" rIns="0" bIns="0" rtlCol="0" anchor="t">
            <a:spAutoFit/>
          </a:bodyPr>
          <a:lstStyle/>
          <a:p>
            <a:pPr>
              <a:lnSpc>
                <a:spcPts val="4150"/>
              </a:lnSpc>
            </a:pPr>
            <a:r>
              <a:rPr lang="en-US" sz="2000" dirty="0">
                <a:latin typeface="Antique Olive" panose="020B0603020204030204"/>
                <a:ea typeface="Quicksand"/>
                <a:cs typeface="Quicksand"/>
                <a:sym typeface="Quicksand"/>
              </a:rPr>
              <a:t>Modern JavaScript is a “safe” programming language. It does not provide low-level access to memory or the CPU, because it was initially created for browsers which do not require it.</a:t>
            </a:r>
          </a:p>
          <a:p>
            <a:pPr>
              <a:lnSpc>
                <a:spcPts val="4150"/>
              </a:lnSpc>
            </a:pPr>
            <a:r>
              <a:rPr lang="en-US" sz="2000" dirty="0">
                <a:latin typeface="Antique Olive" panose="020B0603020204030204"/>
                <a:ea typeface="Quicksand"/>
                <a:cs typeface="Quicksand"/>
                <a:sym typeface="Quicksand"/>
              </a:rPr>
              <a:t>JavaScript’s capabilities greatly depend on the environment it’s running in. For instance, </a:t>
            </a:r>
            <a:r>
              <a:rPr lang="en-US" sz="2000" u="sng" dirty="0">
                <a:latin typeface="Antique Olive" panose="020B0603020204030204"/>
                <a:ea typeface="Quicksand"/>
                <a:cs typeface="Quicksand"/>
                <a:sym typeface="Quicksand"/>
                <a:hlinkClick r:id="rId2" tooltip="https://wikipedia.org/wiki/Node.js">
                  <a:extLst>
                    <a:ext uri="{A12FA001-AC4F-418D-AE19-62706E023703}">
                      <ahyp:hlinkClr xmlns:ahyp="http://schemas.microsoft.com/office/drawing/2018/hyperlinkcolor" val="tx"/>
                    </a:ext>
                  </a:extLst>
                </a:hlinkClick>
              </a:rPr>
              <a:t>Node.js</a:t>
            </a:r>
            <a:r>
              <a:rPr lang="en-US" sz="2000" dirty="0">
                <a:latin typeface="Antique Olive" panose="020B0603020204030204"/>
                <a:ea typeface="Quicksand"/>
                <a:cs typeface="Quicksand"/>
                <a:sym typeface="Quicksand"/>
              </a:rPr>
              <a:t> supports functions that allow JavaScript to read/write arbitrary files, perform network requests, etc.</a:t>
            </a:r>
          </a:p>
          <a:p>
            <a:pPr>
              <a:lnSpc>
                <a:spcPts val="4150"/>
              </a:lnSpc>
            </a:pPr>
            <a:r>
              <a:rPr lang="en-US" sz="2000" dirty="0">
                <a:latin typeface="Antique Olive" panose="020B0603020204030204"/>
                <a:ea typeface="Quicksand"/>
                <a:cs typeface="Quicksand"/>
                <a:sym typeface="Quicksand"/>
              </a:rPr>
              <a:t>In-browser JavaScript can do everything related to webpage manipulation, interaction with the user, and the webserver.</a:t>
            </a:r>
          </a:p>
          <a:p>
            <a:pPr>
              <a:lnSpc>
                <a:spcPts val="4150"/>
              </a:lnSpc>
            </a:pPr>
            <a:endParaRPr lang="en-US" sz="2000" dirty="0">
              <a:latin typeface="Antique Olive" panose="020B0603020204030204"/>
              <a:ea typeface="Quicksand"/>
              <a:cs typeface="Quicksand"/>
              <a:sym typeface="Quicksand"/>
            </a:endParaRPr>
          </a:p>
        </p:txBody>
      </p:sp>
      <p:sp>
        <p:nvSpPr>
          <p:cNvPr id="3" name="TextBox 3"/>
          <p:cNvSpPr txBox="1"/>
          <p:nvPr/>
        </p:nvSpPr>
        <p:spPr>
          <a:xfrm>
            <a:off x="790114" y="609600"/>
            <a:ext cx="9068848" cy="712503"/>
          </a:xfrm>
          <a:prstGeom prst="rect">
            <a:avLst/>
          </a:prstGeom>
        </p:spPr>
        <p:txBody>
          <a:bodyPr wrap="square" lIns="0" tIns="0" rIns="0" bIns="0" rtlCol="0" anchor="t">
            <a:spAutoFit/>
          </a:bodyPr>
          <a:lstStyle/>
          <a:p>
            <a:pPr>
              <a:lnSpc>
                <a:spcPts val="5973"/>
              </a:lnSpc>
              <a:spcBef>
                <a:spcPct val="0"/>
              </a:spcBef>
            </a:pPr>
            <a:r>
              <a:rPr lang="en-US" sz="4000" b="1" dirty="0">
                <a:latin typeface="Antique Olive" panose="020B0603020204030204"/>
                <a:ea typeface="Cormorant Garamond Bold Italics"/>
                <a:cs typeface="Cormorant Garamond Bold Italics"/>
                <a:sym typeface="Cormorant Garamond Bold Italics"/>
              </a:rPr>
              <a:t>What can in-browser JavaScript do?</a:t>
            </a:r>
            <a:endParaRPr lang="en-US" sz="4000" b="1" dirty="0">
              <a:latin typeface="Antique Olive" panose="020B0603020204030204"/>
              <a:ea typeface="Cormorant Garamond Bold Italics"/>
              <a:cs typeface="Cormorant Garamond Bold Italics"/>
              <a:sym typeface="Cormorant Garamond Bold Italics"/>
              <a:hlinkClick r:id="rId3" tooltip="https://javascript.info/intro#what-can-in-browser-javascript-do">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343200221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7611" y="1505356"/>
            <a:ext cx="10130436" cy="4771243"/>
          </a:xfrm>
          <a:prstGeom prst="rect">
            <a:avLst/>
          </a:prstGeom>
        </p:spPr>
        <p:txBody>
          <a:bodyPr lIns="0" tIns="0" rIns="0" bIns="0" rtlCol="0" anchor="t">
            <a:spAutoFit/>
          </a:bodyPr>
          <a:lstStyle/>
          <a:p>
            <a:pPr>
              <a:lnSpc>
                <a:spcPts val="4150"/>
              </a:lnSpc>
            </a:pPr>
            <a:r>
              <a:rPr lang="en-US" sz="2000" dirty="0">
                <a:latin typeface="Antique Olive"/>
                <a:ea typeface="Quicksand"/>
                <a:cs typeface="Quicksand"/>
                <a:sym typeface="Quicksand"/>
              </a:rPr>
              <a:t>There are at least three great things about JavaScript:</a:t>
            </a:r>
          </a:p>
          <a:p>
            <a:pPr marL="527028" lvl="1" indent="-263514">
              <a:lnSpc>
                <a:spcPts val="4150"/>
              </a:lnSpc>
              <a:buFont typeface="Arial"/>
              <a:buChar char="•"/>
            </a:pPr>
            <a:r>
              <a:rPr lang="en-US" sz="2000" dirty="0">
                <a:latin typeface="Antique Olive"/>
                <a:ea typeface="Quicksand"/>
                <a:cs typeface="Quicksand"/>
                <a:sym typeface="Quicksand"/>
              </a:rPr>
              <a:t>Full integration with HTML/CSS.</a:t>
            </a:r>
          </a:p>
          <a:p>
            <a:pPr marL="527028" lvl="1" indent="-263514">
              <a:lnSpc>
                <a:spcPts val="4150"/>
              </a:lnSpc>
              <a:buFont typeface="Arial"/>
              <a:buChar char="•"/>
            </a:pPr>
            <a:r>
              <a:rPr lang="en-US" sz="2000" dirty="0">
                <a:latin typeface="Antique Olive"/>
                <a:ea typeface="Quicksand"/>
                <a:cs typeface="Quicksand"/>
                <a:sym typeface="Quicksand"/>
              </a:rPr>
              <a:t>Simple things are done simply.</a:t>
            </a:r>
          </a:p>
          <a:p>
            <a:pPr marL="527028" lvl="1" indent="-263514">
              <a:lnSpc>
                <a:spcPts val="4150"/>
              </a:lnSpc>
              <a:buFont typeface="Arial"/>
              <a:buChar char="•"/>
            </a:pPr>
            <a:r>
              <a:rPr lang="en-US" sz="2000" dirty="0">
                <a:latin typeface="Antique Olive"/>
                <a:ea typeface="Quicksand"/>
                <a:cs typeface="Quicksand"/>
                <a:sym typeface="Quicksand"/>
              </a:rPr>
              <a:t>Supported by all major browsers and enabled by default.</a:t>
            </a:r>
          </a:p>
          <a:p>
            <a:pPr>
              <a:lnSpc>
                <a:spcPts val="4150"/>
              </a:lnSpc>
            </a:pPr>
            <a:r>
              <a:rPr lang="en-US" sz="2000" dirty="0">
                <a:latin typeface="Antique Olive"/>
                <a:ea typeface="Quicksand"/>
                <a:cs typeface="Quicksand"/>
                <a:sym typeface="Quicksand"/>
              </a:rPr>
              <a:t>JavaScript is the only browser technology that combines these three things.</a:t>
            </a:r>
          </a:p>
          <a:p>
            <a:pPr>
              <a:lnSpc>
                <a:spcPts val="4150"/>
              </a:lnSpc>
            </a:pPr>
            <a:r>
              <a:rPr lang="en-US" sz="2000" dirty="0">
                <a:latin typeface="Antique Olive"/>
                <a:ea typeface="Quicksand"/>
                <a:cs typeface="Quicksand"/>
                <a:sym typeface="Quicksand"/>
              </a:rPr>
              <a:t>That’s what makes JavaScript unique. That’s why it’s the most widespread tool for creating browser interfaces.</a:t>
            </a:r>
          </a:p>
          <a:p>
            <a:pPr>
              <a:lnSpc>
                <a:spcPts val="4150"/>
              </a:lnSpc>
            </a:pPr>
            <a:r>
              <a:rPr lang="en-US" sz="2000" dirty="0">
                <a:latin typeface="Antique Olive"/>
                <a:ea typeface="Quicksand"/>
                <a:cs typeface="Quicksand"/>
                <a:sym typeface="Quicksand"/>
              </a:rPr>
              <a:t>That said, JavaScript can be used to create servers, mobile applications, etc.</a:t>
            </a:r>
          </a:p>
          <a:p>
            <a:pPr>
              <a:lnSpc>
                <a:spcPts val="4150"/>
              </a:lnSpc>
            </a:pPr>
            <a:endParaRPr lang="en-US" sz="2000" dirty="0">
              <a:latin typeface="Antique Olive"/>
              <a:ea typeface="Quicksand"/>
              <a:cs typeface="Quicksand"/>
              <a:sym typeface="Quicksand"/>
            </a:endParaRPr>
          </a:p>
        </p:txBody>
      </p:sp>
      <p:sp>
        <p:nvSpPr>
          <p:cNvPr id="3" name="TextBox 3"/>
          <p:cNvSpPr txBox="1"/>
          <p:nvPr/>
        </p:nvSpPr>
        <p:spPr>
          <a:xfrm>
            <a:off x="2326696" y="609600"/>
            <a:ext cx="7532265" cy="721480"/>
          </a:xfrm>
          <a:prstGeom prst="rect">
            <a:avLst/>
          </a:prstGeom>
        </p:spPr>
        <p:txBody>
          <a:bodyPr lIns="0" tIns="0" rIns="0" bIns="0" rtlCol="0" anchor="t">
            <a:spAutoFit/>
          </a:bodyPr>
          <a:lstStyle/>
          <a:p>
            <a:pPr>
              <a:lnSpc>
                <a:spcPts val="5973"/>
              </a:lnSpc>
              <a:spcBef>
                <a:spcPct val="0"/>
              </a:spcBef>
            </a:pPr>
            <a:r>
              <a:rPr lang="en-US" sz="4000" b="1" dirty="0">
                <a:latin typeface="Antique Olive"/>
                <a:ea typeface="Cormorant Garamond Bold Italics"/>
                <a:cs typeface="Cormorant Garamond Bold Italics"/>
                <a:sym typeface="Cormorant Garamond Bold Italics"/>
              </a:rPr>
              <a:t>What makes JavaScript unique?</a:t>
            </a:r>
            <a:endParaRPr lang="en-US" sz="4000" b="1" dirty="0">
              <a:latin typeface="Antique Olive"/>
              <a:ea typeface="Cormorant Garamond Bold Italics"/>
              <a:cs typeface="Cormorant Garamond Bold Italics"/>
              <a:sym typeface="Cormorant Garamond Bold Italics"/>
              <a:hlinkClick r:id="rId2" tooltip="https://javascript.info/intro#what-makes-javascript-unique">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419918083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7611" y="1505356"/>
            <a:ext cx="10130436" cy="4241930"/>
          </a:xfrm>
          <a:prstGeom prst="rect">
            <a:avLst/>
          </a:prstGeom>
        </p:spPr>
        <p:txBody>
          <a:bodyPr lIns="0" tIns="0" rIns="0" bIns="0" rtlCol="0" anchor="t">
            <a:spAutoFit/>
          </a:bodyPr>
          <a:lstStyle/>
          <a:p>
            <a:pPr>
              <a:lnSpc>
                <a:spcPts val="4150"/>
              </a:lnSpc>
            </a:pPr>
            <a:endParaRPr sz="2000" dirty="0">
              <a:latin typeface="Antique Olive"/>
            </a:endParaRPr>
          </a:p>
          <a:p>
            <a:pPr marL="527028" lvl="1" indent="-263514">
              <a:lnSpc>
                <a:spcPts val="4150"/>
              </a:lnSpc>
              <a:buFont typeface="Arial"/>
              <a:buChar char="•"/>
            </a:pPr>
            <a:r>
              <a:rPr lang="en-US" sz="2000" dirty="0">
                <a:latin typeface="Antique Olive"/>
                <a:ea typeface="Quicksand"/>
                <a:cs typeface="Quicksand"/>
                <a:sym typeface="Quicksand"/>
              </a:rPr>
              <a:t>JavaScript was initially created as a browser-only language, but it is now used in many other environments as well.</a:t>
            </a:r>
          </a:p>
          <a:p>
            <a:pPr marL="527028" lvl="1" indent="-263514">
              <a:lnSpc>
                <a:spcPts val="4150"/>
              </a:lnSpc>
              <a:buFont typeface="Arial"/>
              <a:buChar char="•"/>
            </a:pPr>
            <a:r>
              <a:rPr lang="en-US" sz="2000" dirty="0">
                <a:latin typeface="Antique Olive"/>
                <a:ea typeface="Quicksand"/>
                <a:cs typeface="Quicksand"/>
                <a:sym typeface="Quicksand"/>
              </a:rPr>
              <a:t>Today, JavaScript has a unique position as the most widely-adopted browser language, fully integrated with HTML/CSS.</a:t>
            </a:r>
          </a:p>
          <a:p>
            <a:pPr marL="527028" lvl="1" indent="-263514">
              <a:lnSpc>
                <a:spcPts val="4150"/>
              </a:lnSpc>
              <a:buFont typeface="Arial"/>
              <a:buChar char="•"/>
            </a:pPr>
            <a:r>
              <a:rPr lang="en-US" sz="2000" dirty="0">
                <a:latin typeface="Antique Olive"/>
                <a:ea typeface="Quicksand"/>
                <a:cs typeface="Quicksand"/>
                <a:sym typeface="Quicksand"/>
              </a:rPr>
              <a:t>There are many languages that get “</a:t>
            </a:r>
            <a:r>
              <a:rPr lang="en-US" sz="2000" dirty="0" err="1">
                <a:latin typeface="Antique Olive"/>
                <a:ea typeface="Quicksand"/>
                <a:cs typeface="Quicksand"/>
                <a:sym typeface="Quicksand"/>
              </a:rPr>
              <a:t>transpiled</a:t>
            </a:r>
            <a:r>
              <a:rPr lang="en-US" sz="2000" dirty="0">
                <a:latin typeface="Antique Olive"/>
                <a:ea typeface="Quicksand"/>
                <a:cs typeface="Quicksand"/>
                <a:sym typeface="Quicksand"/>
              </a:rPr>
              <a:t>” to JavaScript and provide certain features. It is recommended to take a look at them, at least briefly, after mastering JavaScript.</a:t>
            </a:r>
          </a:p>
          <a:p>
            <a:pPr>
              <a:lnSpc>
                <a:spcPts val="4150"/>
              </a:lnSpc>
            </a:pPr>
            <a:endParaRPr lang="en-US" sz="2000" dirty="0">
              <a:latin typeface="Antique Olive"/>
              <a:ea typeface="Quicksand"/>
              <a:cs typeface="Quicksand"/>
              <a:sym typeface="Quicksand"/>
            </a:endParaRPr>
          </a:p>
        </p:txBody>
      </p:sp>
      <p:sp>
        <p:nvSpPr>
          <p:cNvPr id="3" name="TextBox 3"/>
          <p:cNvSpPr txBox="1"/>
          <p:nvPr/>
        </p:nvSpPr>
        <p:spPr>
          <a:xfrm>
            <a:off x="4514557" y="896179"/>
            <a:ext cx="7532265" cy="721480"/>
          </a:xfrm>
          <a:prstGeom prst="rect">
            <a:avLst/>
          </a:prstGeom>
        </p:spPr>
        <p:txBody>
          <a:bodyPr lIns="0" tIns="0" rIns="0" bIns="0" rtlCol="0" anchor="t">
            <a:spAutoFit/>
          </a:bodyPr>
          <a:lstStyle/>
          <a:p>
            <a:pPr algn="just">
              <a:lnSpc>
                <a:spcPts val="5973"/>
              </a:lnSpc>
              <a:spcBef>
                <a:spcPct val="0"/>
              </a:spcBef>
            </a:pPr>
            <a:r>
              <a:rPr lang="en-US" sz="4000" b="1" dirty="0">
                <a:latin typeface="Antique Olive"/>
                <a:ea typeface="Cormorant Garamond Bold Italics"/>
                <a:cs typeface="Cormorant Garamond Bold Italics"/>
                <a:sym typeface="Cormorant Garamond Bold Italics"/>
              </a:rPr>
              <a:t>Summary</a:t>
            </a:r>
            <a:endParaRPr lang="en-US" sz="4000" b="1" dirty="0">
              <a:latin typeface="Antique Olive"/>
              <a:ea typeface="Cormorant Garamond Bold Italics"/>
              <a:cs typeface="Cormorant Garamond Bold Italics"/>
              <a:sym typeface="Cormorant Garamond Bold Italics"/>
              <a:hlinkClick r:id="rId2" tooltip="https://javascript.info/intro#summary"/>
            </a:endParaRPr>
          </a:p>
        </p:txBody>
      </p:sp>
    </p:spTree>
    <p:extLst>
      <p:ext uri="{BB962C8B-B14F-4D97-AF65-F5344CB8AC3E}">
        <p14:creationId xmlns:p14="http://schemas.microsoft.com/office/powerpoint/2010/main" val="31501939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7611" y="1505356"/>
            <a:ext cx="10130436" cy="4245521"/>
          </a:xfrm>
          <a:prstGeom prst="rect">
            <a:avLst/>
          </a:prstGeom>
        </p:spPr>
        <p:txBody>
          <a:bodyPr lIns="0" tIns="0" rIns="0" bIns="0" rtlCol="0" anchor="t">
            <a:spAutoFit/>
          </a:bodyPr>
          <a:lstStyle/>
          <a:p>
            <a:pPr>
              <a:lnSpc>
                <a:spcPts val="4150"/>
              </a:lnSpc>
            </a:pPr>
            <a:endParaRPr sz="2000" dirty="0">
              <a:latin typeface="Antique Olive"/>
            </a:endParaRPr>
          </a:p>
          <a:p>
            <a:pPr>
              <a:lnSpc>
                <a:spcPts val="4150"/>
              </a:lnSpc>
            </a:pPr>
            <a:r>
              <a:rPr lang="en-US" sz="2000" dirty="0">
                <a:latin typeface="Antique Olive"/>
                <a:ea typeface="Quicksand"/>
                <a:cs typeface="Quicksand"/>
                <a:sym typeface="Quicksand"/>
              </a:rPr>
              <a:t>A code editor is the place where programmers spend most of their time.</a:t>
            </a:r>
          </a:p>
          <a:p>
            <a:pPr>
              <a:lnSpc>
                <a:spcPts val="4150"/>
              </a:lnSpc>
            </a:pPr>
            <a:r>
              <a:rPr lang="en-US" sz="2000" dirty="0">
                <a:latin typeface="Antique Olive"/>
                <a:ea typeface="Quicksand"/>
                <a:cs typeface="Quicksand"/>
                <a:sym typeface="Quicksand"/>
              </a:rPr>
              <a:t>There are two main types of code editors: IDEs and lightweight editors. Many people use one tool of each type.</a:t>
            </a:r>
          </a:p>
          <a:p>
            <a:pPr>
              <a:lnSpc>
                <a:spcPts val="4150"/>
              </a:lnSpc>
            </a:pPr>
            <a:r>
              <a:rPr lang="en-US" sz="2000" dirty="0">
                <a:latin typeface="Antique Olive"/>
                <a:ea typeface="Quicksand"/>
                <a:cs typeface="Quicksand"/>
                <a:sym typeface="Quicksand"/>
              </a:rPr>
              <a:t>1.visual studio code</a:t>
            </a:r>
          </a:p>
          <a:p>
            <a:pPr>
              <a:lnSpc>
                <a:spcPts val="4150"/>
              </a:lnSpc>
            </a:pPr>
            <a:r>
              <a:rPr lang="en-US" sz="2000" dirty="0">
                <a:latin typeface="Antique Olive"/>
                <a:ea typeface="Quicksand"/>
                <a:cs typeface="Quicksand"/>
                <a:sym typeface="Quicksand"/>
              </a:rPr>
              <a:t>2.notepad++</a:t>
            </a:r>
          </a:p>
          <a:p>
            <a:pPr>
              <a:lnSpc>
                <a:spcPts val="4150"/>
              </a:lnSpc>
            </a:pPr>
            <a:endParaRPr lang="en-US" sz="2000" dirty="0">
              <a:latin typeface="Antique Olive"/>
              <a:ea typeface="Quicksand"/>
              <a:cs typeface="Quicksand"/>
              <a:sym typeface="Quicksand"/>
            </a:endParaRPr>
          </a:p>
          <a:p>
            <a:pPr>
              <a:lnSpc>
                <a:spcPts val="4150"/>
              </a:lnSpc>
            </a:pPr>
            <a:endParaRPr lang="en-US" sz="2000" dirty="0">
              <a:latin typeface="Antique Olive"/>
              <a:ea typeface="Quicksand"/>
              <a:cs typeface="Quicksand"/>
              <a:sym typeface="Quicksand"/>
            </a:endParaRPr>
          </a:p>
        </p:txBody>
      </p:sp>
      <p:sp>
        <p:nvSpPr>
          <p:cNvPr id="3" name="TextBox 3"/>
          <p:cNvSpPr txBox="1"/>
          <p:nvPr/>
        </p:nvSpPr>
        <p:spPr>
          <a:xfrm>
            <a:off x="3973935" y="896179"/>
            <a:ext cx="7532265" cy="721480"/>
          </a:xfrm>
          <a:prstGeom prst="rect">
            <a:avLst/>
          </a:prstGeom>
        </p:spPr>
        <p:txBody>
          <a:bodyPr lIns="0" tIns="0" rIns="0" bIns="0" rtlCol="0" anchor="t">
            <a:spAutoFit/>
          </a:bodyPr>
          <a:lstStyle/>
          <a:p>
            <a:pPr algn="just">
              <a:lnSpc>
                <a:spcPts val="5973"/>
              </a:lnSpc>
              <a:spcBef>
                <a:spcPct val="0"/>
              </a:spcBef>
            </a:pPr>
            <a:r>
              <a:rPr lang="en-US" sz="4000" b="1" dirty="0">
                <a:latin typeface="Antique Olive"/>
                <a:ea typeface="Cormorant Garamond Bold Italics"/>
                <a:cs typeface="Cormorant Garamond Bold Italics"/>
                <a:sym typeface="Cormorant Garamond Bold Italics"/>
              </a:rPr>
              <a:t>Code editors</a:t>
            </a:r>
            <a:endParaRPr lang="en-US" sz="4000" b="1" dirty="0">
              <a:latin typeface="Antique Olive"/>
              <a:ea typeface="Cormorant Garamond Bold Italics"/>
              <a:cs typeface="Cormorant Garamond Bold Italics"/>
              <a:sym typeface="Cormorant Garamond Bold Italics"/>
              <a:hlinkClick r:id="rId2" tooltip="https://javascript.info/intro#summary">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350588103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30782" y="1267181"/>
            <a:ext cx="10130436" cy="5857757"/>
          </a:xfrm>
          <a:prstGeom prst="rect">
            <a:avLst/>
          </a:prstGeom>
        </p:spPr>
        <p:txBody>
          <a:bodyPr lIns="0" tIns="0" rIns="0" bIns="0" rtlCol="0" anchor="t">
            <a:spAutoFit/>
          </a:bodyPr>
          <a:lstStyle/>
          <a:p>
            <a:pPr>
              <a:lnSpc>
                <a:spcPts val="4150"/>
              </a:lnSpc>
            </a:pPr>
            <a:r>
              <a:rPr lang="en-US" sz="2000" dirty="0">
                <a:latin typeface="Antique Olive"/>
                <a:ea typeface="Quicksand"/>
                <a:cs typeface="Quicksand"/>
                <a:sym typeface="Quicksand"/>
              </a:rPr>
              <a:t>Code is prone to errors. You will quite likely make errors… Oh, what am I talking about? You are absolutely going to make errors, at least if you’re a human, not a </a:t>
            </a:r>
            <a:r>
              <a:rPr lang="en-US" sz="2000" dirty="0">
                <a:latin typeface="Antique Olive"/>
                <a:ea typeface="Quicksand"/>
                <a:cs typeface="Quicksand"/>
                <a:sym typeface="Quicksand"/>
                <a:hlinkClick r:id="rId2" tooltip="https://en.wikipedia.org/wiki/Bender_(Futurama)">
                  <a:extLst>
                    <a:ext uri="{A12FA001-AC4F-418D-AE19-62706E023703}">
                      <ahyp:hlinkClr xmlns:ahyp="http://schemas.microsoft.com/office/drawing/2018/hyperlinkcolor" val="tx"/>
                    </a:ext>
                  </a:extLst>
                </a:hlinkClick>
              </a:rPr>
              <a:t>robot</a:t>
            </a:r>
            <a:r>
              <a:rPr lang="en-US" sz="2000" dirty="0">
                <a:latin typeface="Antique Olive"/>
                <a:ea typeface="Quicksand"/>
                <a:cs typeface="Quicksand"/>
                <a:sym typeface="Quicksand"/>
              </a:rPr>
              <a:t>.</a:t>
            </a:r>
          </a:p>
          <a:p>
            <a:pPr>
              <a:lnSpc>
                <a:spcPts val="4150"/>
              </a:lnSpc>
            </a:pPr>
            <a:r>
              <a:rPr lang="en-US" sz="2000" dirty="0">
                <a:latin typeface="Antique Olive"/>
                <a:ea typeface="Quicksand"/>
                <a:cs typeface="Quicksand"/>
                <a:sym typeface="Quicksand"/>
              </a:rPr>
              <a:t>But in the browser, users don’t see errors by default. So, if something goes wrong in the script, we won’t see what’s broken and can’t fix it.</a:t>
            </a:r>
          </a:p>
          <a:p>
            <a:pPr>
              <a:lnSpc>
                <a:spcPts val="4150"/>
              </a:lnSpc>
            </a:pPr>
            <a:r>
              <a:rPr lang="en-US" sz="2000" dirty="0">
                <a:latin typeface="Antique Olive"/>
                <a:ea typeface="Quicksand"/>
                <a:cs typeface="Quicksand"/>
                <a:sym typeface="Quicksand"/>
              </a:rPr>
              <a:t>There’s an error in the JavaScript code on it. It’s hidden from a regular visitor’s eyes, so let’s open developer tools to see it.</a:t>
            </a:r>
          </a:p>
          <a:p>
            <a:pPr>
              <a:lnSpc>
                <a:spcPts val="4150"/>
              </a:lnSpc>
            </a:pPr>
            <a:r>
              <a:rPr lang="en-US" sz="2000" b="1" dirty="0">
                <a:latin typeface="Antique Olive"/>
                <a:ea typeface="Quicksand Bold"/>
                <a:cs typeface="Quicksand Bold"/>
                <a:sym typeface="Quicksand Bold"/>
              </a:rPr>
              <a:t>In browsers:</a:t>
            </a:r>
          </a:p>
          <a:p>
            <a:pPr>
              <a:lnSpc>
                <a:spcPts val="4150"/>
              </a:lnSpc>
            </a:pPr>
            <a:r>
              <a:rPr lang="en-US" sz="2000" dirty="0">
                <a:latin typeface="Antique Olive"/>
                <a:ea typeface="Quicksand"/>
                <a:cs typeface="Quicksand"/>
                <a:sym typeface="Quicksand"/>
              </a:rPr>
              <a:t>Press F12 or, if you’re on Mac, then </a:t>
            </a:r>
            <a:r>
              <a:rPr lang="en-US" sz="2000" dirty="0" err="1">
                <a:latin typeface="Antique Olive"/>
                <a:ea typeface="Quicksand"/>
                <a:cs typeface="Quicksand"/>
                <a:sym typeface="Quicksand"/>
              </a:rPr>
              <a:t>Cmd+Opt+J</a:t>
            </a:r>
            <a:r>
              <a:rPr lang="en-US" sz="2000" dirty="0">
                <a:latin typeface="Antique Olive"/>
                <a:ea typeface="Quicksand"/>
                <a:cs typeface="Quicksand"/>
                <a:sym typeface="Quicksand"/>
              </a:rPr>
              <a:t>.</a:t>
            </a:r>
          </a:p>
          <a:p>
            <a:pPr>
              <a:lnSpc>
                <a:spcPts val="4150"/>
              </a:lnSpc>
            </a:pPr>
            <a:r>
              <a:rPr lang="en-US" sz="2000" dirty="0">
                <a:latin typeface="Antique Olive"/>
                <a:ea typeface="Quicksand"/>
                <a:cs typeface="Quicksand"/>
                <a:sym typeface="Quicksand"/>
              </a:rPr>
              <a:t>The developer tools will open on the Console tab by default.</a:t>
            </a:r>
          </a:p>
          <a:p>
            <a:pPr>
              <a:lnSpc>
                <a:spcPts val="4150"/>
              </a:lnSpc>
            </a:pPr>
            <a:endParaRPr lang="en-US" sz="2000" dirty="0">
              <a:latin typeface="Antique Olive"/>
              <a:ea typeface="Quicksand"/>
              <a:cs typeface="Quicksand"/>
              <a:sym typeface="Quicksand"/>
            </a:endParaRPr>
          </a:p>
          <a:p>
            <a:pPr>
              <a:lnSpc>
                <a:spcPts val="4150"/>
              </a:lnSpc>
            </a:pPr>
            <a:endParaRPr lang="en-US" sz="2000" dirty="0">
              <a:latin typeface="Antique Olive"/>
              <a:ea typeface="Quicksand"/>
              <a:cs typeface="Quicksand"/>
              <a:sym typeface="Quicksand"/>
            </a:endParaRPr>
          </a:p>
        </p:txBody>
      </p:sp>
      <p:sp>
        <p:nvSpPr>
          <p:cNvPr id="3" name="TextBox 3"/>
          <p:cNvSpPr txBox="1"/>
          <p:nvPr/>
        </p:nvSpPr>
        <p:spPr>
          <a:xfrm>
            <a:off x="3947302" y="545701"/>
            <a:ext cx="7532265" cy="721480"/>
          </a:xfrm>
          <a:prstGeom prst="rect">
            <a:avLst/>
          </a:prstGeom>
        </p:spPr>
        <p:txBody>
          <a:bodyPr lIns="0" tIns="0" rIns="0" bIns="0" rtlCol="0" anchor="t">
            <a:spAutoFit/>
          </a:bodyPr>
          <a:lstStyle/>
          <a:p>
            <a:pPr algn="just">
              <a:lnSpc>
                <a:spcPts val="5973"/>
              </a:lnSpc>
              <a:spcBef>
                <a:spcPct val="0"/>
              </a:spcBef>
            </a:pPr>
            <a:r>
              <a:rPr lang="en-US" sz="4000" b="1" dirty="0">
                <a:latin typeface="Antique Olive"/>
                <a:ea typeface="Cormorant Garamond Bold Italics"/>
                <a:cs typeface="Cormorant Garamond Bold Italics"/>
                <a:sym typeface="Cormorant Garamond Bold Italics"/>
              </a:rPr>
              <a:t>Developer console</a:t>
            </a:r>
            <a:endParaRPr lang="en-US" sz="4000" b="1" dirty="0">
              <a:latin typeface="Antique Olive"/>
              <a:ea typeface="Cormorant Garamond Bold Italics"/>
              <a:cs typeface="Cormorant Garamond Bold Italics"/>
              <a:sym typeface="Cormorant Garamond Bold Italics"/>
              <a:hlinkClick r:id="rId3" tooltip="https://javascript.info/intro#summary">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231381868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096000" y="3175999"/>
            <a:ext cx="3491293" cy="3535347"/>
          </a:xfrm>
          <a:custGeom>
            <a:avLst/>
            <a:gdLst/>
            <a:ahLst/>
            <a:cxnLst/>
            <a:rect l="l" t="t" r="r" b="b"/>
            <a:pathLst>
              <a:path w="5236939" h="5303020">
                <a:moveTo>
                  <a:pt x="0" y="0"/>
                </a:moveTo>
                <a:lnTo>
                  <a:pt x="5236939" y="0"/>
                </a:lnTo>
                <a:lnTo>
                  <a:pt x="5236939" y="5303021"/>
                </a:lnTo>
                <a:lnTo>
                  <a:pt x="0" y="5303021"/>
                </a:lnTo>
                <a:lnTo>
                  <a:pt x="0" y="0"/>
                </a:lnTo>
                <a:close/>
              </a:path>
            </a:pathLst>
          </a:custGeom>
          <a:blipFill>
            <a:blip r:embed="rId2"/>
            <a:stretch>
              <a:fillRect/>
            </a:stretch>
          </a:blipFill>
        </p:spPr>
      </p:sp>
      <p:sp>
        <p:nvSpPr>
          <p:cNvPr id="3" name="TextBox 3"/>
          <p:cNvSpPr txBox="1"/>
          <p:nvPr/>
        </p:nvSpPr>
        <p:spPr>
          <a:xfrm>
            <a:off x="1030782" y="1547430"/>
            <a:ext cx="10130436" cy="2629694"/>
          </a:xfrm>
          <a:prstGeom prst="rect">
            <a:avLst/>
          </a:prstGeom>
        </p:spPr>
        <p:txBody>
          <a:bodyPr lIns="0" tIns="0" rIns="0" bIns="0" rtlCol="0" anchor="t">
            <a:spAutoFit/>
          </a:bodyPr>
          <a:lstStyle/>
          <a:p>
            <a:pPr>
              <a:lnSpc>
                <a:spcPts val="4150"/>
              </a:lnSpc>
            </a:pPr>
            <a:r>
              <a:rPr lang="en-US" sz="2000" dirty="0">
                <a:latin typeface="Antique Olive"/>
                <a:ea typeface="Quicksand"/>
                <a:cs typeface="Quicksand"/>
                <a:sym typeface="Quicksand"/>
              </a:rPr>
              <a:t>we need a working environment to run our scripts </a:t>
            </a:r>
          </a:p>
          <a:p>
            <a:pPr>
              <a:lnSpc>
                <a:spcPts val="4150"/>
              </a:lnSpc>
            </a:pPr>
            <a:r>
              <a:rPr lang="en-US" sz="2000" dirty="0">
                <a:latin typeface="Antique Olive"/>
                <a:ea typeface="Quicksand"/>
                <a:cs typeface="Quicksand"/>
                <a:sym typeface="Quicksand"/>
              </a:rPr>
              <a:t>so, we will use script tag </a:t>
            </a:r>
          </a:p>
          <a:p>
            <a:pPr>
              <a:lnSpc>
                <a:spcPts val="4150"/>
              </a:lnSpc>
            </a:pPr>
            <a:r>
              <a:rPr lang="en-US" sz="2000" dirty="0">
                <a:latin typeface="Antique Olive"/>
                <a:ea typeface="Quicksand"/>
                <a:cs typeface="Quicksand"/>
                <a:sym typeface="Quicksand"/>
              </a:rPr>
              <a:t>JavaScript programs can be inserted almost anywhere into an HTML document using the &lt;script&gt; tag.</a:t>
            </a:r>
          </a:p>
          <a:p>
            <a:pPr>
              <a:lnSpc>
                <a:spcPts val="4150"/>
              </a:lnSpc>
            </a:pPr>
            <a:endParaRPr lang="en-US" sz="2000" dirty="0">
              <a:latin typeface="Antique Olive"/>
              <a:ea typeface="Quicksand"/>
              <a:cs typeface="Quicksand"/>
              <a:sym typeface="Quicksand"/>
            </a:endParaRPr>
          </a:p>
        </p:txBody>
      </p:sp>
      <p:sp>
        <p:nvSpPr>
          <p:cNvPr id="4" name="TextBox 4"/>
          <p:cNvSpPr txBox="1"/>
          <p:nvPr/>
        </p:nvSpPr>
        <p:spPr>
          <a:xfrm>
            <a:off x="3973935" y="812031"/>
            <a:ext cx="7532265" cy="712503"/>
          </a:xfrm>
          <a:prstGeom prst="rect">
            <a:avLst/>
          </a:prstGeom>
        </p:spPr>
        <p:txBody>
          <a:bodyPr lIns="0" tIns="0" rIns="0" bIns="0" rtlCol="0" anchor="t">
            <a:spAutoFit/>
          </a:bodyPr>
          <a:lstStyle/>
          <a:p>
            <a:pPr algn="just">
              <a:lnSpc>
                <a:spcPts val="5973"/>
              </a:lnSpc>
              <a:spcBef>
                <a:spcPct val="0"/>
              </a:spcBef>
            </a:pPr>
            <a:r>
              <a:rPr lang="en-US" sz="4000" b="1" dirty="0">
                <a:latin typeface="Antique Olive"/>
                <a:ea typeface="Cormorant Garamond"/>
                <a:cs typeface="Cormorant Garamond"/>
                <a:sym typeface="Cormorant Garamond"/>
              </a:rPr>
              <a:t>Fundamentals</a:t>
            </a:r>
          </a:p>
        </p:txBody>
      </p:sp>
    </p:spTree>
    <p:extLst>
      <p:ext uri="{BB962C8B-B14F-4D97-AF65-F5344CB8AC3E}">
        <p14:creationId xmlns:p14="http://schemas.microsoft.com/office/powerpoint/2010/main" val="23382924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1631579"/>
            <a:ext cx="9621175" cy="4771243"/>
          </a:xfrm>
          <a:prstGeom prst="rect">
            <a:avLst/>
          </a:prstGeom>
        </p:spPr>
        <p:txBody>
          <a:bodyPr wrap="square" lIns="0" tIns="0" rIns="0" bIns="0" rtlCol="0" anchor="t">
            <a:spAutoFit/>
          </a:bodyPr>
          <a:lstStyle/>
          <a:p>
            <a:pPr>
              <a:lnSpc>
                <a:spcPts val="4150"/>
              </a:lnSpc>
            </a:pPr>
            <a:r>
              <a:rPr lang="en-US" sz="2000" dirty="0">
                <a:latin typeface="Antique Olive"/>
                <a:ea typeface="Quicksand"/>
                <a:cs typeface="Quicksand"/>
                <a:sym typeface="Quicksand"/>
              </a:rPr>
              <a:t>The &lt;script&gt; tag has a few attributes that are rarely used nowadays but can still be found in old code:</a:t>
            </a:r>
          </a:p>
          <a:p>
            <a:pPr>
              <a:lnSpc>
                <a:spcPts val="4150"/>
              </a:lnSpc>
            </a:pPr>
            <a:r>
              <a:rPr lang="en-US" sz="2000" dirty="0">
                <a:latin typeface="Antique Olive"/>
                <a:ea typeface="Quicksand"/>
                <a:cs typeface="Quicksand"/>
                <a:sym typeface="Quicksand"/>
              </a:rPr>
              <a:t>The type attribute: &lt;script type=…&gt;</a:t>
            </a:r>
          </a:p>
          <a:p>
            <a:pPr>
              <a:lnSpc>
                <a:spcPts val="4150"/>
              </a:lnSpc>
            </a:pPr>
            <a:r>
              <a:rPr lang="en-US" sz="2000" dirty="0">
                <a:latin typeface="Antique Olive"/>
                <a:ea typeface="Quicksand"/>
                <a:cs typeface="Quicksand"/>
                <a:sym typeface="Quicksand"/>
              </a:rPr>
              <a:t>The old HTML standard, HTML4, required a script to have a type. Usually it was type="text/</a:t>
            </a:r>
            <a:r>
              <a:rPr lang="en-US" sz="2000" dirty="0" err="1">
                <a:latin typeface="Antique Olive"/>
                <a:ea typeface="Quicksand"/>
                <a:cs typeface="Quicksand"/>
                <a:sym typeface="Quicksand"/>
              </a:rPr>
              <a:t>javascript</a:t>
            </a:r>
            <a:r>
              <a:rPr lang="en-US" sz="2000" dirty="0">
                <a:latin typeface="Antique Olive"/>
                <a:ea typeface="Quicksand"/>
                <a:cs typeface="Quicksand"/>
                <a:sym typeface="Quicksand"/>
              </a:rPr>
              <a:t>". It’s not required anymore. Also, the modern HTML standard totally changed the meaning of this attribute. Now, it can be used for JavaScript modules. But that’s an advanced topic, we’ll talk about modules in another part of the tutorial.</a:t>
            </a:r>
          </a:p>
          <a:p>
            <a:pPr>
              <a:lnSpc>
                <a:spcPts val="4150"/>
              </a:lnSpc>
            </a:pPr>
            <a:endParaRPr lang="en-US" sz="2000" dirty="0">
              <a:latin typeface="Antique Olive"/>
              <a:ea typeface="Quicksand"/>
              <a:cs typeface="Quicksand"/>
              <a:sym typeface="Quicksand"/>
            </a:endParaRPr>
          </a:p>
          <a:p>
            <a:pPr>
              <a:lnSpc>
                <a:spcPts val="4150"/>
              </a:lnSpc>
            </a:pPr>
            <a:endParaRPr lang="en-US" sz="2000" dirty="0">
              <a:latin typeface="Antique Olive"/>
              <a:ea typeface="Quicksand"/>
              <a:cs typeface="Quicksand"/>
              <a:sym typeface="Quicksand"/>
            </a:endParaRPr>
          </a:p>
        </p:txBody>
      </p:sp>
      <p:sp>
        <p:nvSpPr>
          <p:cNvPr id="3" name="TextBox 3"/>
          <p:cNvSpPr txBox="1"/>
          <p:nvPr/>
        </p:nvSpPr>
        <p:spPr>
          <a:xfrm>
            <a:off x="3973935" y="812031"/>
            <a:ext cx="7532265" cy="721480"/>
          </a:xfrm>
          <a:prstGeom prst="rect">
            <a:avLst/>
          </a:prstGeom>
        </p:spPr>
        <p:txBody>
          <a:bodyPr lIns="0" tIns="0" rIns="0" bIns="0" rtlCol="0" anchor="t">
            <a:spAutoFit/>
          </a:bodyPr>
          <a:lstStyle/>
          <a:p>
            <a:pPr algn="just">
              <a:lnSpc>
                <a:spcPts val="5973"/>
              </a:lnSpc>
              <a:spcBef>
                <a:spcPct val="0"/>
              </a:spcBef>
            </a:pPr>
            <a:r>
              <a:rPr lang="en-US" sz="4000" b="1" dirty="0">
                <a:latin typeface="Antique Olive"/>
                <a:ea typeface="Cormorant Garamond"/>
                <a:cs typeface="Cormorant Garamond"/>
                <a:sym typeface="Cormorant Garamond"/>
              </a:rPr>
              <a:t>Modern markup</a:t>
            </a:r>
            <a:endParaRPr lang="en-US" sz="4000" b="1" dirty="0">
              <a:latin typeface="Antique Olive"/>
              <a:ea typeface="Cormorant Garamond"/>
              <a:cs typeface="Cormorant Garamond"/>
              <a:sym typeface="Cormorant Garamond"/>
              <a:hlinkClick r:id="rId2" tooltip="https://javascript.info/hello-world#modern-markup">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35099552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1631579"/>
            <a:ext cx="10130436" cy="2091085"/>
          </a:xfrm>
          <a:prstGeom prst="rect">
            <a:avLst/>
          </a:prstGeom>
        </p:spPr>
        <p:txBody>
          <a:bodyPr lIns="0" tIns="0" rIns="0" bIns="0" rtlCol="0" anchor="t">
            <a:spAutoFit/>
          </a:bodyPr>
          <a:lstStyle/>
          <a:p>
            <a:pPr>
              <a:lnSpc>
                <a:spcPts val="4150"/>
              </a:lnSpc>
            </a:pPr>
            <a:r>
              <a:rPr lang="en-US" sz="2000" dirty="0">
                <a:latin typeface="Antique Olive"/>
                <a:sym typeface="Quicksand"/>
              </a:rPr>
              <a:t>The language attribute: &lt;script language=…&gt;</a:t>
            </a:r>
          </a:p>
          <a:p>
            <a:pPr>
              <a:lnSpc>
                <a:spcPts val="4150"/>
              </a:lnSpc>
            </a:pPr>
            <a:r>
              <a:rPr lang="en-US" sz="2000" dirty="0">
                <a:latin typeface="Antique Olive"/>
                <a:sym typeface="Quicksand"/>
              </a:rPr>
              <a:t>This attribute was meant to show the language of the script. This attribute no longer makes sense because JavaScript is the default language. There is no need to use it. </a:t>
            </a:r>
            <a:r>
              <a:rPr lang="en-US" sz="3600" b="1" dirty="0" err="1">
                <a:solidFill>
                  <a:srgbClr val="FF0000"/>
                </a:solidFill>
                <a:latin typeface="Antique Olive"/>
                <a:sym typeface="Quicksand"/>
              </a:rPr>
              <a:t>xxxx</a:t>
            </a:r>
            <a:endParaRPr lang="en-US" sz="3600" b="1" dirty="0">
              <a:solidFill>
                <a:srgbClr val="FF0000"/>
              </a:solidFill>
              <a:latin typeface="Antique Olive"/>
              <a:sym typeface="Quicksand"/>
            </a:endParaRPr>
          </a:p>
          <a:p>
            <a:pPr>
              <a:lnSpc>
                <a:spcPts val="4150"/>
              </a:lnSpc>
            </a:pPr>
            <a:endParaRPr lang="en-US" sz="2441" dirty="0">
              <a:solidFill>
                <a:srgbClr val="0F4662"/>
              </a:solidFill>
              <a:latin typeface="Quicksand"/>
              <a:ea typeface="Quicksand"/>
              <a:cs typeface="Quicksand"/>
              <a:sym typeface="Quicksand"/>
            </a:endParaRPr>
          </a:p>
        </p:txBody>
      </p:sp>
      <p:sp>
        <p:nvSpPr>
          <p:cNvPr id="3" name="Freeform 3"/>
          <p:cNvSpPr/>
          <p:nvPr/>
        </p:nvSpPr>
        <p:spPr>
          <a:xfrm>
            <a:off x="1885454" y="3551440"/>
            <a:ext cx="6272152" cy="1464162"/>
          </a:xfrm>
          <a:custGeom>
            <a:avLst/>
            <a:gdLst/>
            <a:ahLst/>
            <a:cxnLst/>
            <a:rect l="l" t="t" r="r" b="b"/>
            <a:pathLst>
              <a:path w="9408228" h="2196243">
                <a:moveTo>
                  <a:pt x="0" y="0"/>
                </a:moveTo>
                <a:lnTo>
                  <a:pt x="9408229" y="0"/>
                </a:lnTo>
                <a:lnTo>
                  <a:pt x="9408229" y="2196243"/>
                </a:lnTo>
                <a:lnTo>
                  <a:pt x="0" y="2196243"/>
                </a:lnTo>
                <a:lnTo>
                  <a:pt x="0" y="0"/>
                </a:lnTo>
                <a:close/>
              </a:path>
            </a:pathLst>
          </a:custGeom>
          <a:blipFill>
            <a:blip r:embed="rId2"/>
            <a:stretch>
              <a:fillRect/>
            </a:stretch>
          </a:blipFill>
        </p:spPr>
        <p:txBody>
          <a:bodyPr/>
          <a:lstStyle/>
          <a:p>
            <a:endParaRPr lang="en-US" dirty="0"/>
          </a:p>
        </p:txBody>
      </p:sp>
      <p:sp>
        <p:nvSpPr>
          <p:cNvPr id="4" name="TextBox 4"/>
          <p:cNvSpPr txBox="1"/>
          <p:nvPr/>
        </p:nvSpPr>
        <p:spPr>
          <a:xfrm>
            <a:off x="3973935" y="812031"/>
            <a:ext cx="7532265" cy="721480"/>
          </a:xfrm>
          <a:prstGeom prst="rect">
            <a:avLst/>
          </a:prstGeom>
        </p:spPr>
        <p:txBody>
          <a:bodyPr lIns="0" tIns="0" rIns="0" bIns="0" rtlCol="0" anchor="t">
            <a:spAutoFit/>
          </a:bodyPr>
          <a:lstStyle/>
          <a:p>
            <a:pPr algn="just">
              <a:lnSpc>
                <a:spcPts val="5973"/>
              </a:lnSpc>
              <a:spcBef>
                <a:spcPct val="0"/>
              </a:spcBef>
            </a:pPr>
            <a:r>
              <a:rPr lang="en-US" sz="4000" b="1" dirty="0">
                <a:latin typeface="Antique Olive"/>
                <a:ea typeface="Cormorant Garamond"/>
                <a:cs typeface="Cormorant Garamond"/>
                <a:sym typeface="Cormorant Garamond"/>
              </a:rPr>
              <a:t>Modern</a:t>
            </a:r>
            <a:r>
              <a:rPr lang="en-US" sz="4000" dirty="0">
                <a:latin typeface="Antique Olive"/>
                <a:ea typeface="Cormorant Garamond"/>
                <a:cs typeface="Cormorant Garamond"/>
                <a:sym typeface="Cormorant Garamond"/>
              </a:rPr>
              <a:t> markup</a:t>
            </a:r>
            <a:endParaRPr lang="en-US" sz="4000" dirty="0">
              <a:latin typeface="Antique Olive"/>
              <a:ea typeface="Cormorant Garamond"/>
              <a:cs typeface="Cormorant Garamond"/>
              <a:sym typeface="Cormorant Garamond"/>
              <a:hlinkClick r:id="rId3" tooltip="https://javascript.info/hello-world#modern-markup">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292394004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0" y="1421208"/>
            <a:ext cx="12192000" cy="6399957"/>
          </a:xfrm>
          <a:prstGeom prst="rect">
            <a:avLst/>
          </a:prstGeom>
        </p:spPr>
        <p:txBody>
          <a:bodyPr lIns="0" tIns="0" rIns="0" bIns="0" rtlCol="0" anchor="t">
            <a:spAutoFit/>
          </a:bodyPr>
          <a:lstStyle/>
          <a:p>
            <a:pPr>
              <a:lnSpc>
                <a:spcPts val="4150"/>
              </a:lnSpc>
            </a:pPr>
            <a:r>
              <a:rPr lang="en-US" sz="2000" dirty="0">
                <a:latin typeface="Antique Olive"/>
                <a:sym typeface="Quicksand"/>
              </a:rPr>
              <a:t>If we have a lot of JavaScript code, we can put it into a separate file.</a:t>
            </a:r>
          </a:p>
          <a:p>
            <a:pPr>
              <a:lnSpc>
                <a:spcPts val="4150"/>
              </a:lnSpc>
            </a:pPr>
            <a:r>
              <a:rPr lang="en-US" sz="2000" dirty="0">
                <a:latin typeface="Antique Olive"/>
                <a:sym typeface="Quicksand"/>
              </a:rPr>
              <a:t>Script files are attached to HTML with the </a:t>
            </a:r>
            <a:r>
              <a:rPr lang="en-US" sz="2000" dirty="0" err="1">
                <a:latin typeface="Antique Olive"/>
                <a:sym typeface="Quicksand"/>
              </a:rPr>
              <a:t>src</a:t>
            </a:r>
            <a:r>
              <a:rPr lang="en-US" sz="2000" dirty="0">
                <a:latin typeface="Antique Olive"/>
                <a:sym typeface="Quicksand"/>
              </a:rPr>
              <a:t> attribute:</a:t>
            </a:r>
          </a:p>
          <a:p>
            <a:pPr>
              <a:lnSpc>
                <a:spcPts val="4150"/>
              </a:lnSpc>
            </a:pPr>
            <a:r>
              <a:rPr lang="en-US" sz="2000" dirty="0">
                <a:latin typeface="Antique Olive"/>
                <a:sym typeface="Quicksand Bold"/>
              </a:rPr>
              <a:t>&lt;script </a:t>
            </a:r>
            <a:r>
              <a:rPr lang="en-US" sz="2000" dirty="0" err="1">
                <a:latin typeface="Antique Olive"/>
                <a:sym typeface="Quicksand Bold"/>
              </a:rPr>
              <a:t>src</a:t>
            </a:r>
            <a:r>
              <a:rPr lang="en-US" sz="2000" dirty="0">
                <a:latin typeface="Antique Olive"/>
                <a:sym typeface="Quicksand Bold"/>
              </a:rPr>
              <a:t>="/path/to/script.js"&gt;&lt;/script&gt;</a:t>
            </a:r>
          </a:p>
          <a:p>
            <a:pPr>
              <a:lnSpc>
                <a:spcPts val="4150"/>
              </a:lnSpc>
            </a:pPr>
            <a:r>
              <a:rPr lang="en-US" sz="2000" dirty="0">
                <a:latin typeface="Antique Olive"/>
                <a:sym typeface="Quicksand"/>
              </a:rPr>
              <a:t>Here, /path/to/script.js is an absolute path to the script from the site root. One can also provide a relative path from the current page. For instance, </a:t>
            </a:r>
            <a:r>
              <a:rPr lang="en-US" sz="2000" dirty="0" err="1">
                <a:latin typeface="Antique Olive"/>
                <a:sym typeface="Quicksand"/>
              </a:rPr>
              <a:t>src</a:t>
            </a:r>
            <a:r>
              <a:rPr lang="en-US" sz="2000" dirty="0">
                <a:latin typeface="Antique Olive"/>
                <a:sym typeface="Quicksand"/>
              </a:rPr>
              <a:t>="script.js", just like </a:t>
            </a:r>
            <a:r>
              <a:rPr lang="en-US" sz="2000" dirty="0" err="1">
                <a:latin typeface="Antique Olive"/>
                <a:sym typeface="Quicksand"/>
              </a:rPr>
              <a:t>src</a:t>
            </a:r>
            <a:r>
              <a:rPr lang="en-US" sz="2000" dirty="0">
                <a:latin typeface="Antique Olive"/>
                <a:sym typeface="Quicksand"/>
              </a:rPr>
              <a:t>="./script.js", would mean a file "script.js" in the current folder.</a:t>
            </a:r>
          </a:p>
          <a:p>
            <a:pPr>
              <a:lnSpc>
                <a:spcPts val="4150"/>
              </a:lnSpc>
            </a:pPr>
            <a:r>
              <a:rPr lang="en-US" sz="2000" dirty="0">
                <a:latin typeface="Antique Olive"/>
                <a:sym typeface="Quicksand"/>
              </a:rPr>
              <a:t>We can give a full URL as well. For instance:</a:t>
            </a:r>
          </a:p>
          <a:p>
            <a:pPr>
              <a:lnSpc>
                <a:spcPts val="4150"/>
              </a:lnSpc>
            </a:pPr>
            <a:r>
              <a:rPr lang="en-US" sz="2000" dirty="0">
                <a:latin typeface="Antique Olive"/>
                <a:sym typeface="Quicksand Bold"/>
              </a:rPr>
              <a:t>&lt;script </a:t>
            </a:r>
            <a:r>
              <a:rPr lang="en-US" sz="2000" dirty="0" err="1">
                <a:latin typeface="Antique Olive"/>
                <a:sym typeface="Quicksand Bold"/>
              </a:rPr>
              <a:t>src</a:t>
            </a:r>
            <a:r>
              <a:rPr lang="en-US" sz="2000" dirty="0">
                <a:latin typeface="Antique Olive"/>
                <a:sym typeface="Quicksand Bold"/>
              </a:rPr>
              <a:t>="https://cdnjs.cloudflare.com/ajax/libs/lodash.js/4.17.11/lodash.js"&gt;&lt;/script&gt;</a:t>
            </a:r>
          </a:p>
          <a:p>
            <a:pPr>
              <a:lnSpc>
                <a:spcPts val="4150"/>
              </a:lnSpc>
            </a:pPr>
            <a:endParaRPr lang="en-US" sz="2441" b="1" dirty="0">
              <a:solidFill>
                <a:srgbClr val="0F4662"/>
              </a:solidFill>
              <a:latin typeface="Quicksand Bold"/>
              <a:ea typeface="Quicksand Bold"/>
              <a:cs typeface="Quicksand Bold"/>
              <a:sym typeface="Quicksand Bold"/>
            </a:endParaRPr>
          </a:p>
          <a:p>
            <a:pPr algn="ctr">
              <a:lnSpc>
                <a:spcPts val="4150"/>
              </a:lnSpc>
            </a:pPr>
            <a:endParaRPr lang="en-US" sz="2441" b="1" dirty="0">
              <a:solidFill>
                <a:srgbClr val="0F4662"/>
              </a:solidFill>
              <a:latin typeface="Quicksand Bold"/>
              <a:ea typeface="Quicksand Bold"/>
              <a:cs typeface="Quicksand Bold"/>
              <a:sym typeface="Quicksand Bold"/>
            </a:endParaRPr>
          </a:p>
          <a:p>
            <a:pPr>
              <a:lnSpc>
                <a:spcPts val="4150"/>
              </a:lnSpc>
            </a:pPr>
            <a:endParaRPr lang="en-US" sz="2441" b="1" dirty="0">
              <a:solidFill>
                <a:srgbClr val="0F4662"/>
              </a:solidFill>
              <a:latin typeface="Quicksand Bold"/>
              <a:ea typeface="Quicksand Bold"/>
              <a:cs typeface="Quicksand Bold"/>
              <a:sym typeface="Quicksand Bold"/>
            </a:endParaRPr>
          </a:p>
          <a:p>
            <a:pPr>
              <a:lnSpc>
                <a:spcPts val="4150"/>
              </a:lnSpc>
            </a:pPr>
            <a:endParaRPr lang="en-US" sz="2441" b="1" dirty="0">
              <a:solidFill>
                <a:srgbClr val="0F4662"/>
              </a:solidFill>
              <a:latin typeface="Quicksand Bold"/>
              <a:ea typeface="Quicksand Bold"/>
              <a:cs typeface="Quicksand Bold"/>
              <a:sym typeface="Quicksand Bold"/>
            </a:endParaRPr>
          </a:p>
        </p:txBody>
      </p:sp>
      <p:sp>
        <p:nvSpPr>
          <p:cNvPr id="3" name="TextBox 3"/>
          <p:cNvSpPr txBox="1"/>
          <p:nvPr/>
        </p:nvSpPr>
        <p:spPr>
          <a:xfrm>
            <a:off x="3973935" y="812031"/>
            <a:ext cx="7532265" cy="721480"/>
          </a:xfrm>
          <a:prstGeom prst="rect">
            <a:avLst/>
          </a:prstGeom>
        </p:spPr>
        <p:txBody>
          <a:bodyPr lIns="0" tIns="0" rIns="0" bIns="0" rtlCol="0" anchor="t">
            <a:spAutoFit/>
          </a:bodyPr>
          <a:lstStyle/>
          <a:p>
            <a:pPr algn="just">
              <a:lnSpc>
                <a:spcPts val="5973"/>
              </a:lnSpc>
              <a:spcBef>
                <a:spcPct val="0"/>
              </a:spcBef>
            </a:pPr>
            <a:r>
              <a:rPr lang="en-US" sz="4000" b="1" dirty="0">
                <a:latin typeface="Antique Olive"/>
                <a:ea typeface="Cormorant Garamond"/>
                <a:cs typeface="Cormorant Garamond"/>
                <a:sym typeface="Cormorant Garamond"/>
              </a:rPr>
              <a:t>External scripts</a:t>
            </a:r>
            <a:endParaRPr lang="en-US" sz="4000" b="1" dirty="0">
              <a:latin typeface="Antique Olive"/>
              <a:ea typeface="Cormorant Garamond"/>
              <a:cs typeface="Cormorant Garamond"/>
              <a:sym typeface="Cormorant Garamond"/>
              <a:hlinkClick r:id="rId2" tooltip="https://javascript.info/hello-world#external-script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18460769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096000" y="2365578"/>
            <a:ext cx="3873520" cy="4045004"/>
          </a:xfrm>
          <a:custGeom>
            <a:avLst/>
            <a:gdLst/>
            <a:ahLst/>
            <a:cxnLst/>
            <a:rect l="l" t="t" r="r" b="b"/>
            <a:pathLst>
              <a:path w="5810280" h="6067506">
                <a:moveTo>
                  <a:pt x="0" y="0"/>
                </a:moveTo>
                <a:lnTo>
                  <a:pt x="5810280" y="0"/>
                </a:lnTo>
                <a:lnTo>
                  <a:pt x="5810280" y="6067506"/>
                </a:lnTo>
                <a:lnTo>
                  <a:pt x="0" y="6067506"/>
                </a:lnTo>
                <a:lnTo>
                  <a:pt x="0" y="0"/>
                </a:lnTo>
                <a:close/>
              </a:path>
            </a:pathLst>
          </a:custGeom>
          <a:blipFill>
            <a:blip r:embed="rId2"/>
            <a:stretch>
              <a:fillRect/>
            </a:stretch>
          </a:blipFill>
        </p:spPr>
      </p:sp>
      <p:sp>
        <p:nvSpPr>
          <p:cNvPr id="3" name="Freeform 3"/>
          <p:cNvSpPr/>
          <p:nvPr/>
        </p:nvSpPr>
        <p:spPr>
          <a:xfrm>
            <a:off x="1058776" y="2365578"/>
            <a:ext cx="3805386" cy="3382565"/>
          </a:xfrm>
          <a:custGeom>
            <a:avLst/>
            <a:gdLst/>
            <a:ahLst/>
            <a:cxnLst/>
            <a:rect l="l" t="t" r="r" b="b"/>
            <a:pathLst>
              <a:path w="5708079" h="5073848">
                <a:moveTo>
                  <a:pt x="0" y="0"/>
                </a:moveTo>
                <a:lnTo>
                  <a:pt x="5708079" y="0"/>
                </a:lnTo>
                <a:lnTo>
                  <a:pt x="5708079" y="5073848"/>
                </a:lnTo>
                <a:lnTo>
                  <a:pt x="0" y="5073848"/>
                </a:lnTo>
                <a:lnTo>
                  <a:pt x="0" y="0"/>
                </a:lnTo>
                <a:close/>
              </a:path>
            </a:pathLst>
          </a:custGeom>
          <a:blipFill>
            <a:blip r:embed="rId3"/>
            <a:stretch>
              <a:fillRect/>
            </a:stretch>
          </a:blipFill>
        </p:spPr>
      </p:sp>
      <p:sp>
        <p:nvSpPr>
          <p:cNvPr id="4" name="TextBox 4"/>
          <p:cNvSpPr txBox="1"/>
          <p:nvPr/>
        </p:nvSpPr>
        <p:spPr>
          <a:xfrm>
            <a:off x="685800" y="1631579"/>
            <a:ext cx="10130436" cy="475258"/>
          </a:xfrm>
          <a:prstGeom prst="rect">
            <a:avLst/>
          </a:prstGeom>
        </p:spPr>
        <p:txBody>
          <a:bodyPr lIns="0" tIns="0" rIns="0" bIns="0" rtlCol="0" anchor="t">
            <a:spAutoFit/>
          </a:bodyPr>
          <a:lstStyle/>
          <a:p>
            <a:pPr>
              <a:lnSpc>
                <a:spcPts val="4150"/>
              </a:lnSpc>
            </a:pPr>
            <a:r>
              <a:rPr lang="en-US" sz="2000" dirty="0">
                <a:latin typeface="Antique Olive"/>
                <a:sym typeface="Quicksand"/>
                <a:hlinkClick r:id="rId4" tooltip="https://javascript.info/hello-world#show-an-alert">
                  <a:extLst>
                    <a:ext uri="{A12FA001-AC4F-418D-AE19-62706E023703}">
                      <ahyp:hlinkClr xmlns:ahyp="http://schemas.microsoft.com/office/drawing/2018/hyperlinkcolor" val="tx"/>
                    </a:ext>
                  </a:extLst>
                </a:hlinkClick>
              </a:rPr>
              <a:t>Show an alert</a:t>
            </a:r>
            <a:r>
              <a:rPr lang="en-US" sz="2000" dirty="0">
                <a:latin typeface="Antique Olive"/>
                <a:sym typeface="Quicksand"/>
              </a:rPr>
              <a:t> in sandbox in same page and in external page</a:t>
            </a:r>
          </a:p>
        </p:txBody>
      </p:sp>
      <p:sp>
        <p:nvSpPr>
          <p:cNvPr id="5" name="TextBox 5"/>
          <p:cNvSpPr txBox="1"/>
          <p:nvPr/>
        </p:nvSpPr>
        <p:spPr>
          <a:xfrm>
            <a:off x="4659735" y="769956"/>
            <a:ext cx="7532265" cy="721480"/>
          </a:xfrm>
          <a:prstGeom prst="rect">
            <a:avLst/>
          </a:prstGeom>
        </p:spPr>
        <p:txBody>
          <a:bodyPr lIns="0" tIns="0" rIns="0" bIns="0" rtlCol="0" anchor="t">
            <a:spAutoFit/>
          </a:bodyPr>
          <a:lstStyle/>
          <a:p>
            <a:pPr algn="just">
              <a:lnSpc>
                <a:spcPts val="5973"/>
              </a:lnSpc>
              <a:spcBef>
                <a:spcPct val="0"/>
              </a:spcBef>
            </a:pPr>
            <a:r>
              <a:rPr lang="en-US" sz="4000" b="1" dirty="0">
                <a:latin typeface="Antique Olive"/>
                <a:ea typeface="Cormorant Garamond"/>
                <a:cs typeface="Cormorant Garamond"/>
                <a:sym typeface="Cormorant Garamond"/>
              </a:rPr>
              <a:t>Task</a:t>
            </a:r>
          </a:p>
        </p:txBody>
      </p:sp>
    </p:spTree>
    <p:extLst>
      <p:ext uri="{BB962C8B-B14F-4D97-AF65-F5344CB8AC3E}">
        <p14:creationId xmlns:p14="http://schemas.microsoft.com/office/powerpoint/2010/main" val="315428030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80909" y="1463281"/>
            <a:ext cx="12011091" cy="4784130"/>
          </a:xfrm>
          <a:prstGeom prst="rect">
            <a:avLst/>
          </a:prstGeom>
        </p:spPr>
        <p:txBody>
          <a:bodyPr lIns="0" tIns="0" rIns="0" bIns="0" rtlCol="0" anchor="t">
            <a:spAutoFit/>
          </a:bodyPr>
          <a:lstStyle/>
          <a:p>
            <a:pPr>
              <a:lnSpc>
                <a:spcPts val="4150"/>
              </a:lnSpc>
            </a:pPr>
            <a:r>
              <a:rPr lang="en-US" sz="2000" dirty="0">
                <a:latin typeface="Antique Olive"/>
                <a:sym typeface="Quicksand"/>
              </a:rPr>
              <a:t>"use strict"</a:t>
            </a:r>
          </a:p>
          <a:p>
            <a:pPr>
              <a:lnSpc>
                <a:spcPts val="4150"/>
              </a:lnSpc>
            </a:pPr>
            <a:r>
              <a:rPr lang="en-US" sz="2000" dirty="0">
                <a:latin typeface="Antique Olive"/>
                <a:sym typeface="Quicksand"/>
              </a:rPr>
              <a:t>For a long time, JavaScript evolved without compatibility issues. New features were added to the language while old functionality didn’t change.</a:t>
            </a:r>
          </a:p>
          <a:p>
            <a:pPr>
              <a:lnSpc>
                <a:spcPts val="4150"/>
              </a:lnSpc>
            </a:pPr>
            <a:r>
              <a:rPr lang="en-US" sz="2000" dirty="0">
                <a:latin typeface="Antique Olive"/>
                <a:sym typeface="Quicksand"/>
              </a:rPr>
              <a:t>That had the benefit of never breaking existing code. But the downside was that any mistake or an imperfect decision made by JavaScript’s creators got stuck in the language forever.</a:t>
            </a:r>
          </a:p>
          <a:p>
            <a:pPr>
              <a:lnSpc>
                <a:spcPts val="4150"/>
              </a:lnSpc>
            </a:pPr>
            <a:r>
              <a:rPr lang="en-US" sz="2000" dirty="0">
                <a:latin typeface="Antique Olive"/>
                <a:sym typeface="Quicksand"/>
              </a:rPr>
              <a:t>This was the case until 2009 when ECMAScript 5 (ES5) appeared. It added new features to the language and modified some of the existing ones. To keep the old code working, most such modifications are off by default. You need to explicitly enable them with a special directive: "use strict".</a:t>
            </a:r>
            <a:endParaRPr lang="en-US" sz="2000" dirty="0">
              <a:latin typeface="Antique Olive"/>
              <a:sym typeface="Quicksand"/>
              <a:hlinkClick r:id="rId2" tooltip="https://javascript.info/hello-world#show-an-alert">
                <a:extLst>
                  <a:ext uri="{A12FA001-AC4F-418D-AE19-62706E023703}">
                    <ahyp:hlinkClr xmlns:ahyp="http://schemas.microsoft.com/office/drawing/2018/hyperlinkcolor" val="tx"/>
                  </a:ext>
                </a:extLst>
              </a:hlinkClick>
            </a:endParaRPr>
          </a:p>
          <a:p>
            <a:pPr>
              <a:lnSpc>
                <a:spcPts val="4150"/>
              </a:lnSpc>
            </a:pPr>
            <a:endParaRPr lang="en-US" sz="2441" dirty="0">
              <a:solidFill>
                <a:srgbClr val="0F4662"/>
              </a:solidFill>
              <a:latin typeface="Quicksand"/>
              <a:ea typeface="Quicksand"/>
              <a:cs typeface="Quicksand"/>
              <a:sym typeface="Quicksand"/>
              <a:hlinkClick r:id="rId2" tooltip="https://javascript.info/hello-world#show-an-alert"/>
            </a:endParaRPr>
          </a:p>
        </p:txBody>
      </p:sp>
      <p:sp>
        <p:nvSpPr>
          <p:cNvPr id="3" name="TextBox 3"/>
          <p:cNvSpPr txBox="1"/>
          <p:nvPr/>
        </p:nvSpPr>
        <p:spPr>
          <a:xfrm>
            <a:off x="3973935" y="609600"/>
            <a:ext cx="7532265" cy="712503"/>
          </a:xfrm>
          <a:prstGeom prst="rect">
            <a:avLst/>
          </a:prstGeom>
        </p:spPr>
        <p:txBody>
          <a:bodyPr lIns="0" tIns="0" rIns="0" bIns="0" rtlCol="0" anchor="t">
            <a:spAutoFit/>
          </a:bodyPr>
          <a:lstStyle/>
          <a:p>
            <a:pPr algn="just">
              <a:lnSpc>
                <a:spcPts val="5973"/>
              </a:lnSpc>
              <a:spcBef>
                <a:spcPct val="0"/>
              </a:spcBef>
            </a:pPr>
            <a:r>
              <a:rPr lang="en-US" sz="4000" b="1" dirty="0">
                <a:latin typeface="Antique Olive"/>
                <a:ea typeface="Cormorant Garamond"/>
                <a:cs typeface="Cormorant Garamond"/>
                <a:sym typeface="Cormorant Garamond"/>
              </a:rPr>
              <a:t>The modern mode</a:t>
            </a:r>
            <a:endParaRPr lang="en-US" sz="4000" b="1" dirty="0">
              <a:latin typeface="Antique Olive"/>
              <a:ea typeface="Cormorant Garamond"/>
              <a:cs typeface="Cormorant Garamond"/>
              <a:sym typeface="Cormorant Garamond"/>
              <a:hlinkClick r:id="rId2" tooltip="https://javascript.info/hello-world#show-an-alert">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30751482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1401454"/>
            <a:ext cx="10130436" cy="6938566"/>
          </a:xfrm>
          <a:prstGeom prst="rect">
            <a:avLst/>
          </a:prstGeom>
        </p:spPr>
        <p:txBody>
          <a:bodyPr lIns="0" tIns="0" rIns="0" bIns="0" rtlCol="0" anchor="t">
            <a:spAutoFit/>
          </a:bodyPr>
          <a:lstStyle/>
          <a:p>
            <a:pPr>
              <a:lnSpc>
                <a:spcPts val="4150"/>
              </a:lnSpc>
            </a:pPr>
            <a:r>
              <a:rPr lang="en-US" sz="2000" dirty="0">
                <a:latin typeface="Antique Olive"/>
                <a:sym typeface="Quicksand"/>
              </a:rPr>
              <a:t>“use strict”</a:t>
            </a:r>
          </a:p>
          <a:p>
            <a:pPr>
              <a:lnSpc>
                <a:spcPts val="4150"/>
              </a:lnSpc>
            </a:pPr>
            <a:r>
              <a:rPr lang="en-US" sz="2000" dirty="0">
                <a:latin typeface="Antique Olive"/>
                <a:sym typeface="Quicksand"/>
              </a:rPr>
              <a:t>The directive looks like a string: "use strict" or 'use strict'. When it is located at the top of a script, the whole script works the “modern” way.</a:t>
            </a:r>
            <a:endParaRPr lang="en-US" sz="2000" dirty="0">
              <a:latin typeface="Antique Olive"/>
              <a:sym typeface="Quicksand"/>
              <a:hlinkClick r:id="rId2" tooltip="https://javascript.info/hello-world#show-an-alert">
                <a:extLst>
                  <a:ext uri="{A12FA001-AC4F-418D-AE19-62706E023703}">
                    <ahyp:hlinkClr xmlns:ahyp="http://schemas.microsoft.com/office/drawing/2018/hyperlinkcolor" val="tx"/>
                  </a:ext>
                </a:extLst>
              </a:hlinkClick>
            </a:endParaRPr>
          </a:p>
          <a:p>
            <a:pPr>
              <a:lnSpc>
                <a:spcPts val="4150"/>
              </a:lnSpc>
            </a:pPr>
            <a:r>
              <a:rPr lang="en-US" sz="2000" dirty="0">
                <a:latin typeface="Antique Olive"/>
                <a:sym typeface="Quicksand"/>
              </a:rPr>
              <a:t>For example:</a:t>
            </a:r>
          </a:p>
          <a:p>
            <a:pPr>
              <a:lnSpc>
                <a:spcPts val="4150"/>
              </a:lnSpc>
            </a:pPr>
            <a:endParaRPr lang="en-US" sz="2000" dirty="0">
              <a:latin typeface="Antique Olive"/>
              <a:sym typeface="Quicksand"/>
            </a:endParaRPr>
          </a:p>
          <a:p>
            <a:pPr>
              <a:lnSpc>
                <a:spcPts val="4150"/>
              </a:lnSpc>
            </a:pPr>
            <a:endParaRPr lang="en-US" sz="2000" dirty="0">
              <a:latin typeface="Antique Olive"/>
              <a:sym typeface="Quicksand"/>
            </a:endParaRPr>
          </a:p>
          <a:p>
            <a:pPr>
              <a:lnSpc>
                <a:spcPts val="4150"/>
              </a:lnSpc>
            </a:pPr>
            <a:r>
              <a:rPr lang="en-US" sz="2000" dirty="0">
                <a:latin typeface="Antique Olive"/>
                <a:sym typeface="Quicksand"/>
              </a:rPr>
              <a:t>Ensure that “use strict” is at the top</a:t>
            </a:r>
          </a:p>
          <a:p>
            <a:pPr>
              <a:lnSpc>
                <a:spcPts val="4150"/>
              </a:lnSpc>
            </a:pPr>
            <a:r>
              <a:rPr lang="en-US" sz="2000" dirty="0">
                <a:latin typeface="Antique Olive"/>
                <a:sym typeface="Quicksand"/>
              </a:rPr>
              <a:t>Please make sure that "use strict" is at the top of your scripts, otherwise strict mode may not be enabled.</a:t>
            </a: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p:txBody>
      </p:sp>
      <p:sp>
        <p:nvSpPr>
          <p:cNvPr id="3" name="Freeform 3"/>
          <p:cNvSpPr/>
          <p:nvPr/>
        </p:nvSpPr>
        <p:spPr>
          <a:xfrm>
            <a:off x="3187136" y="3155518"/>
            <a:ext cx="4485985" cy="1239549"/>
          </a:xfrm>
          <a:custGeom>
            <a:avLst/>
            <a:gdLst/>
            <a:ahLst/>
            <a:cxnLst/>
            <a:rect l="l" t="t" r="r" b="b"/>
            <a:pathLst>
              <a:path w="6728977" h="1859323">
                <a:moveTo>
                  <a:pt x="0" y="0"/>
                </a:moveTo>
                <a:lnTo>
                  <a:pt x="6728977" y="0"/>
                </a:lnTo>
                <a:lnTo>
                  <a:pt x="6728977" y="1859323"/>
                </a:lnTo>
                <a:lnTo>
                  <a:pt x="0" y="1859323"/>
                </a:lnTo>
                <a:lnTo>
                  <a:pt x="0" y="0"/>
                </a:lnTo>
                <a:close/>
              </a:path>
            </a:pathLst>
          </a:custGeom>
          <a:blipFill>
            <a:blip r:embed="rId3"/>
            <a:stretch>
              <a:fillRect/>
            </a:stretch>
          </a:blipFill>
        </p:spPr>
      </p:sp>
      <p:sp>
        <p:nvSpPr>
          <p:cNvPr id="4" name="TextBox 4"/>
          <p:cNvSpPr txBox="1"/>
          <p:nvPr/>
        </p:nvSpPr>
        <p:spPr>
          <a:xfrm>
            <a:off x="3565804" y="609600"/>
            <a:ext cx="7532265" cy="726033"/>
          </a:xfrm>
          <a:prstGeom prst="rect">
            <a:avLst/>
          </a:prstGeom>
        </p:spPr>
        <p:txBody>
          <a:bodyPr lIns="0" tIns="0" rIns="0" bIns="0" rtlCol="0" anchor="t">
            <a:spAutoFit/>
          </a:bodyPr>
          <a:lstStyle/>
          <a:p>
            <a:pPr algn="just">
              <a:lnSpc>
                <a:spcPts val="5973"/>
              </a:lnSpc>
              <a:spcBef>
                <a:spcPct val="0"/>
              </a:spcBef>
            </a:pPr>
            <a:r>
              <a:rPr lang="en-US" sz="4400" b="1" dirty="0">
                <a:latin typeface="Antique Olive"/>
                <a:ea typeface="Cormorant Garamond"/>
                <a:cs typeface="Cormorant Garamond"/>
                <a:sym typeface="Cormorant Garamond"/>
              </a:rPr>
              <a:t>The modern mode</a:t>
            </a:r>
            <a:endParaRPr lang="en-US" sz="4400" b="1" dirty="0">
              <a:latin typeface="Antique Olive"/>
              <a:ea typeface="Cormorant Garamond"/>
              <a:cs typeface="Cormorant Garamond"/>
              <a:sym typeface="Cormorant Garamond"/>
              <a:hlinkClick r:id="rId2" tooltip="https://javascript.info/hello-world#show-an-alert">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132277264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67633" y="1427392"/>
            <a:ext cx="10130436" cy="3168303"/>
          </a:xfrm>
          <a:prstGeom prst="rect">
            <a:avLst/>
          </a:prstGeom>
        </p:spPr>
        <p:txBody>
          <a:bodyPr lIns="0" tIns="0" rIns="0" bIns="0" rtlCol="0" anchor="t">
            <a:spAutoFit/>
          </a:bodyPr>
          <a:lstStyle/>
          <a:p>
            <a:pPr>
              <a:lnSpc>
                <a:spcPts val="4150"/>
              </a:lnSpc>
            </a:pPr>
            <a:r>
              <a:rPr lang="en-US" sz="2000" dirty="0">
                <a:latin typeface="Antique Olive"/>
                <a:sym typeface="Quicksand"/>
              </a:rPr>
              <a:t>As time goes on, programs become more and more complex. It becomes necessary to add comments which describe what the code does and why.</a:t>
            </a:r>
          </a:p>
          <a:p>
            <a:pPr>
              <a:lnSpc>
                <a:spcPts val="4150"/>
              </a:lnSpc>
            </a:pPr>
            <a:r>
              <a:rPr lang="en-US" sz="2000" dirty="0">
                <a:latin typeface="Antique Olive"/>
                <a:sym typeface="Quicksand"/>
              </a:rPr>
              <a:t>Comments can be put into any place of a script. They don’t affect its execution because the engine simply ignores them.</a:t>
            </a:r>
          </a:p>
          <a:p>
            <a:pPr>
              <a:lnSpc>
                <a:spcPts val="4150"/>
              </a:lnSpc>
            </a:pPr>
            <a:r>
              <a:rPr lang="en-US" sz="2000" dirty="0">
                <a:latin typeface="Antique Olive"/>
                <a:sym typeface="Quicksand"/>
              </a:rPr>
              <a:t>One-line comments start with two forward slash characters //.</a:t>
            </a:r>
          </a:p>
          <a:p>
            <a:pPr>
              <a:lnSpc>
                <a:spcPts val="4150"/>
              </a:lnSpc>
            </a:pPr>
            <a:endParaRPr lang="en-US" sz="2441" dirty="0">
              <a:solidFill>
                <a:srgbClr val="0F4662"/>
              </a:solidFill>
              <a:latin typeface="Quicksand"/>
              <a:ea typeface="Quicksand"/>
              <a:cs typeface="Quicksand"/>
              <a:sym typeface="Quicksand"/>
              <a:hlinkClick r:id="rId2" tooltip="https://javascript.info/strict-mode#use-strict"/>
            </a:endParaRPr>
          </a:p>
        </p:txBody>
      </p:sp>
      <p:sp>
        <p:nvSpPr>
          <p:cNvPr id="3" name="Freeform 3"/>
          <p:cNvSpPr/>
          <p:nvPr/>
        </p:nvSpPr>
        <p:spPr>
          <a:xfrm>
            <a:off x="1868762" y="4395698"/>
            <a:ext cx="6771600" cy="1217209"/>
          </a:xfrm>
          <a:custGeom>
            <a:avLst/>
            <a:gdLst/>
            <a:ahLst/>
            <a:cxnLst/>
            <a:rect l="l" t="t" r="r" b="b"/>
            <a:pathLst>
              <a:path w="10157400" h="1825814">
                <a:moveTo>
                  <a:pt x="0" y="0"/>
                </a:moveTo>
                <a:lnTo>
                  <a:pt x="10157400" y="0"/>
                </a:lnTo>
                <a:lnTo>
                  <a:pt x="10157400" y="1825814"/>
                </a:lnTo>
                <a:lnTo>
                  <a:pt x="0" y="1825814"/>
                </a:lnTo>
                <a:lnTo>
                  <a:pt x="0" y="0"/>
                </a:lnTo>
                <a:close/>
              </a:path>
            </a:pathLst>
          </a:custGeom>
          <a:blipFill>
            <a:blip r:embed="rId3"/>
            <a:stretch>
              <a:fillRect/>
            </a:stretch>
          </a:blipFill>
        </p:spPr>
      </p:sp>
      <p:sp>
        <p:nvSpPr>
          <p:cNvPr id="4" name="TextBox 4"/>
          <p:cNvSpPr txBox="1"/>
          <p:nvPr/>
        </p:nvSpPr>
        <p:spPr>
          <a:xfrm>
            <a:off x="3565804" y="609600"/>
            <a:ext cx="7532265" cy="712503"/>
          </a:xfrm>
          <a:prstGeom prst="rect">
            <a:avLst/>
          </a:prstGeom>
        </p:spPr>
        <p:txBody>
          <a:bodyPr lIns="0" tIns="0" rIns="0" bIns="0" rtlCol="0" anchor="t">
            <a:spAutoFit/>
          </a:bodyPr>
          <a:lstStyle/>
          <a:p>
            <a:pPr algn="just">
              <a:lnSpc>
                <a:spcPts val="5973"/>
              </a:lnSpc>
              <a:spcBef>
                <a:spcPct val="0"/>
              </a:spcBef>
            </a:pPr>
            <a:r>
              <a:rPr lang="en-US" sz="4000" b="1" dirty="0">
                <a:latin typeface="Antique Olive"/>
                <a:ea typeface="Cormorant Garamond"/>
                <a:cs typeface="Cormorant Garamond"/>
                <a:sym typeface="Cormorant Garamond"/>
              </a:rPr>
              <a:t>Comments</a:t>
            </a:r>
            <a:endParaRPr lang="en-US" sz="4000" b="1" dirty="0">
              <a:latin typeface="Antique Olive"/>
              <a:ea typeface="Cormorant Garamond"/>
              <a:cs typeface="Cormorant Garamond"/>
              <a:sym typeface="Cormorant Garamond"/>
              <a:hlinkClick r:id="rId4" tooltip="https://javascript.info/structure#code-comments"/>
            </a:endParaRPr>
          </a:p>
        </p:txBody>
      </p:sp>
    </p:spTree>
    <p:extLst>
      <p:ext uri="{BB962C8B-B14F-4D97-AF65-F5344CB8AC3E}">
        <p14:creationId xmlns:p14="http://schemas.microsoft.com/office/powerpoint/2010/main" val="317091814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130458" y="3013655"/>
            <a:ext cx="6226573" cy="2342671"/>
          </a:xfrm>
          <a:custGeom>
            <a:avLst/>
            <a:gdLst/>
            <a:ahLst/>
            <a:cxnLst/>
            <a:rect l="l" t="t" r="r" b="b"/>
            <a:pathLst>
              <a:path w="9339860" h="3514007">
                <a:moveTo>
                  <a:pt x="0" y="0"/>
                </a:moveTo>
                <a:lnTo>
                  <a:pt x="9339860" y="0"/>
                </a:lnTo>
                <a:lnTo>
                  <a:pt x="9339860" y="3514006"/>
                </a:lnTo>
                <a:lnTo>
                  <a:pt x="0" y="3514006"/>
                </a:lnTo>
                <a:lnTo>
                  <a:pt x="0" y="0"/>
                </a:lnTo>
                <a:close/>
              </a:path>
            </a:pathLst>
          </a:custGeom>
          <a:blipFill>
            <a:blip r:embed="rId2"/>
            <a:stretch>
              <a:fillRect/>
            </a:stretch>
          </a:blipFill>
        </p:spPr>
      </p:sp>
      <p:sp>
        <p:nvSpPr>
          <p:cNvPr id="3" name="TextBox 3"/>
          <p:cNvSpPr txBox="1"/>
          <p:nvPr/>
        </p:nvSpPr>
        <p:spPr>
          <a:xfrm>
            <a:off x="685800" y="1631579"/>
            <a:ext cx="10130436" cy="2091085"/>
          </a:xfrm>
          <a:prstGeom prst="rect">
            <a:avLst/>
          </a:prstGeom>
        </p:spPr>
        <p:txBody>
          <a:bodyPr lIns="0" tIns="0" rIns="0" bIns="0" rtlCol="0" anchor="t">
            <a:spAutoFit/>
          </a:bodyPr>
          <a:lstStyle/>
          <a:p>
            <a:pPr>
              <a:lnSpc>
                <a:spcPts val="4150"/>
              </a:lnSpc>
            </a:pPr>
            <a:r>
              <a:rPr lang="en-US" sz="2000" dirty="0">
                <a:latin typeface="Antique Olive"/>
                <a:sym typeface="Quicksand"/>
              </a:rPr>
              <a:t>Multiline comments start with a forward slash and an asterisk /* and end with an asterisk and a forward slash */.</a:t>
            </a:r>
          </a:p>
          <a:p>
            <a:pPr>
              <a:lnSpc>
                <a:spcPts val="4150"/>
              </a:lnSpc>
            </a:pPr>
            <a:r>
              <a:rPr lang="en-US" sz="2000" dirty="0">
                <a:latin typeface="Antique Olive"/>
                <a:sym typeface="Quicksand"/>
              </a:rPr>
              <a:t>Like this:</a:t>
            </a:r>
            <a:endParaRPr lang="en-US" sz="2000" dirty="0">
              <a:latin typeface="Antique Olive"/>
              <a:sym typeface="Quicksand"/>
              <a:hlinkClick r:id="rId3" tooltip="https://javascript.info/strict-mode#use-strict">
                <a:extLst>
                  <a:ext uri="{A12FA001-AC4F-418D-AE19-62706E023703}">
                    <ahyp:hlinkClr xmlns:ahyp="http://schemas.microsoft.com/office/drawing/2018/hyperlinkcolor" val="tx"/>
                  </a:ext>
                </a:extLst>
              </a:hlinkClick>
            </a:endParaRPr>
          </a:p>
          <a:p>
            <a:pPr>
              <a:lnSpc>
                <a:spcPts val="4150"/>
              </a:lnSpc>
            </a:pPr>
            <a:endParaRPr lang="en-US" sz="2441" dirty="0">
              <a:solidFill>
                <a:srgbClr val="0F4662"/>
              </a:solidFill>
              <a:latin typeface="Quicksand"/>
              <a:ea typeface="Quicksand"/>
              <a:cs typeface="Quicksand"/>
              <a:sym typeface="Quicksand"/>
              <a:hlinkClick r:id="rId3" tooltip="https://javascript.info/strict-mode#use-strict"/>
            </a:endParaRPr>
          </a:p>
        </p:txBody>
      </p:sp>
      <p:sp>
        <p:nvSpPr>
          <p:cNvPr id="4" name="TextBox 4"/>
          <p:cNvSpPr txBox="1"/>
          <p:nvPr/>
        </p:nvSpPr>
        <p:spPr>
          <a:xfrm>
            <a:off x="3565804" y="609600"/>
            <a:ext cx="7532265" cy="721672"/>
          </a:xfrm>
          <a:prstGeom prst="rect">
            <a:avLst/>
          </a:prstGeom>
        </p:spPr>
        <p:txBody>
          <a:bodyPr lIns="0" tIns="0" rIns="0" bIns="0" rtlCol="0" anchor="t">
            <a:spAutoFit/>
          </a:bodyPr>
          <a:lstStyle/>
          <a:p>
            <a:pPr algn="just">
              <a:lnSpc>
                <a:spcPts val="5973"/>
              </a:lnSpc>
              <a:spcBef>
                <a:spcPct val="0"/>
              </a:spcBef>
            </a:pPr>
            <a:r>
              <a:rPr lang="en-US" sz="4400" b="1" dirty="0">
                <a:latin typeface="Antique Olive"/>
                <a:ea typeface="Cormorant Garamond"/>
                <a:cs typeface="Cormorant Garamond"/>
                <a:sym typeface="Cormorant Garamond"/>
              </a:rPr>
              <a:t>Comments</a:t>
            </a:r>
            <a:endParaRPr lang="en-US" sz="4266" dirty="0">
              <a:solidFill>
                <a:srgbClr val="0F4662"/>
              </a:solidFill>
              <a:latin typeface="Cormorant Garamond"/>
              <a:ea typeface="Cormorant Garamond"/>
              <a:cs typeface="Cormorant Garamond"/>
              <a:sym typeface="Cormorant Garamond"/>
              <a:hlinkClick r:id="rId4" tooltip="https://javascript.info/structure#code-comments"/>
            </a:endParaRPr>
          </a:p>
        </p:txBody>
      </p:sp>
    </p:spTree>
    <p:extLst>
      <p:ext uri="{BB962C8B-B14F-4D97-AF65-F5344CB8AC3E}">
        <p14:creationId xmlns:p14="http://schemas.microsoft.com/office/powerpoint/2010/main" val="29162093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33060" y="1463282"/>
            <a:ext cx="10130436" cy="4245521"/>
          </a:xfrm>
          <a:prstGeom prst="rect">
            <a:avLst/>
          </a:prstGeom>
        </p:spPr>
        <p:txBody>
          <a:bodyPr lIns="0" tIns="0" rIns="0" bIns="0" rtlCol="0" anchor="t">
            <a:spAutoFit/>
          </a:bodyPr>
          <a:lstStyle/>
          <a:p>
            <a:pPr>
              <a:lnSpc>
                <a:spcPts val="4150"/>
              </a:lnSpc>
            </a:pPr>
            <a:r>
              <a:rPr lang="en-US" sz="2000" dirty="0">
                <a:latin typeface="Antique Olive"/>
                <a:sym typeface="Quicksand"/>
              </a:rPr>
              <a:t>Most of the time, a JavaScript application needs to work with information. Here are two examples:</a:t>
            </a:r>
          </a:p>
          <a:p>
            <a:pPr marL="527028" lvl="1" indent="-263514">
              <a:lnSpc>
                <a:spcPts val="4150"/>
              </a:lnSpc>
              <a:buAutoNum type="arabicPeriod"/>
            </a:pPr>
            <a:r>
              <a:rPr lang="en-US" sz="2000" dirty="0">
                <a:latin typeface="Antique Olive"/>
                <a:sym typeface="Quicksand"/>
              </a:rPr>
              <a:t>An online shop – the information might include goods being sold and a shopping cart.</a:t>
            </a:r>
          </a:p>
          <a:p>
            <a:pPr marL="527028" lvl="1" indent="-263514">
              <a:lnSpc>
                <a:spcPts val="4150"/>
              </a:lnSpc>
              <a:buAutoNum type="arabicPeriod"/>
            </a:pPr>
            <a:r>
              <a:rPr lang="en-US" sz="2000" dirty="0">
                <a:latin typeface="Antique Olive"/>
                <a:sym typeface="Quicksand"/>
              </a:rPr>
              <a:t>A chat application – the information might include users, messages, and much more.</a:t>
            </a:r>
          </a:p>
          <a:p>
            <a:pPr>
              <a:lnSpc>
                <a:spcPts val="4150"/>
              </a:lnSpc>
            </a:pPr>
            <a:r>
              <a:rPr lang="en-US" sz="2000" dirty="0">
                <a:latin typeface="Antique Olive"/>
                <a:sym typeface="Quicksand"/>
              </a:rPr>
              <a:t>Variables are used to store this information.</a:t>
            </a:r>
          </a:p>
          <a:p>
            <a:pPr>
              <a:lnSpc>
                <a:spcPts val="4150"/>
              </a:lnSpc>
            </a:pPr>
            <a:r>
              <a:rPr lang="en-US" sz="2000" dirty="0">
                <a:latin typeface="Antique Olive"/>
                <a:sym typeface="Quicksand"/>
              </a:rPr>
              <a:t>A variable is a “named storage” for data. We can use variables to store goodies, visitors, and other data.</a:t>
            </a:r>
          </a:p>
          <a:p>
            <a:pPr>
              <a:lnSpc>
                <a:spcPts val="4150"/>
              </a:lnSpc>
            </a:pPr>
            <a:endParaRPr lang="en-US" sz="2441" dirty="0">
              <a:solidFill>
                <a:srgbClr val="0F4662"/>
              </a:solidFill>
              <a:latin typeface="Quicksand"/>
              <a:ea typeface="Quicksand"/>
              <a:cs typeface="Quicksand"/>
              <a:sym typeface="Quicksand"/>
              <a:hlinkClick r:id="rId2" tooltip="https://javascript.info/strict-mode#use-strict"/>
            </a:endParaRPr>
          </a:p>
        </p:txBody>
      </p:sp>
      <p:sp>
        <p:nvSpPr>
          <p:cNvPr id="3" name="TextBox 3"/>
          <p:cNvSpPr txBox="1"/>
          <p:nvPr/>
        </p:nvSpPr>
        <p:spPr>
          <a:xfrm>
            <a:off x="4457788" y="609600"/>
            <a:ext cx="7532265" cy="712503"/>
          </a:xfrm>
          <a:prstGeom prst="rect">
            <a:avLst/>
          </a:prstGeom>
        </p:spPr>
        <p:txBody>
          <a:bodyPr lIns="0" tIns="0" rIns="0" bIns="0" rtlCol="0" anchor="t">
            <a:spAutoFit/>
          </a:bodyPr>
          <a:lstStyle/>
          <a:p>
            <a:pPr algn="just">
              <a:lnSpc>
                <a:spcPts val="5973"/>
              </a:lnSpc>
              <a:spcBef>
                <a:spcPct val="0"/>
              </a:spcBef>
            </a:pPr>
            <a:r>
              <a:rPr lang="en-US" sz="4000" b="1" dirty="0">
                <a:latin typeface="Antique Olive"/>
                <a:ea typeface="Cormorant Garamond"/>
                <a:cs typeface="Cormorant Garamond"/>
                <a:sym typeface="Cormorant Garamond"/>
              </a:rPr>
              <a:t>Variables</a:t>
            </a:r>
            <a:endParaRPr lang="en-US" sz="4000" b="1" dirty="0">
              <a:latin typeface="Antique Olive"/>
              <a:ea typeface="Cormorant Garamond"/>
              <a:cs typeface="Cormorant Garamond"/>
              <a:sym typeface="Cormorant Garamond"/>
              <a:hlinkClick r:id="rId2" tooltip="https://javascript.info/strict-mode#use-strict">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16644370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2"/>
          <p:cNvSpPr txBox="1"/>
          <p:nvPr/>
        </p:nvSpPr>
        <p:spPr>
          <a:xfrm>
            <a:off x="923278" y="1227655"/>
            <a:ext cx="11990054" cy="6938566"/>
          </a:xfrm>
          <a:prstGeom prst="rect">
            <a:avLst/>
          </a:prstGeom>
        </p:spPr>
        <p:txBody>
          <a:bodyPr lIns="0" tIns="0" rIns="0" bIns="0" rtlCol="0" anchor="t">
            <a:spAutoFit/>
          </a:bodyPr>
          <a:lstStyle/>
          <a:p>
            <a:pPr>
              <a:lnSpc>
                <a:spcPts val="4150"/>
              </a:lnSpc>
            </a:pPr>
            <a:r>
              <a:rPr lang="en-US" sz="2000" dirty="0">
                <a:latin typeface="Antique Olive"/>
                <a:sym typeface="Quicksand"/>
                <a:hlinkClick r:id="rId3" tooltip="https://javascript.info/strict-mode#use-strict">
                  <a:extLst>
                    <a:ext uri="{A12FA001-AC4F-418D-AE19-62706E023703}">
                      <ahyp:hlinkClr xmlns:ahyp="http://schemas.microsoft.com/office/drawing/2018/hyperlinkcolor" val="tx"/>
                    </a:ext>
                  </a:extLst>
                </a:hlinkClick>
              </a:rPr>
              <a:t>To create a variable in JavaScript, use the let keyword.(first one)</a:t>
            </a:r>
          </a:p>
          <a:p>
            <a:pPr>
              <a:lnSpc>
                <a:spcPts val="4150"/>
              </a:lnSpc>
            </a:pPr>
            <a:r>
              <a:rPr lang="en-US" sz="2000" dirty="0">
                <a:latin typeface="Antique Olive"/>
                <a:sym typeface="Quicksand Bold"/>
              </a:rPr>
              <a:t>Example:</a:t>
            </a:r>
          </a:p>
          <a:p>
            <a:pPr algn="just">
              <a:lnSpc>
                <a:spcPts val="4150"/>
              </a:lnSpc>
            </a:pPr>
            <a:r>
              <a:rPr lang="en-US" sz="2000" dirty="0">
                <a:latin typeface="Antique Olive"/>
                <a:sym typeface="Quicksand"/>
              </a:rPr>
              <a:t>let message; </a:t>
            </a:r>
          </a:p>
          <a:p>
            <a:pPr algn="just">
              <a:lnSpc>
                <a:spcPts val="4150"/>
              </a:lnSpc>
            </a:pPr>
            <a:r>
              <a:rPr lang="en-US" sz="2000" dirty="0">
                <a:latin typeface="Antique Olive"/>
                <a:sym typeface="Quicksand"/>
              </a:rPr>
              <a:t>message = 'Hello!';</a:t>
            </a:r>
          </a:p>
          <a:p>
            <a:pPr algn="just">
              <a:lnSpc>
                <a:spcPts val="4150"/>
              </a:lnSpc>
            </a:pPr>
            <a:r>
              <a:rPr lang="en-US" sz="2000" dirty="0">
                <a:latin typeface="Antique Olive"/>
                <a:sym typeface="Quicksand"/>
              </a:rPr>
              <a:t>alert(message);</a:t>
            </a:r>
          </a:p>
          <a:p>
            <a:pPr algn="just">
              <a:lnSpc>
                <a:spcPts val="4150"/>
              </a:lnSpc>
            </a:pPr>
            <a:r>
              <a:rPr lang="en-US" sz="2000" dirty="0">
                <a:latin typeface="Antique Olive"/>
                <a:sym typeface="Quicksand Bold"/>
              </a:rPr>
              <a:t>we can combine the variable declaration and assignment into a single line:</a:t>
            </a:r>
          </a:p>
          <a:p>
            <a:pPr algn="just">
              <a:lnSpc>
                <a:spcPts val="4150"/>
              </a:lnSpc>
            </a:pPr>
            <a:r>
              <a:rPr lang="en-US" sz="2000" dirty="0">
                <a:latin typeface="Antique Olive"/>
                <a:sym typeface="Quicksand"/>
              </a:rPr>
              <a:t>let message = 'Hello!';</a:t>
            </a:r>
          </a:p>
          <a:p>
            <a:pPr algn="just">
              <a:lnSpc>
                <a:spcPts val="4150"/>
              </a:lnSpc>
            </a:pPr>
            <a:r>
              <a:rPr lang="en-US" sz="2000" dirty="0">
                <a:latin typeface="Antique Olive"/>
                <a:sym typeface="Quicksand"/>
              </a:rPr>
              <a:t>alert(message);</a:t>
            </a:r>
          </a:p>
          <a:p>
            <a:pPr algn="just">
              <a:lnSpc>
                <a:spcPts val="4150"/>
              </a:lnSpc>
            </a:pPr>
            <a:r>
              <a:rPr lang="en-US" sz="2000" dirty="0">
                <a:latin typeface="Antique Olive"/>
                <a:sym typeface="Quicksand Bold"/>
              </a:rPr>
              <a:t>We can also declare multiple variables in one line:</a:t>
            </a:r>
          </a:p>
          <a:p>
            <a:pPr algn="just">
              <a:lnSpc>
                <a:spcPts val="4150"/>
              </a:lnSpc>
            </a:pPr>
            <a:r>
              <a:rPr lang="en-US" sz="2000" dirty="0">
                <a:latin typeface="Antique Olive"/>
                <a:sym typeface="Quicksand"/>
              </a:rPr>
              <a:t>let user = 'John', age = 25, message = 'Hello';</a:t>
            </a:r>
          </a:p>
          <a:p>
            <a:pPr algn="just">
              <a:lnSpc>
                <a:spcPts val="4150"/>
              </a:lnSpc>
            </a:pPr>
            <a:endParaRPr lang="en-US" sz="2441" dirty="0">
              <a:solidFill>
                <a:srgbClr val="0F4662"/>
              </a:solidFill>
              <a:latin typeface="Quicksand"/>
              <a:ea typeface="Quicksand"/>
              <a:cs typeface="Quicksand"/>
              <a:sym typeface="Quicksand"/>
            </a:endParaRPr>
          </a:p>
          <a:p>
            <a:pPr algn="just">
              <a:lnSpc>
                <a:spcPts val="4150"/>
              </a:lnSpc>
            </a:pPr>
            <a:endParaRPr lang="en-US" sz="2441" dirty="0">
              <a:solidFill>
                <a:srgbClr val="0F4662"/>
              </a:solidFill>
              <a:latin typeface="Quicksand"/>
              <a:ea typeface="Quicksand"/>
              <a:cs typeface="Quicksand"/>
              <a:sym typeface="Quicksand"/>
            </a:endParaRPr>
          </a:p>
          <a:p>
            <a:pPr algn="just">
              <a:lnSpc>
                <a:spcPts val="4150"/>
              </a:lnSpc>
            </a:pPr>
            <a:endParaRPr lang="en-US" sz="2441" dirty="0">
              <a:solidFill>
                <a:srgbClr val="0F4662"/>
              </a:solidFill>
              <a:latin typeface="Quicksand"/>
              <a:ea typeface="Quicksand"/>
              <a:cs typeface="Quicksand"/>
              <a:sym typeface="Quicksand"/>
            </a:endParaRPr>
          </a:p>
        </p:txBody>
      </p:sp>
      <p:sp>
        <p:nvSpPr>
          <p:cNvPr id="3" name="TextBox 3"/>
          <p:cNvSpPr txBox="1"/>
          <p:nvPr/>
        </p:nvSpPr>
        <p:spPr>
          <a:xfrm>
            <a:off x="4457788" y="609600"/>
            <a:ext cx="7532265" cy="721672"/>
          </a:xfrm>
          <a:prstGeom prst="rect">
            <a:avLst/>
          </a:prstGeom>
        </p:spPr>
        <p:txBody>
          <a:bodyPr lIns="0" tIns="0" rIns="0" bIns="0" rtlCol="0" anchor="t">
            <a:spAutoFit/>
          </a:bodyPr>
          <a:lstStyle/>
          <a:p>
            <a:pPr algn="just">
              <a:lnSpc>
                <a:spcPts val="5973"/>
              </a:lnSpc>
              <a:spcBef>
                <a:spcPct val="0"/>
              </a:spcBef>
            </a:pPr>
            <a:r>
              <a:rPr lang="en-US" sz="4400" b="1" dirty="0">
                <a:latin typeface="Antique Olive"/>
                <a:ea typeface="Cormorant Garamond"/>
                <a:cs typeface="Cormorant Garamond"/>
                <a:sym typeface="Cormorant Garamond"/>
              </a:rPr>
              <a:t>Variables</a:t>
            </a:r>
            <a:endParaRPr lang="en-US" sz="4266" dirty="0">
              <a:solidFill>
                <a:srgbClr val="0F4662"/>
              </a:solidFill>
              <a:latin typeface="Cormorant Garamond"/>
              <a:ea typeface="Cormorant Garamond"/>
              <a:cs typeface="Cormorant Garamond"/>
              <a:sym typeface="Cormorant Garamond"/>
              <a:hlinkClick r:id="rId3" tooltip="https://javascript.info/strict-mode#use-strict"/>
            </a:endParaRPr>
          </a:p>
        </p:txBody>
      </p:sp>
    </p:spTree>
    <p:extLst>
      <p:ext uri="{BB962C8B-B14F-4D97-AF65-F5344CB8AC3E}">
        <p14:creationId xmlns:p14="http://schemas.microsoft.com/office/powerpoint/2010/main" val="309348402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2"/>
          <p:cNvSpPr txBox="1"/>
          <p:nvPr/>
        </p:nvSpPr>
        <p:spPr>
          <a:xfrm>
            <a:off x="820448" y="1218777"/>
            <a:ext cx="10685752" cy="3168303"/>
          </a:xfrm>
          <a:prstGeom prst="rect">
            <a:avLst/>
          </a:prstGeom>
        </p:spPr>
        <p:txBody>
          <a:bodyPr lIns="0" tIns="0" rIns="0" bIns="0" rtlCol="0" anchor="t">
            <a:spAutoFit/>
          </a:bodyPr>
          <a:lstStyle/>
          <a:p>
            <a:pPr>
              <a:lnSpc>
                <a:spcPts val="4150"/>
              </a:lnSpc>
            </a:pPr>
            <a:r>
              <a:rPr lang="en-US" sz="2000" dirty="0">
                <a:latin typeface="Antique Olive"/>
                <a:sym typeface="Quicksand"/>
              </a:rPr>
              <a:t>var instead of let(second one)</a:t>
            </a:r>
          </a:p>
          <a:p>
            <a:pPr>
              <a:lnSpc>
                <a:spcPts val="4150"/>
              </a:lnSpc>
            </a:pPr>
            <a:r>
              <a:rPr lang="en-US" sz="2000" dirty="0">
                <a:latin typeface="Antique Olive"/>
                <a:sym typeface="Quicksand"/>
              </a:rPr>
              <a:t>In older scripts, you may also find another keyword: var instead of let:</a:t>
            </a:r>
          </a:p>
          <a:p>
            <a:pPr>
              <a:lnSpc>
                <a:spcPts val="4150"/>
              </a:lnSpc>
            </a:pPr>
            <a:r>
              <a:rPr lang="en-US" sz="2000" dirty="0">
                <a:latin typeface="Antique Olive"/>
                <a:sym typeface="Quicksand"/>
              </a:rPr>
              <a:t>var message = 'Hello';</a:t>
            </a:r>
          </a:p>
          <a:p>
            <a:pPr>
              <a:lnSpc>
                <a:spcPts val="4150"/>
              </a:lnSpc>
            </a:pPr>
            <a:r>
              <a:rPr lang="en-US" sz="2000" dirty="0">
                <a:latin typeface="Antique Olive"/>
                <a:sym typeface="Quicksand"/>
              </a:rPr>
              <a:t>The var keyword is almost the same as let. It also declares a variable but in a slightly different, “old-school” way.</a:t>
            </a:r>
            <a:endParaRPr lang="en-US" sz="2000" dirty="0">
              <a:latin typeface="Antique Olive"/>
              <a:sym typeface="Quicksand"/>
              <a:hlinkClick r:id="rId3" tooltip="https://javascript.info/strict-mode#use-strict">
                <a:extLst>
                  <a:ext uri="{A12FA001-AC4F-418D-AE19-62706E023703}">
                    <ahyp:hlinkClr xmlns:ahyp="http://schemas.microsoft.com/office/drawing/2018/hyperlinkcolor" val="tx"/>
                  </a:ext>
                </a:extLst>
              </a:hlinkClick>
            </a:endParaRPr>
          </a:p>
          <a:p>
            <a:pPr algn="just">
              <a:lnSpc>
                <a:spcPts val="4150"/>
              </a:lnSpc>
            </a:pPr>
            <a:endParaRPr lang="en-US" sz="2441" dirty="0">
              <a:solidFill>
                <a:srgbClr val="0F4662"/>
              </a:solidFill>
              <a:latin typeface="Quicksand"/>
              <a:ea typeface="Quicksand"/>
              <a:cs typeface="Quicksand"/>
              <a:sym typeface="Quicksand"/>
              <a:hlinkClick r:id="rId3" tooltip="https://javascript.info/strict-mode#use-strict"/>
            </a:endParaRPr>
          </a:p>
        </p:txBody>
      </p:sp>
      <p:sp>
        <p:nvSpPr>
          <p:cNvPr id="3" name="TextBox 3"/>
          <p:cNvSpPr txBox="1"/>
          <p:nvPr/>
        </p:nvSpPr>
        <p:spPr>
          <a:xfrm>
            <a:off x="4457788" y="609600"/>
            <a:ext cx="7532265" cy="721672"/>
          </a:xfrm>
          <a:prstGeom prst="rect">
            <a:avLst/>
          </a:prstGeom>
        </p:spPr>
        <p:txBody>
          <a:bodyPr lIns="0" tIns="0" rIns="0" bIns="0" rtlCol="0" anchor="t">
            <a:spAutoFit/>
          </a:bodyPr>
          <a:lstStyle/>
          <a:p>
            <a:pPr algn="just">
              <a:lnSpc>
                <a:spcPts val="5973"/>
              </a:lnSpc>
              <a:spcBef>
                <a:spcPct val="0"/>
              </a:spcBef>
            </a:pPr>
            <a:r>
              <a:rPr lang="en-US" sz="4400" b="1" dirty="0">
                <a:latin typeface="Antique Olive"/>
                <a:ea typeface="Cormorant Garamond"/>
                <a:cs typeface="Cormorant Garamond"/>
                <a:sym typeface="Cormorant Garamond"/>
              </a:rPr>
              <a:t>Variables</a:t>
            </a:r>
            <a:endParaRPr lang="en-US" sz="4266" dirty="0">
              <a:solidFill>
                <a:srgbClr val="0F4662"/>
              </a:solidFill>
              <a:latin typeface="Cormorant Garamond"/>
              <a:ea typeface="Cormorant Garamond"/>
              <a:cs typeface="Cormorant Garamond"/>
              <a:sym typeface="Cormorant Garamond"/>
              <a:hlinkClick r:id="rId3" tooltip="https://javascript.info/strict-mode#use-strict"/>
            </a:endParaRPr>
          </a:p>
        </p:txBody>
      </p:sp>
    </p:spTree>
    <p:extLst>
      <p:ext uri="{BB962C8B-B14F-4D97-AF65-F5344CB8AC3E}">
        <p14:creationId xmlns:p14="http://schemas.microsoft.com/office/powerpoint/2010/main" val="156127349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33060" y="1463281"/>
            <a:ext cx="10130436" cy="4245521"/>
          </a:xfrm>
          <a:prstGeom prst="rect">
            <a:avLst/>
          </a:prstGeom>
        </p:spPr>
        <p:txBody>
          <a:bodyPr lIns="0" tIns="0" rIns="0" bIns="0" rtlCol="0" anchor="t">
            <a:spAutoFit/>
          </a:bodyPr>
          <a:lstStyle/>
          <a:p>
            <a:pPr>
              <a:lnSpc>
                <a:spcPts val="4150"/>
              </a:lnSpc>
            </a:pPr>
            <a:r>
              <a:rPr lang="en-US" sz="2000" dirty="0">
                <a:latin typeface="Antique Olive"/>
                <a:sym typeface="Quicksand"/>
              </a:rPr>
              <a:t>There are two limitations on variable names in JavaScript:</a:t>
            </a:r>
          </a:p>
          <a:p>
            <a:pPr marL="527028" lvl="1" indent="-263514">
              <a:lnSpc>
                <a:spcPts val="4150"/>
              </a:lnSpc>
              <a:buAutoNum type="arabicPeriod"/>
            </a:pPr>
            <a:r>
              <a:rPr lang="en-US" sz="2000" dirty="0">
                <a:latin typeface="Antique Olive"/>
                <a:sym typeface="Quicksand"/>
              </a:rPr>
              <a:t>The name must contain only letters, digits, or the symbols $ and _.</a:t>
            </a:r>
          </a:p>
          <a:p>
            <a:pPr marL="527028" lvl="1" indent="-263514">
              <a:lnSpc>
                <a:spcPts val="4150"/>
              </a:lnSpc>
              <a:buAutoNum type="arabicPeriod"/>
            </a:pPr>
            <a:r>
              <a:rPr lang="en-US" sz="2000" dirty="0">
                <a:latin typeface="Antique Olive"/>
                <a:sym typeface="Quicksand"/>
              </a:rPr>
              <a:t>The first character must not be a digit.</a:t>
            </a:r>
          </a:p>
          <a:p>
            <a:pPr>
              <a:lnSpc>
                <a:spcPts val="4150"/>
              </a:lnSpc>
            </a:pPr>
            <a:r>
              <a:rPr lang="en-US" sz="2000" dirty="0">
                <a:latin typeface="Antique Olive"/>
                <a:sym typeface="Quicksand Bold"/>
              </a:rPr>
              <a:t>Examples of valid names:</a:t>
            </a:r>
          </a:p>
          <a:p>
            <a:pPr>
              <a:lnSpc>
                <a:spcPts val="4150"/>
              </a:lnSpc>
            </a:pPr>
            <a:r>
              <a:rPr lang="en-US" sz="2000" dirty="0">
                <a:latin typeface="Antique Olive"/>
                <a:sym typeface="Quicksand"/>
              </a:rPr>
              <a:t>let </a:t>
            </a:r>
            <a:r>
              <a:rPr lang="en-US" sz="2000" dirty="0" err="1">
                <a:latin typeface="Antique Olive"/>
                <a:sym typeface="Quicksand"/>
              </a:rPr>
              <a:t>userName</a:t>
            </a:r>
            <a:r>
              <a:rPr lang="en-US" sz="2000" dirty="0">
                <a:latin typeface="Antique Olive"/>
                <a:sym typeface="Quicksand"/>
              </a:rPr>
              <a:t>;</a:t>
            </a:r>
          </a:p>
          <a:p>
            <a:pPr>
              <a:lnSpc>
                <a:spcPts val="4150"/>
              </a:lnSpc>
            </a:pPr>
            <a:r>
              <a:rPr lang="en-US" sz="2000" dirty="0">
                <a:latin typeface="Antique Olive"/>
                <a:sym typeface="Quicksand"/>
              </a:rPr>
              <a:t>let test123;</a:t>
            </a:r>
          </a:p>
          <a:p>
            <a:pPr>
              <a:lnSpc>
                <a:spcPts val="4150"/>
              </a:lnSpc>
            </a:pPr>
            <a:endParaRPr lang="en-US" sz="2000" dirty="0">
              <a:latin typeface="Antique Olive"/>
              <a:sym typeface="Quicksand"/>
              <a:hlinkClick r:id="rId2" tooltip="https://javascript.info/strict-mode#use-strict">
                <a:extLst>
                  <a:ext uri="{A12FA001-AC4F-418D-AE19-62706E023703}">
                    <ahyp:hlinkClr xmlns:ahyp="http://schemas.microsoft.com/office/drawing/2018/hyperlinkcolor" val="tx"/>
                  </a:ext>
                </a:extLst>
              </a:hlinkClick>
            </a:endParaRPr>
          </a:p>
          <a:p>
            <a:pPr>
              <a:lnSpc>
                <a:spcPts val="4150"/>
              </a:lnSpc>
            </a:pPr>
            <a:endParaRPr lang="en-US" sz="2441" dirty="0">
              <a:solidFill>
                <a:srgbClr val="0F4662"/>
              </a:solidFill>
              <a:latin typeface="Quicksand"/>
              <a:ea typeface="Quicksand"/>
              <a:cs typeface="Quicksand"/>
              <a:sym typeface="Quicksand"/>
              <a:hlinkClick r:id="rId2" tooltip="https://javascript.info/strict-mode#use-strict"/>
            </a:endParaRPr>
          </a:p>
        </p:txBody>
      </p:sp>
      <p:sp>
        <p:nvSpPr>
          <p:cNvPr id="3" name="TextBox 3"/>
          <p:cNvSpPr txBox="1"/>
          <p:nvPr/>
        </p:nvSpPr>
        <p:spPr>
          <a:xfrm>
            <a:off x="3973935" y="609600"/>
            <a:ext cx="7532265" cy="725199"/>
          </a:xfrm>
          <a:prstGeom prst="rect">
            <a:avLst/>
          </a:prstGeom>
        </p:spPr>
        <p:txBody>
          <a:bodyPr lIns="0" tIns="0" rIns="0" bIns="0" rtlCol="0" anchor="t">
            <a:spAutoFit/>
          </a:bodyPr>
          <a:lstStyle/>
          <a:p>
            <a:pPr algn="just">
              <a:lnSpc>
                <a:spcPts val="5973"/>
              </a:lnSpc>
              <a:spcBef>
                <a:spcPct val="0"/>
              </a:spcBef>
            </a:pPr>
            <a:r>
              <a:rPr lang="en-US" sz="4400" b="1" dirty="0">
                <a:latin typeface="Antique Olive"/>
                <a:ea typeface="Cormorant Garamond"/>
                <a:cs typeface="Cormorant Garamond"/>
                <a:sym typeface="Cormorant Garamond"/>
              </a:rPr>
              <a:t>Variables</a:t>
            </a:r>
            <a:r>
              <a:rPr lang="en-US" sz="4266" dirty="0">
                <a:solidFill>
                  <a:srgbClr val="0F4662"/>
                </a:solidFill>
                <a:latin typeface="Cormorant Garamond"/>
                <a:ea typeface="Cormorant Garamond"/>
                <a:cs typeface="Cormorant Garamond"/>
                <a:sym typeface="Cormorant Garamond"/>
              </a:rPr>
              <a:t> </a:t>
            </a:r>
            <a:r>
              <a:rPr lang="en-US" sz="4000" b="1" dirty="0">
                <a:latin typeface="Antique Olive"/>
                <a:ea typeface="Cormorant Garamond"/>
                <a:cs typeface="Cormorant Garamond"/>
                <a:sym typeface="Cormorant Garamond"/>
              </a:rPr>
              <a:t>Naming</a:t>
            </a:r>
            <a:endParaRPr lang="en-US" sz="4000" b="1" dirty="0">
              <a:latin typeface="Antique Olive"/>
              <a:ea typeface="Cormorant Garamond"/>
              <a:cs typeface="Cormorant Garamond"/>
              <a:sym typeface="Cormorant Garamond"/>
              <a:hlinkClick r:id="rId3" tooltip="https://javascript.info/variables#variable-naming"/>
            </a:endParaRPr>
          </a:p>
        </p:txBody>
      </p:sp>
    </p:spTree>
    <p:extLst>
      <p:ext uri="{BB962C8B-B14F-4D97-AF65-F5344CB8AC3E}">
        <p14:creationId xmlns:p14="http://schemas.microsoft.com/office/powerpoint/2010/main" val="34597843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33060" y="1463281"/>
            <a:ext cx="10130436" cy="3706912"/>
          </a:xfrm>
          <a:prstGeom prst="rect">
            <a:avLst/>
          </a:prstGeom>
        </p:spPr>
        <p:txBody>
          <a:bodyPr lIns="0" tIns="0" rIns="0" bIns="0" rtlCol="0" anchor="t">
            <a:spAutoFit/>
          </a:bodyPr>
          <a:lstStyle/>
          <a:p>
            <a:pPr>
              <a:lnSpc>
                <a:spcPts val="4150"/>
              </a:lnSpc>
            </a:pPr>
            <a:r>
              <a:rPr lang="en-US" sz="2000" dirty="0">
                <a:latin typeface="Antique Olive"/>
                <a:ea typeface="Quicksand"/>
                <a:cs typeface="Quicksand"/>
                <a:sym typeface="Quicksand"/>
              </a:rPr>
              <a:t>There is a </a:t>
            </a:r>
            <a:r>
              <a:rPr lang="en-US" sz="2000" u="sng" dirty="0">
                <a:latin typeface="Antique Olive"/>
                <a:ea typeface="Quicksand"/>
                <a:cs typeface="Quicksand"/>
                <a:sym typeface="Quicksand"/>
              </a:rPr>
              <a:t>list of reserved words</a:t>
            </a:r>
            <a:r>
              <a:rPr lang="en-US" sz="2000" dirty="0">
                <a:latin typeface="Antique Olive"/>
                <a:ea typeface="Quicksand"/>
                <a:cs typeface="Quicksand"/>
                <a:sym typeface="Quicksand"/>
              </a:rPr>
              <a:t>, which cannot be used as variable names because they are used by the language itself.</a:t>
            </a:r>
          </a:p>
          <a:p>
            <a:pPr>
              <a:lnSpc>
                <a:spcPts val="4150"/>
              </a:lnSpc>
            </a:pPr>
            <a:r>
              <a:rPr lang="en-US" sz="2000" dirty="0">
                <a:latin typeface="Antique Olive"/>
                <a:ea typeface="Quicksand"/>
                <a:cs typeface="Quicksand"/>
                <a:sym typeface="Quicksand"/>
              </a:rPr>
              <a:t>For example: let, class, return, and function are reserved.</a:t>
            </a:r>
          </a:p>
          <a:p>
            <a:pPr>
              <a:lnSpc>
                <a:spcPts val="4150"/>
              </a:lnSpc>
            </a:pPr>
            <a:r>
              <a:rPr lang="en-US" sz="2000" b="1" dirty="0">
                <a:latin typeface="Antique Olive"/>
                <a:ea typeface="Quicksand Bold"/>
                <a:cs typeface="Quicksand Bold"/>
                <a:sym typeface="Quicksand Bold"/>
              </a:rPr>
              <a:t>The code below gives a </a:t>
            </a:r>
            <a:r>
              <a:rPr lang="en-US" sz="2400" b="1" dirty="0">
                <a:latin typeface="Antique Olive"/>
                <a:ea typeface="Quicksand Bold"/>
                <a:cs typeface="Quicksand Bold"/>
                <a:sym typeface="Quicksand Bold"/>
              </a:rPr>
              <a:t>syntax</a:t>
            </a:r>
            <a:r>
              <a:rPr lang="en-US" sz="2000" b="1" dirty="0">
                <a:latin typeface="Antique Olive"/>
                <a:ea typeface="Quicksand Bold"/>
                <a:cs typeface="Quicksand Bold"/>
                <a:sym typeface="Quicksand Bold"/>
              </a:rPr>
              <a:t> </a:t>
            </a:r>
            <a:r>
              <a:rPr lang="en-US" sz="2400" b="1" dirty="0">
                <a:latin typeface="Antique Olive"/>
                <a:ea typeface="Quicksand Bold"/>
                <a:cs typeface="Quicksand Bold"/>
                <a:sym typeface="Quicksand Bold"/>
              </a:rPr>
              <a:t>error</a:t>
            </a:r>
            <a:r>
              <a:rPr lang="en-US" sz="2000" b="1" dirty="0">
                <a:latin typeface="Antique Olive"/>
                <a:ea typeface="Quicksand Bold"/>
                <a:cs typeface="Quicksand Bold"/>
                <a:sym typeface="Quicksand Bold"/>
              </a:rPr>
              <a:t>:</a:t>
            </a:r>
          </a:p>
          <a:p>
            <a:pPr>
              <a:lnSpc>
                <a:spcPts val="4150"/>
              </a:lnSpc>
            </a:pPr>
            <a:r>
              <a:rPr lang="en-US" sz="2000" dirty="0">
                <a:latin typeface="Antique Olive"/>
                <a:ea typeface="Quicksand"/>
                <a:cs typeface="Quicksand"/>
                <a:sym typeface="Quicksand"/>
              </a:rPr>
              <a:t>let </a:t>
            </a:r>
            <a:r>
              <a:rPr lang="en-US" sz="2000" dirty="0" err="1">
                <a:latin typeface="Antique Olive"/>
                <a:ea typeface="Quicksand"/>
                <a:cs typeface="Quicksand"/>
                <a:sym typeface="Quicksand"/>
              </a:rPr>
              <a:t>let</a:t>
            </a:r>
            <a:r>
              <a:rPr lang="en-US" sz="2000" dirty="0">
                <a:latin typeface="Antique Olive"/>
                <a:ea typeface="Quicksand"/>
                <a:cs typeface="Quicksand"/>
                <a:sym typeface="Quicksand"/>
              </a:rPr>
              <a:t> = 5; </a:t>
            </a:r>
          </a:p>
          <a:p>
            <a:pPr>
              <a:lnSpc>
                <a:spcPts val="4150"/>
              </a:lnSpc>
            </a:pPr>
            <a:r>
              <a:rPr lang="en-US" sz="2000" dirty="0">
                <a:latin typeface="Antique Olive"/>
                <a:ea typeface="Quicksand"/>
                <a:cs typeface="Quicksand"/>
                <a:sym typeface="Quicksand"/>
              </a:rPr>
              <a:t>let return = 5; </a:t>
            </a:r>
            <a:endParaRPr lang="en-US" sz="2000" dirty="0">
              <a:latin typeface="Antique Olive"/>
              <a:ea typeface="Quicksand"/>
              <a:cs typeface="Quicksand"/>
              <a:sym typeface="Quicksand"/>
              <a:hlinkClick r:id="rId2" tooltip="https://javascript.info/strict-mode#use-strict">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strict-mode#use-strict">
                <a:extLst>
                  <a:ext uri="{A12FA001-AC4F-418D-AE19-62706E023703}">
                    <ahyp:hlinkClr xmlns:ahyp="http://schemas.microsoft.com/office/drawing/2018/hyperlinkcolor" val="tx"/>
                  </a:ext>
                </a:extLst>
              </a:hlinkClick>
            </a:endParaRPr>
          </a:p>
        </p:txBody>
      </p:sp>
      <p:sp>
        <p:nvSpPr>
          <p:cNvPr id="3" name="TextBox 3"/>
          <p:cNvSpPr txBox="1"/>
          <p:nvPr/>
        </p:nvSpPr>
        <p:spPr>
          <a:xfrm>
            <a:off x="3973935" y="609600"/>
            <a:ext cx="7532265" cy="725199"/>
          </a:xfrm>
          <a:prstGeom prst="rect">
            <a:avLst/>
          </a:prstGeom>
        </p:spPr>
        <p:txBody>
          <a:bodyPr lIns="0" tIns="0" rIns="0" bIns="0" rtlCol="0" anchor="t">
            <a:spAutoFit/>
          </a:bodyPr>
          <a:lstStyle/>
          <a:p>
            <a:pPr algn="just">
              <a:lnSpc>
                <a:spcPts val="5973"/>
              </a:lnSpc>
              <a:spcBef>
                <a:spcPct val="0"/>
              </a:spcBef>
            </a:pPr>
            <a:r>
              <a:rPr lang="en-US" sz="4000" b="1" dirty="0">
                <a:latin typeface="Antique Olive"/>
                <a:ea typeface="Cormorant Garamond"/>
                <a:cs typeface="Cormorant Garamond"/>
                <a:sym typeface="Cormorant Garamond"/>
              </a:rPr>
              <a:t>Variables</a:t>
            </a:r>
            <a:r>
              <a:rPr lang="en-US" sz="4000" dirty="0">
                <a:solidFill>
                  <a:srgbClr val="0F4662"/>
                </a:solidFill>
                <a:latin typeface="Cormorant Garamond"/>
                <a:ea typeface="Cormorant Garamond"/>
                <a:cs typeface="Cormorant Garamond"/>
                <a:sym typeface="Cormorant Garamond"/>
              </a:rPr>
              <a:t> </a:t>
            </a:r>
            <a:r>
              <a:rPr lang="en-US" sz="3600" b="1" dirty="0">
                <a:latin typeface="Antique Olive"/>
                <a:ea typeface="Cormorant Garamond"/>
                <a:cs typeface="Cormorant Garamond"/>
                <a:sym typeface="Cormorant Garamond"/>
              </a:rPr>
              <a:t>Naming</a:t>
            </a:r>
            <a:endParaRPr lang="en-US" sz="3600" b="1" dirty="0">
              <a:latin typeface="Antique Olive"/>
              <a:ea typeface="Cormorant Garamond"/>
              <a:cs typeface="Cormorant Garamond"/>
              <a:sym typeface="Cormorant Garamond"/>
              <a:hlinkClick r:id="rId3" tooltip="https://javascript.info/variables#variable-naming"/>
            </a:endParaRPr>
          </a:p>
        </p:txBody>
      </p:sp>
    </p:spTree>
    <p:extLst>
      <p:ext uri="{BB962C8B-B14F-4D97-AF65-F5344CB8AC3E}">
        <p14:creationId xmlns:p14="http://schemas.microsoft.com/office/powerpoint/2010/main" val="373710943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33060" y="1463281"/>
            <a:ext cx="10130436" cy="3703321"/>
          </a:xfrm>
          <a:prstGeom prst="rect">
            <a:avLst/>
          </a:prstGeom>
        </p:spPr>
        <p:txBody>
          <a:bodyPr lIns="0" tIns="0" rIns="0" bIns="0" rtlCol="0" anchor="t">
            <a:spAutoFit/>
          </a:bodyPr>
          <a:lstStyle/>
          <a:p>
            <a:pPr>
              <a:lnSpc>
                <a:spcPts val="4150"/>
              </a:lnSpc>
            </a:pPr>
            <a:r>
              <a:rPr lang="en-US" sz="2000" dirty="0">
                <a:latin typeface="Antique Olive"/>
                <a:ea typeface="Quicksand"/>
                <a:cs typeface="Quicksand"/>
                <a:sym typeface="Quicksand"/>
              </a:rPr>
              <a:t>To declare a constant (unchanging) variable(third), use const instead of let:</a:t>
            </a:r>
          </a:p>
          <a:p>
            <a:pPr>
              <a:lnSpc>
                <a:spcPts val="4150"/>
              </a:lnSpc>
            </a:pPr>
            <a:r>
              <a:rPr lang="en-US" sz="2000" dirty="0">
                <a:latin typeface="Antique Olive"/>
                <a:ea typeface="Quicksand"/>
                <a:cs typeface="Quicksand"/>
                <a:sym typeface="Quicksand"/>
              </a:rPr>
              <a:t>const </a:t>
            </a:r>
            <a:r>
              <a:rPr lang="en-US" sz="2000" dirty="0" err="1">
                <a:latin typeface="Antique Olive"/>
                <a:ea typeface="Quicksand"/>
                <a:cs typeface="Quicksand"/>
                <a:sym typeface="Quicksand"/>
              </a:rPr>
              <a:t>myBirthday</a:t>
            </a:r>
            <a:r>
              <a:rPr lang="en-US" sz="2000" dirty="0">
                <a:latin typeface="Antique Olive"/>
                <a:ea typeface="Quicksand"/>
                <a:cs typeface="Quicksand"/>
                <a:sym typeface="Quicksand"/>
              </a:rPr>
              <a:t> = '18.04.1982';</a:t>
            </a:r>
          </a:p>
          <a:p>
            <a:pPr>
              <a:lnSpc>
                <a:spcPts val="4150"/>
              </a:lnSpc>
            </a:pPr>
            <a:r>
              <a:rPr lang="en-US" sz="2000" dirty="0">
                <a:latin typeface="Antique Olive"/>
                <a:ea typeface="Quicksand"/>
                <a:cs typeface="Quicksand"/>
                <a:sym typeface="Quicksand"/>
              </a:rPr>
              <a:t>Variables declared using const are called “constants”. They cannot be reassigned. </a:t>
            </a:r>
          </a:p>
          <a:p>
            <a:pPr>
              <a:lnSpc>
                <a:spcPts val="4150"/>
              </a:lnSpc>
            </a:pPr>
            <a:r>
              <a:rPr lang="en-US" sz="2000" b="1" dirty="0">
                <a:latin typeface="Antique Olive"/>
                <a:ea typeface="Quicksand Bold"/>
                <a:cs typeface="Quicksand Bold"/>
                <a:sym typeface="Quicksand Bold"/>
              </a:rPr>
              <a:t>An attempt to do so would cause an error:</a:t>
            </a:r>
          </a:p>
          <a:p>
            <a:pPr>
              <a:lnSpc>
                <a:spcPts val="4150"/>
              </a:lnSpc>
            </a:pPr>
            <a:r>
              <a:rPr lang="en-US" sz="2000" dirty="0">
                <a:latin typeface="Antique Olive"/>
                <a:ea typeface="Quicksand"/>
                <a:cs typeface="Quicksand"/>
                <a:sym typeface="Quicksand"/>
              </a:rPr>
              <a:t>const </a:t>
            </a:r>
            <a:r>
              <a:rPr lang="en-US" sz="2000" dirty="0" err="1">
                <a:latin typeface="Antique Olive"/>
                <a:ea typeface="Quicksand"/>
                <a:cs typeface="Quicksand"/>
                <a:sym typeface="Quicksand"/>
              </a:rPr>
              <a:t>myBirthday</a:t>
            </a:r>
            <a:r>
              <a:rPr lang="en-US" sz="2000" dirty="0">
                <a:latin typeface="Antique Olive"/>
                <a:ea typeface="Quicksand"/>
                <a:cs typeface="Quicksand"/>
                <a:sym typeface="Quicksand"/>
              </a:rPr>
              <a:t> = '18.04.1982';</a:t>
            </a:r>
          </a:p>
          <a:p>
            <a:pPr>
              <a:lnSpc>
                <a:spcPts val="4150"/>
              </a:lnSpc>
            </a:pPr>
            <a:r>
              <a:rPr lang="en-US" sz="2000" dirty="0" err="1">
                <a:latin typeface="Antique Olive"/>
                <a:ea typeface="Quicksand"/>
                <a:cs typeface="Quicksand"/>
                <a:sym typeface="Quicksand"/>
              </a:rPr>
              <a:t>myBirthday</a:t>
            </a:r>
            <a:r>
              <a:rPr lang="en-US" sz="2000" dirty="0">
                <a:latin typeface="Antique Olive"/>
                <a:ea typeface="Quicksand"/>
                <a:cs typeface="Quicksand"/>
                <a:sym typeface="Quicksand"/>
              </a:rPr>
              <a:t> = '01.01.2001'; // error, can't reassign the constant!</a:t>
            </a:r>
          </a:p>
          <a:p>
            <a:pPr>
              <a:lnSpc>
                <a:spcPts val="4150"/>
              </a:lnSpc>
            </a:pPr>
            <a:endParaRPr lang="en-US" sz="2000" dirty="0">
              <a:latin typeface="Antique Olive"/>
              <a:ea typeface="Quicksand"/>
              <a:cs typeface="Quicksand"/>
              <a:sym typeface="Quicksand"/>
              <a:hlinkClick r:id="rId2" tooltip="https://javascript.info/strict-mode#use-strict">
                <a:extLst>
                  <a:ext uri="{A12FA001-AC4F-418D-AE19-62706E023703}">
                    <ahyp:hlinkClr xmlns:ahyp="http://schemas.microsoft.com/office/drawing/2018/hyperlinkcolor" val="tx"/>
                  </a:ext>
                </a:extLst>
              </a:hlinkClick>
            </a:endParaRPr>
          </a:p>
        </p:txBody>
      </p:sp>
      <p:sp>
        <p:nvSpPr>
          <p:cNvPr id="3" name="TextBox 3"/>
          <p:cNvSpPr txBox="1"/>
          <p:nvPr/>
        </p:nvSpPr>
        <p:spPr>
          <a:xfrm>
            <a:off x="3973935" y="609600"/>
            <a:ext cx="7532265" cy="712503"/>
          </a:xfrm>
          <a:prstGeom prst="rect">
            <a:avLst/>
          </a:prstGeom>
        </p:spPr>
        <p:txBody>
          <a:bodyPr lIns="0" tIns="0" rIns="0" bIns="0" rtlCol="0" anchor="t">
            <a:spAutoFit/>
          </a:bodyPr>
          <a:lstStyle/>
          <a:p>
            <a:pPr algn="just">
              <a:lnSpc>
                <a:spcPts val="5973"/>
              </a:lnSpc>
              <a:spcBef>
                <a:spcPct val="0"/>
              </a:spcBef>
            </a:pPr>
            <a:r>
              <a:rPr lang="en-US" sz="4000" dirty="0">
                <a:latin typeface="Antique Olive"/>
                <a:ea typeface="Cormorant Garamond"/>
                <a:cs typeface="Cormorant Garamond"/>
                <a:sym typeface="Cormorant Garamond"/>
              </a:rPr>
              <a:t>Constants</a:t>
            </a:r>
            <a:endParaRPr lang="en-US" sz="4000" dirty="0">
              <a:latin typeface="Antique Olive"/>
              <a:ea typeface="Cormorant Garamond"/>
              <a:cs typeface="Cormorant Garamond"/>
              <a:sym typeface="Cormorant Garamond"/>
              <a:hlinkClick r:id="rId3" tooltip="https://javascript.info/variables#constants"/>
            </a:endParaRPr>
          </a:p>
        </p:txBody>
      </p:sp>
    </p:spTree>
    <p:extLst>
      <p:ext uri="{BB962C8B-B14F-4D97-AF65-F5344CB8AC3E}">
        <p14:creationId xmlns:p14="http://schemas.microsoft.com/office/powerpoint/2010/main" val="94187632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60334" y="1121933"/>
            <a:ext cx="11813406" cy="4245521"/>
          </a:xfrm>
          <a:prstGeom prst="rect">
            <a:avLst/>
          </a:prstGeom>
        </p:spPr>
        <p:txBody>
          <a:bodyPr lIns="0" tIns="0" rIns="0" bIns="0" rtlCol="0" anchor="t">
            <a:spAutoFit/>
          </a:bodyPr>
          <a:lstStyle/>
          <a:p>
            <a:pPr>
              <a:lnSpc>
                <a:spcPts val="4150"/>
              </a:lnSpc>
            </a:pPr>
            <a:r>
              <a:rPr lang="en-US" sz="2000" u="sng" dirty="0">
                <a:latin typeface="Antique Olive"/>
                <a:ea typeface="Quicksand"/>
                <a:cs typeface="Quicksand"/>
                <a:sym typeface="Quicksand"/>
              </a:rPr>
              <a:t>Interaction: alert, prompt, confirm</a:t>
            </a:r>
          </a:p>
          <a:p>
            <a:pPr>
              <a:lnSpc>
                <a:spcPts val="4150"/>
              </a:lnSpc>
            </a:pPr>
            <a:r>
              <a:rPr lang="en-US" sz="2000" dirty="0">
                <a:latin typeface="Antique Olive"/>
                <a:ea typeface="Quicksand"/>
                <a:cs typeface="Quicksand"/>
                <a:sym typeface="Quicksand"/>
              </a:rPr>
              <a:t>As we’ll be using the browser as our demo environment, let’s see a couple of functions to interact with the user: alert, prompt and confirm.</a:t>
            </a:r>
          </a:p>
          <a:p>
            <a:pPr>
              <a:lnSpc>
                <a:spcPts val="4150"/>
              </a:lnSpc>
            </a:pPr>
            <a:r>
              <a:rPr lang="en-US" sz="2000" dirty="0">
                <a:latin typeface="Antique Olive"/>
                <a:ea typeface="Quicksand"/>
                <a:cs typeface="Quicksand"/>
                <a:sym typeface="Quicksand"/>
              </a:rPr>
              <a:t>alert</a:t>
            </a:r>
          </a:p>
          <a:p>
            <a:pPr>
              <a:lnSpc>
                <a:spcPts val="4150"/>
              </a:lnSpc>
            </a:pPr>
            <a:r>
              <a:rPr lang="en-US" sz="2000" dirty="0">
                <a:latin typeface="Antique Olive"/>
                <a:ea typeface="Quicksand"/>
                <a:cs typeface="Quicksand"/>
                <a:sym typeface="Quicksand"/>
              </a:rPr>
              <a:t>This one we’ve seen already. It shows a message and waits for the user to press “OK”.</a:t>
            </a:r>
          </a:p>
          <a:p>
            <a:pPr>
              <a:lnSpc>
                <a:spcPts val="4150"/>
              </a:lnSpc>
            </a:pPr>
            <a:r>
              <a:rPr lang="en-US" sz="2000" b="1" dirty="0">
                <a:latin typeface="Antique Olive"/>
                <a:ea typeface="Quicksand Bold"/>
                <a:cs typeface="Quicksand Bold"/>
                <a:sym typeface="Quicksand Bold"/>
              </a:rPr>
              <a:t>For example:</a:t>
            </a:r>
          </a:p>
          <a:p>
            <a:pPr>
              <a:lnSpc>
                <a:spcPts val="4150"/>
              </a:lnSpc>
            </a:pPr>
            <a:r>
              <a:rPr lang="en-US" sz="2000" dirty="0">
                <a:latin typeface="Antique Olive"/>
                <a:ea typeface="Quicksand"/>
                <a:cs typeface="Quicksand"/>
                <a:sym typeface="Quicksand"/>
              </a:rPr>
              <a:t>alert("Hello");</a:t>
            </a:r>
            <a:endParaRPr lang="en-US" sz="2000" dirty="0">
              <a:latin typeface="Antique Olive"/>
              <a:ea typeface="Quicksand"/>
              <a:cs typeface="Quicksand"/>
              <a:sym typeface="Quicksand"/>
              <a:hlinkClick r:id="rId2" tooltip="https://javascript.info/types#type-typeof">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types#type-typeof">
                <a:extLst>
                  <a:ext uri="{A12FA001-AC4F-418D-AE19-62706E023703}">
                    <ahyp:hlinkClr xmlns:ahyp="http://schemas.microsoft.com/office/drawing/2018/hyperlinkcolor" val="tx"/>
                  </a:ext>
                </a:extLst>
              </a:hlinkClick>
            </a:endParaRPr>
          </a:p>
        </p:txBody>
      </p:sp>
      <p:sp>
        <p:nvSpPr>
          <p:cNvPr id="3" name="TextBox 3"/>
          <p:cNvSpPr txBox="1"/>
          <p:nvPr/>
        </p:nvSpPr>
        <p:spPr>
          <a:xfrm>
            <a:off x="3544767" y="420266"/>
            <a:ext cx="7532265" cy="712503"/>
          </a:xfrm>
          <a:prstGeom prst="rect">
            <a:avLst/>
          </a:prstGeom>
        </p:spPr>
        <p:txBody>
          <a:bodyPr lIns="0" tIns="0" rIns="0" bIns="0" rtlCol="0" anchor="t">
            <a:spAutoFit/>
          </a:bodyPr>
          <a:lstStyle/>
          <a:p>
            <a:pPr algn="just">
              <a:lnSpc>
                <a:spcPts val="5973"/>
              </a:lnSpc>
              <a:spcBef>
                <a:spcPct val="0"/>
              </a:spcBef>
            </a:pPr>
            <a:r>
              <a:rPr lang="en-US" sz="4000" b="1" dirty="0">
                <a:latin typeface="Antique Olive"/>
                <a:ea typeface="Cormorant Garamond"/>
                <a:cs typeface="Cormorant Garamond"/>
                <a:sym typeface="Cormorant Garamond"/>
              </a:rPr>
              <a:t>Interaction Function</a:t>
            </a:r>
          </a:p>
        </p:txBody>
      </p:sp>
    </p:spTree>
    <p:extLst>
      <p:ext uri="{BB962C8B-B14F-4D97-AF65-F5344CB8AC3E}">
        <p14:creationId xmlns:p14="http://schemas.microsoft.com/office/powerpoint/2010/main" val="287245426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98190" y="1233629"/>
            <a:ext cx="11813406" cy="4784130"/>
          </a:xfrm>
          <a:prstGeom prst="rect">
            <a:avLst/>
          </a:prstGeom>
        </p:spPr>
        <p:txBody>
          <a:bodyPr lIns="0" tIns="0" rIns="0" bIns="0" rtlCol="0" anchor="t">
            <a:spAutoFit/>
          </a:bodyPr>
          <a:lstStyle/>
          <a:p>
            <a:pPr>
              <a:lnSpc>
                <a:spcPts val="4150"/>
              </a:lnSpc>
            </a:pPr>
            <a:r>
              <a:rPr lang="en-US" sz="2000" b="1" dirty="0">
                <a:latin typeface="Antique Olive"/>
                <a:sym typeface="Quicksand"/>
              </a:rPr>
              <a:t>prompt</a:t>
            </a:r>
          </a:p>
          <a:p>
            <a:pPr>
              <a:lnSpc>
                <a:spcPts val="4150"/>
              </a:lnSpc>
            </a:pPr>
            <a:r>
              <a:rPr lang="en-US" sz="2000" dirty="0">
                <a:latin typeface="Antique Olive"/>
                <a:sym typeface="Quicksand"/>
              </a:rPr>
              <a:t>The function prompt accepts two arguments:</a:t>
            </a:r>
          </a:p>
          <a:p>
            <a:pPr>
              <a:lnSpc>
                <a:spcPts val="4150"/>
              </a:lnSpc>
            </a:pPr>
            <a:r>
              <a:rPr lang="en-US" sz="2000" dirty="0">
                <a:latin typeface="Antique Olive"/>
                <a:sym typeface="Quicksand"/>
              </a:rPr>
              <a:t>result = prompt(title, [default]);</a:t>
            </a:r>
          </a:p>
          <a:p>
            <a:pPr>
              <a:lnSpc>
                <a:spcPts val="4150"/>
              </a:lnSpc>
            </a:pPr>
            <a:r>
              <a:rPr lang="en-US" sz="2000" dirty="0">
                <a:latin typeface="Antique Olive"/>
                <a:sym typeface="Quicksand"/>
              </a:rPr>
              <a:t>It shows a modal window with a text message, an input field for the visitor, and the buttons OK/Cancel.</a:t>
            </a:r>
          </a:p>
          <a:p>
            <a:pPr>
              <a:lnSpc>
                <a:spcPts val="4150"/>
              </a:lnSpc>
            </a:pPr>
            <a:r>
              <a:rPr lang="en-US" sz="2000" b="1" dirty="0">
                <a:latin typeface="Antique Olive"/>
                <a:sym typeface="Quicksand"/>
              </a:rPr>
              <a:t>title</a:t>
            </a:r>
          </a:p>
          <a:p>
            <a:pPr>
              <a:lnSpc>
                <a:spcPts val="4150"/>
              </a:lnSpc>
            </a:pPr>
            <a:r>
              <a:rPr lang="en-US" sz="2000" dirty="0">
                <a:latin typeface="Antique Olive"/>
                <a:sym typeface="Quicksand"/>
              </a:rPr>
              <a:t>The text to show the visitor.</a:t>
            </a:r>
          </a:p>
          <a:p>
            <a:pPr>
              <a:lnSpc>
                <a:spcPts val="4150"/>
              </a:lnSpc>
            </a:pPr>
            <a:r>
              <a:rPr lang="en-US" sz="2000" b="1" dirty="0">
                <a:latin typeface="Antique Olive"/>
                <a:sym typeface="Quicksand"/>
              </a:rPr>
              <a:t>default</a:t>
            </a:r>
          </a:p>
          <a:p>
            <a:pPr>
              <a:lnSpc>
                <a:spcPts val="4150"/>
              </a:lnSpc>
            </a:pPr>
            <a:r>
              <a:rPr lang="en-US" sz="2000" dirty="0">
                <a:latin typeface="Antique Olive"/>
                <a:sym typeface="Quicksand"/>
              </a:rPr>
              <a:t>An optional second parameter, the initial value for the input field.</a:t>
            </a:r>
            <a:endParaRPr lang="en-US" sz="2000" dirty="0">
              <a:latin typeface="Antique Olive"/>
              <a:sym typeface="Quicksand"/>
              <a:hlinkClick r:id="rId2" tooltip="https://javascript.info/types#type-typeof">
                <a:extLst>
                  <a:ext uri="{A12FA001-AC4F-418D-AE19-62706E023703}">
                    <ahyp:hlinkClr xmlns:ahyp="http://schemas.microsoft.com/office/drawing/2018/hyperlinkcolor" val="tx"/>
                  </a:ext>
                </a:extLst>
              </a:hlinkClick>
            </a:endParaRPr>
          </a:p>
          <a:p>
            <a:pPr>
              <a:lnSpc>
                <a:spcPts val="4150"/>
              </a:lnSpc>
            </a:pPr>
            <a:endParaRPr lang="en-US" sz="2441" dirty="0">
              <a:solidFill>
                <a:srgbClr val="0F4662"/>
              </a:solidFill>
              <a:latin typeface="Quicksand"/>
              <a:ea typeface="Quicksand"/>
              <a:cs typeface="Quicksand"/>
              <a:sym typeface="Quicksand"/>
              <a:hlinkClick r:id="rId2" tooltip="https://javascript.info/types#type-typeof"/>
            </a:endParaRPr>
          </a:p>
        </p:txBody>
      </p:sp>
      <p:sp>
        <p:nvSpPr>
          <p:cNvPr id="3" name="TextBox 3"/>
          <p:cNvSpPr txBox="1"/>
          <p:nvPr/>
        </p:nvSpPr>
        <p:spPr>
          <a:xfrm>
            <a:off x="3544767" y="420266"/>
            <a:ext cx="7532265" cy="726033"/>
          </a:xfrm>
          <a:prstGeom prst="rect">
            <a:avLst/>
          </a:prstGeom>
        </p:spPr>
        <p:txBody>
          <a:bodyPr lIns="0" tIns="0" rIns="0" bIns="0" rtlCol="0" anchor="t">
            <a:spAutoFit/>
          </a:bodyPr>
          <a:lstStyle/>
          <a:p>
            <a:pPr algn="just">
              <a:lnSpc>
                <a:spcPts val="5973"/>
              </a:lnSpc>
              <a:spcBef>
                <a:spcPct val="0"/>
              </a:spcBef>
            </a:pPr>
            <a:r>
              <a:rPr lang="en-US" sz="4400" b="1" dirty="0">
                <a:latin typeface="Antique Olive"/>
                <a:ea typeface="Cormorant Garamond"/>
                <a:cs typeface="Cormorant Garamond"/>
                <a:sym typeface="Cormorant Garamond"/>
              </a:rPr>
              <a:t>Interaction Function</a:t>
            </a:r>
          </a:p>
        </p:txBody>
      </p:sp>
    </p:spTree>
    <p:extLst>
      <p:ext uri="{BB962C8B-B14F-4D97-AF65-F5344CB8AC3E}">
        <p14:creationId xmlns:p14="http://schemas.microsoft.com/office/powerpoint/2010/main" val="256531795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51456" y="996652"/>
            <a:ext cx="11287478" cy="3179653"/>
          </a:xfrm>
          <a:prstGeom prst="rect">
            <a:avLst/>
          </a:prstGeom>
        </p:spPr>
        <p:txBody>
          <a:bodyPr lIns="0" tIns="0" rIns="0" bIns="0" rtlCol="0" anchor="t">
            <a:spAutoFit/>
          </a:bodyPr>
          <a:lstStyle/>
          <a:p>
            <a:pPr>
              <a:lnSpc>
                <a:spcPts val="4150"/>
              </a:lnSpc>
            </a:pPr>
            <a:r>
              <a:rPr lang="en-US" sz="2000" b="1" dirty="0">
                <a:latin typeface="Antique Olive"/>
                <a:sym typeface="Quicksand"/>
              </a:rPr>
              <a:t>prompt</a:t>
            </a:r>
          </a:p>
          <a:p>
            <a:pPr>
              <a:lnSpc>
                <a:spcPts val="4150"/>
              </a:lnSpc>
            </a:pPr>
            <a:r>
              <a:rPr lang="en-US" sz="2000" dirty="0">
                <a:latin typeface="Antique Olive"/>
                <a:sym typeface="Quicksand"/>
              </a:rPr>
              <a:t>The call to prompt returns the text from the input field or null if the input was canceled.</a:t>
            </a:r>
          </a:p>
          <a:p>
            <a:pPr>
              <a:lnSpc>
                <a:spcPts val="4150"/>
              </a:lnSpc>
            </a:pPr>
            <a:r>
              <a:rPr lang="en-US" sz="2000" dirty="0">
                <a:latin typeface="Antique Olive"/>
                <a:sym typeface="Quicksand"/>
              </a:rPr>
              <a:t>let age = prompt('How old are you?', 100);</a:t>
            </a:r>
          </a:p>
          <a:p>
            <a:pPr>
              <a:lnSpc>
                <a:spcPts val="4150"/>
              </a:lnSpc>
            </a:pPr>
            <a:r>
              <a:rPr lang="en-US" sz="2000" dirty="0">
                <a:latin typeface="Antique Olive"/>
                <a:sym typeface="Quicksand"/>
              </a:rPr>
              <a:t>alert(`You are ${age} years old!`); // You are 100 years old!</a:t>
            </a: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p:txBody>
      </p:sp>
      <p:sp>
        <p:nvSpPr>
          <p:cNvPr id="3" name="TextBox 3"/>
          <p:cNvSpPr txBox="1"/>
          <p:nvPr/>
        </p:nvSpPr>
        <p:spPr>
          <a:xfrm>
            <a:off x="3544767" y="420266"/>
            <a:ext cx="7532265" cy="726033"/>
          </a:xfrm>
          <a:prstGeom prst="rect">
            <a:avLst/>
          </a:prstGeom>
        </p:spPr>
        <p:txBody>
          <a:bodyPr lIns="0" tIns="0" rIns="0" bIns="0" rtlCol="0" anchor="t">
            <a:spAutoFit/>
          </a:bodyPr>
          <a:lstStyle/>
          <a:p>
            <a:pPr algn="just">
              <a:lnSpc>
                <a:spcPts val="5973"/>
              </a:lnSpc>
              <a:spcBef>
                <a:spcPct val="0"/>
              </a:spcBef>
            </a:pPr>
            <a:r>
              <a:rPr lang="en-US" sz="4400" b="1" dirty="0">
                <a:latin typeface="Antique Olive"/>
                <a:ea typeface="Cormorant Garamond"/>
                <a:cs typeface="Cormorant Garamond"/>
                <a:sym typeface="Cormorant Garamond"/>
              </a:rPr>
              <a:t>Interaction Function</a:t>
            </a:r>
          </a:p>
        </p:txBody>
      </p:sp>
    </p:spTree>
    <p:extLst>
      <p:ext uri="{BB962C8B-B14F-4D97-AF65-F5344CB8AC3E}">
        <p14:creationId xmlns:p14="http://schemas.microsoft.com/office/powerpoint/2010/main" val="191168873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98490" y="1114995"/>
            <a:ext cx="11287478" cy="4784130"/>
          </a:xfrm>
          <a:prstGeom prst="rect">
            <a:avLst/>
          </a:prstGeom>
        </p:spPr>
        <p:txBody>
          <a:bodyPr lIns="0" tIns="0" rIns="0" bIns="0" rtlCol="0" anchor="t">
            <a:spAutoFit/>
          </a:bodyPr>
          <a:lstStyle/>
          <a:p>
            <a:pPr>
              <a:lnSpc>
                <a:spcPts val="4150"/>
              </a:lnSpc>
            </a:pPr>
            <a:r>
              <a:rPr lang="en-US" sz="2000" b="1" dirty="0">
                <a:latin typeface="Antique Olive"/>
                <a:sym typeface="Quicksand"/>
              </a:rPr>
              <a:t>confirm</a:t>
            </a:r>
          </a:p>
          <a:p>
            <a:pPr>
              <a:lnSpc>
                <a:spcPts val="4150"/>
              </a:lnSpc>
            </a:pPr>
            <a:r>
              <a:rPr lang="en-US" sz="2000" dirty="0">
                <a:latin typeface="Antique Olive"/>
                <a:sym typeface="Quicksand Bold"/>
              </a:rPr>
              <a:t>The syntax:</a:t>
            </a:r>
          </a:p>
          <a:p>
            <a:pPr>
              <a:lnSpc>
                <a:spcPts val="4150"/>
              </a:lnSpc>
            </a:pPr>
            <a:r>
              <a:rPr lang="en-US" sz="2000" dirty="0">
                <a:latin typeface="Antique Olive"/>
                <a:sym typeface="Quicksand"/>
              </a:rPr>
              <a:t>result = confirm(question);</a:t>
            </a:r>
          </a:p>
          <a:p>
            <a:pPr>
              <a:lnSpc>
                <a:spcPts val="4150"/>
              </a:lnSpc>
            </a:pPr>
            <a:r>
              <a:rPr lang="en-US" sz="2000" dirty="0">
                <a:latin typeface="Antique Olive"/>
                <a:sym typeface="Quicksand"/>
              </a:rPr>
              <a:t>The function confirm shows a modal window with a question and two buttons: OK and Cancel.</a:t>
            </a:r>
          </a:p>
          <a:p>
            <a:pPr>
              <a:lnSpc>
                <a:spcPts val="4150"/>
              </a:lnSpc>
            </a:pPr>
            <a:r>
              <a:rPr lang="en-US" sz="2000" dirty="0">
                <a:latin typeface="Antique Olive"/>
                <a:sym typeface="Quicksand"/>
              </a:rPr>
              <a:t>The result is true if OK is pressed and false otherwise.</a:t>
            </a:r>
          </a:p>
          <a:p>
            <a:pPr>
              <a:lnSpc>
                <a:spcPts val="4150"/>
              </a:lnSpc>
            </a:pPr>
            <a:r>
              <a:rPr lang="en-US" sz="2000" dirty="0">
                <a:latin typeface="Antique Olive"/>
                <a:sym typeface="Quicksand Bold"/>
              </a:rPr>
              <a:t>For example:</a:t>
            </a:r>
          </a:p>
          <a:p>
            <a:pPr>
              <a:lnSpc>
                <a:spcPts val="4150"/>
              </a:lnSpc>
            </a:pPr>
            <a:r>
              <a:rPr lang="en-US" sz="2000" dirty="0">
                <a:latin typeface="Antique Olive"/>
                <a:sym typeface="Quicksand"/>
              </a:rPr>
              <a:t>let </a:t>
            </a:r>
            <a:r>
              <a:rPr lang="en-US" sz="2000" dirty="0" err="1">
                <a:latin typeface="Antique Olive"/>
                <a:sym typeface="Quicksand"/>
              </a:rPr>
              <a:t>isBoss</a:t>
            </a:r>
            <a:r>
              <a:rPr lang="en-US" sz="2000" dirty="0">
                <a:latin typeface="Antique Olive"/>
                <a:sym typeface="Quicksand"/>
              </a:rPr>
              <a:t> = confirm("Are you the boss?");</a:t>
            </a:r>
          </a:p>
          <a:p>
            <a:pPr>
              <a:lnSpc>
                <a:spcPts val="4150"/>
              </a:lnSpc>
            </a:pPr>
            <a:r>
              <a:rPr lang="en-US" sz="2000" dirty="0">
                <a:latin typeface="Antique Olive"/>
                <a:sym typeface="Quicksand"/>
              </a:rPr>
              <a:t>alert( </a:t>
            </a:r>
            <a:r>
              <a:rPr lang="en-US" sz="2000" dirty="0" err="1">
                <a:latin typeface="Antique Olive"/>
                <a:sym typeface="Quicksand"/>
              </a:rPr>
              <a:t>isBoss</a:t>
            </a:r>
            <a:r>
              <a:rPr lang="en-US" sz="2000" dirty="0">
                <a:latin typeface="Antique Olive"/>
                <a:sym typeface="Quicksand"/>
              </a:rPr>
              <a:t> ); // true    if OK is pressed</a:t>
            </a:r>
            <a:endParaRPr lang="en-US" sz="2000" dirty="0">
              <a:latin typeface="Antique Olive"/>
              <a:sym typeface="Quicksand"/>
              <a:hlinkClick r:id="rId2" tooltip="https://javascript.info/alert-prompt-confirm#prompt">
                <a:extLst>
                  <a:ext uri="{A12FA001-AC4F-418D-AE19-62706E023703}">
                    <ahyp:hlinkClr xmlns:ahyp="http://schemas.microsoft.com/office/drawing/2018/hyperlinkcolor" val="tx"/>
                  </a:ext>
                </a:extLst>
              </a:hlinkClick>
            </a:endParaRPr>
          </a:p>
          <a:p>
            <a:pPr>
              <a:lnSpc>
                <a:spcPts val="4150"/>
              </a:lnSpc>
            </a:pPr>
            <a:endParaRPr lang="en-US" sz="2441" dirty="0">
              <a:solidFill>
                <a:srgbClr val="0F4662"/>
              </a:solidFill>
              <a:latin typeface="Quicksand"/>
              <a:ea typeface="Quicksand"/>
              <a:cs typeface="Quicksand"/>
              <a:sym typeface="Quicksand"/>
              <a:hlinkClick r:id="rId2" tooltip="https://javascript.info/alert-prompt-confirm#prompt"/>
            </a:endParaRPr>
          </a:p>
        </p:txBody>
      </p:sp>
      <p:sp>
        <p:nvSpPr>
          <p:cNvPr id="3" name="TextBox 3"/>
          <p:cNvSpPr txBox="1"/>
          <p:nvPr/>
        </p:nvSpPr>
        <p:spPr>
          <a:xfrm>
            <a:off x="3544767" y="420266"/>
            <a:ext cx="7532265" cy="726033"/>
          </a:xfrm>
          <a:prstGeom prst="rect">
            <a:avLst/>
          </a:prstGeom>
        </p:spPr>
        <p:txBody>
          <a:bodyPr lIns="0" tIns="0" rIns="0" bIns="0" rtlCol="0" anchor="t">
            <a:spAutoFit/>
          </a:bodyPr>
          <a:lstStyle/>
          <a:p>
            <a:pPr algn="just">
              <a:lnSpc>
                <a:spcPts val="5973"/>
              </a:lnSpc>
              <a:spcBef>
                <a:spcPct val="0"/>
              </a:spcBef>
            </a:pPr>
            <a:r>
              <a:rPr lang="en-US" sz="4400" b="1" dirty="0">
                <a:latin typeface="Antique Olive"/>
                <a:ea typeface="Cormorant Garamond"/>
                <a:cs typeface="Cormorant Garamond"/>
                <a:sym typeface="Cormorant Garamond"/>
              </a:rPr>
              <a:t>Interaction Function</a:t>
            </a:r>
          </a:p>
        </p:txBody>
      </p:sp>
    </p:spTree>
    <p:extLst>
      <p:ext uri="{BB962C8B-B14F-4D97-AF65-F5344CB8AC3E}">
        <p14:creationId xmlns:p14="http://schemas.microsoft.com/office/powerpoint/2010/main" val="28668141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56769" y="1949685"/>
            <a:ext cx="5869099" cy="3421448"/>
          </a:xfrm>
          <a:custGeom>
            <a:avLst/>
            <a:gdLst/>
            <a:ahLst/>
            <a:cxnLst/>
            <a:rect l="l" t="t" r="r" b="b"/>
            <a:pathLst>
              <a:path w="8803649" h="5132172">
                <a:moveTo>
                  <a:pt x="0" y="0"/>
                </a:moveTo>
                <a:lnTo>
                  <a:pt x="8803649" y="0"/>
                </a:lnTo>
                <a:lnTo>
                  <a:pt x="8803649" y="5132171"/>
                </a:lnTo>
                <a:lnTo>
                  <a:pt x="0" y="5132171"/>
                </a:lnTo>
                <a:lnTo>
                  <a:pt x="0" y="0"/>
                </a:lnTo>
                <a:close/>
              </a:path>
            </a:pathLst>
          </a:custGeom>
          <a:blipFill>
            <a:blip r:embed="rId2"/>
            <a:stretch>
              <a:fillRect/>
            </a:stretch>
          </a:blipFill>
        </p:spPr>
      </p:sp>
      <p:sp>
        <p:nvSpPr>
          <p:cNvPr id="3" name="TextBox 3"/>
          <p:cNvSpPr txBox="1"/>
          <p:nvPr/>
        </p:nvSpPr>
        <p:spPr>
          <a:xfrm>
            <a:off x="685800" y="1174198"/>
            <a:ext cx="11287478" cy="1013867"/>
          </a:xfrm>
          <a:prstGeom prst="rect">
            <a:avLst/>
          </a:prstGeom>
        </p:spPr>
        <p:txBody>
          <a:bodyPr lIns="0" tIns="0" rIns="0" bIns="0" rtlCol="0" anchor="t">
            <a:spAutoFit/>
          </a:bodyPr>
          <a:lstStyle/>
          <a:p>
            <a:pPr>
              <a:lnSpc>
                <a:spcPts val="4150"/>
              </a:lnSpc>
            </a:pPr>
            <a:r>
              <a:rPr lang="en-US" sz="2000" dirty="0">
                <a:latin typeface="Antique Olive"/>
                <a:sym typeface="Quicksand"/>
                <a:hlinkClick r:id="rId3" tooltip="https://javascript.info/alert-prompt-confirm#confirm">
                  <a:extLst>
                    <a:ext uri="{A12FA001-AC4F-418D-AE19-62706E023703}">
                      <ahyp:hlinkClr xmlns:ahyp="http://schemas.microsoft.com/office/drawing/2018/hyperlinkcolor" val="tx"/>
                    </a:ext>
                  </a:extLst>
                </a:hlinkClick>
              </a:rPr>
              <a:t>Create a web-page that asks for a name and outputs it.</a:t>
            </a:r>
          </a:p>
          <a:p>
            <a:pPr>
              <a:lnSpc>
                <a:spcPts val="4150"/>
              </a:lnSpc>
            </a:pPr>
            <a:endParaRPr lang="en-US" sz="2441" dirty="0">
              <a:solidFill>
                <a:srgbClr val="0F4662"/>
              </a:solidFill>
              <a:latin typeface="Quicksand"/>
              <a:ea typeface="Quicksand"/>
              <a:cs typeface="Quicksand"/>
              <a:sym typeface="Quicksand"/>
              <a:hlinkClick r:id="rId3" tooltip="https://javascript.info/alert-prompt-confirm#confirm"/>
            </a:endParaRPr>
          </a:p>
        </p:txBody>
      </p:sp>
      <p:sp>
        <p:nvSpPr>
          <p:cNvPr id="4" name="TextBox 4"/>
          <p:cNvSpPr txBox="1"/>
          <p:nvPr/>
        </p:nvSpPr>
        <p:spPr>
          <a:xfrm>
            <a:off x="4659735" y="438798"/>
            <a:ext cx="7532265" cy="712503"/>
          </a:xfrm>
          <a:prstGeom prst="rect">
            <a:avLst/>
          </a:prstGeom>
        </p:spPr>
        <p:txBody>
          <a:bodyPr lIns="0" tIns="0" rIns="0" bIns="0" rtlCol="0" anchor="t">
            <a:spAutoFit/>
          </a:bodyPr>
          <a:lstStyle/>
          <a:p>
            <a:pPr algn="just">
              <a:lnSpc>
                <a:spcPts val="5973"/>
              </a:lnSpc>
              <a:spcBef>
                <a:spcPct val="0"/>
              </a:spcBef>
            </a:pPr>
            <a:r>
              <a:rPr lang="en-US" sz="4000" b="1" dirty="0">
                <a:latin typeface="Antique Olive"/>
                <a:ea typeface="Cormorant Garamond"/>
                <a:cs typeface="Cormorant Garamond"/>
                <a:sym typeface="Cormorant Garamond"/>
              </a:rPr>
              <a:t>Task</a:t>
            </a:r>
          </a:p>
        </p:txBody>
      </p:sp>
    </p:spTree>
    <p:extLst>
      <p:ext uri="{BB962C8B-B14F-4D97-AF65-F5344CB8AC3E}">
        <p14:creationId xmlns:p14="http://schemas.microsoft.com/office/powerpoint/2010/main" val="253058901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1171001"/>
            <a:ext cx="10130436" cy="4241930"/>
          </a:xfrm>
          <a:prstGeom prst="rect">
            <a:avLst/>
          </a:prstGeom>
        </p:spPr>
        <p:txBody>
          <a:bodyPr lIns="0" tIns="0" rIns="0" bIns="0" rtlCol="0" anchor="t">
            <a:spAutoFit/>
          </a:bodyPr>
          <a:lstStyle/>
          <a:p>
            <a:pPr>
              <a:lnSpc>
                <a:spcPts val="4150"/>
              </a:lnSpc>
            </a:pPr>
            <a:r>
              <a:rPr lang="en-US" sz="2000" dirty="0">
                <a:latin typeface="Antique Olive"/>
                <a:sym typeface="Quicksand"/>
              </a:rPr>
              <a:t>A value in JavaScript is always of a certain type. For example, a string or a number.</a:t>
            </a:r>
          </a:p>
          <a:p>
            <a:pPr>
              <a:lnSpc>
                <a:spcPts val="4150"/>
              </a:lnSpc>
            </a:pPr>
            <a:r>
              <a:rPr lang="en-US" sz="2000" dirty="0">
                <a:latin typeface="Antique Olive"/>
                <a:sym typeface="Quicksand"/>
              </a:rPr>
              <a:t>We can put any type in a variable. For example, a variable can at one moment be a string and then store a number:</a:t>
            </a:r>
          </a:p>
          <a:p>
            <a:pPr>
              <a:lnSpc>
                <a:spcPts val="4150"/>
              </a:lnSpc>
            </a:pPr>
            <a:r>
              <a:rPr lang="en-US" sz="2000" dirty="0">
                <a:latin typeface="Antique Olive"/>
                <a:sym typeface="Quicksand"/>
              </a:rPr>
              <a:t>// no error</a:t>
            </a:r>
          </a:p>
          <a:p>
            <a:pPr>
              <a:lnSpc>
                <a:spcPts val="4150"/>
              </a:lnSpc>
            </a:pPr>
            <a:r>
              <a:rPr lang="en-US" sz="2000" dirty="0">
                <a:latin typeface="Antique Olive"/>
                <a:sym typeface="Quicksand"/>
              </a:rPr>
              <a:t>let message = "hello";</a:t>
            </a:r>
          </a:p>
          <a:p>
            <a:pPr>
              <a:lnSpc>
                <a:spcPts val="4150"/>
              </a:lnSpc>
            </a:pPr>
            <a:r>
              <a:rPr lang="en-US" sz="2000" dirty="0">
                <a:latin typeface="Antique Olive"/>
                <a:sym typeface="Quicksand"/>
              </a:rPr>
              <a:t>message = 123456;</a:t>
            </a:r>
            <a:endParaRPr lang="en-US" sz="2000" dirty="0">
              <a:latin typeface="Antique Olive"/>
              <a:sym typeface="Quicksand"/>
              <a:hlinkClick r:id="rId2" tooltip="https://javascript.info/strict-mode#use-strict">
                <a:extLst>
                  <a:ext uri="{A12FA001-AC4F-418D-AE19-62706E023703}">
                    <ahyp:hlinkClr xmlns:ahyp="http://schemas.microsoft.com/office/drawing/2018/hyperlinkcolor" val="tx"/>
                  </a:ext>
                </a:extLst>
              </a:hlinkClick>
            </a:endParaRPr>
          </a:p>
          <a:p>
            <a:pPr>
              <a:lnSpc>
                <a:spcPts val="4150"/>
              </a:lnSpc>
            </a:pPr>
            <a:r>
              <a:rPr lang="en-US" sz="2000" dirty="0">
                <a:latin typeface="Antique Olive"/>
                <a:sym typeface="Quicksand"/>
              </a:rPr>
              <a:t>Programming languages that allow such things, such as JavaScript, are called “</a:t>
            </a:r>
            <a:r>
              <a:rPr lang="en-US" sz="2000" b="1" dirty="0">
                <a:latin typeface="Antique Olive"/>
                <a:sym typeface="Quicksand"/>
              </a:rPr>
              <a:t>dynamically typed</a:t>
            </a:r>
            <a:r>
              <a:rPr lang="en-US" sz="2000" dirty="0">
                <a:latin typeface="Antique Olive"/>
                <a:sym typeface="Quicksand"/>
              </a:rPr>
              <a:t>”, meaning that there exist data types, but variables are not bound to any of them.</a:t>
            </a:r>
          </a:p>
        </p:txBody>
      </p:sp>
      <p:sp>
        <p:nvSpPr>
          <p:cNvPr id="3" name="TextBox 3"/>
          <p:cNvSpPr txBox="1"/>
          <p:nvPr/>
        </p:nvSpPr>
        <p:spPr>
          <a:xfrm>
            <a:off x="3973935" y="420266"/>
            <a:ext cx="7532265" cy="721480"/>
          </a:xfrm>
          <a:prstGeom prst="rect">
            <a:avLst/>
          </a:prstGeom>
        </p:spPr>
        <p:txBody>
          <a:bodyPr lIns="0" tIns="0" rIns="0" bIns="0" rtlCol="0" anchor="t">
            <a:spAutoFit/>
          </a:bodyPr>
          <a:lstStyle/>
          <a:p>
            <a:pPr algn="just">
              <a:lnSpc>
                <a:spcPts val="5973"/>
              </a:lnSpc>
              <a:spcBef>
                <a:spcPct val="0"/>
              </a:spcBef>
            </a:pPr>
            <a:r>
              <a:rPr lang="en-US" sz="4000" b="1" dirty="0">
                <a:latin typeface="Antique Olive"/>
                <a:ea typeface="Cormorant Garamond"/>
                <a:cs typeface="Cormorant Garamond"/>
                <a:sym typeface="Cormorant Garamond"/>
              </a:rPr>
              <a:t>Data types</a:t>
            </a:r>
            <a:endParaRPr lang="en-US" sz="4000" b="1" dirty="0">
              <a:latin typeface="Antique Olive"/>
              <a:ea typeface="Cormorant Garamond"/>
              <a:cs typeface="Cormorant Garamond"/>
              <a:sym typeface="Cormorant Garamond"/>
              <a:hlinkClick r:id="rId3" tooltip="https://javascript.info/variables#constant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9642824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1171001"/>
            <a:ext cx="10130436" cy="4784130"/>
          </a:xfrm>
          <a:prstGeom prst="rect">
            <a:avLst/>
          </a:prstGeom>
        </p:spPr>
        <p:txBody>
          <a:bodyPr lIns="0" tIns="0" rIns="0" bIns="0" rtlCol="0" anchor="t">
            <a:spAutoFit/>
          </a:bodyPr>
          <a:lstStyle/>
          <a:p>
            <a:pPr>
              <a:lnSpc>
                <a:spcPts val="4150"/>
              </a:lnSpc>
            </a:pPr>
            <a:r>
              <a:rPr lang="en-US" sz="2000" u="sng" dirty="0">
                <a:latin typeface="Antique Olive"/>
                <a:sym typeface="Quicksand"/>
              </a:rPr>
              <a:t>Number</a:t>
            </a:r>
          </a:p>
          <a:p>
            <a:pPr>
              <a:lnSpc>
                <a:spcPts val="4150"/>
              </a:lnSpc>
            </a:pPr>
            <a:r>
              <a:rPr lang="en-US" sz="2000" dirty="0">
                <a:latin typeface="Antique Olive"/>
                <a:sym typeface="Quicksand"/>
              </a:rPr>
              <a:t>let n = 123;</a:t>
            </a:r>
          </a:p>
          <a:p>
            <a:pPr>
              <a:lnSpc>
                <a:spcPts val="4150"/>
              </a:lnSpc>
            </a:pPr>
            <a:r>
              <a:rPr lang="en-US" sz="2000" dirty="0">
                <a:latin typeface="Antique Olive"/>
                <a:sym typeface="Quicksand"/>
              </a:rPr>
              <a:t>n = 12.345;</a:t>
            </a:r>
          </a:p>
          <a:p>
            <a:pPr>
              <a:lnSpc>
                <a:spcPts val="4150"/>
              </a:lnSpc>
            </a:pPr>
            <a:r>
              <a:rPr lang="en-US" sz="2000" dirty="0">
                <a:latin typeface="Antique Olive"/>
                <a:sym typeface="Quicksand"/>
              </a:rPr>
              <a:t>The number type represents both </a:t>
            </a:r>
            <a:r>
              <a:rPr lang="en-US" sz="2000" b="1" dirty="0">
                <a:latin typeface="Antique Olive"/>
                <a:sym typeface="Quicksand"/>
              </a:rPr>
              <a:t>integer</a:t>
            </a:r>
            <a:r>
              <a:rPr lang="en-US" sz="2000" dirty="0">
                <a:latin typeface="Antique Olive"/>
                <a:sym typeface="Quicksand"/>
              </a:rPr>
              <a:t> and </a:t>
            </a:r>
            <a:r>
              <a:rPr lang="en-US" sz="2000" b="1" dirty="0">
                <a:latin typeface="Antique Olive"/>
                <a:sym typeface="Quicksand"/>
              </a:rPr>
              <a:t>floating</a:t>
            </a:r>
            <a:r>
              <a:rPr lang="en-US" sz="2000" dirty="0">
                <a:latin typeface="Antique Olive"/>
                <a:sym typeface="Quicksand"/>
              </a:rPr>
              <a:t> point numbers.</a:t>
            </a:r>
          </a:p>
          <a:p>
            <a:pPr>
              <a:lnSpc>
                <a:spcPts val="4150"/>
              </a:lnSpc>
            </a:pPr>
            <a:r>
              <a:rPr lang="en-US" sz="2000" dirty="0">
                <a:latin typeface="Antique Olive"/>
                <a:sym typeface="Quicksand"/>
              </a:rPr>
              <a:t>There are many operations for numbers, e.g. multiplication *, division /, addition +, subtraction -, and so on.</a:t>
            </a:r>
          </a:p>
          <a:p>
            <a:pPr>
              <a:lnSpc>
                <a:spcPts val="4150"/>
              </a:lnSpc>
            </a:pPr>
            <a:r>
              <a:rPr lang="en-US" sz="2000" dirty="0">
                <a:latin typeface="Antique Olive"/>
                <a:sym typeface="Quicksand"/>
              </a:rPr>
              <a:t>Besides regular numbers, there are so-called “special numeric values” which also belong to this data type: Infinity, -Infinity and </a:t>
            </a:r>
            <a:r>
              <a:rPr lang="en-US" sz="2000" dirty="0" err="1">
                <a:latin typeface="Antique Olive"/>
                <a:sym typeface="Quicksand"/>
              </a:rPr>
              <a:t>NaN</a:t>
            </a:r>
            <a:r>
              <a:rPr lang="en-US" sz="2000" dirty="0">
                <a:latin typeface="Antique Olive"/>
                <a:sym typeface="Quicksand"/>
              </a:rPr>
              <a:t>.</a:t>
            </a:r>
          </a:p>
          <a:p>
            <a:pPr>
              <a:lnSpc>
                <a:spcPts val="4150"/>
              </a:lnSpc>
            </a:pPr>
            <a:endParaRPr lang="en-US" sz="2441" dirty="0">
              <a:solidFill>
                <a:srgbClr val="0F4662"/>
              </a:solidFill>
              <a:latin typeface="Quicksand"/>
              <a:ea typeface="Quicksand"/>
              <a:cs typeface="Quicksand"/>
              <a:sym typeface="Quicksand"/>
            </a:endParaRPr>
          </a:p>
        </p:txBody>
      </p:sp>
      <p:sp>
        <p:nvSpPr>
          <p:cNvPr id="3" name="TextBox 3"/>
          <p:cNvSpPr txBox="1"/>
          <p:nvPr/>
        </p:nvSpPr>
        <p:spPr>
          <a:xfrm>
            <a:off x="3973935" y="420266"/>
            <a:ext cx="7532265" cy="726033"/>
          </a:xfrm>
          <a:prstGeom prst="rect">
            <a:avLst/>
          </a:prstGeom>
        </p:spPr>
        <p:txBody>
          <a:bodyPr lIns="0" tIns="0" rIns="0" bIns="0" rtlCol="0" anchor="t">
            <a:spAutoFit/>
          </a:bodyPr>
          <a:lstStyle/>
          <a:p>
            <a:pPr algn="just">
              <a:lnSpc>
                <a:spcPts val="5973"/>
              </a:lnSpc>
              <a:spcBef>
                <a:spcPct val="0"/>
              </a:spcBef>
            </a:pPr>
            <a:r>
              <a:rPr lang="en-US" sz="4400" b="1" dirty="0">
                <a:latin typeface="Antique Olive"/>
                <a:ea typeface="Cormorant Garamond"/>
                <a:cs typeface="Cormorant Garamond"/>
                <a:sym typeface="Cormorant Garamond"/>
              </a:rPr>
              <a:t>Data types</a:t>
            </a:r>
            <a:endParaRPr lang="en-US" sz="4400" b="1" dirty="0">
              <a:latin typeface="Antique Olive"/>
              <a:ea typeface="Cormorant Garamond"/>
              <a:cs typeface="Cormorant Garamond"/>
              <a:sym typeface="Cormorant Garamond"/>
              <a:hlinkClick r:id="rId2" tooltip="https://javascript.info/variables#constant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87709705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1171000"/>
            <a:ext cx="10130436" cy="5322739"/>
          </a:xfrm>
          <a:prstGeom prst="rect">
            <a:avLst/>
          </a:prstGeom>
        </p:spPr>
        <p:txBody>
          <a:bodyPr lIns="0" tIns="0" rIns="0" bIns="0" rtlCol="0" anchor="t">
            <a:spAutoFit/>
          </a:bodyPr>
          <a:lstStyle/>
          <a:p>
            <a:pPr>
              <a:lnSpc>
                <a:spcPts val="4150"/>
              </a:lnSpc>
            </a:pPr>
            <a:r>
              <a:rPr lang="en-US" sz="2000" dirty="0">
                <a:latin typeface="Antique Olive"/>
                <a:sym typeface="Quicksand"/>
                <a:hlinkClick r:id="rId2" tooltip="https://javascript.info/types#number">
                  <a:extLst>
                    <a:ext uri="{A12FA001-AC4F-418D-AE19-62706E023703}">
                      <ahyp:hlinkClr xmlns:ahyp="http://schemas.microsoft.com/office/drawing/2018/hyperlinkcolor" val="tx"/>
                    </a:ext>
                  </a:extLst>
                </a:hlinkClick>
              </a:rPr>
              <a:t>Number</a:t>
            </a:r>
          </a:p>
          <a:p>
            <a:pPr>
              <a:lnSpc>
                <a:spcPts val="4150"/>
              </a:lnSpc>
            </a:pPr>
            <a:r>
              <a:rPr lang="en-US" sz="2000" dirty="0">
                <a:latin typeface="Antique Olive"/>
                <a:sym typeface="Quicksand"/>
              </a:rPr>
              <a:t>Infinity represents the mathematical </a:t>
            </a:r>
            <a:r>
              <a:rPr lang="en-US" sz="2000" dirty="0">
                <a:latin typeface="Antique Olive"/>
                <a:sym typeface="Quicksand"/>
                <a:hlinkClick r:id="rId3" tooltip="https://en.wikipedia.org/wiki/Infinity">
                  <a:extLst>
                    <a:ext uri="{A12FA001-AC4F-418D-AE19-62706E023703}">
                      <ahyp:hlinkClr xmlns:ahyp="http://schemas.microsoft.com/office/drawing/2018/hyperlinkcolor" val="tx"/>
                    </a:ext>
                  </a:extLst>
                </a:hlinkClick>
              </a:rPr>
              <a:t>Infinity</a:t>
            </a:r>
            <a:r>
              <a:rPr lang="en-US" sz="2000" dirty="0">
                <a:latin typeface="Antique Olive"/>
                <a:sym typeface="Quicksand"/>
              </a:rPr>
              <a:t> ∞. It is a special value that’s greater than any number.</a:t>
            </a:r>
          </a:p>
          <a:p>
            <a:pPr>
              <a:lnSpc>
                <a:spcPts val="4150"/>
              </a:lnSpc>
            </a:pPr>
            <a:r>
              <a:rPr lang="en-US" sz="2000" dirty="0">
                <a:latin typeface="Antique Olive"/>
                <a:sym typeface="Quicksand"/>
              </a:rPr>
              <a:t>We can get it as a result of division by zero:</a:t>
            </a:r>
          </a:p>
          <a:p>
            <a:pPr>
              <a:lnSpc>
                <a:spcPts val="4150"/>
              </a:lnSpc>
            </a:pPr>
            <a:r>
              <a:rPr lang="en-US" sz="2000" dirty="0">
                <a:latin typeface="Antique Olive"/>
                <a:sym typeface="Quicksand"/>
              </a:rPr>
              <a:t>alert( 1 / 0 ); // Infinity</a:t>
            </a:r>
          </a:p>
          <a:p>
            <a:pPr>
              <a:lnSpc>
                <a:spcPts val="4150"/>
              </a:lnSpc>
            </a:pPr>
            <a:endParaRPr lang="en-US" sz="2000" dirty="0">
              <a:latin typeface="Antique Olive"/>
              <a:sym typeface="Quicksand"/>
            </a:endParaRPr>
          </a:p>
          <a:p>
            <a:pPr>
              <a:lnSpc>
                <a:spcPts val="4150"/>
              </a:lnSpc>
            </a:pPr>
            <a:r>
              <a:rPr lang="en-US" sz="2000" dirty="0" err="1">
                <a:latin typeface="Antique Olive"/>
                <a:sym typeface="Quicksand"/>
              </a:rPr>
              <a:t>NaN</a:t>
            </a:r>
            <a:r>
              <a:rPr lang="en-US" sz="2000" dirty="0">
                <a:latin typeface="Antique Olive"/>
                <a:sym typeface="Quicksand"/>
              </a:rPr>
              <a:t> represents a computational error. It is a result of an incorrect or an undefined mathematical operation, for instance:</a:t>
            </a:r>
          </a:p>
          <a:p>
            <a:pPr>
              <a:lnSpc>
                <a:spcPts val="4150"/>
              </a:lnSpc>
            </a:pPr>
            <a:r>
              <a:rPr lang="en-US" sz="2000" dirty="0">
                <a:latin typeface="Antique Olive"/>
                <a:sym typeface="Quicksand"/>
              </a:rPr>
              <a:t>alert( "not a number" / 2 ); // </a:t>
            </a:r>
            <a:r>
              <a:rPr lang="en-US" sz="2000" dirty="0" err="1">
                <a:latin typeface="Antique Olive"/>
                <a:sym typeface="Quicksand"/>
              </a:rPr>
              <a:t>NaN</a:t>
            </a:r>
            <a:r>
              <a:rPr lang="en-US" sz="2000" dirty="0">
                <a:latin typeface="Antique Olive"/>
                <a:sym typeface="Quicksand"/>
              </a:rPr>
              <a:t>, such division is erroneous</a:t>
            </a:r>
          </a:p>
          <a:p>
            <a:pPr>
              <a:lnSpc>
                <a:spcPts val="4150"/>
              </a:lnSpc>
            </a:pPr>
            <a:endParaRPr lang="en-US" sz="2441" dirty="0">
              <a:solidFill>
                <a:srgbClr val="0F4662"/>
              </a:solidFill>
              <a:latin typeface="Quicksand"/>
              <a:ea typeface="Quicksand"/>
              <a:cs typeface="Quicksand"/>
              <a:sym typeface="Quicksand"/>
            </a:endParaRPr>
          </a:p>
        </p:txBody>
      </p:sp>
      <p:sp>
        <p:nvSpPr>
          <p:cNvPr id="3" name="TextBox 3"/>
          <p:cNvSpPr txBox="1"/>
          <p:nvPr/>
        </p:nvSpPr>
        <p:spPr>
          <a:xfrm>
            <a:off x="3973935" y="420266"/>
            <a:ext cx="7532265" cy="726033"/>
          </a:xfrm>
          <a:prstGeom prst="rect">
            <a:avLst/>
          </a:prstGeom>
        </p:spPr>
        <p:txBody>
          <a:bodyPr lIns="0" tIns="0" rIns="0" bIns="0" rtlCol="0" anchor="t">
            <a:spAutoFit/>
          </a:bodyPr>
          <a:lstStyle/>
          <a:p>
            <a:pPr algn="just">
              <a:lnSpc>
                <a:spcPts val="5973"/>
              </a:lnSpc>
              <a:spcBef>
                <a:spcPct val="0"/>
              </a:spcBef>
            </a:pPr>
            <a:r>
              <a:rPr lang="en-US" sz="4400" b="1" dirty="0">
                <a:latin typeface="Antique Olive"/>
                <a:ea typeface="Cormorant Garamond"/>
                <a:cs typeface="Cormorant Garamond"/>
                <a:sym typeface="Cormorant Garamond"/>
              </a:rPr>
              <a:t>Data types</a:t>
            </a:r>
            <a:endParaRPr lang="en-US" sz="4400" b="1" dirty="0">
              <a:latin typeface="Antique Olive"/>
              <a:ea typeface="Cormorant Garamond"/>
              <a:cs typeface="Cormorant Garamond"/>
              <a:sym typeface="Cormorant Garamond"/>
              <a:hlinkClick r:id="rId4" tooltip="https://javascript.info/variables#constant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309573122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14425" y="571501"/>
            <a:ext cx="11877575" cy="7477175"/>
          </a:xfrm>
          <a:prstGeom prst="rect">
            <a:avLst/>
          </a:prstGeom>
        </p:spPr>
        <p:txBody>
          <a:bodyPr lIns="0" tIns="0" rIns="0" bIns="0" rtlCol="0" anchor="t">
            <a:spAutoFit/>
          </a:bodyPr>
          <a:lstStyle/>
          <a:p>
            <a:pPr>
              <a:lnSpc>
                <a:spcPts val="4150"/>
              </a:lnSpc>
            </a:pPr>
            <a:r>
              <a:rPr lang="en-US" sz="2000" u="sng" dirty="0">
                <a:latin typeface="Antique Olive"/>
                <a:ea typeface="Quicksand"/>
                <a:cs typeface="Quicksand"/>
                <a:sym typeface="Quicksand"/>
                <a:hlinkClick r:id="rId2" tooltip="https://javascript.info/types#number">
                  <a:extLst>
                    <a:ext uri="{A12FA001-AC4F-418D-AE19-62706E023703}">
                      <ahyp:hlinkClr xmlns:ahyp="http://schemas.microsoft.com/office/drawing/2018/hyperlinkcolor" val="tx"/>
                    </a:ext>
                  </a:extLst>
                </a:hlinkClick>
              </a:rPr>
              <a:t>Number</a:t>
            </a:r>
          </a:p>
          <a:p>
            <a:pPr>
              <a:lnSpc>
                <a:spcPts val="4150"/>
              </a:lnSpc>
            </a:pPr>
            <a:r>
              <a:rPr lang="en-US" sz="2000" u="sng" dirty="0">
                <a:latin typeface="Antique Olive"/>
                <a:ea typeface="Quicksand"/>
                <a:cs typeface="Quicksand"/>
                <a:sym typeface="Quicksand"/>
                <a:hlinkClick r:id="rId3" tooltip="https://javascript.info/number#rounding">
                  <a:extLst>
                    <a:ext uri="{A12FA001-AC4F-418D-AE19-62706E023703}">
                      <ahyp:hlinkClr xmlns:ahyp="http://schemas.microsoft.com/office/drawing/2018/hyperlinkcolor" val="tx"/>
                    </a:ext>
                  </a:extLst>
                </a:hlinkClick>
              </a:rPr>
              <a:t>Rounding</a:t>
            </a:r>
          </a:p>
          <a:p>
            <a:pPr>
              <a:lnSpc>
                <a:spcPts val="4150"/>
              </a:lnSpc>
            </a:pPr>
            <a:r>
              <a:rPr lang="en-US" sz="2000" dirty="0">
                <a:latin typeface="Antique Olive"/>
                <a:ea typeface="Quicksand"/>
                <a:cs typeface="Quicksand"/>
                <a:sym typeface="Quicksand"/>
              </a:rPr>
              <a:t>One of the most used operations when working with numbers is rounding.</a:t>
            </a:r>
          </a:p>
          <a:p>
            <a:pPr>
              <a:lnSpc>
                <a:spcPts val="4150"/>
              </a:lnSpc>
            </a:pPr>
            <a:r>
              <a:rPr lang="en-US" sz="2000" dirty="0">
                <a:latin typeface="Antique Olive"/>
                <a:ea typeface="Quicksand"/>
                <a:cs typeface="Quicksand"/>
                <a:sym typeface="Quicksand"/>
              </a:rPr>
              <a:t>There are several built-in functions for rounding:</a:t>
            </a:r>
          </a:p>
          <a:p>
            <a:pPr>
              <a:lnSpc>
                <a:spcPts val="4150"/>
              </a:lnSpc>
            </a:pPr>
            <a:r>
              <a:rPr lang="en-US" sz="2000" b="1" dirty="0" err="1">
                <a:latin typeface="Antique Olive"/>
                <a:ea typeface="Quicksand Bold"/>
                <a:cs typeface="Quicksand Bold"/>
                <a:sym typeface="Quicksand Bold"/>
              </a:rPr>
              <a:t>Math.floor</a:t>
            </a:r>
            <a:r>
              <a:rPr lang="en-US" sz="2000" dirty="0" err="1">
                <a:latin typeface="Antique Olive"/>
                <a:ea typeface="Quicksand"/>
                <a:cs typeface="Quicksand"/>
                <a:sym typeface="Quicksand"/>
              </a:rPr>
              <a:t>:Rounds</a:t>
            </a:r>
            <a:r>
              <a:rPr lang="en-US" sz="2000" dirty="0">
                <a:latin typeface="Antique Olive"/>
                <a:ea typeface="Quicksand"/>
                <a:cs typeface="Quicksand"/>
                <a:sym typeface="Quicksand"/>
              </a:rPr>
              <a:t> down: 3.1 becomes 3, and -1.1 becomes -2.</a:t>
            </a:r>
          </a:p>
          <a:p>
            <a:pPr>
              <a:lnSpc>
                <a:spcPts val="4150"/>
              </a:lnSpc>
            </a:pPr>
            <a:r>
              <a:rPr lang="en-US" sz="2000" b="1" dirty="0" err="1">
                <a:latin typeface="Antique Olive"/>
                <a:ea typeface="Quicksand Bold"/>
                <a:cs typeface="Quicksand Bold"/>
                <a:sym typeface="Quicksand Bold"/>
              </a:rPr>
              <a:t>Math.ceil</a:t>
            </a:r>
            <a:r>
              <a:rPr lang="en-US" sz="2000" dirty="0" err="1">
                <a:latin typeface="Antique Olive"/>
                <a:ea typeface="Quicksand"/>
                <a:cs typeface="Quicksand"/>
                <a:sym typeface="Quicksand"/>
              </a:rPr>
              <a:t>:Rounds</a:t>
            </a:r>
            <a:r>
              <a:rPr lang="en-US" sz="2000" dirty="0">
                <a:latin typeface="Antique Olive"/>
                <a:ea typeface="Quicksand"/>
                <a:cs typeface="Quicksand"/>
                <a:sym typeface="Quicksand"/>
              </a:rPr>
              <a:t> up: 3.1 becomes 4, and -1.1 becomes -1.</a:t>
            </a:r>
          </a:p>
          <a:p>
            <a:pPr>
              <a:lnSpc>
                <a:spcPts val="4150"/>
              </a:lnSpc>
            </a:pPr>
            <a:r>
              <a:rPr lang="en-US" sz="2000" b="1" dirty="0" err="1">
                <a:latin typeface="Antique Olive"/>
                <a:ea typeface="Quicksand Bold"/>
                <a:cs typeface="Quicksand Bold"/>
                <a:sym typeface="Quicksand Bold"/>
              </a:rPr>
              <a:t>Math.round</a:t>
            </a:r>
            <a:r>
              <a:rPr lang="en-US" sz="2000" dirty="0" err="1">
                <a:latin typeface="Antique Olive"/>
                <a:ea typeface="Quicksand"/>
                <a:cs typeface="Quicksand"/>
                <a:sym typeface="Quicksand"/>
              </a:rPr>
              <a:t>:Rounds</a:t>
            </a:r>
            <a:r>
              <a:rPr lang="en-US" sz="2000" dirty="0">
                <a:latin typeface="Antique Olive"/>
                <a:ea typeface="Quicksand"/>
                <a:cs typeface="Quicksand"/>
                <a:sym typeface="Quicksand"/>
              </a:rPr>
              <a:t> to the nearest integer: 3.1 becomes 3, 3.6 becomes 4. In the middle cases 3.5 rounds up to 4, and -3.5 rounds up to -3.</a:t>
            </a:r>
          </a:p>
          <a:p>
            <a:pPr>
              <a:lnSpc>
                <a:spcPts val="4150"/>
              </a:lnSpc>
            </a:pPr>
            <a:r>
              <a:rPr lang="en-US" sz="2000" b="1" dirty="0">
                <a:latin typeface="Antique Olive"/>
                <a:ea typeface="Quicksand Bold"/>
                <a:cs typeface="Quicksand Bold"/>
                <a:sym typeface="Quicksand Bold"/>
              </a:rPr>
              <a:t>Example:</a:t>
            </a:r>
          </a:p>
          <a:p>
            <a:pPr>
              <a:lnSpc>
                <a:spcPts val="4150"/>
              </a:lnSpc>
            </a:pPr>
            <a:r>
              <a:rPr lang="en-US" sz="2000" dirty="0">
                <a:latin typeface="Antique Olive"/>
                <a:ea typeface="Quicksand"/>
                <a:cs typeface="Quicksand"/>
                <a:sym typeface="Quicksand"/>
              </a:rPr>
              <a:t>let num = 1.23456;</a:t>
            </a:r>
          </a:p>
          <a:p>
            <a:pPr>
              <a:lnSpc>
                <a:spcPts val="4150"/>
              </a:lnSpc>
            </a:pPr>
            <a:r>
              <a:rPr lang="en-US" sz="2000" dirty="0">
                <a:latin typeface="Antique Olive"/>
                <a:ea typeface="Quicksand"/>
                <a:cs typeface="Quicksand"/>
                <a:sym typeface="Quicksand"/>
              </a:rPr>
              <a:t>alert( </a:t>
            </a:r>
            <a:r>
              <a:rPr lang="en-US" sz="2000" dirty="0" err="1">
                <a:latin typeface="Antique Olive"/>
                <a:ea typeface="Quicksand"/>
                <a:cs typeface="Quicksand"/>
                <a:sym typeface="Quicksand"/>
              </a:rPr>
              <a:t>Math.round</a:t>
            </a:r>
            <a:r>
              <a:rPr lang="en-US" sz="2000" dirty="0">
                <a:latin typeface="Antique Olive"/>
                <a:ea typeface="Quicksand"/>
                <a:cs typeface="Quicksand"/>
                <a:sym typeface="Quicksand"/>
              </a:rPr>
              <a:t>(num * 100) / 100 ); </a:t>
            </a:r>
          </a:p>
          <a:p>
            <a:pPr>
              <a:lnSpc>
                <a:spcPts val="4150"/>
              </a:lnSpc>
            </a:pPr>
            <a:r>
              <a:rPr lang="en-US" sz="2000" dirty="0">
                <a:latin typeface="Antique Olive"/>
                <a:ea typeface="Quicksand"/>
                <a:cs typeface="Quicksand"/>
                <a:sym typeface="Quicksand"/>
              </a:rPr>
              <a:t>// 1.23456 -&gt; 123.456 -&gt; 123 -&gt; 1.23</a:t>
            </a:r>
          </a:p>
          <a:p>
            <a:pPr>
              <a:lnSpc>
                <a:spcPts val="4150"/>
              </a:lnSpc>
            </a:pPr>
            <a:endParaRPr lang="en-US" sz="2000" dirty="0">
              <a:latin typeface="Antique Olive"/>
              <a:ea typeface="Quicksand"/>
              <a:cs typeface="Quicksand"/>
              <a:sym typeface="Quicksand"/>
            </a:endParaRPr>
          </a:p>
          <a:p>
            <a:pPr>
              <a:lnSpc>
                <a:spcPts val="4150"/>
              </a:lnSpc>
            </a:pPr>
            <a:endParaRPr lang="en-US" sz="2000" dirty="0">
              <a:latin typeface="Antique Olive"/>
              <a:ea typeface="Quicksand"/>
              <a:cs typeface="Quicksand"/>
              <a:sym typeface="Quicksand"/>
            </a:endParaRPr>
          </a:p>
        </p:txBody>
      </p:sp>
      <p:sp>
        <p:nvSpPr>
          <p:cNvPr id="3" name="TextBox 3"/>
          <p:cNvSpPr txBox="1"/>
          <p:nvPr/>
        </p:nvSpPr>
        <p:spPr>
          <a:xfrm>
            <a:off x="3973935" y="85142"/>
            <a:ext cx="7532265" cy="726033"/>
          </a:xfrm>
          <a:prstGeom prst="rect">
            <a:avLst/>
          </a:prstGeom>
        </p:spPr>
        <p:txBody>
          <a:bodyPr lIns="0" tIns="0" rIns="0" bIns="0" rtlCol="0" anchor="t">
            <a:spAutoFit/>
          </a:bodyPr>
          <a:lstStyle/>
          <a:p>
            <a:pPr algn="just">
              <a:lnSpc>
                <a:spcPts val="5973"/>
              </a:lnSpc>
              <a:spcBef>
                <a:spcPct val="0"/>
              </a:spcBef>
            </a:pPr>
            <a:r>
              <a:rPr lang="en-US" sz="4400" b="1" dirty="0">
                <a:latin typeface="Antique Olive"/>
                <a:ea typeface="Cormorant Garamond"/>
                <a:cs typeface="Cormorant Garamond"/>
                <a:sym typeface="Cormorant Garamond"/>
              </a:rPr>
              <a:t>Data types</a:t>
            </a:r>
            <a:endParaRPr lang="en-US" sz="4400" b="1" dirty="0">
              <a:latin typeface="Antique Olive"/>
              <a:ea typeface="Cormorant Garamond"/>
              <a:cs typeface="Cormorant Garamond"/>
              <a:sym typeface="Cormorant Garamond"/>
              <a:hlinkClick r:id="rId4" tooltip="https://javascript.info/variables#constant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281318203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1171000"/>
            <a:ext cx="10130436" cy="5319148"/>
          </a:xfrm>
          <a:prstGeom prst="rect">
            <a:avLst/>
          </a:prstGeom>
        </p:spPr>
        <p:txBody>
          <a:bodyPr lIns="0" tIns="0" rIns="0" bIns="0" rtlCol="0" anchor="t">
            <a:spAutoFit/>
          </a:bodyPr>
          <a:lstStyle/>
          <a:p>
            <a:pPr>
              <a:lnSpc>
                <a:spcPts val="4150"/>
              </a:lnSpc>
            </a:pPr>
            <a:r>
              <a:rPr lang="en-US" sz="2000" u="sng" dirty="0">
                <a:latin typeface="Antique Olive"/>
                <a:ea typeface="Quicksand"/>
                <a:cs typeface="Quicksand"/>
                <a:sym typeface="Quicksand"/>
                <a:hlinkClick r:id="rId2" tooltip="https://javascript.info/types#number">
                  <a:extLst>
                    <a:ext uri="{A12FA001-AC4F-418D-AE19-62706E023703}">
                      <ahyp:hlinkClr xmlns:ahyp="http://schemas.microsoft.com/office/drawing/2018/hyperlinkcolor" val="tx"/>
                    </a:ext>
                  </a:extLst>
                </a:hlinkClick>
              </a:rPr>
              <a:t>Number</a:t>
            </a:r>
          </a:p>
          <a:p>
            <a:pPr>
              <a:lnSpc>
                <a:spcPts val="4150"/>
              </a:lnSpc>
            </a:pPr>
            <a:r>
              <a:rPr lang="en-US" sz="2000" u="sng" dirty="0" err="1">
                <a:solidFill>
                  <a:srgbClr val="000000"/>
                </a:solidFill>
                <a:latin typeface="Antique Olive"/>
                <a:ea typeface="Quicksand"/>
                <a:cs typeface="Quicksand"/>
                <a:sym typeface="Quicksand"/>
                <a:hlinkClick r:id="rId3" tooltip="https://javascript.info/number#parseint-and-parsefloat">
                  <a:extLst>
                    <a:ext uri="{A12FA001-AC4F-418D-AE19-62706E023703}">
                      <ahyp:hlinkClr xmlns:ahyp="http://schemas.microsoft.com/office/drawing/2018/hyperlinkcolor" val="tx"/>
                    </a:ext>
                  </a:extLst>
                </a:hlinkClick>
              </a:rPr>
              <a:t>parseInt</a:t>
            </a:r>
            <a:r>
              <a:rPr lang="en-US" sz="2000" u="sng" dirty="0">
                <a:solidFill>
                  <a:srgbClr val="000000"/>
                </a:solidFill>
                <a:latin typeface="Antique Olive"/>
                <a:ea typeface="Quicksand"/>
                <a:cs typeface="Quicksand"/>
                <a:sym typeface="Quicksand"/>
                <a:hlinkClick r:id="rId3" tooltip="https://javascript.info/number#parseint-and-parsefloat">
                  <a:extLst>
                    <a:ext uri="{A12FA001-AC4F-418D-AE19-62706E023703}">
                      <ahyp:hlinkClr xmlns:ahyp="http://schemas.microsoft.com/office/drawing/2018/hyperlinkcolor" val="tx"/>
                    </a:ext>
                  </a:extLst>
                </a:hlinkClick>
              </a:rPr>
              <a:t> and </a:t>
            </a:r>
            <a:r>
              <a:rPr lang="en-US" sz="2000" u="sng" dirty="0" err="1">
                <a:solidFill>
                  <a:srgbClr val="000000"/>
                </a:solidFill>
                <a:latin typeface="Antique Olive"/>
                <a:ea typeface="Quicksand"/>
                <a:cs typeface="Quicksand"/>
                <a:sym typeface="Quicksand"/>
                <a:hlinkClick r:id="rId3" tooltip="https://javascript.info/number#parseint-and-parsefloat">
                  <a:extLst>
                    <a:ext uri="{A12FA001-AC4F-418D-AE19-62706E023703}">
                      <ahyp:hlinkClr xmlns:ahyp="http://schemas.microsoft.com/office/drawing/2018/hyperlinkcolor" val="tx"/>
                    </a:ext>
                  </a:extLst>
                </a:hlinkClick>
              </a:rPr>
              <a:t>parseFloat</a:t>
            </a:r>
            <a:endParaRPr lang="en-US" sz="2000" u="sng" dirty="0">
              <a:latin typeface="Antique Olive"/>
              <a:ea typeface="Quicksand"/>
              <a:cs typeface="Quicksand"/>
              <a:sym typeface="Quicksand"/>
              <a:hlinkClick r:id="rId3" tooltip="https://javascript.info/number#parseint-and-parsefloat">
                <a:extLst>
                  <a:ext uri="{A12FA001-AC4F-418D-AE19-62706E023703}">
                    <ahyp:hlinkClr xmlns:ahyp="http://schemas.microsoft.com/office/drawing/2018/hyperlinkcolor" val="tx"/>
                  </a:ext>
                </a:extLst>
              </a:hlinkClick>
            </a:endParaRPr>
          </a:p>
          <a:p>
            <a:pPr>
              <a:lnSpc>
                <a:spcPts val="4150"/>
              </a:lnSpc>
            </a:pPr>
            <a:r>
              <a:rPr lang="en-US" sz="2000" dirty="0">
                <a:latin typeface="Antique Olive"/>
                <a:ea typeface="Quicksand"/>
                <a:cs typeface="Quicksand"/>
                <a:sym typeface="Quicksand"/>
              </a:rPr>
              <a:t>The sole exception is spaces at the beginning or at the end of the string, as they are ignored.</a:t>
            </a:r>
          </a:p>
          <a:p>
            <a:pPr>
              <a:lnSpc>
                <a:spcPts val="4150"/>
              </a:lnSpc>
            </a:pPr>
            <a:r>
              <a:rPr lang="en-US" sz="2000" dirty="0">
                <a:latin typeface="Antique Olive"/>
                <a:ea typeface="Quicksand"/>
                <a:cs typeface="Quicksand"/>
                <a:sym typeface="Quicksand"/>
              </a:rPr>
              <a:t>But in real life, we often have values in units, like "100px" or "12pt" in CSS. Also in many countries, the currency symbol goes after the amount, so we have "19€" and would like to extract a numeric value out of that.</a:t>
            </a:r>
          </a:p>
          <a:p>
            <a:pPr>
              <a:lnSpc>
                <a:spcPts val="4150"/>
              </a:lnSpc>
            </a:pPr>
            <a:r>
              <a:rPr lang="en-US" sz="2000" dirty="0">
                <a:latin typeface="Antique Olive"/>
                <a:ea typeface="Quicksand"/>
                <a:cs typeface="Quicksand"/>
                <a:sym typeface="Quicksand"/>
              </a:rPr>
              <a:t>That’s what </a:t>
            </a:r>
            <a:r>
              <a:rPr lang="en-US" sz="2000" dirty="0" err="1">
                <a:latin typeface="Antique Olive"/>
                <a:ea typeface="Quicksand"/>
                <a:cs typeface="Quicksand"/>
                <a:sym typeface="Quicksand"/>
              </a:rPr>
              <a:t>parseInt</a:t>
            </a:r>
            <a:r>
              <a:rPr lang="en-US" sz="2000" dirty="0">
                <a:latin typeface="Antique Olive"/>
                <a:ea typeface="Quicksand"/>
                <a:cs typeface="Quicksand"/>
                <a:sym typeface="Quicksand"/>
              </a:rPr>
              <a:t> and </a:t>
            </a:r>
            <a:r>
              <a:rPr lang="en-US" sz="2000" dirty="0" err="1">
                <a:latin typeface="Antique Olive"/>
                <a:ea typeface="Quicksand"/>
                <a:cs typeface="Quicksand"/>
                <a:sym typeface="Quicksand"/>
              </a:rPr>
              <a:t>parseFloat</a:t>
            </a:r>
            <a:r>
              <a:rPr lang="en-US" sz="2000" dirty="0">
                <a:latin typeface="Antique Olive"/>
                <a:ea typeface="Quicksand"/>
                <a:cs typeface="Quicksand"/>
                <a:sym typeface="Quicksand"/>
              </a:rPr>
              <a:t> are for.</a:t>
            </a:r>
          </a:p>
          <a:p>
            <a:pPr>
              <a:lnSpc>
                <a:spcPts val="4150"/>
              </a:lnSpc>
            </a:pPr>
            <a:endParaRPr lang="en-US" sz="2000" dirty="0">
              <a:latin typeface="Antique Olive"/>
              <a:ea typeface="Quicksand"/>
              <a:cs typeface="Quicksand"/>
              <a:sym typeface="Quicksand"/>
            </a:endParaRPr>
          </a:p>
          <a:p>
            <a:pPr>
              <a:lnSpc>
                <a:spcPts val="4150"/>
              </a:lnSpc>
            </a:pPr>
            <a:endParaRPr lang="en-US" sz="2000" dirty="0">
              <a:latin typeface="Antique Olive"/>
              <a:ea typeface="Quicksand"/>
              <a:cs typeface="Quicksand"/>
              <a:sym typeface="Quicksand"/>
            </a:endParaRPr>
          </a:p>
          <a:p>
            <a:pPr>
              <a:lnSpc>
                <a:spcPts val="4150"/>
              </a:lnSpc>
            </a:pPr>
            <a:endParaRPr lang="en-US" sz="2000" dirty="0">
              <a:latin typeface="Antique Olive"/>
              <a:ea typeface="Quicksand"/>
              <a:cs typeface="Quicksand"/>
              <a:sym typeface="Quicksand"/>
            </a:endParaRPr>
          </a:p>
        </p:txBody>
      </p:sp>
      <p:sp>
        <p:nvSpPr>
          <p:cNvPr id="3" name="TextBox 3"/>
          <p:cNvSpPr txBox="1"/>
          <p:nvPr/>
        </p:nvSpPr>
        <p:spPr>
          <a:xfrm>
            <a:off x="3973935" y="420266"/>
            <a:ext cx="7532265" cy="726033"/>
          </a:xfrm>
          <a:prstGeom prst="rect">
            <a:avLst/>
          </a:prstGeom>
        </p:spPr>
        <p:txBody>
          <a:bodyPr lIns="0" tIns="0" rIns="0" bIns="0" rtlCol="0" anchor="t">
            <a:spAutoFit/>
          </a:bodyPr>
          <a:lstStyle/>
          <a:p>
            <a:pPr algn="just">
              <a:lnSpc>
                <a:spcPts val="5973"/>
              </a:lnSpc>
              <a:spcBef>
                <a:spcPct val="0"/>
              </a:spcBef>
            </a:pPr>
            <a:r>
              <a:rPr lang="en-US" sz="4400" b="1" dirty="0">
                <a:latin typeface="Antique Olive"/>
                <a:ea typeface="Cormorant Garamond"/>
                <a:cs typeface="Cormorant Garamond"/>
                <a:sym typeface="Cormorant Garamond"/>
              </a:rPr>
              <a:t>Data types</a:t>
            </a:r>
            <a:endParaRPr lang="en-US" sz="4400" b="1" dirty="0">
              <a:latin typeface="Antique Olive"/>
              <a:ea typeface="Cormorant Garamond"/>
              <a:cs typeface="Cormorant Garamond"/>
              <a:sym typeface="Cormorant Garamond"/>
              <a:hlinkClick r:id="rId4" tooltip="https://javascript.info/variables#constant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13571007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1171000"/>
            <a:ext cx="10130436" cy="6938566"/>
          </a:xfrm>
          <a:prstGeom prst="rect">
            <a:avLst/>
          </a:prstGeom>
        </p:spPr>
        <p:txBody>
          <a:bodyPr lIns="0" tIns="0" rIns="0" bIns="0" rtlCol="0" anchor="t">
            <a:spAutoFit/>
          </a:bodyPr>
          <a:lstStyle/>
          <a:p>
            <a:pPr>
              <a:lnSpc>
                <a:spcPts val="4150"/>
              </a:lnSpc>
            </a:pPr>
            <a:r>
              <a:rPr lang="en-US" sz="2000" u="sng" dirty="0">
                <a:latin typeface="Antique Olive"/>
                <a:ea typeface="Quicksand"/>
                <a:cs typeface="Quicksand"/>
                <a:sym typeface="Quicksand"/>
                <a:hlinkClick r:id="rId2" tooltip="https://javascript.info/types#number">
                  <a:extLst>
                    <a:ext uri="{A12FA001-AC4F-418D-AE19-62706E023703}">
                      <ahyp:hlinkClr xmlns:ahyp="http://schemas.microsoft.com/office/drawing/2018/hyperlinkcolor" val="tx"/>
                    </a:ext>
                  </a:extLst>
                </a:hlinkClick>
              </a:rPr>
              <a:t>Number</a:t>
            </a:r>
          </a:p>
          <a:p>
            <a:pPr>
              <a:lnSpc>
                <a:spcPts val="4150"/>
              </a:lnSpc>
            </a:pPr>
            <a:r>
              <a:rPr lang="en-US" sz="2000" u="sng" dirty="0" err="1">
                <a:solidFill>
                  <a:srgbClr val="000000"/>
                </a:solidFill>
                <a:latin typeface="Antique Olive"/>
                <a:ea typeface="Quicksand"/>
                <a:cs typeface="Quicksand"/>
                <a:sym typeface="Quicksand"/>
                <a:hlinkClick r:id="rId3" tooltip="https://javascript.info/number#parseint-and-parsefloat">
                  <a:extLst>
                    <a:ext uri="{A12FA001-AC4F-418D-AE19-62706E023703}">
                      <ahyp:hlinkClr xmlns:ahyp="http://schemas.microsoft.com/office/drawing/2018/hyperlinkcolor" val="tx"/>
                    </a:ext>
                  </a:extLst>
                </a:hlinkClick>
              </a:rPr>
              <a:t>parseInt</a:t>
            </a:r>
            <a:r>
              <a:rPr lang="en-US" sz="2000" u="sng" dirty="0">
                <a:solidFill>
                  <a:srgbClr val="000000"/>
                </a:solidFill>
                <a:latin typeface="Antique Olive"/>
                <a:ea typeface="Quicksand"/>
                <a:cs typeface="Quicksand"/>
                <a:sym typeface="Quicksand"/>
                <a:hlinkClick r:id="rId3" tooltip="https://javascript.info/number#parseint-and-parsefloat">
                  <a:extLst>
                    <a:ext uri="{A12FA001-AC4F-418D-AE19-62706E023703}">
                      <ahyp:hlinkClr xmlns:ahyp="http://schemas.microsoft.com/office/drawing/2018/hyperlinkcolor" val="tx"/>
                    </a:ext>
                  </a:extLst>
                </a:hlinkClick>
              </a:rPr>
              <a:t> and </a:t>
            </a:r>
            <a:r>
              <a:rPr lang="en-US" sz="2000" u="sng" dirty="0" err="1">
                <a:solidFill>
                  <a:srgbClr val="000000"/>
                </a:solidFill>
                <a:latin typeface="Antique Olive"/>
                <a:ea typeface="Quicksand"/>
                <a:cs typeface="Quicksand"/>
                <a:sym typeface="Quicksand"/>
                <a:hlinkClick r:id="rId3" tooltip="https://javascript.info/number#parseint-and-parsefloat">
                  <a:extLst>
                    <a:ext uri="{A12FA001-AC4F-418D-AE19-62706E023703}">
                      <ahyp:hlinkClr xmlns:ahyp="http://schemas.microsoft.com/office/drawing/2018/hyperlinkcolor" val="tx"/>
                    </a:ext>
                  </a:extLst>
                </a:hlinkClick>
              </a:rPr>
              <a:t>parseFloat</a:t>
            </a:r>
            <a:endParaRPr lang="en-US" sz="2000" u="sng" dirty="0">
              <a:latin typeface="Antique Olive"/>
              <a:ea typeface="Quicksand"/>
              <a:cs typeface="Quicksand"/>
              <a:sym typeface="Quicksand"/>
              <a:hlinkClick r:id="rId3" tooltip="https://javascript.info/number#parseint-and-parsefloat">
                <a:extLst>
                  <a:ext uri="{A12FA001-AC4F-418D-AE19-62706E023703}">
                    <ahyp:hlinkClr xmlns:ahyp="http://schemas.microsoft.com/office/drawing/2018/hyperlinkcolor" val="tx"/>
                  </a:ext>
                </a:extLst>
              </a:hlinkClick>
            </a:endParaRPr>
          </a:p>
          <a:p>
            <a:pPr>
              <a:lnSpc>
                <a:spcPts val="4150"/>
              </a:lnSpc>
            </a:pPr>
            <a:r>
              <a:rPr lang="en-US" sz="2000" dirty="0">
                <a:latin typeface="Antique Olive"/>
                <a:ea typeface="Quicksand"/>
                <a:cs typeface="Quicksand"/>
                <a:sym typeface="Quicksand"/>
              </a:rPr>
              <a:t>They “read” a number from a string until they can’t. In case of an error, the gathered number is returned. The function </a:t>
            </a:r>
            <a:r>
              <a:rPr lang="en-US" sz="2000" dirty="0" err="1">
                <a:latin typeface="Antique Olive"/>
                <a:ea typeface="Quicksand"/>
                <a:cs typeface="Quicksand"/>
                <a:sym typeface="Quicksand"/>
              </a:rPr>
              <a:t>parseInt</a:t>
            </a:r>
            <a:r>
              <a:rPr lang="en-US" sz="2000" dirty="0">
                <a:latin typeface="Antique Olive"/>
                <a:ea typeface="Quicksand"/>
                <a:cs typeface="Quicksand"/>
                <a:sym typeface="Quicksand"/>
              </a:rPr>
              <a:t> returns an integer, whilst </a:t>
            </a:r>
            <a:r>
              <a:rPr lang="en-US" sz="2000" dirty="0" err="1">
                <a:latin typeface="Antique Olive"/>
                <a:ea typeface="Quicksand"/>
                <a:cs typeface="Quicksand"/>
                <a:sym typeface="Quicksand"/>
              </a:rPr>
              <a:t>parseFloat</a:t>
            </a:r>
            <a:r>
              <a:rPr lang="en-US" sz="2000" dirty="0">
                <a:latin typeface="Antique Olive"/>
                <a:ea typeface="Quicksand"/>
                <a:cs typeface="Quicksand"/>
                <a:sym typeface="Quicksand"/>
              </a:rPr>
              <a:t> will return a floating-point number:</a:t>
            </a:r>
          </a:p>
          <a:p>
            <a:pPr>
              <a:lnSpc>
                <a:spcPts val="4150"/>
              </a:lnSpc>
            </a:pPr>
            <a:r>
              <a:rPr lang="en-US" sz="2000" dirty="0">
                <a:latin typeface="Antique Olive"/>
                <a:ea typeface="Quicksand"/>
                <a:cs typeface="Quicksand"/>
                <a:sym typeface="Quicksand"/>
              </a:rPr>
              <a:t>alert( </a:t>
            </a:r>
            <a:r>
              <a:rPr lang="en-US" sz="2000" dirty="0" err="1">
                <a:latin typeface="Antique Olive"/>
                <a:ea typeface="Quicksand"/>
                <a:cs typeface="Quicksand"/>
                <a:sym typeface="Quicksand"/>
              </a:rPr>
              <a:t>parseInt</a:t>
            </a:r>
            <a:r>
              <a:rPr lang="en-US" sz="2000" dirty="0">
                <a:latin typeface="Antique Olive"/>
                <a:ea typeface="Quicksand"/>
                <a:cs typeface="Quicksand"/>
                <a:sym typeface="Quicksand"/>
              </a:rPr>
              <a:t>('100px') ); // 100</a:t>
            </a:r>
          </a:p>
          <a:p>
            <a:pPr>
              <a:lnSpc>
                <a:spcPts val="4150"/>
              </a:lnSpc>
            </a:pPr>
            <a:r>
              <a:rPr lang="en-US" sz="2000" dirty="0">
                <a:latin typeface="Antique Olive"/>
                <a:ea typeface="Quicksand"/>
                <a:cs typeface="Quicksand"/>
                <a:sym typeface="Quicksand"/>
              </a:rPr>
              <a:t>alert( </a:t>
            </a:r>
            <a:r>
              <a:rPr lang="en-US" sz="2000" dirty="0" err="1">
                <a:latin typeface="Antique Olive"/>
                <a:ea typeface="Quicksand"/>
                <a:cs typeface="Quicksand"/>
                <a:sym typeface="Quicksand"/>
              </a:rPr>
              <a:t>parseFloat</a:t>
            </a:r>
            <a:r>
              <a:rPr lang="en-US" sz="2000" dirty="0">
                <a:latin typeface="Antique Olive"/>
                <a:ea typeface="Quicksand"/>
                <a:cs typeface="Quicksand"/>
                <a:sym typeface="Quicksand"/>
              </a:rPr>
              <a:t>('12.5em') ); // 12.5</a:t>
            </a:r>
          </a:p>
          <a:p>
            <a:pPr>
              <a:lnSpc>
                <a:spcPts val="4150"/>
              </a:lnSpc>
            </a:pPr>
            <a:r>
              <a:rPr lang="en-US" sz="2000" dirty="0">
                <a:latin typeface="Antique Olive"/>
                <a:ea typeface="Quicksand"/>
                <a:cs typeface="Quicksand"/>
                <a:sym typeface="Quicksand"/>
              </a:rPr>
              <a:t>alert( </a:t>
            </a:r>
            <a:r>
              <a:rPr lang="en-US" sz="2000" dirty="0" err="1">
                <a:latin typeface="Antique Olive"/>
                <a:ea typeface="Quicksand"/>
                <a:cs typeface="Quicksand"/>
                <a:sym typeface="Quicksand"/>
              </a:rPr>
              <a:t>parseInt</a:t>
            </a:r>
            <a:r>
              <a:rPr lang="en-US" sz="2000" dirty="0">
                <a:latin typeface="Antique Olive"/>
                <a:ea typeface="Quicksand"/>
                <a:cs typeface="Quicksand"/>
                <a:sym typeface="Quicksand"/>
              </a:rPr>
              <a:t>('12.3') ); // 12, only the integer part is returned</a:t>
            </a:r>
          </a:p>
          <a:p>
            <a:pPr>
              <a:lnSpc>
                <a:spcPts val="4150"/>
              </a:lnSpc>
            </a:pPr>
            <a:r>
              <a:rPr lang="en-US" sz="2000" dirty="0">
                <a:latin typeface="Antique Olive"/>
                <a:ea typeface="Quicksand"/>
                <a:cs typeface="Quicksand"/>
                <a:sym typeface="Quicksand"/>
              </a:rPr>
              <a:t>alert( </a:t>
            </a:r>
            <a:r>
              <a:rPr lang="en-US" sz="2000" dirty="0" err="1">
                <a:latin typeface="Antique Olive"/>
                <a:ea typeface="Quicksand"/>
                <a:cs typeface="Quicksand"/>
                <a:sym typeface="Quicksand"/>
              </a:rPr>
              <a:t>parseFloat</a:t>
            </a:r>
            <a:r>
              <a:rPr lang="en-US" sz="2000" dirty="0">
                <a:latin typeface="Antique Olive"/>
                <a:ea typeface="Quicksand"/>
                <a:cs typeface="Quicksand"/>
                <a:sym typeface="Quicksand"/>
              </a:rPr>
              <a:t>('12.3.4') ); // 12.3, the second point stops the reading</a:t>
            </a:r>
          </a:p>
          <a:p>
            <a:pPr>
              <a:lnSpc>
                <a:spcPts val="4150"/>
              </a:lnSpc>
            </a:pPr>
            <a:endParaRPr lang="en-US" sz="2000" dirty="0">
              <a:latin typeface="Antique Olive"/>
              <a:ea typeface="Quicksand"/>
              <a:cs typeface="Quicksand"/>
              <a:sym typeface="Quicksand"/>
            </a:endParaRPr>
          </a:p>
          <a:p>
            <a:pPr>
              <a:lnSpc>
                <a:spcPts val="4150"/>
              </a:lnSpc>
            </a:pPr>
            <a:endParaRPr lang="en-US" sz="2000" dirty="0">
              <a:latin typeface="Antique Olive"/>
              <a:ea typeface="Quicksand"/>
              <a:cs typeface="Quicksand"/>
              <a:sym typeface="Quicksand"/>
            </a:endParaRPr>
          </a:p>
          <a:p>
            <a:pPr>
              <a:lnSpc>
                <a:spcPts val="4150"/>
              </a:lnSpc>
            </a:pPr>
            <a:endParaRPr lang="en-US" sz="2000" dirty="0">
              <a:latin typeface="Antique Olive"/>
              <a:ea typeface="Quicksand"/>
              <a:cs typeface="Quicksand"/>
              <a:sym typeface="Quicksand"/>
            </a:endParaRPr>
          </a:p>
          <a:p>
            <a:pPr>
              <a:lnSpc>
                <a:spcPts val="4150"/>
              </a:lnSpc>
            </a:pPr>
            <a:endParaRPr lang="en-US" sz="2000" dirty="0">
              <a:latin typeface="Antique Olive"/>
              <a:ea typeface="Quicksand"/>
              <a:cs typeface="Quicksand"/>
              <a:sym typeface="Quicksand"/>
            </a:endParaRPr>
          </a:p>
        </p:txBody>
      </p:sp>
      <p:sp>
        <p:nvSpPr>
          <p:cNvPr id="3" name="TextBox 3"/>
          <p:cNvSpPr txBox="1"/>
          <p:nvPr/>
        </p:nvSpPr>
        <p:spPr>
          <a:xfrm>
            <a:off x="3973935" y="420266"/>
            <a:ext cx="7532265" cy="726033"/>
          </a:xfrm>
          <a:prstGeom prst="rect">
            <a:avLst/>
          </a:prstGeom>
        </p:spPr>
        <p:txBody>
          <a:bodyPr lIns="0" tIns="0" rIns="0" bIns="0" rtlCol="0" anchor="t">
            <a:spAutoFit/>
          </a:bodyPr>
          <a:lstStyle/>
          <a:p>
            <a:pPr algn="just">
              <a:lnSpc>
                <a:spcPts val="5973"/>
              </a:lnSpc>
              <a:spcBef>
                <a:spcPct val="0"/>
              </a:spcBef>
            </a:pPr>
            <a:r>
              <a:rPr lang="en-US" sz="4400" b="1" dirty="0">
                <a:latin typeface="Antique Olive"/>
                <a:ea typeface="Cormorant Garamond"/>
                <a:cs typeface="Cormorant Garamond"/>
                <a:sym typeface="Cormorant Garamond"/>
              </a:rPr>
              <a:t>Data types</a:t>
            </a:r>
            <a:endParaRPr lang="en-US" sz="4400" b="1" dirty="0">
              <a:latin typeface="Antique Olive"/>
              <a:ea typeface="Cormorant Garamond"/>
              <a:cs typeface="Cormorant Garamond"/>
              <a:sym typeface="Cormorant Garamond"/>
              <a:hlinkClick r:id="rId4" tooltip="https://javascript.info/variables#constant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39573657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9872" y="1171000"/>
            <a:ext cx="11813406" cy="5848461"/>
          </a:xfrm>
          <a:prstGeom prst="rect">
            <a:avLst/>
          </a:prstGeom>
        </p:spPr>
        <p:txBody>
          <a:bodyPr lIns="0" tIns="0" rIns="0" bIns="0" rtlCol="0" anchor="t">
            <a:spAutoFit/>
          </a:bodyPr>
          <a:lstStyle/>
          <a:p>
            <a:pPr>
              <a:lnSpc>
                <a:spcPts val="4150"/>
              </a:lnSpc>
            </a:pPr>
            <a:r>
              <a:rPr lang="en-US" sz="2000" u="sng" dirty="0">
                <a:latin typeface="Antique Olive"/>
                <a:ea typeface="Quicksand"/>
                <a:cs typeface="Quicksand"/>
                <a:sym typeface="Quicksand"/>
              </a:rPr>
              <a:t>String</a:t>
            </a:r>
          </a:p>
          <a:p>
            <a:pPr>
              <a:lnSpc>
                <a:spcPts val="4150"/>
              </a:lnSpc>
            </a:pPr>
            <a:r>
              <a:rPr lang="en-US" sz="2000" dirty="0">
                <a:latin typeface="Antique Olive"/>
                <a:ea typeface="Quicksand"/>
                <a:cs typeface="Quicksand"/>
                <a:sym typeface="Quicksand"/>
              </a:rPr>
              <a:t>Backticks are “extended functionality” quotes. They allow us to embed variables and expressions into a string by wrapping them in ${…}</a:t>
            </a:r>
            <a:r>
              <a:rPr lang="en-US" sz="2000" b="1" dirty="0">
                <a:latin typeface="Antique Olive"/>
                <a:ea typeface="Quicksand Bold"/>
                <a:cs typeface="Quicksand Bold"/>
                <a:sym typeface="Quicksand Bold"/>
              </a:rPr>
              <a:t>, for example:</a:t>
            </a:r>
          </a:p>
          <a:p>
            <a:pPr>
              <a:lnSpc>
                <a:spcPts val="4150"/>
              </a:lnSpc>
            </a:pPr>
            <a:r>
              <a:rPr lang="en-US" sz="2000" dirty="0">
                <a:latin typeface="Antique Olive"/>
                <a:ea typeface="Quicksand"/>
                <a:cs typeface="Quicksand"/>
                <a:sym typeface="Quicksand"/>
              </a:rPr>
              <a:t>let name = "John";// embed a variable</a:t>
            </a:r>
          </a:p>
          <a:p>
            <a:pPr>
              <a:lnSpc>
                <a:spcPts val="4150"/>
              </a:lnSpc>
            </a:pPr>
            <a:r>
              <a:rPr lang="en-US" sz="2000" dirty="0">
                <a:latin typeface="Antique Olive"/>
                <a:ea typeface="Quicksand"/>
                <a:cs typeface="Quicksand"/>
                <a:sym typeface="Quicksand"/>
              </a:rPr>
              <a:t>alert( `Hello, ${name}!` ); // Hello, John!// embed an expression</a:t>
            </a:r>
          </a:p>
          <a:p>
            <a:pPr>
              <a:lnSpc>
                <a:spcPts val="4150"/>
              </a:lnSpc>
            </a:pPr>
            <a:r>
              <a:rPr lang="en-US" sz="2000" dirty="0">
                <a:latin typeface="Antique Olive"/>
                <a:ea typeface="Quicksand"/>
                <a:cs typeface="Quicksand"/>
                <a:sym typeface="Quicksand"/>
              </a:rPr>
              <a:t>alert( `the result is ${1 + 2}` ); // the result is 3</a:t>
            </a:r>
          </a:p>
          <a:p>
            <a:pPr>
              <a:lnSpc>
                <a:spcPts val="4150"/>
              </a:lnSpc>
            </a:pPr>
            <a:r>
              <a:rPr lang="en-US" sz="2000" dirty="0">
                <a:latin typeface="Antique Olive"/>
                <a:ea typeface="Quicksand"/>
                <a:cs typeface="Quicksand"/>
                <a:sym typeface="Quicksand"/>
              </a:rPr>
              <a:t>The expression inside ${…} is evaluated and the result becomes a part of the string. We can put anything in there: a variable like name or an arithmetical expression like 1 + 2 or something more complex.</a:t>
            </a:r>
          </a:p>
          <a:p>
            <a:pPr>
              <a:lnSpc>
                <a:spcPts val="4150"/>
              </a:lnSpc>
            </a:pPr>
            <a:r>
              <a:rPr lang="en-US" sz="2000" dirty="0">
                <a:latin typeface="Antique Olive"/>
                <a:ea typeface="Quicksand"/>
                <a:cs typeface="Quicksand"/>
                <a:sym typeface="Quicksand"/>
              </a:rPr>
              <a:t>Please note that this can only be done in backticks. Other quotes don’t have this embedding functionality!</a:t>
            </a:r>
          </a:p>
          <a:p>
            <a:pPr>
              <a:lnSpc>
                <a:spcPts val="4150"/>
              </a:lnSpc>
            </a:pPr>
            <a:endParaRPr lang="en-US" sz="2000" dirty="0">
              <a:latin typeface="Antique Olive"/>
              <a:ea typeface="Quicksand"/>
              <a:cs typeface="Quicksand"/>
              <a:sym typeface="Quicksand"/>
            </a:endParaRPr>
          </a:p>
          <a:p>
            <a:pPr>
              <a:lnSpc>
                <a:spcPts val="4150"/>
              </a:lnSpc>
            </a:pPr>
            <a:endParaRPr lang="en-US" sz="2000" dirty="0">
              <a:latin typeface="Antique Olive"/>
              <a:ea typeface="Quicksand"/>
              <a:cs typeface="Quicksand"/>
              <a:sym typeface="Quicksand"/>
            </a:endParaRPr>
          </a:p>
        </p:txBody>
      </p:sp>
      <p:sp>
        <p:nvSpPr>
          <p:cNvPr id="3" name="TextBox 3"/>
          <p:cNvSpPr txBox="1"/>
          <p:nvPr/>
        </p:nvSpPr>
        <p:spPr>
          <a:xfrm>
            <a:off x="3973935" y="420266"/>
            <a:ext cx="7532265" cy="726033"/>
          </a:xfrm>
          <a:prstGeom prst="rect">
            <a:avLst/>
          </a:prstGeom>
        </p:spPr>
        <p:txBody>
          <a:bodyPr lIns="0" tIns="0" rIns="0" bIns="0" rtlCol="0" anchor="t">
            <a:spAutoFit/>
          </a:bodyPr>
          <a:lstStyle/>
          <a:p>
            <a:pPr algn="just">
              <a:lnSpc>
                <a:spcPts val="5973"/>
              </a:lnSpc>
              <a:spcBef>
                <a:spcPct val="0"/>
              </a:spcBef>
            </a:pPr>
            <a:r>
              <a:rPr lang="en-US" sz="4400" b="1" dirty="0">
                <a:latin typeface="Antique Olive"/>
                <a:ea typeface="Cormorant Garamond"/>
                <a:cs typeface="Cormorant Garamond"/>
                <a:sym typeface="Cormorant Garamond"/>
              </a:rPr>
              <a:t>Data types</a:t>
            </a:r>
            <a:endParaRPr lang="en-US" sz="4400" b="1" dirty="0">
              <a:latin typeface="Antique Olive"/>
              <a:ea typeface="Cormorant Garamond"/>
              <a:cs typeface="Cormorant Garamond"/>
              <a:sym typeface="Cormorant Garamond"/>
              <a:hlinkClick r:id="rId2" tooltip="https://javascript.info/variables#constant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307884616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9872" y="1171000"/>
            <a:ext cx="11813406" cy="5861348"/>
          </a:xfrm>
          <a:prstGeom prst="rect">
            <a:avLst/>
          </a:prstGeom>
        </p:spPr>
        <p:txBody>
          <a:bodyPr lIns="0" tIns="0" rIns="0" bIns="0" rtlCol="0" anchor="t">
            <a:spAutoFit/>
          </a:bodyPr>
          <a:lstStyle/>
          <a:p>
            <a:pPr>
              <a:lnSpc>
                <a:spcPts val="4150"/>
              </a:lnSpc>
            </a:pPr>
            <a:r>
              <a:rPr lang="en-US" sz="2000" u="sng" dirty="0">
                <a:latin typeface="Antique Olive"/>
                <a:ea typeface="Quicksand"/>
                <a:cs typeface="Quicksand"/>
                <a:sym typeface="Quicksand"/>
              </a:rPr>
              <a:t>String</a:t>
            </a:r>
          </a:p>
          <a:p>
            <a:pPr>
              <a:lnSpc>
                <a:spcPts val="4150"/>
              </a:lnSpc>
            </a:pPr>
            <a:r>
              <a:rPr lang="en-US" sz="2000" dirty="0">
                <a:latin typeface="Antique Olive"/>
                <a:ea typeface="Quicksand"/>
                <a:cs typeface="Quicksand"/>
                <a:sym typeface="Quicksand"/>
              </a:rPr>
              <a:t>To get a character at position pos, use square brackets [pos] or call the method </a:t>
            </a:r>
            <a:r>
              <a:rPr lang="en-US" sz="2000" u="sng" dirty="0">
                <a:latin typeface="Antique Olive"/>
                <a:ea typeface="Quicksand"/>
                <a:cs typeface="Quicksand"/>
                <a:sym typeface="Quicksand"/>
              </a:rPr>
              <a:t>str.at(pos)</a:t>
            </a:r>
            <a:r>
              <a:rPr lang="en-US" sz="2000" dirty="0">
                <a:latin typeface="Antique Olive"/>
                <a:ea typeface="Quicksand"/>
                <a:cs typeface="Quicksand"/>
                <a:sym typeface="Quicksand"/>
              </a:rPr>
              <a:t>. The first character starts from the zero position</a:t>
            </a:r>
          </a:p>
          <a:p>
            <a:pPr>
              <a:lnSpc>
                <a:spcPts val="4150"/>
              </a:lnSpc>
            </a:pPr>
            <a:r>
              <a:rPr lang="en-US" sz="2000" dirty="0">
                <a:latin typeface="Antique Olive"/>
                <a:ea typeface="Quicksand"/>
                <a:cs typeface="Quicksand"/>
                <a:sym typeface="Quicksand"/>
              </a:rPr>
              <a:t>let str = `Hello`;// the first character</a:t>
            </a:r>
          </a:p>
          <a:p>
            <a:pPr>
              <a:lnSpc>
                <a:spcPts val="4150"/>
              </a:lnSpc>
            </a:pPr>
            <a:r>
              <a:rPr lang="en-US" sz="2000" dirty="0">
                <a:latin typeface="Antique Olive"/>
                <a:ea typeface="Quicksand"/>
                <a:cs typeface="Quicksand"/>
                <a:sym typeface="Quicksand"/>
              </a:rPr>
              <a:t>alert( str[0] ); // H</a:t>
            </a:r>
          </a:p>
          <a:p>
            <a:pPr>
              <a:lnSpc>
                <a:spcPts val="4150"/>
              </a:lnSpc>
            </a:pPr>
            <a:r>
              <a:rPr lang="en-US" sz="2000" dirty="0">
                <a:latin typeface="Antique Olive"/>
                <a:ea typeface="Quicksand"/>
                <a:cs typeface="Quicksand"/>
                <a:sym typeface="Quicksand"/>
              </a:rPr>
              <a:t>alert( str.at(0) ); // H // the first character</a:t>
            </a:r>
          </a:p>
          <a:p>
            <a:pPr>
              <a:lnSpc>
                <a:spcPts val="4150"/>
              </a:lnSpc>
            </a:pPr>
            <a:r>
              <a:rPr lang="en-US" sz="2000" dirty="0">
                <a:solidFill>
                  <a:srgbClr val="000000"/>
                </a:solidFill>
                <a:latin typeface="Antique Olive"/>
                <a:ea typeface="Quicksand"/>
                <a:cs typeface="Quicksand"/>
                <a:sym typeface="Quicksand"/>
              </a:rPr>
              <a:t>alert( str[</a:t>
            </a:r>
            <a:r>
              <a:rPr lang="en-US" sz="2000" dirty="0" err="1">
                <a:solidFill>
                  <a:srgbClr val="000000"/>
                </a:solidFill>
                <a:latin typeface="Antique Olive"/>
                <a:ea typeface="Quicksand"/>
                <a:cs typeface="Quicksand"/>
                <a:sym typeface="Quicksand"/>
              </a:rPr>
              <a:t>str.length</a:t>
            </a:r>
            <a:r>
              <a:rPr lang="en-US" sz="2000" dirty="0">
                <a:latin typeface="Antique Olive"/>
                <a:ea typeface="Quicksand"/>
                <a:cs typeface="Quicksand"/>
                <a:sym typeface="Quicksand"/>
              </a:rPr>
              <a:t> - 1] ); // o</a:t>
            </a:r>
          </a:p>
          <a:p>
            <a:pPr>
              <a:lnSpc>
                <a:spcPts val="4150"/>
              </a:lnSpc>
            </a:pPr>
            <a:r>
              <a:rPr lang="en-US" sz="2000" dirty="0">
                <a:latin typeface="Antique Olive"/>
                <a:ea typeface="Quicksand"/>
                <a:cs typeface="Quicksand"/>
                <a:sym typeface="Quicksand"/>
              </a:rPr>
              <a:t>alert( str.at(-1) );  //?????????????</a:t>
            </a:r>
            <a:endParaRPr lang="en-US" sz="2000" dirty="0">
              <a:latin typeface="Antique Olive"/>
              <a:ea typeface="Quicksand"/>
              <a:cs typeface="Quicksand"/>
              <a:sym typeface="Quicksand"/>
              <a:hlinkClick r:id="rId2" tooltip="https://javascript.info/types#number">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types#number">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types#number">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types#number">
                <a:extLst>
                  <a:ext uri="{A12FA001-AC4F-418D-AE19-62706E023703}">
                    <ahyp:hlinkClr xmlns:ahyp="http://schemas.microsoft.com/office/drawing/2018/hyperlinkcolor" val="tx"/>
                  </a:ext>
                </a:extLst>
              </a:hlinkClick>
            </a:endParaRPr>
          </a:p>
        </p:txBody>
      </p:sp>
      <p:sp>
        <p:nvSpPr>
          <p:cNvPr id="3" name="TextBox 3"/>
          <p:cNvSpPr txBox="1"/>
          <p:nvPr/>
        </p:nvSpPr>
        <p:spPr>
          <a:xfrm>
            <a:off x="3973935" y="420266"/>
            <a:ext cx="7532265" cy="726033"/>
          </a:xfrm>
          <a:prstGeom prst="rect">
            <a:avLst/>
          </a:prstGeom>
        </p:spPr>
        <p:txBody>
          <a:bodyPr lIns="0" tIns="0" rIns="0" bIns="0" rtlCol="0" anchor="t">
            <a:spAutoFit/>
          </a:bodyPr>
          <a:lstStyle/>
          <a:p>
            <a:pPr algn="just">
              <a:lnSpc>
                <a:spcPts val="5973"/>
              </a:lnSpc>
              <a:spcBef>
                <a:spcPct val="0"/>
              </a:spcBef>
            </a:pPr>
            <a:r>
              <a:rPr lang="en-US" sz="4400" b="1" dirty="0">
                <a:latin typeface="Antique Olive"/>
                <a:ea typeface="Cormorant Garamond"/>
                <a:cs typeface="Cormorant Garamond"/>
                <a:sym typeface="Cormorant Garamond"/>
              </a:rPr>
              <a:t>Data types</a:t>
            </a:r>
            <a:endParaRPr lang="en-US" sz="4400" b="1" dirty="0">
              <a:latin typeface="Antique Olive"/>
              <a:ea typeface="Cormorant Garamond"/>
              <a:cs typeface="Cormorant Garamond"/>
              <a:sym typeface="Cormorant Garamond"/>
              <a:hlinkClick r:id="rId3" tooltip="https://javascript.info/variables#constant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106202816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9872" y="1171000"/>
            <a:ext cx="11813406" cy="6399957"/>
          </a:xfrm>
          <a:prstGeom prst="rect">
            <a:avLst/>
          </a:prstGeom>
        </p:spPr>
        <p:txBody>
          <a:bodyPr lIns="0" tIns="0" rIns="0" bIns="0" rtlCol="0" anchor="t">
            <a:spAutoFit/>
          </a:bodyPr>
          <a:lstStyle/>
          <a:p>
            <a:pPr>
              <a:lnSpc>
                <a:spcPts val="4150"/>
              </a:lnSpc>
            </a:pPr>
            <a:r>
              <a:rPr lang="en-US" sz="2000" u="sng" dirty="0">
                <a:latin typeface="Antique Olive"/>
                <a:ea typeface="Quicksand"/>
                <a:cs typeface="Quicksand"/>
                <a:sym typeface="Quicksand"/>
              </a:rPr>
              <a:t>String</a:t>
            </a:r>
          </a:p>
          <a:p>
            <a:pPr>
              <a:lnSpc>
                <a:spcPts val="4150"/>
              </a:lnSpc>
            </a:pPr>
            <a:r>
              <a:rPr lang="en-US" sz="2000" dirty="0">
                <a:latin typeface="Antique Olive"/>
                <a:ea typeface="Quicksand"/>
                <a:cs typeface="Quicksand"/>
                <a:sym typeface="Quicksand"/>
              </a:rPr>
              <a:t>The first method is </a:t>
            </a:r>
            <a:r>
              <a:rPr lang="en-US" sz="2000" b="1" u="sng" dirty="0" err="1">
                <a:latin typeface="Antique Olive"/>
                <a:ea typeface="Quicksand Bold"/>
                <a:cs typeface="Quicksand Bold"/>
                <a:sym typeface="Quicksand Bold"/>
              </a:rPr>
              <a:t>str.indexOf</a:t>
            </a:r>
            <a:r>
              <a:rPr lang="en-US" sz="2000" b="1" u="sng" dirty="0">
                <a:latin typeface="Antique Olive"/>
                <a:ea typeface="Quicksand Bold"/>
                <a:cs typeface="Quicksand Bold"/>
                <a:sym typeface="Quicksand Bold"/>
              </a:rPr>
              <a:t>(</a:t>
            </a:r>
            <a:r>
              <a:rPr lang="en-US" sz="2000" b="1" u="sng" dirty="0" err="1">
                <a:latin typeface="Antique Olive"/>
                <a:ea typeface="Quicksand Bold"/>
                <a:cs typeface="Quicksand Bold"/>
                <a:sym typeface="Quicksand Bold"/>
              </a:rPr>
              <a:t>substr</a:t>
            </a:r>
            <a:r>
              <a:rPr lang="en-US" sz="2000" b="1" u="sng" dirty="0">
                <a:latin typeface="Antique Olive"/>
                <a:ea typeface="Quicksand Bold"/>
                <a:cs typeface="Quicksand Bold"/>
                <a:sym typeface="Quicksand Bold"/>
              </a:rPr>
              <a:t>, pos)</a:t>
            </a:r>
            <a:r>
              <a:rPr lang="en-US" sz="2000" b="1" dirty="0">
                <a:latin typeface="Antique Olive"/>
                <a:ea typeface="Quicksand Bold"/>
                <a:cs typeface="Quicksand Bold"/>
                <a:sym typeface="Quicksand Bold"/>
              </a:rPr>
              <a:t>.</a:t>
            </a:r>
          </a:p>
          <a:p>
            <a:pPr>
              <a:lnSpc>
                <a:spcPts val="4150"/>
              </a:lnSpc>
            </a:pPr>
            <a:r>
              <a:rPr lang="en-US" sz="2000" dirty="0">
                <a:latin typeface="Antique Olive"/>
                <a:ea typeface="Quicksand"/>
                <a:cs typeface="Quicksand"/>
                <a:sym typeface="Quicksand"/>
              </a:rPr>
              <a:t>It looks for the </a:t>
            </a:r>
            <a:r>
              <a:rPr lang="en-US" sz="2000" dirty="0" err="1">
                <a:latin typeface="Antique Olive"/>
                <a:ea typeface="Quicksand"/>
                <a:cs typeface="Quicksand"/>
                <a:sym typeface="Quicksand"/>
              </a:rPr>
              <a:t>substr</a:t>
            </a:r>
            <a:r>
              <a:rPr lang="en-US" sz="2000" dirty="0">
                <a:latin typeface="Antique Olive"/>
                <a:ea typeface="Quicksand"/>
                <a:cs typeface="Quicksand"/>
                <a:sym typeface="Quicksand"/>
              </a:rPr>
              <a:t> in str, starting from the given position pos, and returns the position where the match was found or -1 if nothing can be found.</a:t>
            </a:r>
          </a:p>
          <a:p>
            <a:pPr>
              <a:lnSpc>
                <a:spcPts val="4150"/>
              </a:lnSpc>
            </a:pPr>
            <a:r>
              <a:rPr lang="en-US" sz="2000" dirty="0">
                <a:latin typeface="Antique Olive"/>
                <a:ea typeface="Quicksand"/>
                <a:cs typeface="Quicksand"/>
                <a:sym typeface="Quicksand"/>
              </a:rPr>
              <a:t>For instance:</a:t>
            </a:r>
          </a:p>
          <a:p>
            <a:pPr>
              <a:lnSpc>
                <a:spcPts val="4150"/>
              </a:lnSpc>
            </a:pPr>
            <a:r>
              <a:rPr lang="en-US" sz="2000" dirty="0">
                <a:latin typeface="Antique Olive"/>
                <a:ea typeface="Quicksand"/>
                <a:cs typeface="Quicksand"/>
                <a:sym typeface="Quicksand"/>
              </a:rPr>
              <a:t>let str = 'Widget with id';</a:t>
            </a:r>
          </a:p>
          <a:p>
            <a:pPr>
              <a:lnSpc>
                <a:spcPts val="4150"/>
              </a:lnSpc>
            </a:pPr>
            <a:r>
              <a:rPr lang="en-US" sz="2000" dirty="0">
                <a:latin typeface="Antique Olive"/>
                <a:ea typeface="Quicksand"/>
                <a:cs typeface="Quicksand"/>
                <a:sym typeface="Quicksand"/>
              </a:rPr>
              <a:t>alert( </a:t>
            </a:r>
            <a:r>
              <a:rPr lang="en-US" sz="2000" dirty="0" err="1">
                <a:latin typeface="Antique Olive"/>
                <a:ea typeface="Quicksand"/>
                <a:cs typeface="Quicksand"/>
                <a:sym typeface="Quicksand"/>
              </a:rPr>
              <a:t>str.indexOf</a:t>
            </a:r>
            <a:r>
              <a:rPr lang="en-US" sz="2000" dirty="0">
                <a:latin typeface="Antique Olive"/>
                <a:ea typeface="Quicksand"/>
                <a:cs typeface="Quicksand"/>
                <a:sym typeface="Quicksand"/>
              </a:rPr>
              <a:t>('Widget') ); // 0, because 'Widget' is found at the beginning</a:t>
            </a:r>
          </a:p>
          <a:p>
            <a:pPr>
              <a:lnSpc>
                <a:spcPts val="4150"/>
              </a:lnSpc>
            </a:pPr>
            <a:r>
              <a:rPr lang="en-US" sz="2000" dirty="0">
                <a:latin typeface="Antique Olive"/>
                <a:ea typeface="Quicksand"/>
                <a:cs typeface="Quicksand"/>
                <a:sym typeface="Quicksand"/>
              </a:rPr>
              <a:t>alert( </a:t>
            </a:r>
            <a:r>
              <a:rPr lang="en-US" sz="2000" dirty="0" err="1">
                <a:latin typeface="Antique Olive"/>
                <a:ea typeface="Quicksand"/>
                <a:cs typeface="Quicksand"/>
                <a:sym typeface="Quicksand"/>
              </a:rPr>
              <a:t>str.indexOf</a:t>
            </a:r>
            <a:r>
              <a:rPr lang="en-US" sz="2000" dirty="0">
                <a:latin typeface="Antique Olive"/>
                <a:ea typeface="Quicksand"/>
                <a:cs typeface="Quicksand"/>
                <a:sym typeface="Quicksand"/>
              </a:rPr>
              <a:t>('widget') ); // -1, not found, the search is case-sensitive</a:t>
            </a:r>
          </a:p>
          <a:p>
            <a:pPr>
              <a:lnSpc>
                <a:spcPts val="4150"/>
              </a:lnSpc>
            </a:pPr>
            <a:endParaRPr lang="en-US" sz="2000" dirty="0">
              <a:latin typeface="Antique Olive"/>
              <a:ea typeface="Quicksand"/>
              <a:cs typeface="Quicksand"/>
              <a:sym typeface="Quicksand"/>
            </a:endParaRPr>
          </a:p>
          <a:p>
            <a:pPr>
              <a:lnSpc>
                <a:spcPts val="4150"/>
              </a:lnSpc>
            </a:pPr>
            <a:endParaRPr lang="en-US" sz="2000" dirty="0">
              <a:latin typeface="Antique Olive"/>
              <a:ea typeface="Quicksand"/>
              <a:cs typeface="Quicksand"/>
              <a:sym typeface="Quicksand"/>
            </a:endParaRPr>
          </a:p>
          <a:p>
            <a:pPr>
              <a:lnSpc>
                <a:spcPts val="4150"/>
              </a:lnSpc>
            </a:pPr>
            <a:endParaRPr lang="en-US" sz="2000" dirty="0">
              <a:latin typeface="Antique Olive"/>
              <a:ea typeface="Quicksand"/>
              <a:cs typeface="Quicksand"/>
              <a:sym typeface="Quicksand"/>
            </a:endParaRPr>
          </a:p>
          <a:p>
            <a:pPr>
              <a:lnSpc>
                <a:spcPts val="4150"/>
              </a:lnSpc>
            </a:pPr>
            <a:endParaRPr lang="en-US" sz="2000" dirty="0">
              <a:latin typeface="Antique Olive"/>
              <a:ea typeface="Quicksand"/>
              <a:cs typeface="Quicksand"/>
              <a:sym typeface="Quicksand"/>
              <a:hlinkClick r:id="rId2" tooltip="https://javascript.info/types#number">
                <a:extLst>
                  <a:ext uri="{A12FA001-AC4F-418D-AE19-62706E023703}">
                    <ahyp:hlinkClr xmlns:ahyp="http://schemas.microsoft.com/office/drawing/2018/hyperlinkcolor" val="tx"/>
                  </a:ext>
                </a:extLst>
              </a:hlinkClick>
            </a:endParaRPr>
          </a:p>
        </p:txBody>
      </p:sp>
      <p:sp>
        <p:nvSpPr>
          <p:cNvPr id="3" name="TextBox 3"/>
          <p:cNvSpPr txBox="1"/>
          <p:nvPr/>
        </p:nvSpPr>
        <p:spPr>
          <a:xfrm>
            <a:off x="3973935" y="420266"/>
            <a:ext cx="7532265" cy="726033"/>
          </a:xfrm>
          <a:prstGeom prst="rect">
            <a:avLst/>
          </a:prstGeom>
        </p:spPr>
        <p:txBody>
          <a:bodyPr lIns="0" tIns="0" rIns="0" bIns="0" rtlCol="0" anchor="t">
            <a:spAutoFit/>
          </a:bodyPr>
          <a:lstStyle/>
          <a:p>
            <a:pPr algn="just">
              <a:lnSpc>
                <a:spcPts val="5973"/>
              </a:lnSpc>
              <a:spcBef>
                <a:spcPct val="0"/>
              </a:spcBef>
            </a:pPr>
            <a:r>
              <a:rPr lang="en-US" sz="4400" b="1" dirty="0">
                <a:latin typeface="Antique Olive"/>
                <a:ea typeface="Cormorant Garamond"/>
                <a:cs typeface="Cormorant Garamond"/>
                <a:sym typeface="Cormorant Garamond"/>
              </a:rPr>
              <a:t>Data types</a:t>
            </a:r>
            <a:endParaRPr lang="en-US" sz="4400" b="1" dirty="0">
              <a:latin typeface="Antique Olive"/>
              <a:ea typeface="Cormorant Garamond"/>
              <a:cs typeface="Cormorant Garamond"/>
              <a:sym typeface="Cormorant Garamond"/>
              <a:hlinkClick r:id="rId3" tooltip="https://javascript.info/variables#constant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302574552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9872" y="1171001"/>
            <a:ext cx="11813406" cy="8015784"/>
          </a:xfrm>
          <a:prstGeom prst="rect">
            <a:avLst/>
          </a:prstGeom>
        </p:spPr>
        <p:txBody>
          <a:bodyPr lIns="0" tIns="0" rIns="0" bIns="0" rtlCol="0" anchor="t">
            <a:spAutoFit/>
          </a:bodyPr>
          <a:lstStyle/>
          <a:p>
            <a:pPr>
              <a:lnSpc>
                <a:spcPts val="4150"/>
              </a:lnSpc>
            </a:pPr>
            <a:r>
              <a:rPr lang="en-US" sz="2000" u="sng" dirty="0">
                <a:latin typeface="Antique Olive"/>
                <a:ea typeface="Quicksand"/>
                <a:cs typeface="Quicksand"/>
                <a:sym typeface="Quicksand"/>
              </a:rPr>
              <a:t>String</a:t>
            </a:r>
          </a:p>
          <a:p>
            <a:pPr>
              <a:lnSpc>
                <a:spcPts val="4150"/>
              </a:lnSpc>
            </a:pPr>
            <a:r>
              <a:rPr lang="en-US" sz="2000" b="1" u="sng" dirty="0">
                <a:latin typeface="Antique Olive"/>
                <a:ea typeface="Quicksand Bold"/>
                <a:cs typeface="Quicksand Bold"/>
                <a:sym typeface="Quicksand Bold"/>
              </a:rPr>
              <a:t>includes, </a:t>
            </a:r>
            <a:r>
              <a:rPr lang="en-US" sz="2000" b="1" u="sng" dirty="0" err="1">
                <a:latin typeface="Antique Olive"/>
                <a:ea typeface="Quicksand Bold"/>
                <a:cs typeface="Quicksand Bold"/>
                <a:sym typeface="Quicksand Bold"/>
              </a:rPr>
              <a:t>startsWith</a:t>
            </a:r>
            <a:r>
              <a:rPr lang="en-US" sz="2000" b="1" u="sng" dirty="0">
                <a:latin typeface="Antique Olive"/>
                <a:ea typeface="Quicksand Bold"/>
                <a:cs typeface="Quicksand Bold"/>
                <a:sym typeface="Quicksand Bold"/>
              </a:rPr>
              <a:t>, </a:t>
            </a:r>
            <a:r>
              <a:rPr lang="en-US" sz="2000" b="1" u="sng" dirty="0" err="1">
                <a:latin typeface="Antique Olive"/>
                <a:ea typeface="Quicksand Bold"/>
                <a:cs typeface="Quicksand Bold"/>
                <a:sym typeface="Quicksand Bold"/>
              </a:rPr>
              <a:t>endsWith</a:t>
            </a:r>
            <a:endParaRPr lang="en-US" sz="2000" b="1" u="sng" dirty="0">
              <a:latin typeface="Antique Olive"/>
              <a:ea typeface="Quicksand Bold"/>
              <a:cs typeface="Quicksand Bold"/>
              <a:sym typeface="Quicksand Bold"/>
            </a:endParaRPr>
          </a:p>
          <a:p>
            <a:pPr>
              <a:lnSpc>
                <a:spcPts val="4150"/>
              </a:lnSpc>
            </a:pPr>
            <a:r>
              <a:rPr lang="en-US" sz="2000" dirty="0">
                <a:latin typeface="Antique Olive"/>
                <a:ea typeface="Quicksand"/>
                <a:cs typeface="Quicksand"/>
                <a:sym typeface="Quicksand"/>
              </a:rPr>
              <a:t>The more modern method </a:t>
            </a:r>
            <a:r>
              <a:rPr lang="en-US" sz="2000" u="sng" dirty="0" err="1">
                <a:latin typeface="Antique Olive"/>
                <a:ea typeface="Quicksand"/>
                <a:cs typeface="Quicksand"/>
                <a:sym typeface="Quicksand"/>
              </a:rPr>
              <a:t>str.includes</a:t>
            </a:r>
            <a:r>
              <a:rPr lang="en-US" sz="2000" u="sng" dirty="0">
                <a:latin typeface="Antique Olive"/>
                <a:ea typeface="Quicksand"/>
                <a:cs typeface="Quicksand"/>
                <a:sym typeface="Quicksand"/>
              </a:rPr>
              <a:t>(</a:t>
            </a:r>
            <a:r>
              <a:rPr lang="en-US" sz="2000" u="sng" dirty="0" err="1">
                <a:latin typeface="Antique Olive"/>
                <a:ea typeface="Quicksand"/>
                <a:cs typeface="Quicksand"/>
                <a:sym typeface="Quicksand"/>
              </a:rPr>
              <a:t>substr</a:t>
            </a:r>
            <a:r>
              <a:rPr lang="en-US" sz="2000" u="sng" dirty="0">
                <a:latin typeface="Antique Olive"/>
                <a:ea typeface="Quicksand"/>
                <a:cs typeface="Quicksand"/>
                <a:sym typeface="Quicksand"/>
              </a:rPr>
              <a:t>, pos)</a:t>
            </a:r>
            <a:r>
              <a:rPr lang="en-US" sz="2000" dirty="0">
                <a:latin typeface="Antique Olive"/>
                <a:ea typeface="Quicksand"/>
                <a:cs typeface="Quicksand"/>
                <a:sym typeface="Quicksand"/>
              </a:rPr>
              <a:t> returns true/false depending on whether str contains </a:t>
            </a:r>
            <a:r>
              <a:rPr lang="en-US" sz="2000" dirty="0" err="1">
                <a:latin typeface="Antique Olive"/>
                <a:ea typeface="Quicksand"/>
                <a:cs typeface="Quicksand"/>
                <a:sym typeface="Quicksand"/>
              </a:rPr>
              <a:t>substr</a:t>
            </a:r>
            <a:r>
              <a:rPr lang="en-US" sz="2000" dirty="0">
                <a:latin typeface="Antique Olive"/>
                <a:ea typeface="Quicksand"/>
                <a:cs typeface="Quicksand"/>
                <a:sym typeface="Quicksand"/>
              </a:rPr>
              <a:t> within.</a:t>
            </a:r>
          </a:p>
          <a:p>
            <a:pPr>
              <a:lnSpc>
                <a:spcPts val="4150"/>
              </a:lnSpc>
            </a:pPr>
            <a:r>
              <a:rPr lang="en-US" sz="2000" dirty="0">
                <a:latin typeface="Antique Olive"/>
                <a:ea typeface="Quicksand"/>
                <a:cs typeface="Quicksand"/>
                <a:sym typeface="Quicksand"/>
              </a:rPr>
              <a:t>It’s the right choice if we need to test for the match, but don’t need its position:</a:t>
            </a:r>
          </a:p>
          <a:p>
            <a:pPr>
              <a:lnSpc>
                <a:spcPts val="4150"/>
              </a:lnSpc>
            </a:pPr>
            <a:r>
              <a:rPr lang="en-US" sz="2000" dirty="0">
                <a:latin typeface="Antique Olive"/>
                <a:ea typeface="Quicksand"/>
                <a:cs typeface="Quicksand"/>
                <a:sym typeface="Quicksand"/>
              </a:rPr>
              <a:t>alert( "Widget with </a:t>
            </a:r>
            <a:r>
              <a:rPr lang="en-US" sz="2000" dirty="0" err="1">
                <a:latin typeface="Antique Olive"/>
                <a:ea typeface="Quicksand"/>
                <a:cs typeface="Quicksand"/>
                <a:sym typeface="Quicksand"/>
              </a:rPr>
              <a:t>id".includes</a:t>
            </a:r>
            <a:r>
              <a:rPr lang="en-US" sz="2000" dirty="0">
                <a:latin typeface="Antique Olive"/>
                <a:ea typeface="Quicksand"/>
                <a:cs typeface="Quicksand"/>
                <a:sym typeface="Quicksand"/>
              </a:rPr>
              <a:t>("Widget") ); // true</a:t>
            </a:r>
          </a:p>
          <a:p>
            <a:pPr>
              <a:lnSpc>
                <a:spcPts val="4150"/>
              </a:lnSpc>
            </a:pPr>
            <a:r>
              <a:rPr lang="en-US" sz="2000" dirty="0">
                <a:latin typeface="Antique Olive"/>
                <a:ea typeface="Quicksand"/>
                <a:cs typeface="Quicksand"/>
                <a:sym typeface="Quicksand"/>
              </a:rPr>
              <a:t>alert( "</a:t>
            </a:r>
            <a:r>
              <a:rPr lang="en-US" sz="2000" dirty="0" err="1">
                <a:latin typeface="Antique Olive"/>
                <a:ea typeface="Quicksand"/>
                <a:cs typeface="Quicksand"/>
                <a:sym typeface="Quicksand"/>
              </a:rPr>
              <a:t>Hello".includes</a:t>
            </a:r>
            <a:r>
              <a:rPr lang="en-US" sz="2000" dirty="0">
                <a:latin typeface="Antique Olive"/>
                <a:ea typeface="Quicksand"/>
                <a:cs typeface="Quicksand"/>
                <a:sym typeface="Quicksand"/>
              </a:rPr>
              <a:t>("Bye") ); // false</a:t>
            </a:r>
          </a:p>
          <a:p>
            <a:pPr>
              <a:lnSpc>
                <a:spcPts val="4150"/>
              </a:lnSpc>
            </a:pPr>
            <a:endParaRPr lang="en-US" sz="2000" dirty="0">
              <a:latin typeface="Antique Olive"/>
              <a:ea typeface="Quicksand"/>
              <a:cs typeface="Quicksand"/>
              <a:sym typeface="Quicksand"/>
            </a:endParaRPr>
          </a:p>
          <a:p>
            <a:pPr>
              <a:lnSpc>
                <a:spcPts val="4150"/>
              </a:lnSpc>
            </a:pPr>
            <a:r>
              <a:rPr lang="en-US" sz="2000" dirty="0">
                <a:latin typeface="Antique Olive"/>
                <a:ea typeface="Quicksand"/>
                <a:cs typeface="Quicksand"/>
                <a:sym typeface="Quicksand"/>
              </a:rPr>
              <a:t>alert( "Widget".</a:t>
            </a:r>
            <a:r>
              <a:rPr lang="en-US" sz="2000" dirty="0" err="1">
                <a:latin typeface="Antique Olive"/>
                <a:ea typeface="Quicksand"/>
                <a:cs typeface="Quicksand"/>
                <a:sym typeface="Quicksand"/>
              </a:rPr>
              <a:t>startsWith</a:t>
            </a:r>
            <a:r>
              <a:rPr lang="en-US" sz="2000" dirty="0">
                <a:latin typeface="Antique Olive"/>
                <a:ea typeface="Quicksand"/>
                <a:cs typeface="Quicksand"/>
                <a:sym typeface="Quicksand"/>
              </a:rPr>
              <a:t>("Wid") ); // true, "Widget" starts with "Wid"</a:t>
            </a:r>
          </a:p>
          <a:p>
            <a:pPr>
              <a:lnSpc>
                <a:spcPts val="4150"/>
              </a:lnSpc>
            </a:pPr>
            <a:r>
              <a:rPr lang="en-US" sz="2000" dirty="0">
                <a:latin typeface="Antique Olive"/>
                <a:ea typeface="Quicksand"/>
                <a:cs typeface="Quicksand"/>
                <a:sym typeface="Quicksand"/>
              </a:rPr>
              <a:t>alert( "Widget".</a:t>
            </a:r>
            <a:r>
              <a:rPr lang="en-US" sz="2000" dirty="0" err="1">
                <a:latin typeface="Antique Olive"/>
                <a:ea typeface="Quicksand"/>
                <a:cs typeface="Quicksand"/>
                <a:sym typeface="Quicksand"/>
              </a:rPr>
              <a:t>endsWith</a:t>
            </a:r>
            <a:r>
              <a:rPr lang="en-US" sz="2000" dirty="0">
                <a:latin typeface="Antique Olive"/>
                <a:ea typeface="Quicksand"/>
                <a:cs typeface="Quicksand"/>
                <a:sym typeface="Quicksand"/>
              </a:rPr>
              <a:t>("get") ); // true, "Widget" ends with "get"</a:t>
            </a:r>
          </a:p>
          <a:p>
            <a:pPr>
              <a:lnSpc>
                <a:spcPts val="4150"/>
              </a:lnSpc>
            </a:pPr>
            <a:endParaRPr lang="en-US" sz="2000" dirty="0">
              <a:latin typeface="Antique Olive"/>
              <a:ea typeface="Quicksand"/>
              <a:cs typeface="Quicksand"/>
              <a:sym typeface="Quicksand"/>
            </a:endParaRPr>
          </a:p>
          <a:p>
            <a:pPr>
              <a:lnSpc>
                <a:spcPts val="4150"/>
              </a:lnSpc>
            </a:pPr>
            <a:endParaRPr lang="en-US" sz="2000" dirty="0">
              <a:latin typeface="Antique Olive"/>
              <a:ea typeface="Quicksand"/>
              <a:cs typeface="Quicksand"/>
              <a:sym typeface="Quicksand"/>
            </a:endParaRPr>
          </a:p>
          <a:p>
            <a:pPr>
              <a:lnSpc>
                <a:spcPts val="4150"/>
              </a:lnSpc>
            </a:pPr>
            <a:endParaRPr lang="en-US" sz="2000" dirty="0">
              <a:latin typeface="Antique Olive"/>
              <a:ea typeface="Quicksand"/>
              <a:cs typeface="Quicksand"/>
              <a:sym typeface="Quicksand"/>
            </a:endParaRPr>
          </a:p>
          <a:p>
            <a:pPr>
              <a:lnSpc>
                <a:spcPts val="4150"/>
              </a:lnSpc>
            </a:pPr>
            <a:endParaRPr lang="en-US" sz="2000" dirty="0">
              <a:latin typeface="Antique Olive"/>
              <a:ea typeface="Quicksand"/>
              <a:cs typeface="Quicksand"/>
              <a:sym typeface="Quicksand"/>
            </a:endParaRPr>
          </a:p>
          <a:p>
            <a:pPr>
              <a:lnSpc>
                <a:spcPts val="4150"/>
              </a:lnSpc>
            </a:pPr>
            <a:endParaRPr lang="en-US" sz="2000" dirty="0">
              <a:latin typeface="Antique Olive"/>
              <a:ea typeface="Quicksand"/>
              <a:cs typeface="Quicksand"/>
              <a:sym typeface="Quicksand"/>
              <a:hlinkClick r:id="rId2" tooltip="https://javascript.info/types#number">
                <a:extLst>
                  <a:ext uri="{A12FA001-AC4F-418D-AE19-62706E023703}">
                    <ahyp:hlinkClr xmlns:ahyp="http://schemas.microsoft.com/office/drawing/2018/hyperlinkcolor" val="tx"/>
                  </a:ext>
                </a:extLst>
              </a:hlinkClick>
            </a:endParaRPr>
          </a:p>
        </p:txBody>
      </p:sp>
      <p:sp>
        <p:nvSpPr>
          <p:cNvPr id="3" name="TextBox 3"/>
          <p:cNvSpPr txBox="1"/>
          <p:nvPr/>
        </p:nvSpPr>
        <p:spPr>
          <a:xfrm>
            <a:off x="3973935" y="420266"/>
            <a:ext cx="7532265" cy="726033"/>
          </a:xfrm>
          <a:prstGeom prst="rect">
            <a:avLst/>
          </a:prstGeom>
        </p:spPr>
        <p:txBody>
          <a:bodyPr lIns="0" tIns="0" rIns="0" bIns="0" rtlCol="0" anchor="t">
            <a:spAutoFit/>
          </a:bodyPr>
          <a:lstStyle/>
          <a:p>
            <a:pPr algn="just">
              <a:lnSpc>
                <a:spcPts val="5973"/>
              </a:lnSpc>
              <a:spcBef>
                <a:spcPct val="0"/>
              </a:spcBef>
            </a:pPr>
            <a:r>
              <a:rPr lang="en-US" sz="4400" b="1" dirty="0">
                <a:latin typeface="Antique Olive"/>
                <a:ea typeface="Cormorant Garamond"/>
                <a:cs typeface="Cormorant Garamond"/>
                <a:sym typeface="Cormorant Garamond"/>
              </a:rPr>
              <a:t>Data types</a:t>
            </a:r>
            <a:endParaRPr lang="en-US" sz="4400" b="1" dirty="0">
              <a:latin typeface="Antique Olive"/>
              <a:ea typeface="Cormorant Garamond"/>
              <a:cs typeface="Cormorant Garamond"/>
              <a:sym typeface="Cormorant Garamond"/>
              <a:hlinkClick r:id="rId3" tooltip="https://javascript.info/variables#constant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30626386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9872" y="1171000"/>
            <a:ext cx="11813406" cy="8015784"/>
          </a:xfrm>
          <a:prstGeom prst="rect">
            <a:avLst/>
          </a:prstGeom>
        </p:spPr>
        <p:txBody>
          <a:bodyPr lIns="0" tIns="0" rIns="0" bIns="0" rtlCol="0" anchor="t">
            <a:spAutoFit/>
          </a:bodyPr>
          <a:lstStyle/>
          <a:p>
            <a:pPr>
              <a:lnSpc>
                <a:spcPts val="4150"/>
              </a:lnSpc>
            </a:pPr>
            <a:r>
              <a:rPr lang="en-US" sz="2000" u="sng" dirty="0">
                <a:latin typeface="Antique Olive"/>
                <a:ea typeface="Quicksand"/>
                <a:cs typeface="Quicksand"/>
                <a:sym typeface="Quicksand"/>
              </a:rPr>
              <a:t>String</a:t>
            </a:r>
          </a:p>
          <a:p>
            <a:pPr>
              <a:lnSpc>
                <a:spcPts val="4150"/>
              </a:lnSpc>
            </a:pPr>
            <a:r>
              <a:rPr lang="en-US" sz="2000" u="sng" dirty="0">
                <a:latin typeface="Antique Olive"/>
                <a:ea typeface="Quicksand Bold"/>
                <a:cs typeface="Quicksand Bold"/>
                <a:sym typeface="Quicksand Bold"/>
              </a:rPr>
              <a:t>Getting a substring</a:t>
            </a:r>
          </a:p>
          <a:p>
            <a:pPr>
              <a:lnSpc>
                <a:spcPts val="4150"/>
              </a:lnSpc>
            </a:pPr>
            <a:r>
              <a:rPr lang="en-US" sz="2000" dirty="0">
                <a:latin typeface="Antique Olive"/>
                <a:ea typeface="Quicksand"/>
                <a:cs typeface="Quicksand"/>
                <a:sym typeface="Quicksand"/>
              </a:rPr>
              <a:t>There is method in JavaSc</a:t>
            </a:r>
            <a:r>
              <a:rPr lang="en-US" sz="2000" dirty="0">
                <a:solidFill>
                  <a:srgbClr val="000000"/>
                </a:solidFill>
                <a:latin typeface="Antique Olive"/>
                <a:ea typeface="Quicksand"/>
                <a:cs typeface="Quicksand"/>
                <a:sym typeface="Quicksand"/>
              </a:rPr>
              <a:t>ript to get a substring: </a:t>
            </a:r>
            <a:r>
              <a:rPr lang="en-US" sz="2000" dirty="0">
                <a:latin typeface="Antique Olive"/>
                <a:ea typeface="Quicksand"/>
                <a:cs typeface="Quicksand"/>
                <a:sym typeface="Quicksand"/>
              </a:rPr>
              <a:t>slice.</a:t>
            </a:r>
          </a:p>
          <a:p>
            <a:pPr>
              <a:lnSpc>
                <a:spcPts val="4150"/>
              </a:lnSpc>
            </a:pPr>
            <a:r>
              <a:rPr lang="en-US" sz="2000" dirty="0" err="1">
                <a:solidFill>
                  <a:srgbClr val="000000"/>
                </a:solidFill>
                <a:latin typeface="Antique Olive"/>
                <a:ea typeface="Quicksand"/>
                <a:cs typeface="Quicksand"/>
                <a:sym typeface="Quicksand"/>
              </a:rPr>
              <a:t>str.slice</a:t>
            </a:r>
            <a:r>
              <a:rPr lang="en-US" sz="2000" dirty="0">
                <a:latin typeface="Antique Olive"/>
                <a:ea typeface="Quicksand"/>
                <a:cs typeface="Quicksand"/>
                <a:sym typeface="Quicksand"/>
              </a:rPr>
              <a:t>(start [, end])</a:t>
            </a:r>
          </a:p>
          <a:p>
            <a:pPr>
              <a:lnSpc>
                <a:spcPts val="4150"/>
              </a:lnSpc>
            </a:pPr>
            <a:r>
              <a:rPr lang="en-US" sz="2000" dirty="0">
                <a:latin typeface="Antique Olive"/>
                <a:ea typeface="Quicksand"/>
                <a:cs typeface="Quicksand"/>
                <a:sym typeface="Quicksand"/>
              </a:rPr>
              <a:t>Returns the part of the string from start to (but not including) end.</a:t>
            </a:r>
          </a:p>
          <a:p>
            <a:pPr>
              <a:lnSpc>
                <a:spcPts val="4150"/>
              </a:lnSpc>
            </a:pPr>
            <a:r>
              <a:rPr lang="en-US" sz="2000" dirty="0">
                <a:latin typeface="Antique Olive"/>
                <a:ea typeface="Quicksand"/>
                <a:cs typeface="Quicksand"/>
                <a:sym typeface="Quicksand"/>
              </a:rPr>
              <a:t>For instance:</a:t>
            </a:r>
          </a:p>
          <a:p>
            <a:pPr>
              <a:lnSpc>
                <a:spcPts val="4150"/>
              </a:lnSpc>
            </a:pPr>
            <a:r>
              <a:rPr lang="en-US" sz="2000" dirty="0">
                <a:latin typeface="Antique Olive"/>
                <a:ea typeface="Quicksand"/>
                <a:cs typeface="Quicksand"/>
                <a:sym typeface="Quicksand"/>
              </a:rPr>
              <a:t>let str = "stringify";</a:t>
            </a:r>
          </a:p>
          <a:p>
            <a:pPr>
              <a:lnSpc>
                <a:spcPts val="4150"/>
              </a:lnSpc>
            </a:pPr>
            <a:r>
              <a:rPr lang="en-US" sz="2000" dirty="0">
                <a:solidFill>
                  <a:srgbClr val="000000"/>
                </a:solidFill>
                <a:latin typeface="Antique Olive"/>
                <a:ea typeface="Quicksand"/>
                <a:cs typeface="Quicksand"/>
                <a:sym typeface="Quicksand"/>
              </a:rPr>
              <a:t>alert( </a:t>
            </a:r>
            <a:r>
              <a:rPr lang="en-US" sz="2000" dirty="0" err="1">
                <a:solidFill>
                  <a:srgbClr val="000000"/>
                </a:solidFill>
                <a:latin typeface="Antique Olive"/>
                <a:ea typeface="Quicksand"/>
                <a:cs typeface="Quicksand"/>
                <a:sym typeface="Quicksand"/>
              </a:rPr>
              <a:t>str.slice</a:t>
            </a:r>
            <a:r>
              <a:rPr lang="en-US" sz="2000" dirty="0">
                <a:solidFill>
                  <a:srgbClr val="000000"/>
                </a:solidFill>
                <a:latin typeface="Antique Olive"/>
                <a:ea typeface="Quicksand"/>
                <a:cs typeface="Quicksand"/>
                <a:sym typeface="Quicksand"/>
              </a:rPr>
              <a:t>(0, 5) ); // '</a:t>
            </a:r>
            <a:r>
              <a:rPr lang="en-US" sz="2000" dirty="0" err="1">
                <a:solidFill>
                  <a:srgbClr val="000000"/>
                </a:solidFill>
                <a:latin typeface="Antique Olive"/>
                <a:ea typeface="Quicksand"/>
                <a:cs typeface="Quicksand"/>
                <a:sym typeface="Quicksand"/>
              </a:rPr>
              <a:t>strin</a:t>
            </a:r>
            <a:r>
              <a:rPr lang="en-US" sz="2000" dirty="0">
                <a:latin typeface="Antique Olive"/>
                <a:ea typeface="Quicksand"/>
                <a:cs typeface="Quicksand"/>
                <a:sym typeface="Quicksand"/>
              </a:rPr>
              <a:t>', the substring from 0 to 5 (not including 5)</a:t>
            </a:r>
          </a:p>
          <a:p>
            <a:pPr>
              <a:lnSpc>
                <a:spcPts val="4150"/>
              </a:lnSpc>
            </a:pPr>
            <a:r>
              <a:rPr lang="en-US" sz="2000" dirty="0">
                <a:solidFill>
                  <a:srgbClr val="000000"/>
                </a:solidFill>
                <a:latin typeface="Antique Olive"/>
                <a:ea typeface="Quicksand"/>
                <a:cs typeface="Quicksand"/>
                <a:sym typeface="Quicksand"/>
              </a:rPr>
              <a:t>alert( </a:t>
            </a:r>
            <a:r>
              <a:rPr lang="en-US" sz="2000" dirty="0" err="1">
                <a:solidFill>
                  <a:srgbClr val="000000"/>
                </a:solidFill>
                <a:latin typeface="Antique Olive"/>
                <a:ea typeface="Quicksand"/>
                <a:cs typeface="Quicksand"/>
                <a:sym typeface="Quicksand"/>
              </a:rPr>
              <a:t>str.slice</a:t>
            </a:r>
            <a:r>
              <a:rPr lang="en-US" sz="2000" dirty="0">
                <a:solidFill>
                  <a:srgbClr val="000000"/>
                </a:solidFill>
                <a:latin typeface="Antique Olive"/>
                <a:ea typeface="Quicksand"/>
                <a:cs typeface="Quicksand"/>
                <a:sym typeface="Quicksand"/>
              </a:rPr>
              <a:t>(0, 1) ); // 's', from 0 to 1, but not including 1, so only character at 0</a:t>
            </a:r>
          </a:p>
          <a:p>
            <a:pPr>
              <a:lnSpc>
                <a:spcPts val="4150"/>
              </a:lnSpc>
            </a:pPr>
            <a:endParaRPr lang="en-US" sz="2000" dirty="0">
              <a:solidFill>
                <a:srgbClr val="000000"/>
              </a:solidFill>
              <a:latin typeface="Antique Olive"/>
              <a:ea typeface="Quicksand"/>
              <a:cs typeface="Quicksand"/>
              <a:sym typeface="Quicksand"/>
            </a:endParaRPr>
          </a:p>
          <a:p>
            <a:pPr>
              <a:lnSpc>
                <a:spcPts val="4150"/>
              </a:lnSpc>
            </a:pPr>
            <a:endParaRPr lang="en-US" sz="2000" dirty="0">
              <a:solidFill>
                <a:srgbClr val="000000"/>
              </a:solidFill>
              <a:latin typeface="Antique Olive"/>
              <a:ea typeface="Quicksand"/>
              <a:cs typeface="Quicksand"/>
              <a:sym typeface="Quicksand"/>
            </a:endParaRPr>
          </a:p>
          <a:p>
            <a:pPr>
              <a:lnSpc>
                <a:spcPts val="4150"/>
              </a:lnSpc>
            </a:pPr>
            <a:endParaRPr lang="en-US" sz="2000" dirty="0">
              <a:solidFill>
                <a:srgbClr val="000000"/>
              </a:solidFill>
              <a:latin typeface="Antique Olive"/>
              <a:ea typeface="Quicksand"/>
              <a:cs typeface="Quicksand"/>
              <a:sym typeface="Quicksand"/>
            </a:endParaRPr>
          </a:p>
          <a:p>
            <a:pPr>
              <a:lnSpc>
                <a:spcPts val="4150"/>
              </a:lnSpc>
            </a:pPr>
            <a:endParaRPr lang="en-US" sz="2000" dirty="0">
              <a:solidFill>
                <a:srgbClr val="000000"/>
              </a:solidFill>
              <a:latin typeface="Antique Olive"/>
              <a:ea typeface="Quicksand"/>
              <a:cs typeface="Quicksand"/>
              <a:sym typeface="Quicksand"/>
            </a:endParaRPr>
          </a:p>
          <a:p>
            <a:pPr>
              <a:lnSpc>
                <a:spcPts val="4150"/>
              </a:lnSpc>
            </a:pPr>
            <a:endParaRPr lang="en-US" sz="2000" dirty="0">
              <a:solidFill>
                <a:srgbClr val="000000"/>
              </a:solidFill>
              <a:latin typeface="Antique Olive"/>
              <a:ea typeface="Quicksand"/>
              <a:cs typeface="Quicksand"/>
              <a:sym typeface="Quicksand"/>
            </a:endParaRPr>
          </a:p>
          <a:p>
            <a:pPr>
              <a:lnSpc>
                <a:spcPts val="4150"/>
              </a:lnSpc>
            </a:pPr>
            <a:endParaRPr lang="en-US" sz="2000" dirty="0">
              <a:latin typeface="Antique Olive"/>
              <a:ea typeface="Quicksand"/>
              <a:cs typeface="Quicksand"/>
              <a:sym typeface="Quicksand"/>
              <a:hlinkClick r:id="rId2" tooltip="https://javascript.info/string#includes-startswith-endswith">
                <a:extLst>
                  <a:ext uri="{A12FA001-AC4F-418D-AE19-62706E023703}">
                    <ahyp:hlinkClr xmlns:ahyp="http://schemas.microsoft.com/office/drawing/2018/hyperlinkcolor" val="tx"/>
                  </a:ext>
                </a:extLst>
              </a:hlinkClick>
            </a:endParaRPr>
          </a:p>
        </p:txBody>
      </p:sp>
      <p:sp>
        <p:nvSpPr>
          <p:cNvPr id="3" name="TextBox 3"/>
          <p:cNvSpPr txBox="1"/>
          <p:nvPr/>
        </p:nvSpPr>
        <p:spPr>
          <a:xfrm>
            <a:off x="3973935" y="420266"/>
            <a:ext cx="7532265" cy="726033"/>
          </a:xfrm>
          <a:prstGeom prst="rect">
            <a:avLst/>
          </a:prstGeom>
        </p:spPr>
        <p:txBody>
          <a:bodyPr lIns="0" tIns="0" rIns="0" bIns="0" rtlCol="0" anchor="t">
            <a:spAutoFit/>
          </a:bodyPr>
          <a:lstStyle/>
          <a:p>
            <a:pPr algn="just">
              <a:lnSpc>
                <a:spcPts val="5973"/>
              </a:lnSpc>
              <a:spcBef>
                <a:spcPct val="0"/>
              </a:spcBef>
            </a:pPr>
            <a:r>
              <a:rPr lang="en-US" sz="4400" b="1" dirty="0">
                <a:latin typeface="Antique Olive"/>
                <a:ea typeface="Cormorant Garamond"/>
                <a:cs typeface="Cormorant Garamond"/>
                <a:sym typeface="Cormorant Garamond"/>
              </a:rPr>
              <a:t>Data types</a:t>
            </a:r>
            <a:endParaRPr lang="en-US" sz="4400" b="1" dirty="0">
              <a:latin typeface="Antique Olive"/>
              <a:ea typeface="Cormorant Garamond"/>
              <a:cs typeface="Cormorant Garamond"/>
              <a:sym typeface="Cormorant Garamond"/>
              <a:hlinkClick r:id="rId3" tooltip="https://javascript.info/variables#constant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100510022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9872" y="1171000"/>
            <a:ext cx="11813406" cy="8550802"/>
          </a:xfrm>
          <a:prstGeom prst="rect">
            <a:avLst/>
          </a:prstGeom>
        </p:spPr>
        <p:txBody>
          <a:bodyPr lIns="0" tIns="0" rIns="0" bIns="0" rtlCol="0" anchor="t">
            <a:spAutoFit/>
          </a:bodyPr>
          <a:lstStyle/>
          <a:p>
            <a:pPr>
              <a:lnSpc>
                <a:spcPts val="4150"/>
              </a:lnSpc>
            </a:pPr>
            <a:r>
              <a:rPr lang="en-US" sz="2000" u="sng" dirty="0">
                <a:latin typeface="Antique Olive" panose="020B0603020204030204"/>
                <a:ea typeface="Quicksand"/>
                <a:cs typeface="Quicksand"/>
                <a:sym typeface="Quicksand"/>
              </a:rPr>
              <a:t>Arrays</a:t>
            </a:r>
          </a:p>
          <a:p>
            <a:pPr>
              <a:lnSpc>
                <a:spcPts val="4150"/>
              </a:lnSpc>
            </a:pPr>
            <a:r>
              <a:rPr lang="en-US" sz="2000" dirty="0">
                <a:latin typeface="Antique Olive" panose="020B0603020204030204"/>
                <a:ea typeface="Quicksand"/>
                <a:cs typeface="Quicksand"/>
                <a:sym typeface="Quicksand"/>
              </a:rPr>
              <a:t>Objects allow you to store keyed collections of values. That’s fine.</a:t>
            </a:r>
          </a:p>
          <a:p>
            <a:pPr>
              <a:lnSpc>
                <a:spcPts val="4150"/>
              </a:lnSpc>
            </a:pPr>
            <a:r>
              <a:rPr lang="en-US" sz="2000" dirty="0">
                <a:latin typeface="Antique Olive" panose="020B0603020204030204"/>
                <a:ea typeface="Quicksand"/>
                <a:cs typeface="Quicksand"/>
                <a:sym typeface="Quicksand"/>
              </a:rPr>
              <a:t>But quite often we find that we need an ordered collection, where we have a 1st, a 2nd, a 3rd element and so on. For example, we need that to store a list of something: users, goods, HTML elements etc.</a:t>
            </a:r>
          </a:p>
          <a:p>
            <a:pPr>
              <a:lnSpc>
                <a:spcPts val="4150"/>
              </a:lnSpc>
            </a:pPr>
            <a:r>
              <a:rPr lang="en-US" sz="2000" dirty="0">
                <a:latin typeface="Antique Olive" panose="020B0603020204030204"/>
                <a:ea typeface="Quicksand"/>
                <a:cs typeface="Quicksand"/>
                <a:sym typeface="Quicksand"/>
              </a:rPr>
              <a:t>It is not convenient to use an object here, because it provides no methods to manage the order of elements. We can’t insert a new property “between” the existing ones. Objects are just not meant for such use.</a:t>
            </a:r>
          </a:p>
          <a:p>
            <a:pPr>
              <a:lnSpc>
                <a:spcPts val="4150"/>
              </a:lnSpc>
            </a:pPr>
            <a:r>
              <a:rPr lang="en-US" sz="2000" dirty="0">
                <a:latin typeface="Antique Olive" panose="020B0603020204030204"/>
                <a:ea typeface="Quicksand"/>
                <a:cs typeface="Quicksand"/>
                <a:sym typeface="Quicksand"/>
              </a:rPr>
              <a:t>There exists a special data structure named Array, to store ordered collections.</a:t>
            </a:r>
          </a:p>
          <a:p>
            <a:pPr>
              <a:lnSpc>
                <a:spcPts val="4150"/>
              </a:lnSpc>
            </a:pPr>
            <a:r>
              <a:rPr lang="en-US" sz="2000" dirty="0">
                <a:latin typeface="Antique Olive" panose="020B0603020204030204"/>
                <a:ea typeface="Quicksand"/>
                <a:cs typeface="Quicksand"/>
                <a:sym typeface="Quicksand"/>
              </a:rPr>
              <a:t>Declaration</a:t>
            </a:r>
          </a:p>
          <a:p>
            <a:pPr>
              <a:lnSpc>
                <a:spcPts val="4150"/>
              </a:lnSpc>
            </a:pPr>
            <a:endParaRPr lang="en-US" sz="2000" dirty="0">
              <a:latin typeface="Antique Olive" panose="020B0603020204030204"/>
              <a:ea typeface="Quicksand"/>
              <a:cs typeface="Quicksand"/>
              <a:sym typeface="Quicksand"/>
            </a:endParaRPr>
          </a:p>
          <a:p>
            <a:pPr>
              <a:lnSpc>
                <a:spcPts val="4150"/>
              </a:lnSpc>
            </a:pPr>
            <a:endParaRPr lang="en-US" sz="2000" dirty="0">
              <a:latin typeface="Antique Olive" panose="020B0603020204030204"/>
              <a:ea typeface="Quicksand"/>
              <a:cs typeface="Quicksand"/>
              <a:sym typeface="Quicksand"/>
            </a:endParaRPr>
          </a:p>
          <a:p>
            <a:pPr>
              <a:lnSpc>
                <a:spcPts val="4150"/>
              </a:lnSpc>
            </a:pPr>
            <a:endParaRPr lang="en-US" sz="2000" dirty="0">
              <a:latin typeface="Antique Olive" panose="020B0603020204030204"/>
              <a:ea typeface="Quicksand"/>
              <a:cs typeface="Quicksand"/>
              <a:sym typeface="Quicksand"/>
            </a:endParaRPr>
          </a:p>
          <a:p>
            <a:pPr>
              <a:lnSpc>
                <a:spcPts val="4150"/>
              </a:lnSpc>
            </a:pPr>
            <a:endParaRPr lang="en-US" sz="2000" dirty="0">
              <a:latin typeface="Antique Olive" panose="020B0603020204030204"/>
              <a:ea typeface="Quicksand"/>
              <a:cs typeface="Quicksand"/>
              <a:sym typeface="Quicksand"/>
            </a:endParaRPr>
          </a:p>
          <a:p>
            <a:pPr>
              <a:lnSpc>
                <a:spcPts val="4150"/>
              </a:lnSpc>
            </a:pPr>
            <a:endParaRPr lang="en-US" sz="2000" dirty="0">
              <a:latin typeface="Antique Olive" panose="020B0603020204030204"/>
              <a:ea typeface="Quicksand"/>
              <a:cs typeface="Quicksand"/>
              <a:sym typeface="Quicksand"/>
            </a:endParaRPr>
          </a:p>
          <a:p>
            <a:pPr>
              <a:lnSpc>
                <a:spcPts val="4150"/>
              </a:lnSpc>
            </a:pPr>
            <a:endParaRPr lang="en-US" sz="2000" dirty="0">
              <a:latin typeface="Antique Olive" panose="020B0603020204030204"/>
              <a:ea typeface="Quicksand"/>
              <a:cs typeface="Quicksand"/>
              <a:sym typeface="Quicksand"/>
            </a:endParaRPr>
          </a:p>
          <a:p>
            <a:pPr>
              <a:lnSpc>
                <a:spcPts val="4150"/>
              </a:lnSpc>
            </a:pPr>
            <a:endParaRPr lang="en-US" sz="2000" dirty="0">
              <a:latin typeface="Antique Olive" panose="020B0603020204030204"/>
              <a:ea typeface="Quicksand"/>
              <a:cs typeface="Quicksand"/>
              <a:sym typeface="Quicksand"/>
            </a:endParaRPr>
          </a:p>
          <a:p>
            <a:pPr>
              <a:lnSpc>
                <a:spcPts val="4150"/>
              </a:lnSpc>
            </a:pPr>
            <a:endParaRPr lang="en-US" sz="2000" dirty="0">
              <a:latin typeface="Antique Olive" panose="020B0603020204030204"/>
              <a:ea typeface="Quicksand"/>
              <a:cs typeface="Quicksand"/>
              <a:sym typeface="Quicksand"/>
              <a:hlinkClick r:id="rId2" tooltip="https://javascript.info/array#declaration">
                <a:extLst>
                  <a:ext uri="{A12FA001-AC4F-418D-AE19-62706E023703}">
                    <ahyp:hlinkClr xmlns:ahyp="http://schemas.microsoft.com/office/drawing/2018/hyperlinkcolor" val="tx"/>
                  </a:ext>
                </a:extLst>
              </a:hlinkClick>
            </a:endParaRPr>
          </a:p>
        </p:txBody>
      </p:sp>
      <p:sp>
        <p:nvSpPr>
          <p:cNvPr id="3" name="TextBox 3"/>
          <p:cNvSpPr txBox="1"/>
          <p:nvPr/>
        </p:nvSpPr>
        <p:spPr>
          <a:xfrm>
            <a:off x="3973935" y="420266"/>
            <a:ext cx="7532265" cy="726033"/>
          </a:xfrm>
          <a:prstGeom prst="rect">
            <a:avLst/>
          </a:prstGeom>
        </p:spPr>
        <p:txBody>
          <a:bodyPr lIns="0" tIns="0" rIns="0" bIns="0" rtlCol="0" anchor="t">
            <a:spAutoFit/>
          </a:bodyPr>
          <a:lstStyle/>
          <a:p>
            <a:pPr algn="just">
              <a:lnSpc>
                <a:spcPts val="5973"/>
              </a:lnSpc>
              <a:spcBef>
                <a:spcPct val="0"/>
              </a:spcBef>
            </a:pPr>
            <a:r>
              <a:rPr lang="en-US" sz="4400" b="1" dirty="0">
                <a:latin typeface="Antique Olive"/>
                <a:ea typeface="Cormorant Garamond"/>
                <a:cs typeface="Cormorant Garamond"/>
                <a:sym typeface="Cormorant Garamond"/>
              </a:rPr>
              <a:t>Data types</a:t>
            </a:r>
            <a:endParaRPr lang="en-US" sz="4400" b="1" dirty="0">
              <a:latin typeface="Antique Olive"/>
              <a:ea typeface="Cormorant Garamond"/>
              <a:cs typeface="Cormorant Garamond"/>
              <a:sym typeface="Cormorant Garamond"/>
              <a:hlinkClick r:id="rId3" tooltip="https://javascript.info/variables#constant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246472180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9872" y="1171000"/>
            <a:ext cx="12032128" cy="5857757"/>
          </a:xfrm>
          <a:prstGeom prst="rect">
            <a:avLst/>
          </a:prstGeom>
        </p:spPr>
        <p:txBody>
          <a:bodyPr lIns="0" tIns="0" rIns="0" bIns="0" rtlCol="0" anchor="t">
            <a:spAutoFit/>
          </a:bodyPr>
          <a:lstStyle/>
          <a:p>
            <a:pPr>
              <a:lnSpc>
                <a:spcPts val="4150"/>
              </a:lnSpc>
            </a:pPr>
            <a:r>
              <a:rPr lang="en-US" sz="2000" u="sng" dirty="0">
                <a:latin typeface="Antique Olive" panose="020B0603020204030204"/>
                <a:ea typeface="Quicksand"/>
                <a:cs typeface="Quicksand"/>
                <a:sym typeface="Quicksand"/>
              </a:rPr>
              <a:t>Arrays</a:t>
            </a:r>
          </a:p>
          <a:p>
            <a:pPr>
              <a:lnSpc>
                <a:spcPts val="4150"/>
              </a:lnSpc>
            </a:pPr>
            <a:r>
              <a:rPr lang="en-US" sz="2000" dirty="0">
                <a:latin typeface="Antique Olive" panose="020B0603020204030204"/>
                <a:ea typeface="Quicksand"/>
                <a:cs typeface="Quicksand"/>
                <a:sym typeface="Quicksand"/>
              </a:rPr>
              <a:t>There are two syntaxes for creating an empty array:</a:t>
            </a:r>
          </a:p>
          <a:p>
            <a:pPr algn="just">
              <a:lnSpc>
                <a:spcPts val="4150"/>
              </a:lnSpc>
            </a:pPr>
            <a:r>
              <a:rPr lang="en-US" sz="2000" dirty="0">
                <a:latin typeface="Antique Olive" panose="020B0603020204030204"/>
                <a:ea typeface="Quicksand"/>
                <a:cs typeface="Quicksand"/>
                <a:sym typeface="Quicksand"/>
              </a:rPr>
              <a:t>let </a:t>
            </a:r>
            <a:r>
              <a:rPr lang="en-US" sz="2000" dirty="0" err="1">
                <a:latin typeface="Antique Olive" panose="020B0603020204030204"/>
                <a:ea typeface="Quicksand"/>
                <a:cs typeface="Quicksand"/>
                <a:sym typeface="Quicksand"/>
              </a:rPr>
              <a:t>arr</a:t>
            </a:r>
            <a:r>
              <a:rPr lang="en-US" sz="2000" dirty="0">
                <a:latin typeface="Antique Olive" panose="020B0603020204030204"/>
                <a:ea typeface="Quicksand"/>
                <a:cs typeface="Quicksand"/>
                <a:sym typeface="Quicksand"/>
              </a:rPr>
              <a:t> = new Array();</a:t>
            </a:r>
          </a:p>
          <a:p>
            <a:pPr algn="just">
              <a:lnSpc>
                <a:spcPts val="4150"/>
              </a:lnSpc>
            </a:pPr>
            <a:r>
              <a:rPr lang="en-US" sz="2000" dirty="0">
                <a:latin typeface="Antique Olive" panose="020B0603020204030204"/>
                <a:ea typeface="Quicksand"/>
                <a:cs typeface="Quicksand"/>
                <a:sym typeface="Quicksand"/>
              </a:rPr>
              <a:t>let </a:t>
            </a:r>
            <a:r>
              <a:rPr lang="en-US" sz="2000" dirty="0" err="1">
                <a:latin typeface="Antique Olive" panose="020B0603020204030204"/>
                <a:ea typeface="Quicksand"/>
                <a:cs typeface="Quicksand"/>
                <a:sym typeface="Quicksand"/>
              </a:rPr>
              <a:t>arr</a:t>
            </a:r>
            <a:r>
              <a:rPr lang="en-US" sz="2000" dirty="0">
                <a:latin typeface="Antique Olive" panose="020B0603020204030204"/>
                <a:ea typeface="Quicksand"/>
                <a:cs typeface="Quicksand"/>
                <a:sym typeface="Quicksand"/>
              </a:rPr>
              <a:t> = [];</a:t>
            </a:r>
          </a:p>
          <a:p>
            <a:pPr>
              <a:lnSpc>
                <a:spcPts val="4150"/>
              </a:lnSpc>
            </a:pPr>
            <a:r>
              <a:rPr lang="en-US" sz="2000" dirty="0">
                <a:latin typeface="Antique Olive" panose="020B0603020204030204"/>
                <a:ea typeface="Quicksand"/>
                <a:cs typeface="Quicksand"/>
                <a:sym typeface="Quicksand"/>
              </a:rPr>
              <a:t>the second syntax is used. We can supply initial elements in the brackets:</a:t>
            </a:r>
          </a:p>
          <a:p>
            <a:pPr>
              <a:lnSpc>
                <a:spcPts val="4150"/>
              </a:lnSpc>
            </a:pPr>
            <a:r>
              <a:rPr lang="en-US" sz="2000" dirty="0">
                <a:latin typeface="Antique Olive" panose="020B0603020204030204"/>
                <a:ea typeface="Quicksand"/>
                <a:cs typeface="Quicksand"/>
                <a:sym typeface="Quicksand"/>
              </a:rPr>
              <a:t>let fruits = ["Apple", "Orange", "Plum"];</a:t>
            </a:r>
          </a:p>
          <a:p>
            <a:pPr>
              <a:lnSpc>
                <a:spcPts val="4150"/>
              </a:lnSpc>
            </a:pPr>
            <a:r>
              <a:rPr lang="en-US" sz="2000" dirty="0">
                <a:latin typeface="Antique Olive" panose="020B0603020204030204"/>
                <a:ea typeface="Quicksand"/>
                <a:cs typeface="Quicksand"/>
                <a:sym typeface="Quicksand"/>
              </a:rPr>
              <a:t>Array elements are numbered, starting with </a:t>
            </a:r>
            <a:r>
              <a:rPr lang="en-US" sz="2000" dirty="0" err="1">
                <a:latin typeface="Antique Olive" panose="020B0603020204030204"/>
                <a:ea typeface="Quicksand"/>
                <a:cs typeface="Quicksand"/>
                <a:sym typeface="Quicksand"/>
              </a:rPr>
              <a:t>zero.We</a:t>
            </a:r>
            <a:r>
              <a:rPr lang="en-US" sz="2000" dirty="0">
                <a:latin typeface="Antique Olive" panose="020B0603020204030204"/>
                <a:ea typeface="Quicksand"/>
                <a:cs typeface="Quicksand"/>
                <a:sym typeface="Quicksand"/>
              </a:rPr>
              <a:t> can get an element by its number in square brackets:</a:t>
            </a:r>
          </a:p>
          <a:p>
            <a:pPr>
              <a:lnSpc>
                <a:spcPts val="4150"/>
              </a:lnSpc>
            </a:pPr>
            <a:r>
              <a:rPr lang="en-US" sz="2000" dirty="0">
                <a:latin typeface="Antique Olive" panose="020B0603020204030204"/>
                <a:ea typeface="Quicksand"/>
                <a:cs typeface="Quicksand"/>
                <a:sym typeface="Quicksand"/>
              </a:rPr>
              <a:t>let fruits = ["Apple", "Orange", "Plum"];</a:t>
            </a:r>
          </a:p>
          <a:p>
            <a:pPr>
              <a:lnSpc>
                <a:spcPts val="4150"/>
              </a:lnSpc>
            </a:pPr>
            <a:r>
              <a:rPr lang="en-US" sz="2000" dirty="0">
                <a:latin typeface="Antique Olive" panose="020B0603020204030204"/>
                <a:ea typeface="Quicksand"/>
                <a:cs typeface="Quicksand"/>
                <a:sym typeface="Quicksand"/>
              </a:rPr>
              <a:t>alert( fruits[0] ); // Apple</a:t>
            </a:r>
          </a:p>
          <a:p>
            <a:pPr>
              <a:lnSpc>
                <a:spcPts val="4150"/>
              </a:lnSpc>
            </a:pPr>
            <a:r>
              <a:rPr lang="en-US" sz="2000" dirty="0">
                <a:latin typeface="Antique Olive" panose="020B0603020204030204"/>
                <a:ea typeface="Quicksand"/>
                <a:cs typeface="Quicksand"/>
                <a:sym typeface="Quicksand"/>
              </a:rPr>
              <a:t>alert( fruits[1] ); // Orange              alert( fruits[2] ); // Plum</a:t>
            </a:r>
          </a:p>
          <a:p>
            <a:pPr>
              <a:lnSpc>
                <a:spcPts val="4150"/>
              </a:lnSpc>
            </a:pPr>
            <a:endParaRPr lang="en-US" sz="2000" dirty="0">
              <a:latin typeface="Antique Olive" panose="020B0603020204030204"/>
              <a:ea typeface="Quicksand"/>
              <a:cs typeface="Quicksand"/>
              <a:sym typeface="Quicksand"/>
            </a:endParaRPr>
          </a:p>
        </p:txBody>
      </p:sp>
      <p:sp>
        <p:nvSpPr>
          <p:cNvPr id="3" name="TextBox 3"/>
          <p:cNvSpPr txBox="1"/>
          <p:nvPr/>
        </p:nvSpPr>
        <p:spPr>
          <a:xfrm>
            <a:off x="3973935" y="420266"/>
            <a:ext cx="7532265" cy="726033"/>
          </a:xfrm>
          <a:prstGeom prst="rect">
            <a:avLst/>
          </a:prstGeom>
        </p:spPr>
        <p:txBody>
          <a:bodyPr lIns="0" tIns="0" rIns="0" bIns="0" rtlCol="0" anchor="t">
            <a:spAutoFit/>
          </a:bodyPr>
          <a:lstStyle/>
          <a:p>
            <a:pPr algn="just">
              <a:lnSpc>
                <a:spcPts val="5973"/>
              </a:lnSpc>
              <a:spcBef>
                <a:spcPct val="0"/>
              </a:spcBef>
            </a:pPr>
            <a:r>
              <a:rPr lang="en-US" sz="4400" b="1" dirty="0">
                <a:latin typeface="Antique Olive"/>
                <a:ea typeface="Cormorant Garamond"/>
                <a:cs typeface="Cormorant Garamond"/>
                <a:sym typeface="Cormorant Garamond"/>
              </a:rPr>
              <a:t>Data types</a:t>
            </a:r>
            <a:endParaRPr lang="en-US" sz="4400" b="1" dirty="0">
              <a:latin typeface="Antique Olive"/>
              <a:ea typeface="Cormorant Garamond"/>
              <a:cs typeface="Cormorant Garamond"/>
              <a:sym typeface="Cormorant Garamond"/>
              <a:hlinkClick r:id="rId2" tooltip="https://javascript.info/variables#constant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324586676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9872" y="1171000"/>
            <a:ext cx="12032128" cy="4780539"/>
          </a:xfrm>
          <a:prstGeom prst="rect">
            <a:avLst/>
          </a:prstGeom>
        </p:spPr>
        <p:txBody>
          <a:bodyPr lIns="0" tIns="0" rIns="0" bIns="0" rtlCol="0" anchor="t">
            <a:spAutoFit/>
          </a:bodyPr>
          <a:lstStyle/>
          <a:p>
            <a:pPr>
              <a:lnSpc>
                <a:spcPts val="4150"/>
              </a:lnSpc>
            </a:pPr>
            <a:r>
              <a:rPr lang="en-US" sz="2000" u="sng" dirty="0">
                <a:latin typeface="Antique Olive" panose="020B0603020204030204"/>
                <a:ea typeface="Quicksand"/>
                <a:cs typeface="Quicksand"/>
                <a:sym typeface="Quicksand"/>
              </a:rPr>
              <a:t>Arrays</a:t>
            </a:r>
          </a:p>
          <a:p>
            <a:pPr>
              <a:lnSpc>
                <a:spcPts val="4150"/>
              </a:lnSpc>
            </a:pPr>
            <a:r>
              <a:rPr lang="en-US" sz="2000" dirty="0">
                <a:latin typeface="Antique Olive" panose="020B0603020204030204"/>
                <a:ea typeface="Quicksand"/>
                <a:cs typeface="Quicksand"/>
                <a:sym typeface="Quicksand"/>
              </a:rPr>
              <a:t>…Or add a new one to the array:</a:t>
            </a:r>
          </a:p>
          <a:p>
            <a:pPr>
              <a:lnSpc>
                <a:spcPts val="4150"/>
              </a:lnSpc>
            </a:pPr>
            <a:r>
              <a:rPr lang="en-US" sz="2000" dirty="0">
                <a:latin typeface="Antique Olive" panose="020B0603020204030204"/>
                <a:ea typeface="Quicksand"/>
                <a:cs typeface="Quicksand"/>
                <a:sym typeface="Quicksand"/>
              </a:rPr>
              <a:t>fruits[3] = 'Lemon'; // now ["Apple", "Orange", "Pear", "Lemon"]</a:t>
            </a:r>
          </a:p>
          <a:p>
            <a:pPr>
              <a:lnSpc>
                <a:spcPts val="4150"/>
              </a:lnSpc>
            </a:pPr>
            <a:r>
              <a:rPr lang="en-US" sz="2000" dirty="0">
                <a:latin typeface="Antique Olive" panose="020B0603020204030204"/>
                <a:ea typeface="Quicksand"/>
                <a:cs typeface="Quicksand"/>
                <a:sym typeface="Quicksand"/>
              </a:rPr>
              <a:t>The total count of the elements in the array is its length:</a:t>
            </a:r>
          </a:p>
          <a:p>
            <a:pPr>
              <a:lnSpc>
                <a:spcPts val="4150"/>
              </a:lnSpc>
            </a:pPr>
            <a:r>
              <a:rPr lang="en-US" sz="2000" dirty="0">
                <a:latin typeface="Antique Olive" panose="020B0603020204030204"/>
                <a:ea typeface="Quicksand"/>
                <a:cs typeface="Quicksand"/>
                <a:sym typeface="Quicksand"/>
              </a:rPr>
              <a:t>let fruits = ["Apple", "Orange", "Plum"];</a:t>
            </a:r>
          </a:p>
          <a:p>
            <a:pPr>
              <a:lnSpc>
                <a:spcPts val="4150"/>
              </a:lnSpc>
            </a:pPr>
            <a:r>
              <a:rPr lang="en-US" sz="2000" dirty="0">
                <a:latin typeface="Antique Olive" panose="020B0603020204030204"/>
                <a:ea typeface="Quicksand"/>
                <a:cs typeface="Quicksand"/>
                <a:sym typeface="Quicksand"/>
              </a:rPr>
              <a:t>alert( </a:t>
            </a:r>
            <a:r>
              <a:rPr lang="en-US" sz="2000" dirty="0" err="1">
                <a:latin typeface="Antique Olive" panose="020B0603020204030204"/>
                <a:ea typeface="Quicksand"/>
                <a:cs typeface="Quicksand"/>
                <a:sym typeface="Quicksand"/>
              </a:rPr>
              <a:t>fruits.length</a:t>
            </a:r>
            <a:r>
              <a:rPr lang="en-US" sz="2000" dirty="0">
                <a:latin typeface="Antique Olive" panose="020B0603020204030204"/>
                <a:ea typeface="Quicksand"/>
                <a:cs typeface="Quicksand"/>
                <a:sym typeface="Quicksand"/>
              </a:rPr>
              <a:t> ); // 3</a:t>
            </a:r>
          </a:p>
          <a:p>
            <a:pPr>
              <a:lnSpc>
                <a:spcPts val="4150"/>
              </a:lnSpc>
            </a:pPr>
            <a:r>
              <a:rPr lang="en-US" sz="2000" dirty="0">
                <a:latin typeface="Antique Olive" panose="020B0603020204030204"/>
                <a:ea typeface="Quicksand"/>
                <a:cs typeface="Quicksand"/>
                <a:sym typeface="Quicksand"/>
              </a:rPr>
              <a:t>We can also use alert to show the whole array.</a:t>
            </a:r>
          </a:p>
          <a:p>
            <a:pPr>
              <a:lnSpc>
                <a:spcPts val="4150"/>
              </a:lnSpc>
            </a:pPr>
            <a:r>
              <a:rPr lang="en-US" sz="2000" dirty="0">
                <a:latin typeface="Antique Olive" panose="020B0603020204030204"/>
                <a:ea typeface="Quicksand"/>
                <a:cs typeface="Quicksand"/>
                <a:sym typeface="Quicksand"/>
              </a:rPr>
              <a:t>let fruits = ["Apple", "Orange", "Plum"];</a:t>
            </a:r>
          </a:p>
          <a:p>
            <a:pPr>
              <a:lnSpc>
                <a:spcPts val="4150"/>
              </a:lnSpc>
            </a:pPr>
            <a:r>
              <a:rPr lang="en-US" sz="2000" dirty="0">
                <a:latin typeface="Antique Olive" panose="020B0603020204030204"/>
                <a:ea typeface="Quicksand"/>
                <a:cs typeface="Quicksand"/>
                <a:sym typeface="Quicksand"/>
              </a:rPr>
              <a:t>alert( fruits ); // </a:t>
            </a:r>
            <a:r>
              <a:rPr lang="en-US" sz="2000" dirty="0" err="1">
                <a:latin typeface="Antique Olive" panose="020B0603020204030204"/>
                <a:ea typeface="Quicksand"/>
                <a:cs typeface="Quicksand"/>
                <a:sym typeface="Quicksand"/>
              </a:rPr>
              <a:t>Apple,Orange,Plum</a:t>
            </a:r>
            <a:endParaRPr lang="en-US" sz="2000" dirty="0">
              <a:latin typeface="Antique Olive" panose="020B0603020204030204"/>
              <a:ea typeface="Quicksand"/>
              <a:cs typeface="Quicksand"/>
              <a:sym typeface="Quicksand"/>
            </a:endParaRPr>
          </a:p>
        </p:txBody>
      </p:sp>
      <p:sp>
        <p:nvSpPr>
          <p:cNvPr id="3" name="TextBox 3"/>
          <p:cNvSpPr txBox="1"/>
          <p:nvPr/>
        </p:nvSpPr>
        <p:spPr>
          <a:xfrm>
            <a:off x="3973935" y="420266"/>
            <a:ext cx="7532265" cy="726033"/>
          </a:xfrm>
          <a:prstGeom prst="rect">
            <a:avLst/>
          </a:prstGeom>
        </p:spPr>
        <p:txBody>
          <a:bodyPr lIns="0" tIns="0" rIns="0" bIns="0" rtlCol="0" anchor="t">
            <a:spAutoFit/>
          </a:bodyPr>
          <a:lstStyle/>
          <a:p>
            <a:pPr algn="just">
              <a:lnSpc>
                <a:spcPts val="5973"/>
              </a:lnSpc>
              <a:spcBef>
                <a:spcPct val="0"/>
              </a:spcBef>
            </a:pPr>
            <a:r>
              <a:rPr lang="en-US" sz="4400" b="1" dirty="0">
                <a:latin typeface="Antique Olive"/>
                <a:ea typeface="Cormorant Garamond"/>
                <a:cs typeface="Cormorant Garamond"/>
                <a:sym typeface="Cormorant Garamond"/>
              </a:rPr>
              <a:t>Data types</a:t>
            </a:r>
            <a:endParaRPr lang="en-US" sz="4400" b="1" dirty="0">
              <a:latin typeface="Antique Olive"/>
              <a:ea typeface="Cormorant Garamond"/>
              <a:cs typeface="Cormorant Garamond"/>
              <a:sym typeface="Cormorant Garamond"/>
              <a:hlinkClick r:id="rId2" tooltip="https://javascript.info/variables#constant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39648032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9872" y="1171000"/>
            <a:ext cx="12032128" cy="8565743"/>
          </a:xfrm>
          <a:prstGeom prst="rect">
            <a:avLst/>
          </a:prstGeom>
        </p:spPr>
        <p:txBody>
          <a:bodyPr lIns="0" tIns="0" rIns="0" bIns="0" rtlCol="0" anchor="t">
            <a:spAutoFit/>
          </a:bodyPr>
          <a:lstStyle/>
          <a:p>
            <a:pPr>
              <a:lnSpc>
                <a:spcPts val="4150"/>
              </a:lnSpc>
            </a:pPr>
            <a:r>
              <a:rPr lang="en-US" sz="2000" u="sng" dirty="0">
                <a:latin typeface="Antique Olive" panose="020B0603020204030204"/>
                <a:ea typeface="Quicksand"/>
                <a:cs typeface="Quicksand"/>
                <a:sym typeface="Quicksand"/>
              </a:rPr>
              <a:t>Arrays</a:t>
            </a:r>
          </a:p>
          <a:p>
            <a:pPr>
              <a:lnSpc>
                <a:spcPts val="4150"/>
              </a:lnSpc>
            </a:pPr>
            <a:r>
              <a:rPr lang="en-US" sz="2000" u="sng" dirty="0">
                <a:latin typeface="Antique Olive" panose="020B0603020204030204"/>
                <a:ea typeface="Quicksand"/>
                <a:cs typeface="Quicksand"/>
                <a:sym typeface="Quicksand"/>
              </a:rPr>
              <a:t>Methods pop/push,</a:t>
            </a:r>
          </a:p>
          <a:p>
            <a:pPr>
              <a:lnSpc>
                <a:spcPts val="4150"/>
              </a:lnSpc>
            </a:pPr>
            <a:r>
              <a:rPr lang="en-US" sz="2000" dirty="0">
                <a:latin typeface="Antique Olive" panose="020B0603020204030204"/>
                <a:ea typeface="Quicksand"/>
                <a:cs typeface="Quicksand"/>
                <a:sym typeface="Quicksand"/>
              </a:rPr>
              <a:t>A </a:t>
            </a:r>
            <a:r>
              <a:rPr lang="en-US" sz="2000" u="sng" dirty="0">
                <a:latin typeface="Antique Olive" panose="020B0603020204030204"/>
                <a:ea typeface="Quicksand"/>
                <a:cs typeface="Quicksand"/>
                <a:sym typeface="Quicksand"/>
              </a:rPr>
              <a:t>queue</a:t>
            </a:r>
            <a:r>
              <a:rPr lang="en-US" sz="2000" dirty="0">
                <a:latin typeface="Antique Olive" panose="020B0603020204030204"/>
                <a:ea typeface="Quicksand"/>
                <a:cs typeface="Quicksand"/>
                <a:sym typeface="Quicksand"/>
              </a:rPr>
              <a:t> is one of the most common uses of an array. In computer science, this means an ordered collection of elements which supports two operations:</a:t>
            </a:r>
          </a:p>
          <a:p>
            <a:pPr marL="527028" lvl="1" indent="-263514">
              <a:lnSpc>
                <a:spcPts val="4150"/>
              </a:lnSpc>
              <a:buFont typeface="Arial"/>
              <a:buChar char="•"/>
            </a:pPr>
            <a:r>
              <a:rPr lang="en-US" sz="2000" dirty="0">
                <a:latin typeface="Antique Olive" panose="020B0603020204030204"/>
                <a:ea typeface="Quicksand"/>
                <a:cs typeface="Quicksand"/>
                <a:sym typeface="Quicksand"/>
              </a:rPr>
              <a:t>push appends an element to the end.</a:t>
            </a:r>
          </a:p>
          <a:p>
            <a:pPr>
              <a:lnSpc>
                <a:spcPts val="4150"/>
              </a:lnSpc>
            </a:pPr>
            <a:endParaRPr lang="en-US" sz="2441" dirty="0">
              <a:solidFill>
                <a:srgbClr val="000000"/>
              </a:solidFill>
              <a:latin typeface="Quicksand"/>
              <a:ea typeface="Quicksand"/>
              <a:cs typeface="Quicksand"/>
              <a:sym typeface="Quicksand"/>
              <a:hlinkClick r:id="rId2" tooltip="https://javascript.info/string#getting-a-substring">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string#getting-a-substring">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string#getting-a-substring">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string#getting-a-substring">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string#getting-a-substring">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string#getting-a-substring">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string#getting-a-substring">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string#getting-a-substring">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string#getting-a-substring">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string#getting-a-substring">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string#getting-a-substring">
                <a:extLst>
                  <a:ext uri="{A12FA001-AC4F-418D-AE19-62706E023703}">
                    <ahyp:hlinkClr xmlns:ahyp="http://schemas.microsoft.com/office/drawing/2018/hyperlinkcolor" val="tx"/>
                  </a:ext>
                </a:extLst>
              </a:hlinkClick>
            </a:endParaRPr>
          </a:p>
        </p:txBody>
      </p:sp>
      <p:sp>
        <p:nvSpPr>
          <p:cNvPr id="3" name="Freeform 3"/>
          <p:cNvSpPr/>
          <p:nvPr/>
        </p:nvSpPr>
        <p:spPr>
          <a:xfrm>
            <a:off x="5672144" y="3992060"/>
            <a:ext cx="2399807" cy="1461811"/>
          </a:xfrm>
          <a:custGeom>
            <a:avLst/>
            <a:gdLst/>
            <a:ahLst/>
            <a:cxnLst/>
            <a:rect l="l" t="t" r="r" b="b"/>
            <a:pathLst>
              <a:path w="3599711" h="2192717">
                <a:moveTo>
                  <a:pt x="0" y="0"/>
                </a:moveTo>
                <a:lnTo>
                  <a:pt x="3599711" y="0"/>
                </a:lnTo>
                <a:lnTo>
                  <a:pt x="3599711" y="2192717"/>
                </a:lnTo>
                <a:lnTo>
                  <a:pt x="0" y="2192717"/>
                </a:lnTo>
                <a:lnTo>
                  <a:pt x="0" y="0"/>
                </a:lnTo>
                <a:close/>
              </a:path>
            </a:pathLst>
          </a:custGeom>
          <a:blipFill>
            <a:blip r:embed="rId3"/>
            <a:stretch>
              <a:fillRect/>
            </a:stretch>
          </a:blipFill>
        </p:spPr>
      </p:sp>
      <p:sp>
        <p:nvSpPr>
          <p:cNvPr id="4" name="TextBox 4"/>
          <p:cNvSpPr txBox="1"/>
          <p:nvPr/>
        </p:nvSpPr>
        <p:spPr>
          <a:xfrm>
            <a:off x="3973935" y="420266"/>
            <a:ext cx="7532265" cy="726033"/>
          </a:xfrm>
          <a:prstGeom prst="rect">
            <a:avLst/>
          </a:prstGeom>
        </p:spPr>
        <p:txBody>
          <a:bodyPr lIns="0" tIns="0" rIns="0" bIns="0" rtlCol="0" anchor="t">
            <a:spAutoFit/>
          </a:bodyPr>
          <a:lstStyle/>
          <a:p>
            <a:pPr algn="just">
              <a:lnSpc>
                <a:spcPts val="5973"/>
              </a:lnSpc>
              <a:spcBef>
                <a:spcPct val="0"/>
              </a:spcBef>
            </a:pPr>
            <a:r>
              <a:rPr lang="en-US" sz="4400" b="1" dirty="0">
                <a:latin typeface="Antique Olive"/>
                <a:ea typeface="Cormorant Garamond"/>
                <a:cs typeface="Cormorant Garamond"/>
                <a:sym typeface="Cormorant Garamond"/>
              </a:rPr>
              <a:t>Data types</a:t>
            </a:r>
            <a:endParaRPr lang="en-US" sz="4400" b="1" dirty="0">
              <a:latin typeface="Antique Olive"/>
              <a:ea typeface="Cormorant Garamond"/>
              <a:cs typeface="Cormorant Garamond"/>
              <a:sym typeface="Cormorant Garamond"/>
              <a:hlinkClick r:id="rId4" tooltip="https://javascript.info/variables#constant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27550331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9872" y="1171000"/>
            <a:ext cx="12032128" cy="11773159"/>
          </a:xfrm>
          <a:prstGeom prst="rect">
            <a:avLst/>
          </a:prstGeom>
        </p:spPr>
        <p:txBody>
          <a:bodyPr lIns="0" tIns="0" rIns="0" bIns="0" rtlCol="0" anchor="t">
            <a:spAutoFit/>
          </a:bodyPr>
          <a:lstStyle/>
          <a:p>
            <a:pPr>
              <a:lnSpc>
                <a:spcPts val="4150"/>
              </a:lnSpc>
            </a:pPr>
            <a:r>
              <a:rPr lang="en-US" sz="2000" u="sng" dirty="0">
                <a:latin typeface="Antique Olive" panose="020B0603020204030204"/>
                <a:ea typeface="Quicksand"/>
                <a:cs typeface="Quicksand"/>
                <a:sym typeface="Quicksand"/>
              </a:rPr>
              <a:t>Arrays</a:t>
            </a:r>
          </a:p>
          <a:p>
            <a:pPr>
              <a:lnSpc>
                <a:spcPts val="4150"/>
              </a:lnSpc>
            </a:pPr>
            <a:r>
              <a:rPr lang="en-US" sz="2000" u="sng" dirty="0">
                <a:latin typeface="Antique Olive" panose="020B0603020204030204"/>
                <a:ea typeface="Quicksand"/>
                <a:cs typeface="Quicksand"/>
                <a:sym typeface="Quicksand"/>
              </a:rPr>
              <a:t>Methods pop/push,</a:t>
            </a:r>
          </a:p>
          <a:p>
            <a:pPr>
              <a:lnSpc>
                <a:spcPts val="4150"/>
              </a:lnSpc>
            </a:pPr>
            <a:r>
              <a:rPr lang="en-US" sz="2000" dirty="0">
                <a:latin typeface="Antique Olive" panose="020B0603020204030204"/>
                <a:ea typeface="Quicksand"/>
                <a:cs typeface="Quicksand"/>
                <a:sym typeface="Quicksand"/>
              </a:rPr>
              <a:t>Arrays support both operations.</a:t>
            </a:r>
          </a:p>
          <a:p>
            <a:pPr>
              <a:lnSpc>
                <a:spcPts val="4150"/>
              </a:lnSpc>
            </a:pPr>
            <a:r>
              <a:rPr lang="en-US" sz="2000" dirty="0">
                <a:latin typeface="Antique Olive" panose="020B0603020204030204"/>
                <a:ea typeface="Quicksand"/>
                <a:cs typeface="Quicksand"/>
                <a:sym typeface="Quicksand"/>
              </a:rPr>
              <a:t>In practice we need it very often. For example, a queue of messages that need to be shown on-screen.</a:t>
            </a:r>
          </a:p>
          <a:p>
            <a:pPr>
              <a:lnSpc>
                <a:spcPts val="4150"/>
              </a:lnSpc>
            </a:pPr>
            <a:r>
              <a:rPr lang="en-US" sz="2000" dirty="0">
                <a:latin typeface="Antique Olive" panose="020B0603020204030204"/>
                <a:ea typeface="Quicksand"/>
                <a:cs typeface="Quicksand"/>
                <a:sym typeface="Quicksand"/>
              </a:rPr>
              <a:t>There’s another use case for arrays – the data structure named </a:t>
            </a:r>
            <a:r>
              <a:rPr lang="en-US" sz="2000" u="sng" dirty="0">
                <a:latin typeface="Antique Olive" panose="020B0603020204030204"/>
                <a:ea typeface="Quicksand"/>
                <a:cs typeface="Quicksand"/>
                <a:sym typeface="Quicksand"/>
              </a:rPr>
              <a:t>stack</a:t>
            </a:r>
            <a:r>
              <a:rPr lang="en-US" sz="2000" dirty="0">
                <a:latin typeface="Antique Olive" panose="020B0603020204030204"/>
                <a:ea typeface="Quicksand"/>
                <a:cs typeface="Quicksand"/>
                <a:sym typeface="Quicksand"/>
              </a:rPr>
              <a:t>.</a:t>
            </a:r>
          </a:p>
          <a:p>
            <a:pPr>
              <a:lnSpc>
                <a:spcPts val="4150"/>
              </a:lnSpc>
            </a:pPr>
            <a:r>
              <a:rPr lang="en-US" sz="2000" dirty="0">
                <a:latin typeface="Antique Olive" panose="020B0603020204030204"/>
                <a:ea typeface="Quicksand"/>
                <a:cs typeface="Quicksand"/>
                <a:sym typeface="Quicksand"/>
              </a:rPr>
              <a:t>It supports two operations:</a:t>
            </a:r>
          </a:p>
          <a:p>
            <a:pPr marL="527028" lvl="1" indent="-263514">
              <a:lnSpc>
                <a:spcPts val="4150"/>
              </a:lnSpc>
              <a:buFont typeface="Arial"/>
              <a:buChar char="•"/>
            </a:pPr>
            <a:r>
              <a:rPr lang="en-US" sz="2000" dirty="0">
                <a:latin typeface="Antique Olive" panose="020B0603020204030204"/>
                <a:ea typeface="Quicksand"/>
                <a:cs typeface="Quicksand"/>
                <a:sym typeface="Quicksand"/>
              </a:rPr>
              <a:t>push adds an element to the end.</a:t>
            </a:r>
          </a:p>
          <a:p>
            <a:pPr marL="527028" lvl="1" indent="-263514">
              <a:lnSpc>
                <a:spcPts val="4150"/>
              </a:lnSpc>
              <a:buFont typeface="Arial"/>
              <a:buChar char="•"/>
            </a:pPr>
            <a:r>
              <a:rPr lang="en-US" sz="2000" dirty="0">
                <a:latin typeface="Antique Olive" panose="020B0603020204030204"/>
                <a:ea typeface="Quicksand"/>
                <a:cs typeface="Quicksand"/>
                <a:sym typeface="Quicksand"/>
              </a:rPr>
              <a:t>pop takes an element from the end.</a:t>
            </a:r>
          </a:p>
          <a:p>
            <a:pPr>
              <a:lnSpc>
                <a:spcPts val="4150"/>
              </a:lnSpc>
            </a:pPr>
            <a:r>
              <a:rPr lang="en-US" sz="2000" dirty="0">
                <a:solidFill>
                  <a:srgbClr val="000000"/>
                </a:solidFill>
                <a:latin typeface="Antique Olive" panose="020B0603020204030204"/>
                <a:ea typeface="Quicksand"/>
                <a:cs typeface="Quicksand"/>
                <a:sym typeface="Quicksand"/>
              </a:rPr>
              <a:t>A stack is usually illustrated as a pack of cards: new cards are added to the top or taken from the top:</a:t>
            </a:r>
          </a:p>
          <a:p>
            <a:pPr>
              <a:lnSpc>
                <a:spcPts val="4150"/>
              </a:lnSpc>
            </a:pPr>
            <a:endParaRPr lang="en-US" sz="2000" dirty="0">
              <a:solidFill>
                <a:srgbClr val="000000"/>
              </a:solidFill>
              <a:latin typeface="Antique Olive" panose="020B0603020204030204"/>
              <a:ea typeface="Quicksand"/>
              <a:cs typeface="Quicksand"/>
              <a:sym typeface="Quicksand"/>
            </a:endParaRPr>
          </a:p>
          <a:p>
            <a:pPr>
              <a:lnSpc>
                <a:spcPts val="4150"/>
              </a:lnSpc>
            </a:pPr>
            <a:endParaRPr lang="en-US" sz="2000" dirty="0">
              <a:solidFill>
                <a:srgbClr val="000000"/>
              </a:solidFill>
              <a:latin typeface="Antique Olive" panose="020B0603020204030204"/>
              <a:ea typeface="Quicksand"/>
              <a:cs typeface="Quicksand"/>
              <a:sym typeface="Quicksand"/>
            </a:endParaRPr>
          </a:p>
          <a:p>
            <a:pPr>
              <a:lnSpc>
                <a:spcPts val="4150"/>
              </a:lnSpc>
            </a:pPr>
            <a:endParaRPr lang="en-US" sz="2000" dirty="0">
              <a:solidFill>
                <a:srgbClr val="000000"/>
              </a:solidFill>
              <a:latin typeface="Antique Olive" panose="020B0603020204030204"/>
              <a:ea typeface="Quicksand"/>
              <a:cs typeface="Quicksand"/>
              <a:sym typeface="Quicksand"/>
            </a:endParaRPr>
          </a:p>
          <a:p>
            <a:pPr>
              <a:lnSpc>
                <a:spcPts val="4150"/>
              </a:lnSpc>
            </a:pPr>
            <a:endParaRPr lang="en-US" sz="2000" dirty="0">
              <a:solidFill>
                <a:srgbClr val="000000"/>
              </a:solidFill>
              <a:latin typeface="Antique Olive" panose="020B0603020204030204"/>
              <a:ea typeface="Quicksand"/>
              <a:cs typeface="Quicksand"/>
              <a:sym typeface="Quicksand"/>
            </a:endParaRPr>
          </a:p>
          <a:p>
            <a:pPr>
              <a:lnSpc>
                <a:spcPts val="4150"/>
              </a:lnSpc>
            </a:pPr>
            <a:endParaRPr lang="en-US" sz="2000" dirty="0">
              <a:solidFill>
                <a:srgbClr val="000000"/>
              </a:solidFill>
              <a:latin typeface="Antique Olive" panose="020B0603020204030204"/>
              <a:ea typeface="Quicksand"/>
              <a:cs typeface="Quicksand"/>
              <a:sym typeface="Quicksand"/>
            </a:endParaRPr>
          </a:p>
          <a:p>
            <a:pPr>
              <a:lnSpc>
                <a:spcPts val="4150"/>
              </a:lnSpc>
            </a:pPr>
            <a:endParaRPr lang="en-US" sz="2000" dirty="0">
              <a:solidFill>
                <a:srgbClr val="000000"/>
              </a:solidFill>
              <a:latin typeface="Antique Olive" panose="020B0603020204030204"/>
              <a:ea typeface="Quicksand"/>
              <a:cs typeface="Quicksand"/>
              <a:sym typeface="Quicksand"/>
            </a:endParaRPr>
          </a:p>
          <a:p>
            <a:pPr>
              <a:lnSpc>
                <a:spcPts val="4150"/>
              </a:lnSpc>
            </a:pPr>
            <a:endParaRPr lang="en-US" sz="2000" dirty="0">
              <a:solidFill>
                <a:srgbClr val="000000"/>
              </a:solidFill>
              <a:latin typeface="Antique Olive" panose="020B0603020204030204"/>
              <a:ea typeface="Quicksand"/>
              <a:cs typeface="Quicksand"/>
              <a:sym typeface="Quicksand"/>
            </a:endParaRPr>
          </a:p>
          <a:p>
            <a:pPr>
              <a:lnSpc>
                <a:spcPts val="4150"/>
              </a:lnSpc>
            </a:pPr>
            <a:endParaRPr lang="en-US" sz="2000" dirty="0">
              <a:solidFill>
                <a:srgbClr val="000000"/>
              </a:solidFill>
              <a:latin typeface="Antique Olive" panose="020B0603020204030204"/>
              <a:ea typeface="Quicksand"/>
              <a:cs typeface="Quicksand"/>
              <a:sym typeface="Quicksand"/>
            </a:endParaRPr>
          </a:p>
          <a:p>
            <a:pPr>
              <a:lnSpc>
                <a:spcPts val="4150"/>
              </a:lnSpc>
            </a:pPr>
            <a:endParaRPr lang="en-US" sz="2000" dirty="0">
              <a:solidFill>
                <a:srgbClr val="000000"/>
              </a:solidFill>
              <a:latin typeface="Antique Olive" panose="020B0603020204030204"/>
              <a:ea typeface="Quicksand"/>
              <a:cs typeface="Quicksand"/>
              <a:sym typeface="Quicksand"/>
            </a:endParaRPr>
          </a:p>
          <a:p>
            <a:pPr>
              <a:lnSpc>
                <a:spcPts val="4150"/>
              </a:lnSpc>
            </a:pPr>
            <a:endParaRPr lang="en-US" sz="2000" dirty="0">
              <a:solidFill>
                <a:srgbClr val="000000"/>
              </a:solidFill>
              <a:latin typeface="Antique Olive" panose="020B0603020204030204"/>
              <a:ea typeface="Quicksand"/>
              <a:cs typeface="Quicksand"/>
              <a:sym typeface="Quicksand"/>
            </a:endParaRPr>
          </a:p>
          <a:p>
            <a:pPr>
              <a:lnSpc>
                <a:spcPts val="4150"/>
              </a:lnSpc>
            </a:pPr>
            <a:endParaRPr lang="en-US" sz="2000" dirty="0">
              <a:solidFill>
                <a:srgbClr val="000000"/>
              </a:solidFill>
              <a:latin typeface="Antique Olive" panose="020B0603020204030204"/>
              <a:ea typeface="Quicksand"/>
              <a:cs typeface="Quicksand"/>
              <a:sym typeface="Quicksand"/>
            </a:endParaRPr>
          </a:p>
          <a:p>
            <a:pPr>
              <a:lnSpc>
                <a:spcPts val="4150"/>
              </a:lnSpc>
            </a:pPr>
            <a:endParaRPr lang="en-US" sz="2000" dirty="0">
              <a:solidFill>
                <a:srgbClr val="000000"/>
              </a:solidFill>
              <a:latin typeface="Antique Olive" panose="020B0603020204030204"/>
              <a:ea typeface="Quicksand"/>
              <a:cs typeface="Quicksand"/>
              <a:sym typeface="Quicksand"/>
            </a:endParaRPr>
          </a:p>
          <a:p>
            <a:pPr>
              <a:lnSpc>
                <a:spcPts val="4150"/>
              </a:lnSpc>
            </a:pPr>
            <a:endParaRPr lang="en-US" sz="2000" dirty="0">
              <a:latin typeface="Antique Olive" panose="020B0603020204030204"/>
              <a:ea typeface="Quicksand"/>
              <a:cs typeface="Quicksand"/>
              <a:sym typeface="Quicksand"/>
              <a:hlinkClick r:id="rId2" tooltip="https://javascript.info/string#getting-a-substring">
                <a:extLst>
                  <a:ext uri="{A12FA001-AC4F-418D-AE19-62706E023703}">
                    <ahyp:hlinkClr xmlns:ahyp="http://schemas.microsoft.com/office/drawing/2018/hyperlinkcolor" val="tx"/>
                  </a:ext>
                </a:extLst>
              </a:hlinkClick>
            </a:endParaRPr>
          </a:p>
        </p:txBody>
      </p:sp>
      <p:sp>
        <p:nvSpPr>
          <p:cNvPr id="3" name="Freeform 3"/>
          <p:cNvSpPr/>
          <p:nvPr/>
        </p:nvSpPr>
        <p:spPr>
          <a:xfrm>
            <a:off x="5811926" y="4089819"/>
            <a:ext cx="1506728" cy="1367216"/>
          </a:xfrm>
          <a:custGeom>
            <a:avLst/>
            <a:gdLst/>
            <a:ahLst/>
            <a:cxnLst/>
            <a:rect l="l" t="t" r="r" b="b"/>
            <a:pathLst>
              <a:path w="2260092" h="2050824">
                <a:moveTo>
                  <a:pt x="0" y="0"/>
                </a:moveTo>
                <a:lnTo>
                  <a:pt x="2260092" y="0"/>
                </a:lnTo>
                <a:lnTo>
                  <a:pt x="2260092" y="2050824"/>
                </a:lnTo>
                <a:lnTo>
                  <a:pt x="0" y="2050824"/>
                </a:lnTo>
                <a:lnTo>
                  <a:pt x="0" y="0"/>
                </a:lnTo>
                <a:close/>
              </a:path>
            </a:pathLst>
          </a:custGeom>
          <a:blipFill>
            <a:blip r:embed="rId3"/>
            <a:stretch>
              <a:fillRect/>
            </a:stretch>
          </a:blipFill>
        </p:spPr>
      </p:sp>
      <p:sp>
        <p:nvSpPr>
          <p:cNvPr id="4" name="TextBox 4"/>
          <p:cNvSpPr txBox="1"/>
          <p:nvPr/>
        </p:nvSpPr>
        <p:spPr>
          <a:xfrm>
            <a:off x="3973935" y="420266"/>
            <a:ext cx="7532265" cy="726033"/>
          </a:xfrm>
          <a:prstGeom prst="rect">
            <a:avLst/>
          </a:prstGeom>
        </p:spPr>
        <p:txBody>
          <a:bodyPr lIns="0" tIns="0" rIns="0" bIns="0" rtlCol="0" anchor="t">
            <a:spAutoFit/>
          </a:bodyPr>
          <a:lstStyle/>
          <a:p>
            <a:pPr algn="just">
              <a:lnSpc>
                <a:spcPts val="5973"/>
              </a:lnSpc>
              <a:spcBef>
                <a:spcPct val="0"/>
              </a:spcBef>
            </a:pPr>
            <a:r>
              <a:rPr lang="en-US" sz="4400" b="1" dirty="0">
                <a:latin typeface="Antique Olive"/>
                <a:ea typeface="Cormorant Garamond"/>
                <a:cs typeface="Cormorant Garamond"/>
                <a:sym typeface="Cormorant Garamond"/>
              </a:rPr>
              <a:t>Data types</a:t>
            </a:r>
            <a:endParaRPr lang="en-US" sz="4400" b="1" dirty="0">
              <a:latin typeface="Antique Olive"/>
              <a:ea typeface="Cormorant Garamond"/>
              <a:cs typeface="Cormorant Garamond"/>
              <a:sym typeface="Cormorant Garamond"/>
              <a:hlinkClick r:id="rId4" tooltip="https://javascript.info/variables#constant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250395885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9872" y="1171000"/>
            <a:ext cx="12032128" cy="5322739"/>
          </a:xfrm>
          <a:prstGeom prst="rect">
            <a:avLst/>
          </a:prstGeom>
        </p:spPr>
        <p:txBody>
          <a:bodyPr lIns="0" tIns="0" rIns="0" bIns="0" rtlCol="0" anchor="t">
            <a:spAutoFit/>
          </a:bodyPr>
          <a:lstStyle/>
          <a:p>
            <a:pPr>
              <a:lnSpc>
                <a:spcPts val="4150"/>
              </a:lnSpc>
            </a:pPr>
            <a:r>
              <a:rPr lang="en-US" sz="2000" u="sng" dirty="0">
                <a:latin typeface="Antique Olive" panose="020B0603020204030204"/>
                <a:ea typeface="Quicksand"/>
                <a:cs typeface="Quicksand"/>
                <a:sym typeface="Quicksand"/>
              </a:rPr>
              <a:t>Arrays</a:t>
            </a:r>
          </a:p>
          <a:p>
            <a:pPr>
              <a:lnSpc>
                <a:spcPts val="4150"/>
              </a:lnSpc>
            </a:pPr>
            <a:r>
              <a:rPr lang="en-US" sz="2000" dirty="0">
                <a:latin typeface="Antique Olive" panose="020B0603020204030204"/>
                <a:ea typeface="Quicksand"/>
                <a:cs typeface="Quicksand"/>
                <a:sym typeface="Quicksand"/>
              </a:rPr>
              <a:t>Methods that work with the end of the array:</a:t>
            </a:r>
          </a:p>
          <a:p>
            <a:pPr>
              <a:lnSpc>
                <a:spcPts val="4150"/>
              </a:lnSpc>
            </a:pPr>
            <a:r>
              <a:rPr lang="en-US" sz="2000" b="1" dirty="0">
                <a:latin typeface="Antique Olive" panose="020B0603020204030204"/>
                <a:ea typeface="Quicksand Bold"/>
                <a:cs typeface="Quicksand Bold"/>
                <a:sym typeface="Quicksand Bold"/>
              </a:rPr>
              <a:t>pop</a:t>
            </a:r>
          </a:p>
          <a:p>
            <a:pPr>
              <a:lnSpc>
                <a:spcPts val="4150"/>
              </a:lnSpc>
            </a:pPr>
            <a:r>
              <a:rPr lang="en-US" sz="2000" dirty="0">
                <a:latin typeface="Antique Olive" panose="020B0603020204030204"/>
                <a:ea typeface="Quicksand"/>
                <a:cs typeface="Quicksand"/>
                <a:sym typeface="Quicksand"/>
              </a:rPr>
              <a:t>Extracts the last element of the array and returns it:</a:t>
            </a:r>
          </a:p>
          <a:p>
            <a:pPr>
              <a:lnSpc>
                <a:spcPts val="4150"/>
              </a:lnSpc>
            </a:pPr>
            <a:r>
              <a:rPr lang="en-US" sz="2000" dirty="0">
                <a:latin typeface="Antique Olive" panose="020B0603020204030204"/>
                <a:ea typeface="Quicksand"/>
                <a:cs typeface="Quicksand"/>
                <a:sym typeface="Quicksand"/>
              </a:rPr>
              <a:t>let fruits = ["Apple", "Orange", "Pear"];</a:t>
            </a:r>
          </a:p>
          <a:p>
            <a:pPr>
              <a:lnSpc>
                <a:spcPts val="4150"/>
              </a:lnSpc>
            </a:pPr>
            <a:r>
              <a:rPr lang="en-US" sz="2000" dirty="0">
                <a:latin typeface="Antique Olive" panose="020B0603020204030204"/>
                <a:ea typeface="Quicksand"/>
                <a:cs typeface="Quicksand"/>
                <a:sym typeface="Quicksand"/>
              </a:rPr>
              <a:t>alert( </a:t>
            </a:r>
            <a:r>
              <a:rPr lang="en-US" sz="2000" dirty="0" err="1">
                <a:latin typeface="Antique Olive" panose="020B0603020204030204"/>
                <a:ea typeface="Quicksand"/>
                <a:cs typeface="Quicksand"/>
                <a:sym typeface="Quicksand"/>
              </a:rPr>
              <a:t>fruits.pop</a:t>
            </a:r>
            <a:r>
              <a:rPr lang="en-US" sz="2000" dirty="0">
                <a:latin typeface="Antique Olive" panose="020B0603020204030204"/>
                <a:ea typeface="Quicksand"/>
                <a:cs typeface="Quicksand"/>
                <a:sym typeface="Quicksand"/>
              </a:rPr>
              <a:t>() ); // remove "Pear" and alert it</a:t>
            </a:r>
          </a:p>
          <a:p>
            <a:pPr>
              <a:lnSpc>
                <a:spcPts val="4150"/>
              </a:lnSpc>
            </a:pPr>
            <a:r>
              <a:rPr lang="en-US" sz="2000" dirty="0">
                <a:latin typeface="Antique Olive" panose="020B0603020204030204"/>
                <a:ea typeface="Quicksand"/>
                <a:cs typeface="Quicksand"/>
                <a:sym typeface="Quicksand"/>
              </a:rPr>
              <a:t>alert( fruits ); // Apple, Orange</a:t>
            </a:r>
          </a:p>
          <a:p>
            <a:pPr>
              <a:lnSpc>
                <a:spcPts val="4150"/>
              </a:lnSpc>
            </a:pPr>
            <a:r>
              <a:rPr lang="en-US" sz="2000" dirty="0">
                <a:latin typeface="Antique Olive" panose="020B0603020204030204"/>
                <a:ea typeface="Quicksand"/>
                <a:cs typeface="Quicksand"/>
                <a:sym typeface="Quicksand"/>
              </a:rPr>
              <a:t>Both </a:t>
            </a:r>
            <a:r>
              <a:rPr lang="en-US" sz="2000" dirty="0" err="1">
                <a:latin typeface="Antique Olive" panose="020B0603020204030204"/>
                <a:ea typeface="Quicksand"/>
                <a:cs typeface="Quicksand"/>
                <a:sym typeface="Quicksand"/>
              </a:rPr>
              <a:t>fruits.pop</a:t>
            </a:r>
            <a:r>
              <a:rPr lang="en-US" sz="2000" dirty="0">
                <a:latin typeface="Antique Olive" panose="020B0603020204030204"/>
                <a:ea typeface="Quicksand"/>
                <a:cs typeface="Quicksand"/>
                <a:sym typeface="Quicksand"/>
              </a:rPr>
              <a:t>() and fruits.at(-1) return the last element of the array, but </a:t>
            </a:r>
            <a:r>
              <a:rPr lang="en-US" sz="2000" dirty="0" err="1">
                <a:latin typeface="Antique Olive" panose="020B0603020204030204"/>
                <a:ea typeface="Quicksand"/>
                <a:cs typeface="Quicksand"/>
                <a:sym typeface="Quicksand"/>
              </a:rPr>
              <a:t>fruits.pop</a:t>
            </a:r>
            <a:r>
              <a:rPr lang="en-US" sz="2000" dirty="0">
                <a:latin typeface="Antique Olive" panose="020B0603020204030204"/>
                <a:ea typeface="Quicksand"/>
                <a:cs typeface="Quicksand"/>
                <a:sym typeface="Quicksand"/>
              </a:rPr>
              <a:t>() also modifies the array by removing it.</a:t>
            </a:r>
          </a:p>
          <a:p>
            <a:pPr>
              <a:lnSpc>
                <a:spcPts val="4150"/>
              </a:lnSpc>
            </a:pPr>
            <a:endParaRPr lang="en-US" sz="2441" dirty="0">
              <a:solidFill>
                <a:srgbClr val="0F4662"/>
              </a:solidFill>
              <a:latin typeface="Quicksand"/>
              <a:ea typeface="Quicksand"/>
              <a:cs typeface="Quicksand"/>
              <a:sym typeface="Quicksand"/>
              <a:hlinkClick r:id="rId2" tooltip="https://javascript.info/array#methods-pop-push-shift-unshift"/>
            </a:endParaRPr>
          </a:p>
        </p:txBody>
      </p:sp>
      <p:sp>
        <p:nvSpPr>
          <p:cNvPr id="3" name="TextBox 3"/>
          <p:cNvSpPr txBox="1"/>
          <p:nvPr/>
        </p:nvSpPr>
        <p:spPr>
          <a:xfrm>
            <a:off x="3973935" y="420266"/>
            <a:ext cx="7532265" cy="726033"/>
          </a:xfrm>
          <a:prstGeom prst="rect">
            <a:avLst/>
          </a:prstGeom>
        </p:spPr>
        <p:txBody>
          <a:bodyPr lIns="0" tIns="0" rIns="0" bIns="0" rtlCol="0" anchor="t">
            <a:spAutoFit/>
          </a:bodyPr>
          <a:lstStyle/>
          <a:p>
            <a:pPr algn="just">
              <a:lnSpc>
                <a:spcPts val="5973"/>
              </a:lnSpc>
              <a:spcBef>
                <a:spcPct val="0"/>
              </a:spcBef>
            </a:pPr>
            <a:r>
              <a:rPr lang="en-US" sz="4400" b="1" dirty="0">
                <a:latin typeface="Antique Olive"/>
                <a:ea typeface="Cormorant Garamond"/>
                <a:cs typeface="Cormorant Garamond"/>
                <a:sym typeface="Cormorant Garamond"/>
              </a:rPr>
              <a:t>Data types</a:t>
            </a:r>
            <a:endParaRPr lang="en-US" sz="4400" b="1" dirty="0">
              <a:latin typeface="Antique Olive"/>
              <a:ea typeface="Cormorant Garamond"/>
              <a:cs typeface="Cormorant Garamond"/>
              <a:sym typeface="Cormorant Garamond"/>
              <a:hlinkClick r:id="rId3" tooltip="https://javascript.info/variables#constant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27115457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9872" y="1171000"/>
            <a:ext cx="12032128" cy="15556310"/>
          </a:xfrm>
          <a:prstGeom prst="rect">
            <a:avLst/>
          </a:prstGeom>
        </p:spPr>
        <p:txBody>
          <a:bodyPr lIns="0" tIns="0" rIns="0" bIns="0" rtlCol="0" anchor="t">
            <a:spAutoFit/>
          </a:bodyPr>
          <a:lstStyle/>
          <a:p>
            <a:pPr>
              <a:lnSpc>
                <a:spcPts val="4150"/>
              </a:lnSpc>
            </a:pPr>
            <a:r>
              <a:rPr lang="en-US" sz="2000" u="sng" dirty="0">
                <a:latin typeface="Antique Olive" panose="020B0603020204030204"/>
                <a:ea typeface="Quicksand"/>
                <a:cs typeface="Quicksand"/>
                <a:sym typeface="Quicksand"/>
              </a:rPr>
              <a:t>Arrays</a:t>
            </a:r>
          </a:p>
          <a:p>
            <a:pPr>
              <a:lnSpc>
                <a:spcPts val="4150"/>
              </a:lnSpc>
            </a:pPr>
            <a:r>
              <a:rPr lang="en-US" sz="2000" u="sng" dirty="0">
                <a:latin typeface="Antique Olive" panose="020B0603020204030204"/>
                <a:ea typeface="Quicksand"/>
                <a:cs typeface="Quicksand"/>
                <a:sym typeface="Quicksand"/>
              </a:rPr>
              <a:t>Loops</a:t>
            </a:r>
          </a:p>
          <a:p>
            <a:pPr>
              <a:lnSpc>
                <a:spcPts val="4150"/>
              </a:lnSpc>
            </a:pPr>
            <a:r>
              <a:rPr lang="en-US" sz="2000" dirty="0">
                <a:latin typeface="Antique Olive" panose="020B0603020204030204"/>
                <a:ea typeface="Quicksand"/>
                <a:cs typeface="Quicksand"/>
                <a:sym typeface="Quicksand"/>
              </a:rPr>
              <a:t>One of the oldest ways to cycle array items is the for loop over indexes:</a:t>
            </a:r>
          </a:p>
          <a:p>
            <a:pPr>
              <a:lnSpc>
                <a:spcPts val="4150"/>
              </a:lnSpc>
            </a:pPr>
            <a:r>
              <a:rPr lang="en-US" sz="2000" dirty="0">
                <a:latin typeface="Antique Olive" panose="020B0603020204030204"/>
                <a:ea typeface="Quicksand"/>
                <a:cs typeface="Quicksand"/>
                <a:sym typeface="Quicksand"/>
              </a:rPr>
              <a:t>let </a:t>
            </a:r>
            <a:r>
              <a:rPr lang="en-US" sz="2000" dirty="0" err="1">
                <a:latin typeface="Antique Olive" panose="020B0603020204030204"/>
                <a:ea typeface="Quicksand"/>
                <a:cs typeface="Quicksand"/>
                <a:sym typeface="Quicksand"/>
              </a:rPr>
              <a:t>arr</a:t>
            </a:r>
            <a:r>
              <a:rPr lang="en-US" sz="2000" dirty="0">
                <a:latin typeface="Antique Olive" panose="020B0603020204030204"/>
                <a:ea typeface="Quicksand"/>
                <a:cs typeface="Quicksand"/>
                <a:sym typeface="Quicksand"/>
              </a:rPr>
              <a:t> = ["Apple", "Orange", "Pear"];</a:t>
            </a:r>
          </a:p>
          <a:p>
            <a:pPr>
              <a:lnSpc>
                <a:spcPts val="4150"/>
              </a:lnSpc>
            </a:pPr>
            <a:r>
              <a:rPr lang="en-US" sz="2000" dirty="0">
                <a:latin typeface="Antique Olive" panose="020B0603020204030204"/>
                <a:ea typeface="Quicksand"/>
                <a:cs typeface="Quicksand"/>
                <a:sym typeface="Quicksand"/>
              </a:rPr>
              <a:t>for (let </a:t>
            </a:r>
            <a:r>
              <a:rPr lang="en-US" sz="2000" dirty="0" err="1">
                <a:latin typeface="Antique Olive" panose="020B0603020204030204"/>
                <a:ea typeface="Quicksand"/>
                <a:cs typeface="Quicksand"/>
                <a:sym typeface="Quicksand"/>
              </a:rPr>
              <a:t>i</a:t>
            </a:r>
            <a:r>
              <a:rPr lang="en-US" sz="2000" dirty="0">
                <a:latin typeface="Antique Olive" panose="020B0603020204030204"/>
                <a:ea typeface="Quicksand"/>
                <a:cs typeface="Quicksand"/>
                <a:sym typeface="Quicksand"/>
              </a:rPr>
              <a:t> = 0; </a:t>
            </a:r>
            <a:r>
              <a:rPr lang="en-US" sz="2000" dirty="0" err="1">
                <a:latin typeface="Antique Olive" panose="020B0603020204030204"/>
                <a:ea typeface="Quicksand"/>
                <a:cs typeface="Quicksand"/>
                <a:sym typeface="Quicksand"/>
              </a:rPr>
              <a:t>i</a:t>
            </a:r>
            <a:r>
              <a:rPr lang="en-US" sz="2000" dirty="0">
                <a:latin typeface="Antique Olive" panose="020B0603020204030204"/>
                <a:ea typeface="Quicksand"/>
                <a:cs typeface="Quicksand"/>
                <a:sym typeface="Quicksand"/>
              </a:rPr>
              <a:t> &lt; </a:t>
            </a:r>
            <a:r>
              <a:rPr lang="en-US" sz="2000" dirty="0" err="1">
                <a:latin typeface="Antique Olive" panose="020B0603020204030204"/>
                <a:ea typeface="Quicksand"/>
                <a:cs typeface="Quicksand"/>
                <a:sym typeface="Quicksand"/>
              </a:rPr>
              <a:t>arr.length</a:t>
            </a:r>
            <a:r>
              <a:rPr lang="en-US" sz="2000" dirty="0">
                <a:latin typeface="Antique Olive" panose="020B0603020204030204"/>
                <a:ea typeface="Quicksand"/>
                <a:cs typeface="Quicksand"/>
                <a:sym typeface="Quicksand"/>
              </a:rPr>
              <a:t>; </a:t>
            </a:r>
            <a:r>
              <a:rPr lang="en-US" sz="2000" dirty="0" err="1">
                <a:latin typeface="Antique Olive" panose="020B0603020204030204"/>
                <a:ea typeface="Quicksand"/>
                <a:cs typeface="Quicksand"/>
                <a:sym typeface="Quicksand"/>
              </a:rPr>
              <a:t>i</a:t>
            </a:r>
            <a:r>
              <a:rPr lang="en-US" sz="2000" dirty="0">
                <a:latin typeface="Antique Olive" panose="020B0603020204030204"/>
                <a:ea typeface="Quicksand"/>
                <a:cs typeface="Quicksand"/>
                <a:sym typeface="Quicksand"/>
              </a:rPr>
              <a:t>++)</a:t>
            </a:r>
          </a:p>
          <a:p>
            <a:pPr>
              <a:lnSpc>
                <a:spcPts val="4150"/>
              </a:lnSpc>
            </a:pPr>
            <a:r>
              <a:rPr lang="en-US" sz="2000" dirty="0">
                <a:latin typeface="Antique Olive" panose="020B0603020204030204"/>
                <a:ea typeface="Quicksand"/>
                <a:cs typeface="Quicksand"/>
                <a:sym typeface="Quicksand"/>
              </a:rPr>
              <a:t> {alert( </a:t>
            </a:r>
            <a:r>
              <a:rPr lang="en-US" sz="2000" dirty="0" err="1">
                <a:latin typeface="Antique Olive" panose="020B0603020204030204"/>
                <a:ea typeface="Quicksand"/>
                <a:cs typeface="Quicksand"/>
                <a:sym typeface="Quicksand"/>
              </a:rPr>
              <a:t>arr</a:t>
            </a:r>
            <a:r>
              <a:rPr lang="en-US" sz="2000" dirty="0">
                <a:latin typeface="Antique Olive" panose="020B0603020204030204"/>
                <a:ea typeface="Quicksand"/>
                <a:cs typeface="Quicksand"/>
                <a:sym typeface="Quicksand"/>
              </a:rPr>
              <a:t>[</a:t>
            </a:r>
            <a:r>
              <a:rPr lang="en-US" sz="2000" dirty="0" err="1">
                <a:latin typeface="Antique Olive" panose="020B0603020204030204"/>
                <a:ea typeface="Quicksand"/>
                <a:cs typeface="Quicksand"/>
                <a:sym typeface="Quicksand"/>
              </a:rPr>
              <a:t>i</a:t>
            </a:r>
            <a:r>
              <a:rPr lang="en-US" sz="2000" dirty="0">
                <a:latin typeface="Antique Olive" panose="020B0603020204030204"/>
                <a:ea typeface="Quicksand"/>
                <a:cs typeface="Quicksand"/>
                <a:sym typeface="Quicksand"/>
              </a:rPr>
              <a:t>] );}</a:t>
            </a:r>
          </a:p>
          <a:p>
            <a:pPr>
              <a:lnSpc>
                <a:spcPts val="4150"/>
              </a:lnSpc>
            </a:pPr>
            <a:r>
              <a:rPr lang="en-US" sz="2000" dirty="0">
                <a:latin typeface="Antique Olive" panose="020B0603020204030204"/>
                <a:ea typeface="Quicksand"/>
                <a:cs typeface="Quicksand"/>
                <a:sym typeface="Quicksand"/>
              </a:rPr>
              <a:t>But for arrays there is another form of loop, </a:t>
            </a:r>
            <a:r>
              <a:rPr lang="en-US" sz="2000" dirty="0" err="1">
                <a:latin typeface="Antique Olive" panose="020B0603020204030204"/>
                <a:ea typeface="Quicksand"/>
                <a:cs typeface="Quicksand"/>
                <a:sym typeface="Quicksand"/>
              </a:rPr>
              <a:t>for..of</a:t>
            </a:r>
            <a:r>
              <a:rPr lang="en-US" sz="2000" dirty="0">
                <a:latin typeface="Antique Olive" panose="020B0603020204030204"/>
                <a:ea typeface="Quicksand"/>
                <a:cs typeface="Quicksand"/>
                <a:sym typeface="Quicksand"/>
              </a:rPr>
              <a:t>:</a:t>
            </a:r>
          </a:p>
          <a:p>
            <a:pPr>
              <a:lnSpc>
                <a:spcPts val="4150"/>
              </a:lnSpc>
            </a:pPr>
            <a:r>
              <a:rPr lang="en-US" sz="2000" dirty="0">
                <a:latin typeface="Antique Olive" panose="020B0603020204030204"/>
                <a:ea typeface="Quicksand"/>
                <a:cs typeface="Quicksand"/>
                <a:sym typeface="Quicksand"/>
              </a:rPr>
              <a:t>let fruits = ["Apple", "Orange", "Plum"];// iterates over array elements</a:t>
            </a:r>
          </a:p>
          <a:p>
            <a:pPr>
              <a:lnSpc>
                <a:spcPts val="4150"/>
              </a:lnSpc>
            </a:pPr>
            <a:r>
              <a:rPr lang="en-US" sz="2000" dirty="0">
                <a:latin typeface="Antique Olive" panose="020B0603020204030204"/>
                <a:ea typeface="Quicksand"/>
                <a:cs typeface="Quicksand"/>
                <a:sym typeface="Quicksand"/>
              </a:rPr>
              <a:t>for (let fruit of fruits)</a:t>
            </a:r>
            <a:endParaRPr lang="en-US" sz="2000" dirty="0">
              <a:latin typeface="Antique Olive" panose="020B0603020204030204"/>
              <a:ea typeface="Quicksand"/>
              <a:cs typeface="Quicksand"/>
              <a:sym typeface="Quicksand"/>
              <a:hlinkClick r:id="rId2" tooltip="https://javascript.info/array#methods-pop-push-shift-unshift">
                <a:extLst>
                  <a:ext uri="{A12FA001-AC4F-418D-AE19-62706E023703}">
                    <ahyp:hlinkClr xmlns:ahyp="http://schemas.microsoft.com/office/drawing/2018/hyperlinkcolor" val="tx"/>
                  </a:ext>
                </a:extLst>
              </a:hlinkClick>
            </a:endParaRPr>
          </a:p>
          <a:p>
            <a:pPr>
              <a:lnSpc>
                <a:spcPts val="4150"/>
              </a:lnSpc>
            </a:pPr>
            <a:r>
              <a:rPr lang="en-US" sz="2000" dirty="0">
                <a:latin typeface="Antique Olive" panose="020B0603020204030204"/>
                <a:ea typeface="Quicksand"/>
                <a:cs typeface="Quicksand"/>
                <a:sym typeface="Quicksand"/>
              </a:rPr>
              <a:t> {alert( fruit );}</a:t>
            </a: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hlinkClick r:id="rId2" tooltip="https://javascript.info/array#methods-pop-push-shift-unshift"/>
            </a:endParaRPr>
          </a:p>
        </p:txBody>
      </p:sp>
      <p:sp>
        <p:nvSpPr>
          <p:cNvPr id="3" name="TextBox 3"/>
          <p:cNvSpPr txBox="1"/>
          <p:nvPr/>
        </p:nvSpPr>
        <p:spPr>
          <a:xfrm>
            <a:off x="3973935" y="420266"/>
            <a:ext cx="7532265" cy="726033"/>
          </a:xfrm>
          <a:prstGeom prst="rect">
            <a:avLst/>
          </a:prstGeom>
        </p:spPr>
        <p:txBody>
          <a:bodyPr lIns="0" tIns="0" rIns="0" bIns="0" rtlCol="0" anchor="t">
            <a:spAutoFit/>
          </a:bodyPr>
          <a:lstStyle/>
          <a:p>
            <a:pPr algn="just">
              <a:lnSpc>
                <a:spcPts val="5973"/>
              </a:lnSpc>
              <a:spcBef>
                <a:spcPct val="0"/>
              </a:spcBef>
            </a:pPr>
            <a:r>
              <a:rPr lang="en-US" sz="4400" b="1" dirty="0">
                <a:latin typeface="Antique Olive"/>
                <a:ea typeface="Cormorant Garamond"/>
                <a:cs typeface="Cormorant Garamond"/>
                <a:sym typeface="Cormorant Garamond"/>
              </a:rPr>
              <a:t>Data types</a:t>
            </a:r>
            <a:endParaRPr lang="en-US" sz="4400" b="1" dirty="0">
              <a:latin typeface="Antique Olive"/>
              <a:ea typeface="Cormorant Garamond"/>
              <a:cs typeface="Cormorant Garamond"/>
              <a:sym typeface="Cormorant Garamond"/>
              <a:hlinkClick r:id="rId3" tooltip="https://javascript.info/variables#constant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146828615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1146299"/>
            <a:ext cx="8922059" cy="15017701"/>
          </a:xfrm>
          <a:prstGeom prst="rect">
            <a:avLst/>
          </a:prstGeom>
        </p:spPr>
        <p:txBody>
          <a:bodyPr wrap="square" lIns="0" tIns="0" rIns="0" bIns="0" rtlCol="0" anchor="t">
            <a:spAutoFit/>
          </a:bodyPr>
          <a:lstStyle/>
          <a:p>
            <a:pPr>
              <a:lnSpc>
                <a:spcPts val="4150"/>
              </a:lnSpc>
            </a:pPr>
            <a:r>
              <a:rPr lang="en-US" sz="2000" u="sng" dirty="0">
                <a:latin typeface="Antique Olive" panose="020B0603020204030204"/>
                <a:ea typeface="Quicksand"/>
                <a:cs typeface="Quicksand"/>
                <a:sym typeface="Quicksand"/>
              </a:rPr>
              <a:t>Arrays</a:t>
            </a:r>
          </a:p>
          <a:p>
            <a:pPr>
              <a:lnSpc>
                <a:spcPts val="4150"/>
              </a:lnSpc>
            </a:pPr>
            <a:r>
              <a:rPr lang="en-US" sz="2000" u="sng" dirty="0" err="1">
                <a:latin typeface="Antique Olive" panose="020B0603020204030204"/>
                <a:ea typeface="Quicksand"/>
                <a:cs typeface="Quicksand"/>
                <a:sym typeface="Quicksand"/>
              </a:rPr>
              <a:t>toString</a:t>
            </a:r>
            <a:endParaRPr lang="en-US" sz="2000" u="sng" dirty="0">
              <a:latin typeface="Antique Olive" panose="020B0603020204030204"/>
              <a:ea typeface="Quicksand"/>
              <a:cs typeface="Quicksand"/>
              <a:sym typeface="Quicksand"/>
            </a:endParaRPr>
          </a:p>
          <a:p>
            <a:pPr>
              <a:lnSpc>
                <a:spcPts val="4150"/>
              </a:lnSpc>
            </a:pPr>
            <a:r>
              <a:rPr lang="en-US" sz="2000" dirty="0">
                <a:latin typeface="Antique Olive" panose="020B0603020204030204"/>
                <a:ea typeface="Quicksand"/>
                <a:cs typeface="Quicksand"/>
                <a:sym typeface="Quicksand"/>
              </a:rPr>
              <a:t>Arrays have their own implementation of </a:t>
            </a:r>
            <a:r>
              <a:rPr lang="en-US" sz="2000" dirty="0" err="1">
                <a:latin typeface="Antique Olive" panose="020B0603020204030204"/>
                <a:ea typeface="Quicksand"/>
                <a:cs typeface="Quicksand"/>
                <a:sym typeface="Quicksand"/>
              </a:rPr>
              <a:t>toString</a:t>
            </a:r>
            <a:r>
              <a:rPr lang="en-US" sz="2000" dirty="0">
                <a:latin typeface="Antique Olive" panose="020B0603020204030204"/>
                <a:ea typeface="Quicksand"/>
                <a:cs typeface="Quicksand"/>
                <a:sym typeface="Quicksand"/>
              </a:rPr>
              <a:t> method that returns a comma-separated list of elements.</a:t>
            </a:r>
          </a:p>
          <a:p>
            <a:pPr>
              <a:lnSpc>
                <a:spcPts val="4150"/>
              </a:lnSpc>
            </a:pPr>
            <a:r>
              <a:rPr lang="en-US" sz="2000" dirty="0">
                <a:latin typeface="Antique Olive" panose="020B0603020204030204"/>
                <a:ea typeface="Quicksand"/>
                <a:cs typeface="Quicksand"/>
                <a:sym typeface="Quicksand"/>
              </a:rPr>
              <a:t>For instance:</a:t>
            </a:r>
          </a:p>
          <a:p>
            <a:pPr>
              <a:lnSpc>
                <a:spcPts val="4150"/>
              </a:lnSpc>
            </a:pPr>
            <a:r>
              <a:rPr lang="en-US" sz="2000" dirty="0">
                <a:latin typeface="Antique Olive" panose="020B0603020204030204"/>
                <a:ea typeface="Quicksand"/>
                <a:cs typeface="Quicksand"/>
                <a:sym typeface="Quicksand"/>
              </a:rPr>
              <a:t>let </a:t>
            </a:r>
            <a:r>
              <a:rPr lang="en-US" sz="2000" dirty="0" err="1">
                <a:latin typeface="Antique Olive" panose="020B0603020204030204"/>
                <a:ea typeface="Quicksand"/>
                <a:cs typeface="Quicksand"/>
                <a:sym typeface="Quicksand"/>
              </a:rPr>
              <a:t>arr</a:t>
            </a:r>
            <a:r>
              <a:rPr lang="en-US" sz="2000" dirty="0">
                <a:latin typeface="Antique Olive" panose="020B0603020204030204"/>
                <a:ea typeface="Quicksand"/>
                <a:cs typeface="Quicksand"/>
                <a:sym typeface="Quicksand"/>
              </a:rPr>
              <a:t> = [1, 2, 3];</a:t>
            </a:r>
          </a:p>
          <a:p>
            <a:pPr>
              <a:lnSpc>
                <a:spcPts val="4150"/>
              </a:lnSpc>
            </a:pPr>
            <a:r>
              <a:rPr lang="en-US" sz="2000" dirty="0">
                <a:latin typeface="Antique Olive" panose="020B0603020204030204"/>
                <a:ea typeface="Quicksand"/>
                <a:cs typeface="Quicksand"/>
                <a:sym typeface="Quicksand"/>
              </a:rPr>
              <a:t>alert(String(</a:t>
            </a:r>
            <a:r>
              <a:rPr lang="en-US" sz="2000" dirty="0" err="1">
                <a:latin typeface="Antique Olive" panose="020B0603020204030204"/>
                <a:ea typeface="Quicksand"/>
                <a:cs typeface="Quicksand"/>
                <a:sym typeface="Quicksand"/>
              </a:rPr>
              <a:t>arr</a:t>
            </a:r>
            <a:r>
              <a:rPr lang="en-US" sz="2000" dirty="0">
                <a:latin typeface="Antique Olive" panose="020B0603020204030204"/>
                <a:ea typeface="Quicksand"/>
                <a:cs typeface="Quicksand"/>
                <a:sym typeface="Quicksand"/>
              </a:rPr>
              <a:t>) ); // 1,2,3</a:t>
            </a:r>
          </a:p>
          <a:p>
            <a:pPr>
              <a:lnSpc>
                <a:spcPts val="4150"/>
              </a:lnSpc>
            </a:pPr>
            <a:r>
              <a:rPr lang="en-US" sz="2000" dirty="0">
                <a:latin typeface="Antique Olive" panose="020B0603020204030204"/>
                <a:ea typeface="Quicksand"/>
                <a:cs typeface="Quicksand"/>
                <a:sym typeface="Quicksand"/>
              </a:rPr>
              <a:t>alert( String(</a:t>
            </a:r>
            <a:r>
              <a:rPr lang="en-US" sz="2000" dirty="0" err="1">
                <a:latin typeface="Antique Olive" panose="020B0603020204030204"/>
                <a:ea typeface="Quicksand"/>
                <a:cs typeface="Quicksand"/>
                <a:sym typeface="Quicksand"/>
              </a:rPr>
              <a:t>arr</a:t>
            </a:r>
            <a:r>
              <a:rPr lang="en-US" sz="2000" dirty="0">
                <a:latin typeface="Antique Olive" panose="020B0603020204030204"/>
                <a:ea typeface="Quicksand"/>
                <a:cs typeface="Quicksand"/>
                <a:sym typeface="Quicksand"/>
              </a:rPr>
              <a:t>) === '1,2,3' ); // true</a:t>
            </a:r>
            <a:endParaRPr lang="en-US" sz="2000" dirty="0">
              <a:latin typeface="Antique Olive" panose="020B0603020204030204"/>
              <a:ea typeface="Quicksand"/>
              <a:cs typeface="Quicksand"/>
              <a:sym typeface="Quicksand"/>
              <a:hlinkClick r:id="rId2" tooltip="https://javascript.info/array#loop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loop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loop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loop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loop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loop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loop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loop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loop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loop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loop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loop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loop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loop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loop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loop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loop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loop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loop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loop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loops">
                <a:extLst>
                  <a:ext uri="{A12FA001-AC4F-418D-AE19-62706E023703}">
                    <ahyp:hlinkClr xmlns:ahyp="http://schemas.microsoft.com/office/drawing/2018/hyperlinkcolor" val="tx"/>
                  </a:ext>
                </a:extLst>
              </a:hlinkClick>
            </a:endParaRPr>
          </a:p>
        </p:txBody>
      </p:sp>
      <p:sp>
        <p:nvSpPr>
          <p:cNvPr id="3" name="TextBox 3"/>
          <p:cNvSpPr txBox="1"/>
          <p:nvPr/>
        </p:nvSpPr>
        <p:spPr>
          <a:xfrm>
            <a:off x="3973935" y="420266"/>
            <a:ext cx="7532265" cy="726033"/>
          </a:xfrm>
          <a:prstGeom prst="rect">
            <a:avLst/>
          </a:prstGeom>
        </p:spPr>
        <p:txBody>
          <a:bodyPr lIns="0" tIns="0" rIns="0" bIns="0" rtlCol="0" anchor="t">
            <a:spAutoFit/>
          </a:bodyPr>
          <a:lstStyle/>
          <a:p>
            <a:pPr algn="just">
              <a:lnSpc>
                <a:spcPts val="5973"/>
              </a:lnSpc>
              <a:spcBef>
                <a:spcPct val="0"/>
              </a:spcBef>
            </a:pPr>
            <a:r>
              <a:rPr lang="en-US" sz="4400" b="1" dirty="0">
                <a:latin typeface="Antique Olive"/>
                <a:ea typeface="Cormorant Garamond"/>
                <a:cs typeface="Cormorant Garamond"/>
                <a:sym typeface="Cormorant Garamond"/>
              </a:rPr>
              <a:t>Data types</a:t>
            </a:r>
            <a:endParaRPr lang="en-US" sz="4400" b="1" dirty="0">
              <a:latin typeface="Antique Olive"/>
              <a:ea typeface="Cormorant Garamond"/>
              <a:cs typeface="Cormorant Garamond"/>
              <a:sym typeface="Cormorant Garamond"/>
              <a:hlinkClick r:id="rId3" tooltip="https://javascript.info/variables#constant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314134213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54602" y="985421"/>
            <a:ext cx="11437398" cy="17216159"/>
          </a:xfrm>
          <a:prstGeom prst="rect">
            <a:avLst/>
          </a:prstGeom>
        </p:spPr>
        <p:txBody>
          <a:bodyPr wrap="square" lIns="0" tIns="0" rIns="0" bIns="0" rtlCol="0" anchor="t">
            <a:spAutoFit/>
          </a:bodyPr>
          <a:lstStyle/>
          <a:p>
            <a:pPr>
              <a:lnSpc>
                <a:spcPts val="4150"/>
              </a:lnSpc>
            </a:pPr>
            <a:r>
              <a:rPr lang="en-US" sz="2000" u="sng" dirty="0">
                <a:latin typeface="Antique Olive" panose="020B0603020204030204"/>
                <a:ea typeface="Quicksand"/>
                <a:cs typeface="Quicksand"/>
                <a:sym typeface="Quicksand"/>
              </a:rPr>
              <a:t>Arrays</a:t>
            </a:r>
          </a:p>
          <a:p>
            <a:pPr>
              <a:lnSpc>
                <a:spcPts val="4150"/>
              </a:lnSpc>
            </a:pPr>
            <a:r>
              <a:rPr lang="en-US" sz="2000" u="sng" dirty="0">
                <a:latin typeface="Antique Olive" panose="020B0603020204030204"/>
                <a:ea typeface="Quicksand"/>
                <a:cs typeface="Quicksand"/>
                <a:sym typeface="Quicksand"/>
              </a:rPr>
              <a:t>map</a:t>
            </a:r>
          </a:p>
          <a:p>
            <a:pPr>
              <a:lnSpc>
                <a:spcPts val="4150"/>
              </a:lnSpc>
            </a:pPr>
            <a:r>
              <a:rPr lang="en-US" sz="2000" dirty="0">
                <a:latin typeface="Antique Olive" panose="020B0603020204030204"/>
                <a:ea typeface="Quicksand"/>
                <a:cs typeface="Quicksand"/>
                <a:sym typeface="Quicksand"/>
              </a:rPr>
              <a:t>The </a:t>
            </a:r>
            <a:r>
              <a:rPr lang="en-US" sz="2000" u="sng" dirty="0" err="1">
                <a:latin typeface="Antique Olive" panose="020B0603020204030204"/>
                <a:ea typeface="Quicksand"/>
                <a:cs typeface="Quicksand"/>
                <a:sym typeface="Quicksand"/>
              </a:rPr>
              <a:t>arr.map</a:t>
            </a:r>
            <a:r>
              <a:rPr lang="en-US" sz="2000" dirty="0">
                <a:latin typeface="Antique Olive" panose="020B0603020204030204"/>
                <a:ea typeface="Quicksand"/>
                <a:cs typeface="Quicksand"/>
                <a:sym typeface="Quicksand"/>
              </a:rPr>
              <a:t> method is one of the most useful and often used.</a:t>
            </a:r>
          </a:p>
          <a:p>
            <a:pPr>
              <a:lnSpc>
                <a:spcPts val="4150"/>
              </a:lnSpc>
            </a:pPr>
            <a:r>
              <a:rPr lang="en-US" sz="2000" dirty="0">
                <a:latin typeface="Antique Olive" panose="020B0603020204030204"/>
                <a:ea typeface="Quicksand"/>
                <a:cs typeface="Quicksand"/>
                <a:sym typeface="Quicksand"/>
              </a:rPr>
              <a:t>It calls the function for each element of the array and returns the array of results.</a:t>
            </a:r>
          </a:p>
          <a:p>
            <a:pPr>
              <a:lnSpc>
                <a:spcPts val="4150"/>
              </a:lnSpc>
            </a:pPr>
            <a:r>
              <a:rPr lang="en-US" sz="2000" dirty="0">
                <a:latin typeface="Antique Olive" panose="020B0603020204030204"/>
                <a:ea typeface="Quicksand"/>
                <a:cs typeface="Quicksand"/>
                <a:sym typeface="Quicksand"/>
              </a:rPr>
              <a:t>For instance, here we transform each element into its length:</a:t>
            </a:r>
          </a:p>
          <a:p>
            <a:pPr>
              <a:lnSpc>
                <a:spcPts val="4150"/>
              </a:lnSpc>
            </a:pPr>
            <a:r>
              <a:rPr lang="en-US" sz="2000" dirty="0">
                <a:latin typeface="Antique Olive" panose="020B0603020204030204"/>
                <a:ea typeface="Quicksand"/>
                <a:cs typeface="Quicksand"/>
                <a:sym typeface="Quicksand"/>
              </a:rPr>
              <a:t>let lengths = ["Bilbo", "Gandalf", "Nazgul"].map(item =&gt; </a:t>
            </a:r>
            <a:r>
              <a:rPr lang="en-US" sz="2000" dirty="0" err="1">
                <a:latin typeface="Antique Olive" panose="020B0603020204030204"/>
                <a:ea typeface="Quicksand"/>
                <a:cs typeface="Quicksand"/>
                <a:sym typeface="Quicksand"/>
              </a:rPr>
              <a:t>item.length</a:t>
            </a:r>
            <a:r>
              <a:rPr lang="en-US" sz="2000" dirty="0">
                <a:latin typeface="Antique Olive" panose="020B0603020204030204"/>
                <a:ea typeface="Quicksand"/>
                <a:cs typeface="Quicksand"/>
                <a:sym typeface="Quicksand"/>
              </a:rPr>
              <a:t>);</a:t>
            </a:r>
          </a:p>
          <a:p>
            <a:pPr>
              <a:lnSpc>
                <a:spcPts val="4150"/>
              </a:lnSpc>
            </a:pPr>
            <a:r>
              <a:rPr lang="en-US" sz="2000" dirty="0">
                <a:latin typeface="Antique Olive" panose="020B0603020204030204"/>
                <a:ea typeface="Quicksand"/>
                <a:cs typeface="Quicksand"/>
                <a:sym typeface="Quicksand"/>
              </a:rPr>
              <a:t>alert(lengths); // 5,7,6</a:t>
            </a:r>
          </a:p>
          <a:p>
            <a:pPr>
              <a:lnSpc>
                <a:spcPts val="4150"/>
              </a:lnSpc>
            </a:pPr>
            <a:r>
              <a:rPr lang="en-US" sz="2000" u="sng" dirty="0">
                <a:latin typeface="Antique Olive" panose="020B0603020204030204"/>
                <a:ea typeface="Quicksand"/>
                <a:cs typeface="Quicksand"/>
                <a:sym typeface="Quicksand"/>
              </a:rPr>
              <a:t>sort(</a:t>
            </a:r>
            <a:r>
              <a:rPr lang="en-US" sz="2000" u="sng" dirty="0" err="1">
                <a:latin typeface="Antique Olive" panose="020B0603020204030204"/>
                <a:ea typeface="Quicksand"/>
                <a:cs typeface="Quicksand"/>
                <a:sym typeface="Quicksand"/>
              </a:rPr>
              <a:t>fn</a:t>
            </a:r>
            <a:r>
              <a:rPr lang="en-US" sz="2000" u="sng" dirty="0">
                <a:latin typeface="Antique Olive" panose="020B0603020204030204"/>
                <a:ea typeface="Quicksand"/>
                <a:cs typeface="Quicksand"/>
                <a:sym typeface="Quicksand"/>
              </a:rPr>
              <a:t>)</a:t>
            </a:r>
          </a:p>
          <a:p>
            <a:pPr>
              <a:lnSpc>
                <a:spcPts val="4150"/>
              </a:lnSpc>
            </a:pPr>
            <a:r>
              <a:rPr lang="en-US" sz="2000" dirty="0">
                <a:latin typeface="Antique Olive" panose="020B0603020204030204"/>
                <a:ea typeface="Quicksand"/>
                <a:cs typeface="Quicksand"/>
                <a:sym typeface="Quicksand"/>
              </a:rPr>
              <a:t>The call to </a:t>
            </a:r>
            <a:r>
              <a:rPr lang="en-US" sz="2000" u="sng" dirty="0" err="1">
                <a:latin typeface="Antique Olive" panose="020B0603020204030204"/>
                <a:ea typeface="Quicksand"/>
                <a:cs typeface="Quicksand"/>
                <a:sym typeface="Quicksand"/>
              </a:rPr>
              <a:t>arr.sort</a:t>
            </a:r>
            <a:r>
              <a:rPr lang="en-US" sz="2000" u="sng" dirty="0">
                <a:latin typeface="Antique Olive" panose="020B0603020204030204"/>
                <a:ea typeface="Quicksand"/>
                <a:cs typeface="Quicksand"/>
                <a:sym typeface="Quicksand"/>
              </a:rPr>
              <a:t>()</a:t>
            </a:r>
            <a:r>
              <a:rPr lang="en-US" sz="2000" dirty="0">
                <a:latin typeface="Antique Olive" panose="020B0603020204030204"/>
                <a:ea typeface="Quicksand"/>
                <a:cs typeface="Quicksand"/>
                <a:sym typeface="Quicksand"/>
              </a:rPr>
              <a:t> sorts the array in place, changing its element order.</a:t>
            </a:r>
          </a:p>
          <a:p>
            <a:pPr>
              <a:lnSpc>
                <a:spcPts val="4150"/>
              </a:lnSpc>
            </a:pPr>
            <a:r>
              <a:rPr lang="en-US" sz="2000" dirty="0">
                <a:latin typeface="Antique Olive" panose="020B0603020204030204"/>
                <a:ea typeface="Quicksand"/>
                <a:cs typeface="Quicksand"/>
                <a:sym typeface="Quicksand"/>
              </a:rPr>
              <a:t>let </a:t>
            </a:r>
            <a:r>
              <a:rPr lang="en-US" sz="2000" dirty="0" err="1">
                <a:latin typeface="Antique Olive" panose="020B0603020204030204"/>
                <a:ea typeface="Quicksand"/>
                <a:cs typeface="Quicksand"/>
                <a:sym typeface="Quicksand"/>
              </a:rPr>
              <a:t>arr</a:t>
            </a:r>
            <a:r>
              <a:rPr lang="en-US" sz="2000" dirty="0">
                <a:latin typeface="Antique Olive" panose="020B0603020204030204"/>
                <a:ea typeface="Quicksand"/>
                <a:cs typeface="Quicksand"/>
                <a:sym typeface="Quicksand"/>
              </a:rPr>
              <a:t> = [ 1, 15 ,2];// the method reorders the content of </a:t>
            </a:r>
            <a:r>
              <a:rPr lang="en-US" sz="2000" dirty="0" err="1">
                <a:latin typeface="Antique Olive" panose="020B0603020204030204"/>
                <a:ea typeface="Quicksand"/>
                <a:cs typeface="Quicksand"/>
                <a:sym typeface="Quicksand"/>
              </a:rPr>
              <a:t>arr</a:t>
            </a:r>
            <a:endParaRPr lang="en-US" sz="2000" dirty="0">
              <a:latin typeface="Antique Olive" panose="020B0603020204030204"/>
              <a:ea typeface="Quicksand"/>
              <a:cs typeface="Quicksand"/>
              <a:sym typeface="Quicksand"/>
            </a:endParaRPr>
          </a:p>
          <a:p>
            <a:pPr>
              <a:lnSpc>
                <a:spcPts val="4150"/>
              </a:lnSpc>
            </a:pPr>
            <a:r>
              <a:rPr lang="en-US" sz="2000" dirty="0" err="1">
                <a:latin typeface="Antique Olive" panose="020B0603020204030204"/>
                <a:ea typeface="Quicksand"/>
                <a:cs typeface="Quicksand"/>
                <a:sym typeface="Quicksand"/>
              </a:rPr>
              <a:t>arr.sort</a:t>
            </a:r>
            <a:r>
              <a:rPr lang="en-US" sz="2000" dirty="0">
                <a:latin typeface="Antique Olive" panose="020B0603020204030204"/>
                <a:ea typeface="Quicksand"/>
                <a:cs typeface="Quicksand"/>
                <a:sym typeface="Quicksand"/>
              </a:rPr>
              <a:t>();             alert( </a:t>
            </a:r>
            <a:r>
              <a:rPr lang="en-US" sz="2000" dirty="0" err="1">
                <a:latin typeface="Antique Olive" panose="020B0603020204030204"/>
                <a:ea typeface="Quicksand"/>
                <a:cs typeface="Quicksand"/>
                <a:sym typeface="Quicksand"/>
              </a:rPr>
              <a:t>arr</a:t>
            </a:r>
            <a:r>
              <a:rPr lang="en-US" sz="2000" dirty="0">
                <a:latin typeface="Antique Olive" panose="020B0603020204030204"/>
                <a:ea typeface="Quicksand"/>
                <a:cs typeface="Quicksand"/>
                <a:sym typeface="Quicksand"/>
              </a:rPr>
              <a:t> );  // 1, 2,15</a:t>
            </a: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p:txBody>
      </p:sp>
      <p:sp>
        <p:nvSpPr>
          <p:cNvPr id="3" name="TextBox 3"/>
          <p:cNvSpPr txBox="1"/>
          <p:nvPr/>
        </p:nvSpPr>
        <p:spPr>
          <a:xfrm>
            <a:off x="3973935" y="420266"/>
            <a:ext cx="7532265" cy="726033"/>
          </a:xfrm>
          <a:prstGeom prst="rect">
            <a:avLst/>
          </a:prstGeom>
        </p:spPr>
        <p:txBody>
          <a:bodyPr lIns="0" tIns="0" rIns="0" bIns="0" rtlCol="0" anchor="t">
            <a:spAutoFit/>
          </a:bodyPr>
          <a:lstStyle/>
          <a:p>
            <a:pPr algn="just">
              <a:lnSpc>
                <a:spcPts val="5973"/>
              </a:lnSpc>
              <a:spcBef>
                <a:spcPct val="0"/>
              </a:spcBef>
            </a:pPr>
            <a:r>
              <a:rPr lang="en-US" sz="4400" b="1" dirty="0">
                <a:latin typeface="Antique Olive"/>
                <a:ea typeface="Cormorant Garamond"/>
                <a:cs typeface="Cormorant Garamond"/>
                <a:sym typeface="Cormorant Garamond"/>
              </a:rPr>
              <a:t>Data types</a:t>
            </a:r>
            <a:endParaRPr lang="en-US" sz="4400" b="1" dirty="0">
              <a:latin typeface="Antique Olive"/>
              <a:ea typeface="Cormorant Garamond"/>
              <a:cs typeface="Cormorant Garamond"/>
              <a:sym typeface="Cormorant Garamond"/>
              <a:hlinkClick r:id="rId2" tooltip="https://javascript.info/variables#constant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276671819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950990"/>
            <a:ext cx="10073936" cy="17710746"/>
          </a:xfrm>
          <a:prstGeom prst="rect">
            <a:avLst/>
          </a:prstGeom>
        </p:spPr>
        <p:txBody>
          <a:bodyPr wrap="square" lIns="0" tIns="0" rIns="0" bIns="0" rtlCol="0" anchor="t">
            <a:spAutoFit/>
          </a:bodyPr>
          <a:lstStyle/>
          <a:p>
            <a:pPr>
              <a:lnSpc>
                <a:spcPts val="4150"/>
              </a:lnSpc>
            </a:pPr>
            <a:r>
              <a:rPr lang="en-US" sz="2000" u="sng" dirty="0">
                <a:latin typeface="Antique Olive" panose="020B0603020204030204"/>
                <a:ea typeface="Quicksand"/>
                <a:cs typeface="Quicksand"/>
                <a:sym typeface="Quicksand"/>
              </a:rPr>
              <a:t>Arrays</a:t>
            </a:r>
          </a:p>
          <a:p>
            <a:pPr>
              <a:lnSpc>
                <a:spcPts val="4150"/>
              </a:lnSpc>
            </a:pPr>
            <a:r>
              <a:rPr lang="en-US" sz="2000" u="sng" dirty="0">
                <a:latin typeface="Antique Olive" panose="020B0603020204030204"/>
                <a:ea typeface="Quicksand"/>
                <a:cs typeface="Quicksand"/>
                <a:sym typeface="Quicksand"/>
              </a:rPr>
              <a:t>split and join</a:t>
            </a:r>
          </a:p>
          <a:p>
            <a:pPr>
              <a:lnSpc>
                <a:spcPts val="4150"/>
              </a:lnSpc>
            </a:pPr>
            <a:r>
              <a:rPr lang="en-US" sz="2000" dirty="0">
                <a:latin typeface="Antique Olive" panose="020B0603020204030204"/>
                <a:ea typeface="Quicksand"/>
                <a:cs typeface="Quicksand"/>
                <a:sym typeface="Quicksand"/>
              </a:rPr>
              <a:t>Here’s the situation from real life. We are writing a messaging app, and the person enters the comma-delimited list of receivers: John, Pete, Mary. But for us an array of names would be much more comfortable than a single string. How to get it?</a:t>
            </a:r>
          </a:p>
          <a:p>
            <a:pPr>
              <a:lnSpc>
                <a:spcPts val="4150"/>
              </a:lnSpc>
            </a:pPr>
            <a:r>
              <a:rPr lang="en-US" sz="2000" dirty="0">
                <a:latin typeface="Antique Olive" panose="020B0603020204030204"/>
                <a:ea typeface="Quicksand"/>
                <a:cs typeface="Quicksand"/>
                <a:sym typeface="Quicksand"/>
              </a:rPr>
              <a:t>The </a:t>
            </a:r>
            <a:r>
              <a:rPr lang="en-US" sz="2000" dirty="0" err="1">
                <a:latin typeface="Antique Olive" panose="020B0603020204030204"/>
                <a:ea typeface="Quicksand"/>
                <a:cs typeface="Quicksand"/>
                <a:sym typeface="Quicksand"/>
              </a:rPr>
              <a:t>str.split</a:t>
            </a:r>
            <a:r>
              <a:rPr lang="en-US" sz="2000" dirty="0">
                <a:latin typeface="Antique Olive" panose="020B0603020204030204"/>
                <a:ea typeface="Quicksand"/>
                <a:cs typeface="Quicksand"/>
                <a:sym typeface="Quicksand"/>
              </a:rPr>
              <a:t>(</a:t>
            </a:r>
            <a:r>
              <a:rPr lang="en-US" sz="2000" dirty="0" err="1">
                <a:latin typeface="Antique Olive" panose="020B0603020204030204"/>
                <a:ea typeface="Quicksand"/>
                <a:cs typeface="Quicksand"/>
                <a:sym typeface="Quicksand"/>
              </a:rPr>
              <a:t>delim</a:t>
            </a:r>
            <a:r>
              <a:rPr lang="en-US" sz="2000" dirty="0">
                <a:latin typeface="Antique Olive" panose="020B0603020204030204"/>
                <a:ea typeface="Quicksand"/>
                <a:cs typeface="Quicksand"/>
                <a:sym typeface="Quicksand"/>
              </a:rPr>
              <a:t>) method does exactly that. It splits the string into an array by the given delimiter </a:t>
            </a:r>
            <a:r>
              <a:rPr lang="en-US" sz="2000" dirty="0" err="1">
                <a:latin typeface="Antique Olive" panose="020B0603020204030204"/>
                <a:ea typeface="Quicksand"/>
                <a:cs typeface="Quicksand"/>
                <a:sym typeface="Quicksand"/>
              </a:rPr>
              <a:t>delim.In</a:t>
            </a:r>
            <a:r>
              <a:rPr lang="en-US" sz="2000" dirty="0">
                <a:latin typeface="Antique Olive" panose="020B0603020204030204"/>
                <a:ea typeface="Quicksand"/>
                <a:cs typeface="Quicksand"/>
                <a:sym typeface="Quicksand"/>
              </a:rPr>
              <a:t> the example below, we split by a comma:</a:t>
            </a:r>
          </a:p>
          <a:p>
            <a:pPr>
              <a:lnSpc>
                <a:spcPts val="4150"/>
              </a:lnSpc>
            </a:pPr>
            <a:r>
              <a:rPr lang="en-US" sz="2000" dirty="0">
                <a:latin typeface="Antique Olive" panose="020B0603020204030204"/>
                <a:ea typeface="Quicksand"/>
                <a:cs typeface="Quicksand"/>
                <a:sym typeface="Quicksand"/>
              </a:rPr>
              <a:t>let names = 'Bilbo, Gandalf, Nazgul';</a:t>
            </a:r>
          </a:p>
          <a:p>
            <a:pPr>
              <a:lnSpc>
                <a:spcPts val="4150"/>
              </a:lnSpc>
            </a:pPr>
            <a:r>
              <a:rPr lang="en-US" sz="2000" dirty="0">
                <a:latin typeface="Antique Olive" panose="020B0603020204030204"/>
                <a:ea typeface="Quicksand"/>
                <a:cs typeface="Quicksand"/>
                <a:sym typeface="Quicksand"/>
              </a:rPr>
              <a:t>let </a:t>
            </a:r>
            <a:r>
              <a:rPr lang="en-US" sz="2000" dirty="0" err="1">
                <a:latin typeface="Antique Olive" panose="020B0603020204030204"/>
                <a:ea typeface="Quicksand"/>
                <a:cs typeface="Quicksand"/>
                <a:sym typeface="Quicksand"/>
              </a:rPr>
              <a:t>arr</a:t>
            </a:r>
            <a:r>
              <a:rPr lang="en-US" sz="2000" dirty="0">
                <a:latin typeface="Antique Olive" panose="020B0603020204030204"/>
                <a:ea typeface="Quicksand"/>
                <a:cs typeface="Quicksand"/>
                <a:sym typeface="Quicksand"/>
              </a:rPr>
              <a:t> = </a:t>
            </a:r>
            <a:r>
              <a:rPr lang="en-US" sz="2000" dirty="0" err="1">
                <a:latin typeface="Antique Olive" panose="020B0603020204030204"/>
                <a:ea typeface="Quicksand"/>
                <a:cs typeface="Quicksand"/>
                <a:sym typeface="Quicksand"/>
              </a:rPr>
              <a:t>names.split</a:t>
            </a:r>
            <a:r>
              <a:rPr lang="en-US" sz="2000" dirty="0">
                <a:latin typeface="Antique Olive" panose="020B0603020204030204"/>
                <a:ea typeface="Quicksand"/>
                <a:cs typeface="Quicksand"/>
                <a:sym typeface="Quicksand"/>
              </a:rPr>
              <a:t>(', ');</a:t>
            </a:r>
          </a:p>
          <a:p>
            <a:pPr>
              <a:lnSpc>
                <a:spcPts val="4150"/>
              </a:lnSpc>
            </a:pPr>
            <a:r>
              <a:rPr lang="en-US" sz="2000" dirty="0">
                <a:latin typeface="Antique Olive" panose="020B0603020204030204"/>
                <a:ea typeface="Quicksand"/>
                <a:cs typeface="Quicksand"/>
                <a:sym typeface="Quicksand"/>
              </a:rPr>
              <a:t>for (let name of </a:t>
            </a:r>
            <a:r>
              <a:rPr lang="en-US" sz="2000" dirty="0" err="1">
                <a:latin typeface="Antique Olive" panose="020B0603020204030204"/>
                <a:ea typeface="Quicksand"/>
                <a:cs typeface="Quicksand"/>
                <a:sym typeface="Quicksand"/>
              </a:rPr>
              <a:t>arr</a:t>
            </a:r>
            <a:r>
              <a:rPr lang="en-US" sz="2000" dirty="0">
                <a:latin typeface="Antique Olive" panose="020B0603020204030204"/>
                <a:ea typeface="Quicksand"/>
                <a:cs typeface="Quicksand"/>
                <a:sym typeface="Quicksand"/>
              </a:rPr>
              <a:t>) </a:t>
            </a:r>
          </a:p>
          <a:p>
            <a:pPr>
              <a:lnSpc>
                <a:spcPts val="4150"/>
              </a:lnSpc>
            </a:pPr>
            <a:r>
              <a:rPr lang="en-US" sz="2000" dirty="0">
                <a:latin typeface="Antique Olive" panose="020B0603020204030204"/>
                <a:ea typeface="Quicksand"/>
                <a:cs typeface="Quicksand"/>
                <a:sym typeface="Quicksand"/>
              </a:rPr>
              <a:t>{alert( `A message to ${name}.` ); // A message to Bilbo  (and other names)}</a:t>
            </a:r>
            <a:endParaRPr lang="en-US" sz="2000" dirty="0">
              <a:latin typeface="Antique Olive" panose="020B0603020204030204"/>
              <a:ea typeface="Quicksand"/>
              <a:cs typeface="Quicksand"/>
              <a:sym typeface="Quicksand"/>
              <a:hlinkClick r:id="rId2" tooltip="https://javascript.info/array-methods#map">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methods#map">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methods#map">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methods#map">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methods#map">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methods#map">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methods#map">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methods#map">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methods#map">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methods#map">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methods#map">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methods#map">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methods#map">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methods#map">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methods#map">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methods#map">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methods#map">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methods#map">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methods#map">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methods#map">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methods#map">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methods#map">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methods#map">
                <a:extLst>
                  <a:ext uri="{A12FA001-AC4F-418D-AE19-62706E023703}">
                    <ahyp:hlinkClr xmlns:ahyp="http://schemas.microsoft.com/office/drawing/2018/hyperlinkcolor" val="tx"/>
                  </a:ext>
                </a:extLst>
              </a:hlinkClick>
            </a:endParaRPr>
          </a:p>
        </p:txBody>
      </p:sp>
      <p:sp>
        <p:nvSpPr>
          <p:cNvPr id="3" name="TextBox 3"/>
          <p:cNvSpPr txBox="1"/>
          <p:nvPr/>
        </p:nvSpPr>
        <p:spPr>
          <a:xfrm>
            <a:off x="3973935" y="420266"/>
            <a:ext cx="7532265" cy="726033"/>
          </a:xfrm>
          <a:prstGeom prst="rect">
            <a:avLst/>
          </a:prstGeom>
        </p:spPr>
        <p:txBody>
          <a:bodyPr lIns="0" tIns="0" rIns="0" bIns="0" rtlCol="0" anchor="t">
            <a:spAutoFit/>
          </a:bodyPr>
          <a:lstStyle/>
          <a:p>
            <a:pPr algn="just">
              <a:lnSpc>
                <a:spcPts val="5973"/>
              </a:lnSpc>
              <a:spcBef>
                <a:spcPct val="0"/>
              </a:spcBef>
            </a:pPr>
            <a:r>
              <a:rPr lang="en-US" sz="4400" b="1" dirty="0">
                <a:latin typeface="Antique Olive"/>
                <a:ea typeface="Cormorant Garamond"/>
                <a:cs typeface="Cormorant Garamond"/>
                <a:sym typeface="Cormorant Garamond"/>
              </a:rPr>
              <a:t>Data types</a:t>
            </a:r>
            <a:endParaRPr lang="en-US" sz="4400" b="1" dirty="0">
              <a:latin typeface="Antique Olive"/>
              <a:ea typeface="Cormorant Garamond"/>
              <a:cs typeface="Cormorant Garamond"/>
              <a:sym typeface="Cormorant Garamond"/>
              <a:hlinkClick r:id="rId3" tooltip="https://javascript.info/variables#constant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311622583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1538" y="1029809"/>
            <a:ext cx="11650462" cy="16633161"/>
          </a:xfrm>
          <a:prstGeom prst="rect">
            <a:avLst/>
          </a:prstGeom>
        </p:spPr>
        <p:txBody>
          <a:bodyPr wrap="square" lIns="0" tIns="0" rIns="0" bIns="0" rtlCol="0" anchor="t">
            <a:spAutoFit/>
          </a:bodyPr>
          <a:lstStyle/>
          <a:p>
            <a:pPr>
              <a:lnSpc>
                <a:spcPts val="4150"/>
              </a:lnSpc>
            </a:pPr>
            <a:r>
              <a:rPr lang="en-US" sz="2000" u="sng" dirty="0">
                <a:latin typeface="Antique Olive" panose="020B0603020204030204"/>
                <a:ea typeface="Quicksand"/>
                <a:cs typeface="Quicksand"/>
                <a:sym typeface="Quicksand"/>
              </a:rPr>
              <a:t>Arrays</a:t>
            </a:r>
          </a:p>
          <a:p>
            <a:pPr>
              <a:lnSpc>
                <a:spcPts val="4150"/>
              </a:lnSpc>
            </a:pPr>
            <a:r>
              <a:rPr lang="en-US" sz="2000" u="sng" dirty="0">
                <a:latin typeface="Antique Olive" panose="020B0603020204030204"/>
                <a:ea typeface="Quicksand"/>
                <a:cs typeface="Quicksand"/>
                <a:sym typeface="Quicksand"/>
              </a:rPr>
              <a:t>split and join</a:t>
            </a:r>
          </a:p>
          <a:p>
            <a:pPr>
              <a:lnSpc>
                <a:spcPts val="4150"/>
              </a:lnSpc>
            </a:pPr>
            <a:r>
              <a:rPr lang="en-US" sz="2000" dirty="0">
                <a:latin typeface="Antique Olive" panose="020B0603020204030204"/>
                <a:ea typeface="Quicksand"/>
                <a:cs typeface="Quicksand"/>
                <a:sym typeface="Quicksand"/>
              </a:rPr>
              <a:t>The call </a:t>
            </a:r>
            <a:r>
              <a:rPr lang="en-US" sz="2000" u="sng" dirty="0" err="1">
                <a:latin typeface="Antique Olive" panose="020B0603020204030204"/>
                <a:ea typeface="Quicksand"/>
                <a:cs typeface="Quicksand"/>
                <a:sym typeface="Quicksand"/>
              </a:rPr>
              <a:t>arr.join</a:t>
            </a:r>
            <a:r>
              <a:rPr lang="en-US" sz="2000" u="sng" dirty="0">
                <a:latin typeface="Antique Olive" panose="020B0603020204030204"/>
                <a:ea typeface="Quicksand"/>
                <a:cs typeface="Quicksand"/>
                <a:sym typeface="Quicksand"/>
              </a:rPr>
              <a:t>(glue)</a:t>
            </a:r>
            <a:r>
              <a:rPr lang="en-US" sz="2000" dirty="0">
                <a:latin typeface="Antique Olive" panose="020B0603020204030204"/>
                <a:ea typeface="Quicksand"/>
                <a:cs typeface="Quicksand"/>
                <a:sym typeface="Quicksand"/>
              </a:rPr>
              <a:t> does the reverse to split. It creates a string of </a:t>
            </a:r>
            <a:r>
              <a:rPr lang="en-US" sz="2000" dirty="0" err="1">
                <a:latin typeface="Antique Olive" panose="020B0603020204030204"/>
                <a:ea typeface="Quicksand"/>
                <a:cs typeface="Quicksand"/>
                <a:sym typeface="Quicksand"/>
              </a:rPr>
              <a:t>arr</a:t>
            </a:r>
            <a:r>
              <a:rPr lang="en-US" sz="2000" dirty="0">
                <a:latin typeface="Antique Olive" panose="020B0603020204030204"/>
                <a:ea typeface="Quicksand"/>
                <a:cs typeface="Quicksand"/>
                <a:sym typeface="Quicksand"/>
              </a:rPr>
              <a:t> items joined by glue between them.</a:t>
            </a:r>
          </a:p>
          <a:p>
            <a:pPr>
              <a:lnSpc>
                <a:spcPts val="4150"/>
              </a:lnSpc>
            </a:pPr>
            <a:r>
              <a:rPr lang="en-US" sz="2000" dirty="0">
                <a:latin typeface="Antique Olive" panose="020B0603020204030204"/>
                <a:ea typeface="Quicksand"/>
                <a:cs typeface="Quicksand"/>
                <a:sym typeface="Quicksand"/>
              </a:rPr>
              <a:t>For instance:</a:t>
            </a:r>
          </a:p>
          <a:p>
            <a:pPr>
              <a:lnSpc>
                <a:spcPts val="4150"/>
              </a:lnSpc>
            </a:pPr>
            <a:r>
              <a:rPr lang="en-US" sz="2000" dirty="0">
                <a:latin typeface="Antique Olive" panose="020B0603020204030204"/>
                <a:ea typeface="Quicksand"/>
                <a:cs typeface="Quicksand"/>
                <a:sym typeface="Quicksand"/>
              </a:rPr>
              <a:t>let </a:t>
            </a:r>
            <a:r>
              <a:rPr lang="en-US" sz="2000" dirty="0" err="1">
                <a:latin typeface="Antique Olive" panose="020B0603020204030204"/>
                <a:ea typeface="Quicksand"/>
                <a:cs typeface="Quicksand"/>
                <a:sym typeface="Quicksand"/>
              </a:rPr>
              <a:t>arr</a:t>
            </a:r>
            <a:r>
              <a:rPr lang="en-US" sz="2000" dirty="0">
                <a:latin typeface="Antique Olive" panose="020B0603020204030204"/>
                <a:ea typeface="Quicksand"/>
                <a:cs typeface="Quicksand"/>
                <a:sym typeface="Quicksand"/>
              </a:rPr>
              <a:t> = ['Bilbo', 'Gandalf', 'Nazgul'];</a:t>
            </a:r>
          </a:p>
          <a:p>
            <a:pPr>
              <a:lnSpc>
                <a:spcPts val="4150"/>
              </a:lnSpc>
            </a:pPr>
            <a:r>
              <a:rPr lang="en-US" sz="2000" dirty="0">
                <a:latin typeface="Antique Olive" panose="020B0603020204030204"/>
                <a:ea typeface="Quicksand"/>
                <a:cs typeface="Quicksand"/>
                <a:sym typeface="Quicksand"/>
              </a:rPr>
              <a:t>let str = </a:t>
            </a:r>
            <a:r>
              <a:rPr lang="en-US" sz="2000" dirty="0" err="1">
                <a:latin typeface="Antique Olive" panose="020B0603020204030204"/>
                <a:ea typeface="Quicksand"/>
                <a:cs typeface="Quicksand"/>
                <a:sym typeface="Quicksand"/>
              </a:rPr>
              <a:t>arr.join</a:t>
            </a:r>
            <a:r>
              <a:rPr lang="en-US" sz="2000" dirty="0">
                <a:latin typeface="Antique Olive" panose="020B0603020204030204"/>
                <a:ea typeface="Quicksand"/>
                <a:cs typeface="Quicksand"/>
                <a:sym typeface="Quicksand"/>
              </a:rPr>
              <a:t>(';'); // glue the array into a string using ;</a:t>
            </a:r>
          </a:p>
          <a:p>
            <a:pPr>
              <a:lnSpc>
                <a:spcPts val="4150"/>
              </a:lnSpc>
            </a:pPr>
            <a:r>
              <a:rPr lang="en-US" sz="2000" dirty="0">
                <a:latin typeface="Antique Olive" panose="020B0603020204030204"/>
                <a:ea typeface="Quicksand"/>
                <a:cs typeface="Quicksand"/>
                <a:sym typeface="Quicksand"/>
              </a:rPr>
              <a:t>alert( str ); // </a:t>
            </a:r>
            <a:r>
              <a:rPr lang="en-US" sz="2000" dirty="0" err="1">
                <a:latin typeface="Antique Olive" panose="020B0603020204030204"/>
                <a:ea typeface="Quicksand"/>
                <a:cs typeface="Quicksand"/>
                <a:sym typeface="Quicksand"/>
              </a:rPr>
              <a:t>Bilbo;Gandalf;Nazgul</a:t>
            </a:r>
            <a:endParaRPr lang="en-US" sz="2000" dirty="0">
              <a:latin typeface="Antique Olive" panose="020B0603020204030204"/>
              <a:ea typeface="Quicksand"/>
              <a:cs typeface="Quicksand"/>
              <a:sym typeface="Quicksand"/>
              <a:hlinkClick r:id="rId2" tooltip="https://javascript.info/array-methods#map">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methods#map">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methods#map">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methods#map">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methods#map">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methods#map">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methods#map">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methods#map">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methods#map">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methods#map">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methods#map">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methods#map">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methods#map">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methods#map">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methods#map">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methods#map">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methods#map">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methods#map">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methods#map">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methods#map">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methods#map">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methods#map">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methods#map">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array-methods#map">
                <a:extLst>
                  <a:ext uri="{A12FA001-AC4F-418D-AE19-62706E023703}">
                    <ahyp:hlinkClr xmlns:ahyp="http://schemas.microsoft.com/office/drawing/2018/hyperlinkcolor" val="tx"/>
                  </a:ext>
                </a:extLst>
              </a:hlinkClick>
            </a:endParaRPr>
          </a:p>
        </p:txBody>
      </p:sp>
      <p:sp>
        <p:nvSpPr>
          <p:cNvPr id="3" name="TextBox 3"/>
          <p:cNvSpPr txBox="1"/>
          <p:nvPr/>
        </p:nvSpPr>
        <p:spPr>
          <a:xfrm>
            <a:off x="3973935" y="420266"/>
            <a:ext cx="7532265" cy="726033"/>
          </a:xfrm>
          <a:prstGeom prst="rect">
            <a:avLst/>
          </a:prstGeom>
        </p:spPr>
        <p:txBody>
          <a:bodyPr lIns="0" tIns="0" rIns="0" bIns="0" rtlCol="0" anchor="t">
            <a:spAutoFit/>
          </a:bodyPr>
          <a:lstStyle/>
          <a:p>
            <a:pPr algn="just">
              <a:lnSpc>
                <a:spcPts val="5973"/>
              </a:lnSpc>
              <a:spcBef>
                <a:spcPct val="0"/>
              </a:spcBef>
            </a:pPr>
            <a:r>
              <a:rPr lang="en-US" sz="4400" b="1" dirty="0">
                <a:latin typeface="Antique Olive"/>
                <a:ea typeface="Cormorant Garamond"/>
                <a:cs typeface="Cormorant Garamond"/>
                <a:sym typeface="Cormorant Garamond"/>
              </a:rPr>
              <a:t>Data types</a:t>
            </a:r>
            <a:endParaRPr lang="en-US" sz="4400" b="1" dirty="0">
              <a:latin typeface="Antique Olive"/>
              <a:ea typeface="Cormorant Garamond"/>
              <a:cs typeface="Cormorant Garamond"/>
              <a:sym typeface="Cormorant Garamond"/>
              <a:hlinkClick r:id="rId3" tooltip="https://javascript.info/variables#constant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169843867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77122" y="1138501"/>
            <a:ext cx="11813406" cy="3706912"/>
          </a:xfrm>
          <a:prstGeom prst="rect">
            <a:avLst/>
          </a:prstGeom>
        </p:spPr>
        <p:txBody>
          <a:bodyPr lIns="0" tIns="0" rIns="0" bIns="0" rtlCol="0" anchor="t">
            <a:spAutoFit/>
          </a:bodyPr>
          <a:lstStyle/>
          <a:p>
            <a:pPr>
              <a:lnSpc>
                <a:spcPts val="4150"/>
              </a:lnSpc>
            </a:pPr>
            <a:r>
              <a:rPr lang="en-US" sz="2000" u="sng" dirty="0">
                <a:latin typeface="Antique Olive" panose="020B0603020204030204"/>
                <a:ea typeface="Quicksand"/>
                <a:cs typeface="Quicksand"/>
                <a:sym typeface="Quicksand"/>
              </a:rPr>
              <a:t>Boolean (logical type)</a:t>
            </a:r>
          </a:p>
          <a:p>
            <a:pPr>
              <a:lnSpc>
                <a:spcPts val="4150"/>
              </a:lnSpc>
            </a:pPr>
            <a:r>
              <a:rPr lang="en-US" sz="2000" dirty="0">
                <a:latin typeface="Antique Olive" panose="020B0603020204030204"/>
                <a:ea typeface="Quicksand"/>
                <a:cs typeface="Quicksand"/>
                <a:sym typeface="Quicksand"/>
              </a:rPr>
              <a:t>The </a:t>
            </a:r>
            <a:r>
              <a:rPr lang="en-US" sz="2000" dirty="0" err="1">
                <a:latin typeface="Antique Olive" panose="020B0603020204030204"/>
                <a:ea typeface="Quicksand"/>
                <a:cs typeface="Quicksand"/>
                <a:sym typeface="Quicksand"/>
              </a:rPr>
              <a:t>boolean</a:t>
            </a:r>
            <a:r>
              <a:rPr lang="en-US" sz="2000" dirty="0">
                <a:latin typeface="Antique Olive" panose="020B0603020204030204"/>
                <a:ea typeface="Quicksand"/>
                <a:cs typeface="Quicksand"/>
                <a:sym typeface="Quicksand"/>
              </a:rPr>
              <a:t> type has only two values: true and false.</a:t>
            </a:r>
          </a:p>
          <a:p>
            <a:pPr>
              <a:lnSpc>
                <a:spcPts val="4150"/>
              </a:lnSpc>
            </a:pPr>
            <a:r>
              <a:rPr lang="en-US" sz="2000" dirty="0">
                <a:latin typeface="Antique Olive" panose="020B0603020204030204"/>
                <a:ea typeface="Quicksand"/>
                <a:cs typeface="Quicksand"/>
                <a:sym typeface="Quicksand"/>
              </a:rPr>
              <a:t>This type is commonly used to store yes/no values: true means “yes, correct”, and false means “no, incorrect”.</a:t>
            </a:r>
          </a:p>
          <a:p>
            <a:pPr>
              <a:lnSpc>
                <a:spcPts val="4150"/>
              </a:lnSpc>
            </a:pPr>
            <a:r>
              <a:rPr lang="en-US" sz="2000" dirty="0">
                <a:latin typeface="Antique Olive" panose="020B0603020204030204"/>
                <a:ea typeface="Quicksand"/>
                <a:cs typeface="Quicksand"/>
                <a:sym typeface="Quicksand"/>
              </a:rPr>
              <a:t>For instance:</a:t>
            </a:r>
          </a:p>
          <a:p>
            <a:pPr>
              <a:lnSpc>
                <a:spcPts val="4150"/>
              </a:lnSpc>
            </a:pPr>
            <a:r>
              <a:rPr lang="en-US" sz="2000" dirty="0">
                <a:latin typeface="Antique Olive" panose="020B0603020204030204"/>
                <a:ea typeface="Quicksand"/>
                <a:cs typeface="Quicksand"/>
                <a:sym typeface="Quicksand"/>
              </a:rPr>
              <a:t>let </a:t>
            </a:r>
            <a:r>
              <a:rPr lang="en-US" sz="2000" dirty="0" err="1">
                <a:latin typeface="Antique Olive" panose="020B0603020204030204"/>
                <a:ea typeface="Quicksand"/>
                <a:cs typeface="Quicksand"/>
                <a:sym typeface="Quicksand"/>
              </a:rPr>
              <a:t>nameFieldChecked</a:t>
            </a:r>
            <a:r>
              <a:rPr lang="en-US" sz="2000" dirty="0">
                <a:latin typeface="Antique Olive" panose="020B0603020204030204"/>
                <a:ea typeface="Quicksand"/>
                <a:cs typeface="Quicksand"/>
                <a:sym typeface="Quicksand"/>
              </a:rPr>
              <a:t> = true; // yes, name field is checked</a:t>
            </a:r>
          </a:p>
          <a:p>
            <a:pPr>
              <a:lnSpc>
                <a:spcPts val="4150"/>
              </a:lnSpc>
            </a:pPr>
            <a:r>
              <a:rPr lang="en-US" sz="2000" dirty="0">
                <a:latin typeface="Antique Olive" panose="020B0603020204030204"/>
                <a:ea typeface="Quicksand"/>
                <a:cs typeface="Quicksand"/>
                <a:sym typeface="Quicksand"/>
              </a:rPr>
              <a:t>let </a:t>
            </a:r>
            <a:r>
              <a:rPr lang="en-US" sz="2000" dirty="0" err="1">
                <a:latin typeface="Antique Olive" panose="020B0603020204030204"/>
                <a:ea typeface="Quicksand"/>
                <a:cs typeface="Quicksand"/>
                <a:sym typeface="Quicksand"/>
              </a:rPr>
              <a:t>ageFieldChecked</a:t>
            </a:r>
            <a:r>
              <a:rPr lang="en-US" sz="2000" dirty="0">
                <a:latin typeface="Antique Olive" panose="020B0603020204030204"/>
                <a:ea typeface="Quicksand"/>
                <a:cs typeface="Quicksand"/>
                <a:sym typeface="Quicksand"/>
              </a:rPr>
              <a:t> = false; // no, age field is not checked</a:t>
            </a:r>
            <a:endParaRPr lang="en-US" sz="2000" dirty="0">
              <a:latin typeface="Antique Olive" panose="020B0603020204030204"/>
              <a:ea typeface="Quicksand"/>
              <a:cs typeface="Quicksand"/>
              <a:sym typeface="Quicksand"/>
              <a:hlinkClick r:id="rId2" tooltip="https://javascript.info/types#string">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types#string">
                <a:extLst>
                  <a:ext uri="{A12FA001-AC4F-418D-AE19-62706E023703}">
                    <ahyp:hlinkClr xmlns:ahyp="http://schemas.microsoft.com/office/drawing/2018/hyperlinkcolor" val="tx"/>
                  </a:ext>
                </a:extLst>
              </a:hlinkClick>
            </a:endParaRPr>
          </a:p>
        </p:txBody>
      </p:sp>
      <p:sp>
        <p:nvSpPr>
          <p:cNvPr id="3" name="TextBox 3"/>
          <p:cNvSpPr txBox="1"/>
          <p:nvPr/>
        </p:nvSpPr>
        <p:spPr>
          <a:xfrm>
            <a:off x="3973935" y="420266"/>
            <a:ext cx="7532265" cy="726033"/>
          </a:xfrm>
          <a:prstGeom prst="rect">
            <a:avLst/>
          </a:prstGeom>
        </p:spPr>
        <p:txBody>
          <a:bodyPr lIns="0" tIns="0" rIns="0" bIns="0" rtlCol="0" anchor="t">
            <a:spAutoFit/>
          </a:bodyPr>
          <a:lstStyle/>
          <a:p>
            <a:pPr algn="just">
              <a:lnSpc>
                <a:spcPts val="5973"/>
              </a:lnSpc>
              <a:spcBef>
                <a:spcPct val="0"/>
              </a:spcBef>
            </a:pPr>
            <a:r>
              <a:rPr lang="en-US" sz="4400" b="1" dirty="0">
                <a:latin typeface="Antique Olive"/>
                <a:ea typeface="Cormorant Garamond"/>
                <a:cs typeface="Cormorant Garamond"/>
                <a:sym typeface="Cormorant Garamond"/>
              </a:rPr>
              <a:t>Data types</a:t>
            </a:r>
            <a:endParaRPr lang="en-US" sz="4400" b="1" dirty="0">
              <a:latin typeface="Antique Olive"/>
              <a:ea typeface="Cormorant Garamond"/>
              <a:cs typeface="Cormorant Garamond"/>
              <a:sym typeface="Cormorant Garamond"/>
              <a:hlinkClick r:id="rId3" tooltip="https://javascript.info/variables#constant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163772083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9872" y="1171001"/>
            <a:ext cx="11813406" cy="4245521"/>
          </a:xfrm>
          <a:prstGeom prst="rect">
            <a:avLst/>
          </a:prstGeom>
        </p:spPr>
        <p:txBody>
          <a:bodyPr lIns="0" tIns="0" rIns="0" bIns="0" rtlCol="0" anchor="t">
            <a:spAutoFit/>
          </a:bodyPr>
          <a:lstStyle/>
          <a:p>
            <a:pPr>
              <a:lnSpc>
                <a:spcPts val="4150"/>
              </a:lnSpc>
            </a:pPr>
            <a:r>
              <a:rPr lang="en-US" sz="2000" u="sng" dirty="0">
                <a:latin typeface="Antique Olive" panose="020B0603020204030204"/>
                <a:ea typeface="Quicksand"/>
                <a:cs typeface="Quicksand"/>
                <a:sym typeface="Quicksand"/>
              </a:rPr>
              <a:t>The “null” value</a:t>
            </a:r>
          </a:p>
          <a:p>
            <a:pPr>
              <a:lnSpc>
                <a:spcPts val="4150"/>
              </a:lnSpc>
            </a:pPr>
            <a:r>
              <a:rPr lang="en-US" sz="2000" dirty="0">
                <a:latin typeface="Antique Olive" panose="020B0603020204030204"/>
                <a:ea typeface="Quicksand"/>
                <a:cs typeface="Quicksand"/>
                <a:sym typeface="Quicksand"/>
              </a:rPr>
              <a:t>The special null value does not belong to any of the types described above.</a:t>
            </a:r>
          </a:p>
          <a:p>
            <a:pPr>
              <a:lnSpc>
                <a:spcPts val="4150"/>
              </a:lnSpc>
            </a:pPr>
            <a:r>
              <a:rPr lang="en-US" sz="2000" dirty="0">
                <a:latin typeface="Antique Olive" panose="020B0603020204030204"/>
                <a:ea typeface="Quicksand"/>
                <a:cs typeface="Quicksand"/>
                <a:sym typeface="Quicksand"/>
              </a:rPr>
              <a:t>It forms a separate type of its own which contains only the null value:</a:t>
            </a:r>
          </a:p>
          <a:p>
            <a:pPr>
              <a:lnSpc>
                <a:spcPts val="4150"/>
              </a:lnSpc>
            </a:pPr>
            <a:r>
              <a:rPr lang="en-US" sz="2000" dirty="0">
                <a:latin typeface="Antique Olive" panose="020B0603020204030204"/>
                <a:ea typeface="Quicksand"/>
                <a:cs typeface="Quicksand"/>
                <a:sym typeface="Quicksand"/>
              </a:rPr>
              <a:t>let age = null;</a:t>
            </a:r>
          </a:p>
          <a:p>
            <a:pPr>
              <a:lnSpc>
                <a:spcPts val="4150"/>
              </a:lnSpc>
            </a:pPr>
            <a:r>
              <a:rPr lang="en-US" sz="2000" dirty="0">
                <a:latin typeface="Antique Olive" panose="020B0603020204030204"/>
                <a:ea typeface="Quicksand"/>
                <a:cs typeface="Quicksand"/>
                <a:sym typeface="Quicksand"/>
              </a:rPr>
              <a:t>In JavaScript, null is not a “reference to a non-existing object” or a “null pointer” like in some other languages.</a:t>
            </a:r>
          </a:p>
          <a:p>
            <a:pPr>
              <a:lnSpc>
                <a:spcPts val="4150"/>
              </a:lnSpc>
            </a:pPr>
            <a:r>
              <a:rPr lang="en-US" sz="2000" dirty="0">
                <a:latin typeface="Antique Olive" panose="020B0603020204030204"/>
                <a:ea typeface="Quicksand"/>
                <a:cs typeface="Quicksand"/>
                <a:sym typeface="Quicksand"/>
              </a:rPr>
              <a:t>It’s just a special value which represents “nothing”, “empty” or “value unknown”.</a:t>
            </a:r>
          </a:p>
          <a:p>
            <a:pPr>
              <a:lnSpc>
                <a:spcPts val="4150"/>
              </a:lnSpc>
            </a:pPr>
            <a:r>
              <a:rPr lang="en-US" sz="2000" dirty="0">
                <a:latin typeface="Antique Olive" panose="020B0603020204030204"/>
                <a:ea typeface="Quicksand"/>
                <a:cs typeface="Quicksand"/>
                <a:sym typeface="Quicksand"/>
              </a:rPr>
              <a:t>The code above states that age is unknown.</a:t>
            </a:r>
            <a:endParaRPr lang="en-US" sz="2000" dirty="0">
              <a:latin typeface="Antique Olive" panose="020B0603020204030204"/>
              <a:ea typeface="Quicksand"/>
              <a:cs typeface="Quicksand"/>
              <a:sym typeface="Quicksand"/>
              <a:hlinkClick r:id="rId2" tooltip="https://javascript.info/types#boolean-logical-type">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types#boolean-logical-type">
                <a:extLst>
                  <a:ext uri="{A12FA001-AC4F-418D-AE19-62706E023703}">
                    <ahyp:hlinkClr xmlns:ahyp="http://schemas.microsoft.com/office/drawing/2018/hyperlinkcolor" val="tx"/>
                  </a:ext>
                </a:extLst>
              </a:hlinkClick>
            </a:endParaRPr>
          </a:p>
        </p:txBody>
      </p:sp>
      <p:sp>
        <p:nvSpPr>
          <p:cNvPr id="3" name="TextBox 3"/>
          <p:cNvSpPr txBox="1"/>
          <p:nvPr/>
        </p:nvSpPr>
        <p:spPr>
          <a:xfrm>
            <a:off x="3973935" y="420266"/>
            <a:ext cx="7532265" cy="726033"/>
          </a:xfrm>
          <a:prstGeom prst="rect">
            <a:avLst/>
          </a:prstGeom>
        </p:spPr>
        <p:txBody>
          <a:bodyPr lIns="0" tIns="0" rIns="0" bIns="0" rtlCol="0" anchor="t">
            <a:spAutoFit/>
          </a:bodyPr>
          <a:lstStyle/>
          <a:p>
            <a:pPr algn="just">
              <a:lnSpc>
                <a:spcPts val="5973"/>
              </a:lnSpc>
              <a:spcBef>
                <a:spcPct val="0"/>
              </a:spcBef>
            </a:pPr>
            <a:r>
              <a:rPr lang="en-US" sz="4400" b="1" dirty="0">
                <a:latin typeface="Antique Olive"/>
                <a:ea typeface="Cormorant Garamond"/>
                <a:cs typeface="Cormorant Garamond"/>
                <a:sym typeface="Cormorant Garamond"/>
              </a:rPr>
              <a:t>Data types</a:t>
            </a:r>
            <a:endParaRPr lang="en-US" sz="4400" b="1" dirty="0">
              <a:latin typeface="Antique Olive"/>
              <a:ea typeface="Cormorant Garamond"/>
              <a:cs typeface="Cormorant Garamond"/>
              <a:sym typeface="Cormorant Garamond"/>
              <a:hlinkClick r:id="rId3" tooltip="https://javascript.info/variables#constant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5431633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9872" y="1171000"/>
            <a:ext cx="11813406" cy="3718262"/>
          </a:xfrm>
          <a:prstGeom prst="rect">
            <a:avLst/>
          </a:prstGeom>
        </p:spPr>
        <p:txBody>
          <a:bodyPr lIns="0" tIns="0" rIns="0" bIns="0" rtlCol="0" anchor="t">
            <a:spAutoFit/>
          </a:bodyPr>
          <a:lstStyle/>
          <a:p>
            <a:pPr>
              <a:lnSpc>
                <a:spcPts val="4150"/>
              </a:lnSpc>
            </a:pPr>
            <a:r>
              <a:rPr lang="en-US" sz="2000" u="sng" dirty="0">
                <a:latin typeface="Antique Olive" panose="020B0603020204030204"/>
                <a:ea typeface="Quicksand"/>
                <a:cs typeface="Quicksand"/>
                <a:sym typeface="Quicksand"/>
              </a:rPr>
              <a:t>The “undefined” value</a:t>
            </a:r>
          </a:p>
          <a:p>
            <a:pPr>
              <a:lnSpc>
                <a:spcPts val="4150"/>
              </a:lnSpc>
            </a:pPr>
            <a:r>
              <a:rPr lang="en-US" sz="2000" dirty="0">
                <a:latin typeface="Antique Olive" panose="020B0603020204030204"/>
                <a:ea typeface="Quicksand"/>
                <a:cs typeface="Quicksand"/>
                <a:sym typeface="Quicksand"/>
              </a:rPr>
              <a:t>The special value undefined also stands apart. It makes a type of its own, just like null.</a:t>
            </a:r>
          </a:p>
          <a:p>
            <a:pPr>
              <a:lnSpc>
                <a:spcPts val="4150"/>
              </a:lnSpc>
            </a:pPr>
            <a:r>
              <a:rPr lang="en-US" sz="2000" dirty="0">
                <a:latin typeface="Antique Olive" panose="020B0603020204030204"/>
                <a:ea typeface="Quicksand"/>
                <a:cs typeface="Quicksand"/>
                <a:sym typeface="Quicksand"/>
              </a:rPr>
              <a:t>The meaning of undefined is “value is not assigned”.</a:t>
            </a:r>
          </a:p>
          <a:p>
            <a:pPr>
              <a:lnSpc>
                <a:spcPts val="4150"/>
              </a:lnSpc>
            </a:pPr>
            <a:r>
              <a:rPr lang="en-US" sz="2000" dirty="0">
                <a:latin typeface="Antique Olive" panose="020B0603020204030204"/>
                <a:ea typeface="Quicksand"/>
                <a:cs typeface="Quicksand"/>
                <a:sym typeface="Quicksand"/>
              </a:rPr>
              <a:t>If a variable is declared, but not assigned, then its value is undefined:</a:t>
            </a:r>
          </a:p>
          <a:p>
            <a:pPr>
              <a:lnSpc>
                <a:spcPts val="4150"/>
              </a:lnSpc>
            </a:pPr>
            <a:r>
              <a:rPr lang="en-US" sz="2000" dirty="0">
                <a:solidFill>
                  <a:srgbClr val="000000"/>
                </a:solidFill>
                <a:latin typeface="Antique Olive" panose="020B0603020204030204"/>
                <a:ea typeface="Quicksand"/>
                <a:cs typeface="Quicksand"/>
                <a:sym typeface="Quicksand"/>
              </a:rPr>
              <a:t>let age;</a:t>
            </a:r>
          </a:p>
          <a:p>
            <a:pPr>
              <a:lnSpc>
                <a:spcPts val="4150"/>
              </a:lnSpc>
            </a:pPr>
            <a:r>
              <a:rPr lang="en-US" sz="2000" dirty="0">
                <a:solidFill>
                  <a:srgbClr val="000000"/>
                </a:solidFill>
                <a:latin typeface="Antique Olive" panose="020B0603020204030204"/>
                <a:ea typeface="Quicksand"/>
                <a:cs typeface="Quicksand"/>
                <a:sym typeface="Quicksand"/>
              </a:rPr>
              <a:t>alert</a:t>
            </a:r>
            <a:r>
              <a:rPr lang="en-US" sz="2000" dirty="0">
                <a:latin typeface="Antique Olive" panose="020B0603020204030204"/>
                <a:ea typeface="Quicksand"/>
                <a:cs typeface="Quicksand"/>
                <a:sym typeface="Quicksand"/>
              </a:rPr>
              <a:t>(age); // shows "undefined"</a:t>
            </a:r>
            <a:endParaRPr lang="en-US" sz="2000" dirty="0">
              <a:latin typeface="Antique Olive" panose="020B0603020204030204"/>
              <a:ea typeface="Quicksand"/>
              <a:cs typeface="Quicksand"/>
              <a:sym typeface="Quicksand"/>
              <a:hlinkClick r:id="rId2" tooltip="https://javascript.info/types#the-null-value">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types#the-null-value">
                <a:extLst>
                  <a:ext uri="{A12FA001-AC4F-418D-AE19-62706E023703}">
                    <ahyp:hlinkClr xmlns:ahyp="http://schemas.microsoft.com/office/drawing/2018/hyperlinkcolor" val="tx"/>
                  </a:ext>
                </a:extLst>
              </a:hlinkClick>
            </a:endParaRPr>
          </a:p>
        </p:txBody>
      </p:sp>
      <p:sp>
        <p:nvSpPr>
          <p:cNvPr id="3" name="TextBox 3"/>
          <p:cNvSpPr txBox="1"/>
          <p:nvPr/>
        </p:nvSpPr>
        <p:spPr>
          <a:xfrm>
            <a:off x="3973935" y="420266"/>
            <a:ext cx="7532265" cy="726033"/>
          </a:xfrm>
          <a:prstGeom prst="rect">
            <a:avLst/>
          </a:prstGeom>
        </p:spPr>
        <p:txBody>
          <a:bodyPr lIns="0" tIns="0" rIns="0" bIns="0" rtlCol="0" anchor="t">
            <a:spAutoFit/>
          </a:bodyPr>
          <a:lstStyle/>
          <a:p>
            <a:pPr algn="just">
              <a:lnSpc>
                <a:spcPts val="5973"/>
              </a:lnSpc>
              <a:spcBef>
                <a:spcPct val="0"/>
              </a:spcBef>
            </a:pPr>
            <a:r>
              <a:rPr lang="en-US" sz="4400" b="1" dirty="0">
                <a:latin typeface="Antique Olive"/>
                <a:ea typeface="Cormorant Garamond"/>
                <a:cs typeface="Cormorant Garamond"/>
                <a:sym typeface="Cormorant Garamond"/>
              </a:rPr>
              <a:t>Data types</a:t>
            </a:r>
            <a:endParaRPr lang="en-US" sz="4400" b="1" dirty="0">
              <a:latin typeface="Antique Olive"/>
              <a:ea typeface="Cormorant Garamond"/>
              <a:cs typeface="Cormorant Garamond"/>
              <a:sym typeface="Cormorant Garamond"/>
              <a:hlinkClick r:id="rId3" tooltip="https://javascript.info/variables#constant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54370798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9872" y="1185288"/>
            <a:ext cx="11813406" cy="3706912"/>
          </a:xfrm>
          <a:prstGeom prst="rect">
            <a:avLst/>
          </a:prstGeom>
        </p:spPr>
        <p:txBody>
          <a:bodyPr lIns="0" tIns="0" rIns="0" bIns="0" rtlCol="0" anchor="t">
            <a:spAutoFit/>
          </a:bodyPr>
          <a:lstStyle/>
          <a:p>
            <a:pPr>
              <a:lnSpc>
                <a:spcPts val="4150"/>
              </a:lnSpc>
            </a:pPr>
            <a:r>
              <a:rPr lang="en-US" sz="2000" u="sng" dirty="0">
                <a:latin typeface="Antique Olive" panose="020B0603020204030204"/>
                <a:ea typeface="Quicksand"/>
                <a:cs typeface="Quicksand"/>
                <a:sym typeface="Quicksand"/>
              </a:rPr>
              <a:t>Objects</a:t>
            </a:r>
          </a:p>
          <a:p>
            <a:pPr>
              <a:lnSpc>
                <a:spcPts val="4150"/>
              </a:lnSpc>
            </a:pPr>
            <a:r>
              <a:rPr lang="en-US" sz="2000" dirty="0">
                <a:latin typeface="Antique Olive" panose="020B0603020204030204"/>
                <a:ea typeface="Quicksand"/>
                <a:cs typeface="Quicksand"/>
                <a:sym typeface="Quicksand"/>
              </a:rPr>
              <a:t>As we know from the chapter Data types, there are eight data types in JavaScript. Seven of them are called “primitive”, because their values contain only a single thing (be it a string or a number or whatever).</a:t>
            </a:r>
          </a:p>
          <a:p>
            <a:pPr>
              <a:lnSpc>
                <a:spcPts val="4150"/>
              </a:lnSpc>
            </a:pPr>
            <a:r>
              <a:rPr lang="en-US" sz="2000" dirty="0">
                <a:latin typeface="Antique Olive" panose="020B0603020204030204"/>
                <a:ea typeface="Quicksand"/>
                <a:cs typeface="Quicksand"/>
                <a:sym typeface="Quicksand"/>
              </a:rPr>
              <a:t>In contrast, objects are used to store keyed coll</a:t>
            </a:r>
            <a:r>
              <a:rPr lang="en-US" sz="2000" dirty="0">
                <a:solidFill>
                  <a:srgbClr val="000000"/>
                </a:solidFill>
                <a:latin typeface="Antique Olive" panose="020B0603020204030204"/>
                <a:ea typeface="Quicksand"/>
                <a:cs typeface="Quicksand"/>
                <a:sym typeface="Quicksand"/>
              </a:rPr>
              <a:t>ections of various data and more complex entities. In JavaScript, objects penetrate almost every aspect of the language. So</a:t>
            </a:r>
            <a:r>
              <a:rPr lang="en-US" sz="2000" dirty="0">
                <a:latin typeface="Antique Olive" panose="020B0603020204030204"/>
                <a:ea typeface="Quicksand"/>
                <a:cs typeface="Quicksand"/>
                <a:sym typeface="Quicksand"/>
              </a:rPr>
              <a:t> we must understand them first before going in-depth anywhere else.</a:t>
            </a:r>
            <a:endParaRPr lang="en-US" sz="2000" dirty="0">
              <a:latin typeface="Antique Olive" panose="020B0603020204030204"/>
              <a:ea typeface="Quicksand"/>
              <a:cs typeface="Quicksand"/>
              <a:sym typeface="Quicksand"/>
              <a:hlinkClick r:id="rId2" tooltip="https://javascript.info/types#the-undefined-value">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types#the-undefined-value">
                <a:extLst>
                  <a:ext uri="{A12FA001-AC4F-418D-AE19-62706E023703}">
                    <ahyp:hlinkClr xmlns:ahyp="http://schemas.microsoft.com/office/drawing/2018/hyperlinkcolor" val="tx"/>
                  </a:ext>
                </a:extLst>
              </a:hlinkClick>
            </a:endParaRPr>
          </a:p>
        </p:txBody>
      </p:sp>
      <p:sp>
        <p:nvSpPr>
          <p:cNvPr id="3" name="TextBox 3"/>
          <p:cNvSpPr txBox="1"/>
          <p:nvPr/>
        </p:nvSpPr>
        <p:spPr>
          <a:xfrm>
            <a:off x="3973935" y="420266"/>
            <a:ext cx="7532265" cy="726033"/>
          </a:xfrm>
          <a:prstGeom prst="rect">
            <a:avLst/>
          </a:prstGeom>
        </p:spPr>
        <p:txBody>
          <a:bodyPr lIns="0" tIns="0" rIns="0" bIns="0" rtlCol="0" anchor="t">
            <a:spAutoFit/>
          </a:bodyPr>
          <a:lstStyle/>
          <a:p>
            <a:pPr algn="just">
              <a:lnSpc>
                <a:spcPts val="5973"/>
              </a:lnSpc>
              <a:spcBef>
                <a:spcPct val="0"/>
              </a:spcBef>
            </a:pPr>
            <a:r>
              <a:rPr lang="en-US" sz="4400" b="1" dirty="0">
                <a:latin typeface="Antique Olive"/>
                <a:ea typeface="Cormorant Garamond"/>
                <a:cs typeface="Cormorant Garamond"/>
                <a:sym typeface="Cormorant Garamond"/>
              </a:rPr>
              <a:t>Data types</a:t>
            </a:r>
            <a:endParaRPr lang="en-US" sz="4400" b="1" dirty="0">
              <a:latin typeface="Antique Olive"/>
              <a:ea typeface="Cormorant Garamond"/>
              <a:cs typeface="Cormorant Garamond"/>
              <a:sym typeface="Cormorant Garamond"/>
              <a:hlinkClick r:id="rId3" tooltip="https://javascript.info/variables#constant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247353555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80248" y="1029443"/>
            <a:ext cx="11813406" cy="6399957"/>
          </a:xfrm>
          <a:prstGeom prst="rect">
            <a:avLst/>
          </a:prstGeom>
        </p:spPr>
        <p:txBody>
          <a:bodyPr lIns="0" tIns="0" rIns="0" bIns="0" rtlCol="0" anchor="t">
            <a:spAutoFit/>
          </a:bodyPr>
          <a:lstStyle/>
          <a:p>
            <a:pPr>
              <a:lnSpc>
                <a:spcPts val="4150"/>
              </a:lnSpc>
            </a:pPr>
            <a:r>
              <a:rPr lang="en-US" sz="2000" u="sng" dirty="0">
                <a:latin typeface="Antique Olive" panose="020B0603020204030204"/>
                <a:ea typeface="Quicksand"/>
                <a:cs typeface="Quicksand"/>
                <a:sym typeface="Quicksand"/>
              </a:rPr>
              <a:t>Objects</a:t>
            </a:r>
          </a:p>
          <a:p>
            <a:pPr>
              <a:lnSpc>
                <a:spcPts val="4150"/>
              </a:lnSpc>
            </a:pPr>
            <a:r>
              <a:rPr lang="en-US" sz="2000" dirty="0">
                <a:latin typeface="Antique Olive" panose="020B0603020204030204"/>
                <a:ea typeface="Quicksand"/>
                <a:cs typeface="Quicksand"/>
                <a:sym typeface="Quicksand"/>
              </a:rPr>
              <a:t>We can imagine an object as a cabinet with signed files. Every piece of data is stored in its file by the key. It’s easy to find a file by its name or add/remove a file.</a:t>
            </a:r>
          </a:p>
          <a:p>
            <a:pPr>
              <a:lnSpc>
                <a:spcPts val="4150"/>
              </a:lnSpc>
            </a:pPr>
            <a:r>
              <a:rPr lang="en-US" sz="2000" dirty="0">
                <a:latin typeface="Antique Olive" panose="020B0603020204030204"/>
                <a:ea typeface="Quicksand"/>
                <a:cs typeface="Quicksand"/>
                <a:sym typeface="Quicksand"/>
              </a:rPr>
              <a:t>An empty object (“empty cabinet”) can be created using one of two syntaxes:</a:t>
            </a:r>
          </a:p>
          <a:p>
            <a:pPr>
              <a:lnSpc>
                <a:spcPts val="4150"/>
              </a:lnSpc>
            </a:pPr>
            <a:r>
              <a:rPr lang="en-US" sz="2000" dirty="0">
                <a:latin typeface="Antique Olive" panose="020B0603020204030204"/>
                <a:ea typeface="Quicksand"/>
                <a:cs typeface="Quicksand"/>
                <a:sym typeface="Quicksand"/>
              </a:rPr>
              <a:t>let user = new Object(); // "object constructor" syntax</a:t>
            </a:r>
          </a:p>
          <a:p>
            <a:pPr>
              <a:lnSpc>
                <a:spcPts val="4150"/>
              </a:lnSpc>
            </a:pPr>
            <a:r>
              <a:rPr lang="en-US" sz="2000" dirty="0">
                <a:latin typeface="Antique Olive" panose="020B0603020204030204"/>
                <a:ea typeface="Quicksand"/>
                <a:cs typeface="Quicksand"/>
                <a:sym typeface="Quicksand"/>
              </a:rPr>
              <a:t>let user = {};  // "object literal" syntax</a:t>
            </a: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p:txBody>
      </p:sp>
      <p:sp>
        <p:nvSpPr>
          <p:cNvPr id="3" name="Freeform 3"/>
          <p:cNvSpPr/>
          <p:nvPr/>
        </p:nvSpPr>
        <p:spPr>
          <a:xfrm>
            <a:off x="3600428" y="4595796"/>
            <a:ext cx="3306234" cy="1241330"/>
          </a:xfrm>
          <a:custGeom>
            <a:avLst/>
            <a:gdLst/>
            <a:ahLst/>
            <a:cxnLst/>
            <a:rect l="l" t="t" r="r" b="b"/>
            <a:pathLst>
              <a:path w="4959351" h="1861995">
                <a:moveTo>
                  <a:pt x="0" y="0"/>
                </a:moveTo>
                <a:lnTo>
                  <a:pt x="4959351" y="0"/>
                </a:lnTo>
                <a:lnTo>
                  <a:pt x="4959351" y="1861994"/>
                </a:lnTo>
                <a:lnTo>
                  <a:pt x="0" y="1861994"/>
                </a:lnTo>
                <a:lnTo>
                  <a:pt x="0" y="0"/>
                </a:lnTo>
                <a:close/>
              </a:path>
            </a:pathLst>
          </a:custGeom>
          <a:blipFill>
            <a:blip r:embed="rId2"/>
            <a:stretch>
              <a:fillRect/>
            </a:stretch>
          </a:blipFill>
        </p:spPr>
      </p:sp>
      <p:sp>
        <p:nvSpPr>
          <p:cNvPr id="4" name="TextBox 4"/>
          <p:cNvSpPr txBox="1"/>
          <p:nvPr/>
        </p:nvSpPr>
        <p:spPr>
          <a:xfrm>
            <a:off x="3973935" y="420266"/>
            <a:ext cx="7532265" cy="726033"/>
          </a:xfrm>
          <a:prstGeom prst="rect">
            <a:avLst/>
          </a:prstGeom>
        </p:spPr>
        <p:txBody>
          <a:bodyPr lIns="0" tIns="0" rIns="0" bIns="0" rtlCol="0" anchor="t">
            <a:spAutoFit/>
          </a:bodyPr>
          <a:lstStyle/>
          <a:p>
            <a:pPr algn="just">
              <a:lnSpc>
                <a:spcPts val="5973"/>
              </a:lnSpc>
              <a:spcBef>
                <a:spcPct val="0"/>
              </a:spcBef>
            </a:pPr>
            <a:r>
              <a:rPr lang="en-US" sz="4400" b="1" dirty="0">
                <a:latin typeface="Antique Olive"/>
                <a:ea typeface="Cormorant Garamond"/>
                <a:cs typeface="Cormorant Garamond"/>
                <a:sym typeface="Cormorant Garamond"/>
              </a:rPr>
              <a:t>Data types</a:t>
            </a:r>
            <a:endParaRPr lang="en-US" sz="4400" b="1" dirty="0">
              <a:latin typeface="Antique Olive"/>
              <a:ea typeface="Cormorant Garamond"/>
              <a:cs typeface="Cormorant Garamond"/>
              <a:sym typeface="Cormorant Garamond"/>
              <a:hlinkClick r:id="rId3" tooltip="https://javascript.info/variables#constant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401664825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89297" y="918992"/>
            <a:ext cx="11813406" cy="9628020"/>
          </a:xfrm>
          <a:prstGeom prst="rect">
            <a:avLst/>
          </a:prstGeom>
        </p:spPr>
        <p:txBody>
          <a:bodyPr lIns="0" tIns="0" rIns="0" bIns="0" rtlCol="0" anchor="t">
            <a:spAutoFit/>
          </a:bodyPr>
          <a:lstStyle/>
          <a:p>
            <a:pPr>
              <a:lnSpc>
                <a:spcPts val="4150"/>
              </a:lnSpc>
            </a:pPr>
            <a:r>
              <a:rPr lang="en-US" sz="2000" u="sng" dirty="0">
                <a:latin typeface="Antique Olive" panose="020B0603020204030204"/>
                <a:ea typeface="Quicksand"/>
                <a:cs typeface="Quicksand"/>
                <a:sym typeface="Quicksand"/>
              </a:rPr>
              <a:t>Objects</a:t>
            </a:r>
          </a:p>
          <a:p>
            <a:pPr>
              <a:lnSpc>
                <a:spcPts val="4150"/>
              </a:lnSpc>
            </a:pPr>
            <a:r>
              <a:rPr lang="en-US" sz="2000" u="sng" dirty="0">
                <a:latin typeface="Antique Olive" panose="020B0603020204030204"/>
                <a:ea typeface="Quicksand"/>
                <a:cs typeface="Quicksand"/>
                <a:sym typeface="Quicksand"/>
              </a:rPr>
              <a:t>Literals and properties</a:t>
            </a:r>
          </a:p>
          <a:p>
            <a:pPr>
              <a:lnSpc>
                <a:spcPts val="4150"/>
              </a:lnSpc>
            </a:pPr>
            <a:r>
              <a:rPr lang="en-US" sz="2000" dirty="0">
                <a:latin typeface="Antique Olive" panose="020B0603020204030204"/>
                <a:ea typeface="Quicksand"/>
                <a:cs typeface="Quicksand"/>
                <a:sym typeface="Quicksand"/>
              </a:rPr>
              <a:t>We can immediately put some properties into {...} as “key: value” pairs:</a:t>
            </a:r>
          </a:p>
          <a:p>
            <a:pPr>
              <a:lnSpc>
                <a:spcPts val="4150"/>
              </a:lnSpc>
            </a:pPr>
            <a:r>
              <a:rPr lang="en-US" sz="2000" dirty="0">
                <a:latin typeface="Antique Olive" panose="020B0603020204030204"/>
                <a:ea typeface="Quicksand"/>
                <a:cs typeface="Quicksand"/>
                <a:sym typeface="Quicksand"/>
              </a:rPr>
              <a:t>let user = {     // an object</a:t>
            </a:r>
          </a:p>
          <a:p>
            <a:pPr>
              <a:lnSpc>
                <a:spcPts val="4150"/>
              </a:lnSpc>
            </a:pPr>
            <a:r>
              <a:rPr lang="en-US" sz="2000" dirty="0">
                <a:latin typeface="Antique Olive" panose="020B0603020204030204"/>
                <a:ea typeface="Quicksand"/>
                <a:cs typeface="Quicksand"/>
                <a:sym typeface="Quicksand"/>
              </a:rPr>
              <a:t>name: "John",  // by key "name" store value "John"</a:t>
            </a:r>
          </a:p>
          <a:p>
            <a:pPr>
              <a:lnSpc>
                <a:spcPts val="4150"/>
              </a:lnSpc>
            </a:pPr>
            <a:r>
              <a:rPr lang="en-US" sz="2000" dirty="0">
                <a:latin typeface="Antique Olive" panose="020B0603020204030204"/>
                <a:ea typeface="Quicksand"/>
                <a:cs typeface="Quicksand"/>
                <a:sym typeface="Quicksand"/>
              </a:rPr>
              <a:t>age: 30        // by key "age" store value 30};</a:t>
            </a:r>
          </a:p>
          <a:p>
            <a:pPr>
              <a:lnSpc>
                <a:spcPts val="4150"/>
              </a:lnSpc>
            </a:pPr>
            <a:r>
              <a:rPr lang="en-US" sz="2000" dirty="0">
                <a:latin typeface="Antique Olive" panose="020B0603020204030204"/>
                <a:ea typeface="Quicksand"/>
                <a:cs typeface="Quicksand"/>
                <a:sym typeface="Quicksand"/>
              </a:rPr>
              <a:t>A property has a key (also known as “name” or “identifier”) before the colon ":" and a value to the right of it.</a:t>
            </a:r>
          </a:p>
          <a:p>
            <a:pPr>
              <a:lnSpc>
                <a:spcPts val="4150"/>
              </a:lnSpc>
            </a:pPr>
            <a:r>
              <a:rPr lang="en-US" sz="2000" dirty="0">
                <a:latin typeface="Antique Olive" panose="020B0603020204030204"/>
                <a:ea typeface="Quicksand"/>
                <a:cs typeface="Quicksand"/>
                <a:sym typeface="Quicksand"/>
              </a:rPr>
              <a:t>In the user object, there are two properties:</a:t>
            </a:r>
          </a:p>
          <a:p>
            <a:pPr marL="527028" lvl="1" indent="-263514">
              <a:lnSpc>
                <a:spcPts val="4150"/>
              </a:lnSpc>
              <a:buAutoNum type="arabicPeriod"/>
            </a:pPr>
            <a:r>
              <a:rPr lang="en-US" sz="2000" dirty="0">
                <a:latin typeface="Antique Olive" panose="020B0603020204030204"/>
                <a:ea typeface="Quicksand"/>
                <a:cs typeface="Quicksand"/>
                <a:sym typeface="Quicksand"/>
              </a:rPr>
              <a:t>The first property has the name "name" and the value "John".</a:t>
            </a:r>
          </a:p>
          <a:p>
            <a:pPr marL="527028" lvl="1" indent="-263514">
              <a:lnSpc>
                <a:spcPts val="4150"/>
              </a:lnSpc>
              <a:buAutoNum type="arabicPeriod"/>
            </a:pPr>
            <a:r>
              <a:rPr lang="en-US" sz="2000" dirty="0">
                <a:latin typeface="Antique Olive" panose="020B0603020204030204"/>
                <a:ea typeface="Quicksand"/>
                <a:cs typeface="Quicksand"/>
                <a:sym typeface="Quicksand"/>
              </a:rPr>
              <a:t>The second one has the name "age" and the value 30.</a:t>
            </a:r>
          </a:p>
          <a:p>
            <a:pPr>
              <a:lnSpc>
                <a:spcPts val="4150"/>
              </a:lnSpc>
            </a:pPr>
            <a:endParaRPr lang="en-US" sz="2000" dirty="0">
              <a:latin typeface="Antique Olive" panose="020B0603020204030204"/>
              <a:ea typeface="Quicksand"/>
              <a:cs typeface="Quicksand"/>
              <a:sym typeface="Quicksand"/>
            </a:endParaRPr>
          </a:p>
          <a:p>
            <a:pPr>
              <a:lnSpc>
                <a:spcPts val="4150"/>
              </a:lnSpc>
            </a:pPr>
            <a:endParaRPr lang="en-US" sz="2000" dirty="0">
              <a:latin typeface="Antique Olive" panose="020B0603020204030204"/>
              <a:ea typeface="Quicksand"/>
              <a:cs typeface="Quicksand"/>
              <a:sym typeface="Quicksand"/>
            </a:endParaRPr>
          </a:p>
          <a:p>
            <a:pPr>
              <a:lnSpc>
                <a:spcPts val="4150"/>
              </a:lnSpc>
            </a:pPr>
            <a:endParaRPr lang="en-US" sz="2000" dirty="0">
              <a:latin typeface="Antique Olive" panose="020B0603020204030204"/>
              <a:ea typeface="Quicksand"/>
              <a:cs typeface="Quicksand"/>
              <a:sym typeface="Quicksand"/>
            </a:endParaRPr>
          </a:p>
          <a:p>
            <a:pPr>
              <a:lnSpc>
                <a:spcPts val="4150"/>
              </a:lnSpc>
            </a:pPr>
            <a:endParaRPr lang="en-US" sz="2000" dirty="0">
              <a:latin typeface="Antique Olive" panose="020B0603020204030204"/>
              <a:ea typeface="Quicksand"/>
              <a:cs typeface="Quicksand"/>
              <a:sym typeface="Quicksand"/>
            </a:endParaRPr>
          </a:p>
          <a:p>
            <a:pPr>
              <a:lnSpc>
                <a:spcPts val="4150"/>
              </a:lnSpc>
            </a:pPr>
            <a:endParaRPr lang="en-US" sz="2000" dirty="0">
              <a:latin typeface="Antique Olive" panose="020B0603020204030204"/>
              <a:ea typeface="Quicksand"/>
              <a:cs typeface="Quicksand"/>
              <a:sym typeface="Quicksand"/>
            </a:endParaRPr>
          </a:p>
          <a:p>
            <a:pPr>
              <a:lnSpc>
                <a:spcPts val="4150"/>
              </a:lnSpc>
            </a:pPr>
            <a:endParaRPr lang="en-US" sz="2000" dirty="0">
              <a:latin typeface="Antique Olive" panose="020B0603020204030204"/>
              <a:ea typeface="Quicksand"/>
              <a:cs typeface="Quicksand"/>
              <a:sym typeface="Quicksand"/>
            </a:endParaRPr>
          </a:p>
          <a:p>
            <a:pPr>
              <a:lnSpc>
                <a:spcPts val="4150"/>
              </a:lnSpc>
            </a:pPr>
            <a:endParaRPr lang="en-US" sz="2000" dirty="0">
              <a:latin typeface="Antique Olive" panose="020B0603020204030204"/>
              <a:ea typeface="Quicksand"/>
              <a:cs typeface="Quicksand"/>
              <a:sym typeface="Quicksand"/>
            </a:endParaRPr>
          </a:p>
          <a:p>
            <a:pPr>
              <a:lnSpc>
                <a:spcPts val="4150"/>
              </a:lnSpc>
            </a:pPr>
            <a:endParaRPr lang="en-US" sz="2000" dirty="0">
              <a:latin typeface="Antique Olive" panose="020B0603020204030204"/>
              <a:ea typeface="Quicksand"/>
              <a:cs typeface="Quicksand"/>
              <a:sym typeface="Quicksand"/>
              <a:hlinkClick r:id="rId2" tooltip="https://javascript.info/types#the-undefined-value">
                <a:extLst>
                  <a:ext uri="{A12FA001-AC4F-418D-AE19-62706E023703}">
                    <ahyp:hlinkClr xmlns:ahyp="http://schemas.microsoft.com/office/drawing/2018/hyperlinkcolor" val="tx"/>
                  </a:ext>
                </a:extLst>
              </a:hlinkClick>
            </a:endParaRPr>
          </a:p>
        </p:txBody>
      </p:sp>
      <p:sp>
        <p:nvSpPr>
          <p:cNvPr id="3" name="Freeform 3"/>
          <p:cNvSpPr/>
          <p:nvPr/>
        </p:nvSpPr>
        <p:spPr>
          <a:xfrm>
            <a:off x="9419759" y="4990252"/>
            <a:ext cx="2772241" cy="1824379"/>
          </a:xfrm>
          <a:custGeom>
            <a:avLst/>
            <a:gdLst/>
            <a:ahLst/>
            <a:cxnLst/>
            <a:rect l="l" t="t" r="r" b="b"/>
            <a:pathLst>
              <a:path w="4158362" h="2736569">
                <a:moveTo>
                  <a:pt x="0" y="0"/>
                </a:moveTo>
                <a:lnTo>
                  <a:pt x="4158362" y="0"/>
                </a:lnTo>
                <a:lnTo>
                  <a:pt x="4158362" y="2736569"/>
                </a:lnTo>
                <a:lnTo>
                  <a:pt x="0" y="2736569"/>
                </a:lnTo>
                <a:lnTo>
                  <a:pt x="0" y="0"/>
                </a:lnTo>
                <a:close/>
              </a:path>
            </a:pathLst>
          </a:custGeom>
          <a:blipFill>
            <a:blip r:embed="rId3"/>
            <a:stretch>
              <a:fillRect/>
            </a:stretch>
          </a:blipFill>
        </p:spPr>
      </p:sp>
      <p:sp>
        <p:nvSpPr>
          <p:cNvPr id="4" name="TextBox 4"/>
          <p:cNvSpPr txBox="1"/>
          <p:nvPr/>
        </p:nvSpPr>
        <p:spPr>
          <a:xfrm>
            <a:off x="3973935" y="420266"/>
            <a:ext cx="7532265" cy="726033"/>
          </a:xfrm>
          <a:prstGeom prst="rect">
            <a:avLst/>
          </a:prstGeom>
        </p:spPr>
        <p:txBody>
          <a:bodyPr lIns="0" tIns="0" rIns="0" bIns="0" rtlCol="0" anchor="t">
            <a:spAutoFit/>
          </a:bodyPr>
          <a:lstStyle/>
          <a:p>
            <a:pPr algn="just">
              <a:lnSpc>
                <a:spcPts val="5973"/>
              </a:lnSpc>
              <a:spcBef>
                <a:spcPct val="0"/>
              </a:spcBef>
            </a:pPr>
            <a:r>
              <a:rPr lang="en-US" sz="4400" b="1" dirty="0">
                <a:latin typeface="Antique Olive"/>
                <a:ea typeface="Cormorant Garamond"/>
                <a:cs typeface="Cormorant Garamond"/>
                <a:sym typeface="Cormorant Garamond"/>
              </a:rPr>
              <a:t>Data types</a:t>
            </a:r>
            <a:endParaRPr lang="en-US" sz="4400" b="1" dirty="0">
              <a:latin typeface="Antique Olive"/>
              <a:ea typeface="Cormorant Garamond"/>
              <a:cs typeface="Cormorant Garamond"/>
              <a:sym typeface="Cormorant Garamond"/>
              <a:hlinkClick r:id="rId4" tooltip="https://javascript.info/variables#constant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42282764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89297" y="918991"/>
            <a:ext cx="11813406" cy="10170220"/>
          </a:xfrm>
          <a:prstGeom prst="rect">
            <a:avLst/>
          </a:prstGeom>
        </p:spPr>
        <p:txBody>
          <a:bodyPr lIns="0" tIns="0" rIns="0" bIns="0" rtlCol="0" anchor="t">
            <a:spAutoFit/>
          </a:bodyPr>
          <a:lstStyle/>
          <a:p>
            <a:pPr>
              <a:lnSpc>
                <a:spcPts val="4150"/>
              </a:lnSpc>
            </a:pPr>
            <a:r>
              <a:rPr lang="en-US" sz="2000" u="sng" dirty="0">
                <a:latin typeface="Antique Olive" panose="020B0603020204030204"/>
                <a:ea typeface="Quicksand"/>
                <a:cs typeface="Quicksand"/>
                <a:sym typeface="Quicksand"/>
              </a:rPr>
              <a:t>Objects</a:t>
            </a:r>
          </a:p>
          <a:p>
            <a:pPr>
              <a:lnSpc>
                <a:spcPts val="4150"/>
              </a:lnSpc>
            </a:pPr>
            <a:r>
              <a:rPr lang="en-US" sz="2000" u="sng" dirty="0">
                <a:latin typeface="Antique Olive" panose="020B0603020204030204"/>
                <a:ea typeface="Quicksand"/>
                <a:cs typeface="Quicksand"/>
                <a:sym typeface="Quicksand"/>
              </a:rPr>
              <a:t>Literals and properties</a:t>
            </a:r>
          </a:p>
          <a:p>
            <a:pPr>
              <a:lnSpc>
                <a:spcPts val="4150"/>
              </a:lnSpc>
            </a:pPr>
            <a:r>
              <a:rPr lang="en-US" sz="2000" dirty="0">
                <a:latin typeface="Antique Olive" panose="020B0603020204030204"/>
                <a:ea typeface="Quicksand"/>
                <a:cs typeface="Quicksand"/>
                <a:sym typeface="Quicksand"/>
              </a:rPr>
              <a:t>We can add, remove and read files from it at any time.</a:t>
            </a:r>
          </a:p>
          <a:p>
            <a:pPr>
              <a:lnSpc>
                <a:spcPts val="4150"/>
              </a:lnSpc>
            </a:pPr>
            <a:r>
              <a:rPr lang="en-US" sz="2000" dirty="0">
                <a:latin typeface="Antique Olive" panose="020B0603020204030204"/>
                <a:ea typeface="Quicksand"/>
                <a:cs typeface="Quicksand"/>
                <a:sym typeface="Quicksand"/>
              </a:rPr>
              <a:t>Property values are accessible using the dot notation:</a:t>
            </a:r>
          </a:p>
          <a:p>
            <a:pPr>
              <a:lnSpc>
                <a:spcPts val="4150"/>
              </a:lnSpc>
            </a:pPr>
            <a:r>
              <a:rPr lang="en-US" sz="2000" dirty="0">
                <a:latin typeface="Antique Olive" panose="020B0603020204030204"/>
                <a:ea typeface="Quicksand"/>
                <a:cs typeface="Quicksand"/>
                <a:sym typeface="Quicksand"/>
              </a:rPr>
              <a:t>// get property values of the object:</a:t>
            </a:r>
          </a:p>
          <a:p>
            <a:pPr>
              <a:lnSpc>
                <a:spcPts val="4150"/>
              </a:lnSpc>
            </a:pPr>
            <a:r>
              <a:rPr lang="en-US" sz="2000" dirty="0">
                <a:latin typeface="Antique Olive" panose="020B0603020204030204"/>
                <a:ea typeface="Quicksand"/>
                <a:cs typeface="Quicksand"/>
                <a:sym typeface="Quicksand"/>
              </a:rPr>
              <a:t>alert( user.name ); // John</a:t>
            </a:r>
          </a:p>
          <a:p>
            <a:pPr>
              <a:lnSpc>
                <a:spcPts val="4150"/>
              </a:lnSpc>
            </a:pPr>
            <a:r>
              <a:rPr lang="en-US" sz="2000" dirty="0">
                <a:solidFill>
                  <a:srgbClr val="000000"/>
                </a:solidFill>
                <a:latin typeface="Antique Olive" panose="020B0603020204030204"/>
                <a:ea typeface="Quicksand"/>
                <a:cs typeface="Quicksand"/>
                <a:sym typeface="Quicksand"/>
              </a:rPr>
              <a:t>alert( </a:t>
            </a:r>
            <a:r>
              <a:rPr lang="en-US" sz="2000" dirty="0" err="1">
                <a:solidFill>
                  <a:srgbClr val="000000"/>
                </a:solidFill>
                <a:latin typeface="Antique Olive" panose="020B0603020204030204"/>
                <a:ea typeface="Quicksand"/>
                <a:cs typeface="Quicksand"/>
                <a:sym typeface="Quicksand"/>
              </a:rPr>
              <a:t>user.age</a:t>
            </a:r>
            <a:r>
              <a:rPr lang="en-US" sz="2000" dirty="0">
                <a:latin typeface="Antique Olive" panose="020B0603020204030204"/>
                <a:ea typeface="Quicksand"/>
                <a:cs typeface="Quicksand"/>
                <a:sym typeface="Quicksand"/>
              </a:rPr>
              <a:t> ); // 30</a:t>
            </a:r>
          </a:p>
          <a:p>
            <a:pPr>
              <a:lnSpc>
                <a:spcPts val="4150"/>
              </a:lnSpc>
            </a:pPr>
            <a:r>
              <a:rPr lang="en-US" sz="2000" dirty="0">
                <a:solidFill>
                  <a:srgbClr val="000000"/>
                </a:solidFill>
                <a:latin typeface="Antique Olive" panose="020B0603020204030204"/>
                <a:ea typeface="Quicksand"/>
                <a:cs typeface="Quicksand"/>
                <a:sym typeface="Quicksand"/>
              </a:rPr>
              <a:t>The value can be of any type. Let’s add a </a:t>
            </a:r>
            <a:r>
              <a:rPr lang="en-US" sz="2000" dirty="0" err="1">
                <a:solidFill>
                  <a:srgbClr val="000000"/>
                </a:solidFill>
                <a:latin typeface="Antique Olive" panose="020B0603020204030204"/>
                <a:ea typeface="Quicksand"/>
                <a:cs typeface="Quicksand"/>
                <a:sym typeface="Quicksand"/>
              </a:rPr>
              <a:t>boolean</a:t>
            </a:r>
            <a:r>
              <a:rPr lang="en-US" sz="2000" dirty="0">
                <a:latin typeface="Antique Olive" panose="020B0603020204030204"/>
                <a:ea typeface="Quicksand"/>
                <a:cs typeface="Quicksand"/>
                <a:sym typeface="Quicksand"/>
              </a:rPr>
              <a:t> one:</a:t>
            </a:r>
          </a:p>
          <a:p>
            <a:pPr>
              <a:lnSpc>
                <a:spcPts val="4150"/>
              </a:lnSpc>
            </a:pPr>
            <a:r>
              <a:rPr lang="en-US" sz="2000" dirty="0" err="1">
                <a:solidFill>
                  <a:srgbClr val="000000"/>
                </a:solidFill>
                <a:latin typeface="Antique Olive" panose="020B0603020204030204"/>
                <a:ea typeface="Quicksand"/>
                <a:cs typeface="Quicksand"/>
                <a:sym typeface="Quicksand"/>
              </a:rPr>
              <a:t>user.isAdmin</a:t>
            </a:r>
            <a:r>
              <a:rPr lang="en-US" sz="2000" dirty="0">
                <a:latin typeface="Antique Olive" panose="020B0603020204030204"/>
                <a:ea typeface="Quicksand"/>
                <a:cs typeface="Quicksand"/>
                <a:sym typeface="Quicksand"/>
              </a:rPr>
              <a:t> = true;</a:t>
            </a:r>
          </a:p>
          <a:p>
            <a:pPr>
              <a:lnSpc>
                <a:spcPts val="4150"/>
              </a:lnSpc>
            </a:pPr>
            <a:r>
              <a:rPr lang="en-US" sz="2000" dirty="0">
                <a:latin typeface="Antique Olive" panose="020B0603020204030204"/>
                <a:ea typeface="Quicksand"/>
                <a:cs typeface="Quicksand"/>
                <a:sym typeface="Quicksand"/>
              </a:rPr>
              <a:t>To remove a property, we can use the delete operator:</a:t>
            </a:r>
          </a:p>
          <a:p>
            <a:pPr>
              <a:lnSpc>
                <a:spcPts val="4150"/>
              </a:lnSpc>
            </a:pPr>
            <a:r>
              <a:rPr lang="en-US" sz="2000" dirty="0">
                <a:solidFill>
                  <a:srgbClr val="000000"/>
                </a:solidFill>
                <a:latin typeface="Antique Olive" panose="020B0603020204030204"/>
                <a:ea typeface="Quicksand"/>
                <a:cs typeface="Quicksand"/>
                <a:sym typeface="Quicksand"/>
              </a:rPr>
              <a:t>delete </a:t>
            </a:r>
            <a:r>
              <a:rPr lang="en-US" sz="2000" dirty="0" err="1">
                <a:solidFill>
                  <a:srgbClr val="000000"/>
                </a:solidFill>
                <a:latin typeface="Antique Olive" panose="020B0603020204030204"/>
                <a:ea typeface="Quicksand"/>
                <a:cs typeface="Quicksand"/>
                <a:sym typeface="Quicksand"/>
              </a:rPr>
              <a:t>user.age</a:t>
            </a:r>
            <a:r>
              <a:rPr lang="en-US" sz="2000" dirty="0">
                <a:latin typeface="Antique Olive" panose="020B0603020204030204"/>
                <a:ea typeface="Quicksand"/>
                <a:cs typeface="Quicksand"/>
                <a:sym typeface="Quicksand"/>
              </a:rPr>
              <a:t>;</a:t>
            </a:r>
            <a:endParaRPr lang="en-US" sz="2000" dirty="0">
              <a:latin typeface="Antique Olive" panose="020B0603020204030204"/>
              <a:ea typeface="Quicksand"/>
              <a:cs typeface="Quicksand"/>
              <a:sym typeface="Quicksand"/>
              <a:hlinkClick r:id="rId2" tooltip="https://javascript.info/types#the-undefined-value">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types#the-undefined-value">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types#the-undefined-value">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types#the-undefined-value">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types#the-undefined-value">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types#the-undefined-value">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types#the-undefined-value">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types#the-undefined-value">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types#the-undefined-value">
                <a:extLst>
                  <a:ext uri="{A12FA001-AC4F-418D-AE19-62706E023703}">
                    <ahyp:hlinkClr xmlns:ahyp="http://schemas.microsoft.com/office/drawing/2018/hyperlinkcolor" val="tx"/>
                  </a:ext>
                </a:extLst>
              </a:hlinkClick>
            </a:endParaRPr>
          </a:p>
        </p:txBody>
      </p:sp>
      <p:sp>
        <p:nvSpPr>
          <p:cNvPr id="3" name="Freeform 3"/>
          <p:cNvSpPr/>
          <p:nvPr/>
        </p:nvSpPr>
        <p:spPr>
          <a:xfrm>
            <a:off x="7555701" y="3355528"/>
            <a:ext cx="2287305" cy="1291143"/>
          </a:xfrm>
          <a:custGeom>
            <a:avLst/>
            <a:gdLst/>
            <a:ahLst/>
            <a:cxnLst/>
            <a:rect l="l" t="t" r="r" b="b"/>
            <a:pathLst>
              <a:path w="3430958" h="1936715">
                <a:moveTo>
                  <a:pt x="0" y="0"/>
                </a:moveTo>
                <a:lnTo>
                  <a:pt x="3430958" y="0"/>
                </a:lnTo>
                <a:lnTo>
                  <a:pt x="3430958" y="1936715"/>
                </a:lnTo>
                <a:lnTo>
                  <a:pt x="0" y="1936715"/>
                </a:lnTo>
                <a:lnTo>
                  <a:pt x="0" y="0"/>
                </a:lnTo>
                <a:close/>
              </a:path>
            </a:pathLst>
          </a:custGeom>
          <a:blipFill>
            <a:blip r:embed="rId3"/>
            <a:stretch>
              <a:fillRect t="-1082" b="-1082"/>
            </a:stretch>
          </a:blipFill>
        </p:spPr>
      </p:sp>
      <p:sp>
        <p:nvSpPr>
          <p:cNvPr id="4" name="Freeform 4"/>
          <p:cNvSpPr/>
          <p:nvPr/>
        </p:nvSpPr>
        <p:spPr>
          <a:xfrm>
            <a:off x="7626455" y="4622614"/>
            <a:ext cx="2305594" cy="1316395"/>
          </a:xfrm>
          <a:custGeom>
            <a:avLst/>
            <a:gdLst/>
            <a:ahLst/>
            <a:cxnLst/>
            <a:rect l="l" t="t" r="r" b="b"/>
            <a:pathLst>
              <a:path w="3458391" h="1974593">
                <a:moveTo>
                  <a:pt x="0" y="0"/>
                </a:moveTo>
                <a:lnTo>
                  <a:pt x="3458391" y="0"/>
                </a:lnTo>
                <a:lnTo>
                  <a:pt x="3458391" y="1974593"/>
                </a:lnTo>
                <a:lnTo>
                  <a:pt x="0" y="1974593"/>
                </a:lnTo>
                <a:lnTo>
                  <a:pt x="0" y="0"/>
                </a:lnTo>
                <a:close/>
              </a:path>
            </a:pathLst>
          </a:custGeom>
          <a:blipFill>
            <a:blip r:embed="rId4"/>
            <a:stretch>
              <a:fillRect/>
            </a:stretch>
          </a:blipFill>
        </p:spPr>
      </p:sp>
      <p:sp>
        <p:nvSpPr>
          <p:cNvPr id="5" name="TextBox 5"/>
          <p:cNvSpPr txBox="1"/>
          <p:nvPr/>
        </p:nvSpPr>
        <p:spPr>
          <a:xfrm>
            <a:off x="3973935" y="420266"/>
            <a:ext cx="7532265" cy="726033"/>
          </a:xfrm>
          <a:prstGeom prst="rect">
            <a:avLst/>
          </a:prstGeom>
        </p:spPr>
        <p:txBody>
          <a:bodyPr lIns="0" tIns="0" rIns="0" bIns="0" rtlCol="0" anchor="t">
            <a:spAutoFit/>
          </a:bodyPr>
          <a:lstStyle/>
          <a:p>
            <a:pPr algn="just">
              <a:lnSpc>
                <a:spcPts val="5973"/>
              </a:lnSpc>
              <a:spcBef>
                <a:spcPct val="0"/>
              </a:spcBef>
            </a:pPr>
            <a:r>
              <a:rPr lang="en-US" sz="4400" b="1" dirty="0">
                <a:latin typeface="Antique Olive"/>
                <a:ea typeface="Cormorant Garamond"/>
                <a:cs typeface="Cormorant Garamond"/>
                <a:sym typeface="Cormorant Garamond"/>
              </a:rPr>
              <a:t>Data types</a:t>
            </a:r>
            <a:endParaRPr lang="en-US" sz="4400" b="1" dirty="0">
              <a:latin typeface="Antique Olive"/>
              <a:ea typeface="Cormorant Garamond"/>
              <a:cs typeface="Cormorant Garamond"/>
              <a:sym typeface="Cormorant Garamond"/>
              <a:hlinkClick r:id="rId5" tooltip="https://javascript.info/variables#constant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408985665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89297" y="918992"/>
            <a:ext cx="11813406" cy="8554393"/>
          </a:xfrm>
          <a:prstGeom prst="rect">
            <a:avLst/>
          </a:prstGeom>
        </p:spPr>
        <p:txBody>
          <a:bodyPr lIns="0" tIns="0" rIns="0" bIns="0" rtlCol="0" anchor="t">
            <a:spAutoFit/>
          </a:bodyPr>
          <a:lstStyle/>
          <a:p>
            <a:pPr>
              <a:lnSpc>
                <a:spcPts val="4150"/>
              </a:lnSpc>
            </a:pPr>
            <a:r>
              <a:rPr lang="en-US" sz="2000" u="sng" dirty="0">
                <a:latin typeface="Antique Olive" panose="020B0603020204030204"/>
                <a:ea typeface="Quicksand"/>
                <a:cs typeface="Quicksand"/>
                <a:sym typeface="Quicksand"/>
              </a:rPr>
              <a:t>Objects</a:t>
            </a:r>
          </a:p>
          <a:p>
            <a:pPr>
              <a:lnSpc>
                <a:spcPts val="4150"/>
              </a:lnSpc>
            </a:pPr>
            <a:r>
              <a:rPr lang="en-US" sz="2000" dirty="0">
                <a:latin typeface="Antique Olive" panose="020B0603020204030204"/>
                <a:ea typeface="Quicksand"/>
                <a:cs typeface="Quicksand"/>
                <a:sym typeface="Quicksand"/>
              </a:rPr>
              <a:t>Write the code, one line for each action:</a:t>
            </a:r>
          </a:p>
          <a:p>
            <a:pPr marL="527028" lvl="1" indent="-263514">
              <a:lnSpc>
                <a:spcPts val="4150"/>
              </a:lnSpc>
              <a:buAutoNum type="arabicPeriod"/>
            </a:pPr>
            <a:r>
              <a:rPr lang="en-US" sz="2000" dirty="0">
                <a:latin typeface="Antique Olive" panose="020B0603020204030204"/>
                <a:ea typeface="Quicksand"/>
                <a:cs typeface="Quicksand"/>
                <a:sym typeface="Quicksand"/>
              </a:rPr>
              <a:t>Create an empty object student.</a:t>
            </a:r>
          </a:p>
          <a:p>
            <a:pPr marL="527028" lvl="1" indent="-263514">
              <a:lnSpc>
                <a:spcPts val="4150"/>
              </a:lnSpc>
              <a:buAutoNum type="arabicPeriod"/>
            </a:pPr>
            <a:r>
              <a:rPr lang="en-US" sz="2000" dirty="0">
                <a:latin typeface="Antique Olive" panose="020B0603020204030204"/>
                <a:ea typeface="Quicksand"/>
                <a:cs typeface="Quicksand"/>
                <a:sym typeface="Quicksand"/>
              </a:rPr>
              <a:t>Add the property name with the value John.</a:t>
            </a:r>
          </a:p>
          <a:p>
            <a:pPr marL="527028" lvl="1" indent="-263514">
              <a:lnSpc>
                <a:spcPts val="4150"/>
              </a:lnSpc>
              <a:buAutoNum type="arabicPeriod"/>
            </a:pPr>
            <a:r>
              <a:rPr lang="en-US" sz="2000" dirty="0">
                <a:latin typeface="Antique Olive" panose="020B0603020204030204"/>
                <a:ea typeface="Quicksand"/>
                <a:cs typeface="Quicksand"/>
                <a:sym typeface="Quicksand"/>
              </a:rPr>
              <a:t>Add the property grade with the value 2.</a:t>
            </a:r>
          </a:p>
          <a:p>
            <a:pPr marL="527028" lvl="1" indent="-263514">
              <a:lnSpc>
                <a:spcPts val="4150"/>
              </a:lnSpc>
              <a:buAutoNum type="arabicPeriod"/>
            </a:pPr>
            <a:r>
              <a:rPr lang="en-US" sz="2000" dirty="0">
                <a:latin typeface="Antique Olive" panose="020B0603020204030204"/>
                <a:ea typeface="Quicksand"/>
                <a:cs typeface="Quicksand"/>
                <a:sym typeface="Quicksand"/>
              </a:rPr>
              <a:t>Change the value of the grade to 4.</a:t>
            </a:r>
          </a:p>
          <a:p>
            <a:pPr marL="527028" lvl="1" indent="-263514">
              <a:lnSpc>
                <a:spcPts val="4150"/>
              </a:lnSpc>
              <a:buAutoNum type="arabicPeriod"/>
            </a:pPr>
            <a:r>
              <a:rPr lang="en-US" sz="2000" dirty="0">
                <a:latin typeface="Antique Olive" panose="020B0603020204030204"/>
                <a:ea typeface="Quicksand"/>
                <a:cs typeface="Quicksand"/>
                <a:sym typeface="Quicksand"/>
              </a:rPr>
              <a:t>Remove the property grade from the object.</a:t>
            </a:r>
            <a:endParaRPr lang="en-US" sz="2000" dirty="0">
              <a:latin typeface="Antique Olive" panose="020B0603020204030204"/>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p:txBody>
      </p:sp>
      <p:sp>
        <p:nvSpPr>
          <p:cNvPr id="3" name="TextBox 3"/>
          <p:cNvSpPr txBox="1"/>
          <p:nvPr/>
        </p:nvSpPr>
        <p:spPr>
          <a:xfrm>
            <a:off x="4284654" y="420266"/>
            <a:ext cx="7532265" cy="721672"/>
          </a:xfrm>
          <a:prstGeom prst="rect">
            <a:avLst/>
          </a:prstGeom>
        </p:spPr>
        <p:txBody>
          <a:bodyPr lIns="0" tIns="0" rIns="0" bIns="0" rtlCol="0" anchor="t">
            <a:spAutoFit/>
          </a:bodyPr>
          <a:lstStyle/>
          <a:p>
            <a:pPr algn="just">
              <a:lnSpc>
                <a:spcPts val="5973"/>
              </a:lnSpc>
              <a:spcBef>
                <a:spcPct val="0"/>
              </a:spcBef>
            </a:pPr>
            <a:r>
              <a:rPr lang="en-US" sz="4400" b="1" dirty="0">
                <a:latin typeface="Antique Olive"/>
                <a:ea typeface="Cormorant Garamond"/>
                <a:cs typeface="Cormorant Garamond"/>
                <a:sym typeface="Cormorant Garamond"/>
              </a:rPr>
              <a:t>Task</a:t>
            </a:r>
            <a:endParaRPr lang="en-US" sz="4266" dirty="0">
              <a:solidFill>
                <a:srgbClr val="0F4662"/>
              </a:solidFill>
              <a:latin typeface="Cormorant Garamond"/>
              <a:ea typeface="Cormorant Garamond"/>
              <a:cs typeface="Cormorant Garamond"/>
              <a:sym typeface="Cormorant Garamond"/>
            </a:endParaRPr>
          </a:p>
        </p:txBody>
      </p:sp>
    </p:spTree>
    <p:extLst>
      <p:ext uri="{BB962C8B-B14F-4D97-AF65-F5344CB8AC3E}">
        <p14:creationId xmlns:p14="http://schemas.microsoft.com/office/powerpoint/2010/main" val="114993037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89297" y="918992"/>
            <a:ext cx="11813406" cy="9631611"/>
          </a:xfrm>
          <a:prstGeom prst="rect">
            <a:avLst/>
          </a:prstGeom>
        </p:spPr>
        <p:txBody>
          <a:bodyPr lIns="0" tIns="0" rIns="0" bIns="0" rtlCol="0" anchor="t">
            <a:spAutoFit/>
          </a:bodyPr>
          <a:lstStyle/>
          <a:p>
            <a:pPr>
              <a:lnSpc>
                <a:spcPts val="4150"/>
              </a:lnSpc>
            </a:pPr>
            <a:r>
              <a:rPr lang="en-US" sz="2000" u="sng" dirty="0">
                <a:latin typeface="Antique Olive" panose="020B0603020204030204"/>
                <a:ea typeface="Quicksand"/>
                <a:cs typeface="Quicksand"/>
                <a:sym typeface="Quicksand"/>
              </a:rPr>
              <a:t>Objects</a:t>
            </a:r>
          </a:p>
          <a:p>
            <a:pPr>
              <a:lnSpc>
                <a:spcPts val="4150"/>
              </a:lnSpc>
            </a:pPr>
            <a:r>
              <a:rPr lang="en-US" sz="2000" dirty="0">
                <a:latin typeface="Antique Olive" panose="020B0603020204030204"/>
                <a:ea typeface="Quicksand"/>
                <a:cs typeface="Quicksand"/>
                <a:sym typeface="Quicksand"/>
              </a:rPr>
              <a:t>Create a</a:t>
            </a:r>
            <a:r>
              <a:rPr lang="en-US" sz="2000" dirty="0">
                <a:solidFill>
                  <a:srgbClr val="000000"/>
                </a:solidFill>
                <a:latin typeface="Antique Olive" panose="020B0603020204030204"/>
                <a:ea typeface="Quicksand"/>
                <a:cs typeface="Quicksand"/>
                <a:sym typeface="Quicksand"/>
              </a:rPr>
              <a:t> function </a:t>
            </a:r>
            <a:r>
              <a:rPr lang="en-US" sz="2000" dirty="0" err="1">
                <a:solidFill>
                  <a:srgbClr val="000000"/>
                </a:solidFill>
                <a:latin typeface="Antique Olive" panose="020B0603020204030204"/>
                <a:ea typeface="Quicksand"/>
                <a:cs typeface="Quicksand"/>
                <a:sym typeface="Quicksand"/>
              </a:rPr>
              <a:t>multiplyNumeric</a:t>
            </a:r>
            <a:r>
              <a:rPr lang="en-US" sz="2000" dirty="0">
                <a:latin typeface="Antique Olive" panose="020B0603020204030204"/>
                <a:ea typeface="Quicksand"/>
                <a:cs typeface="Quicksand"/>
                <a:sym typeface="Quicksand"/>
              </a:rPr>
              <a:t>(obj) that multiplies all numeric property values of obj by 2.</a:t>
            </a:r>
          </a:p>
          <a:p>
            <a:pPr>
              <a:lnSpc>
                <a:spcPts val="4150"/>
              </a:lnSpc>
            </a:pPr>
            <a:r>
              <a:rPr lang="en-US" sz="2000" dirty="0">
                <a:latin typeface="Antique Olive" panose="020B0603020204030204"/>
                <a:ea typeface="Quicksand"/>
                <a:cs typeface="Quicksand"/>
                <a:sym typeface="Quicksand"/>
              </a:rPr>
              <a:t>For instance:</a:t>
            </a:r>
          </a:p>
          <a:p>
            <a:pPr>
              <a:lnSpc>
                <a:spcPts val="4150"/>
              </a:lnSpc>
            </a:pPr>
            <a:r>
              <a:rPr lang="en-US" sz="2000" dirty="0">
                <a:latin typeface="Antique Olive" panose="020B0603020204030204"/>
                <a:ea typeface="Quicksand"/>
                <a:cs typeface="Quicksand"/>
                <a:sym typeface="Quicksand"/>
              </a:rPr>
              <a:t>// before the call</a:t>
            </a:r>
          </a:p>
          <a:p>
            <a:pPr>
              <a:lnSpc>
                <a:spcPts val="4150"/>
              </a:lnSpc>
            </a:pPr>
            <a:r>
              <a:rPr lang="en-US" sz="2000" dirty="0">
                <a:latin typeface="Antique Olive" panose="020B0603020204030204"/>
                <a:ea typeface="Quicksand"/>
                <a:cs typeface="Quicksand"/>
                <a:sym typeface="Quicksand"/>
              </a:rPr>
              <a:t>let menu = {width: 200,height: 300,title: "My menu"};</a:t>
            </a:r>
          </a:p>
          <a:p>
            <a:pPr>
              <a:lnSpc>
                <a:spcPts val="4150"/>
              </a:lnSpc>
            </a:pPr>
            <a:r>
              <a:rPr lang="en-US" sz="2000" dirty="0" err="1">
                <a:solidFill>
                  <a:srgbClr val="000000"/>
                </a:solidFill>
                <a:latin typeface="Antique Olive" panose="020B0603020204030204"/>
                <a:ea typeface="Quicksand"/>
                <a:cs typeface="Quicksand"/>
                <a:sym typeface="Quicksand"/>
              </a:rPr>
              <a:t>multiplyNumeric</a:t>
            </a:r>
            <a:r>
              <a:rPr lang="en-US" sz="2000" dirty="0">
                <a:latin typeface="Antique Olive" panose="020B0603020204030204"/>
                <a:ea typeface="Quicksand"/>
                <a:cs typeface="Quicksand"/>
                <a:sym typeface="Quicksand"/>
              </a:rPr>
              <a:t>(menu);</a:t>
            </a:r>
          </a:p>
          <a:p>
            <a:pPr>
              <a:lnSpc>
                <a:spcPts val="4150"/>
              </a:lnSpc>
            </a:pPr>
            <a:r>
              <a:rPr lang="en-US" sz="2000" dirty="0">
                <a:latin typeface="Antique Olive" panose="020B0603020204030204"/>
                <a:ea typeface="Quicksand"/>
                <a:cs typeface="Quicksand"/>
                <a:sym typeface="Quicksand"/>
              </a:rPr>
              <a:t>// after the call</a:t>
            </a:r>
          </a:p>
          <a:p>
            <a:pPr>
              <a:lnSpc>
                <a:spcPts val="4150"/>
              </a:lnSpc>
            </a:pPr>
            <a:r>
              <a:rPr lang="en-US" sz="2000" dirty="0">
                <a:latin typeface="Antique Olive" panose="020B0603020204030204"/>
                <a:ea typeface="Quicksand"/>
                <a:cs typeface="Quicksand"/>
                <a:sym typeface="Quicksand"/>
              </a:rPr>
              <a:t>menu = {width: 400,height: 600,title: "My menu"};</a:t>
            </a:r>
            <a:endParaRPr lang="en-US" sz="2000" dirty="0">
              <a:latin typeface="Antique Olive" panose="020B0603020204030204"/>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p:txBody>
      </p:sp>
      <p:sp>
        <p:nvSpPr>
          <p:cNvPr id="3" name="TextBox 3"/>
          <p:cNvSpPr txBox="1"/>
          <p:nvPr/>
        </p:nvSpPr>
        <p:spPr>
          <a:xfrm>
            <a:off x="4337920" y="384756"/>
            <a:ext cx="7532265" cy="721672"/>
          </a:xfrm>
          <a:prstGeom prst="rect">
            <a:avLst/>
          </a:prstGeom>
        </p:spPr>
        <p:txBody>
          <a:bodyPr lIns="0" tIns="0" rIns="0" bIns="0" rtlCol="0" anchor="t">
            <a:spAutoFit/>
          </a:bodyPr>
          <a:lstStyle/>
          <a:p>
            <a:pPr algn="just">
              <a:lnSpc>
                <a:spcPts val="5973"/>
              </a:lnSpc>
              <a:spcBef>
                <a:spcPct val="0"/>
              </a:spcBef>
            </a:pPr>
            <a:r>
              <a:rPr lang="en-US" sz="4400" b="1" dirty="0">
                <a:latin typeface="Antique Olive"/>
                <a:ea typeface="Cormorant Garamond"/>
                <a:cs typeface="Cormorant Garamond"/>
                <a:sym typeface="Cormorant Garamond"/>
              </a:rPr>
              <a:t>Task</a:t>
            </a:r>
            <a:endParaRPr lang="en-US" sz="4266" dirty="0">
              <a:solidFill>
                <a:srgbClr val="0F4662"/>
              </a:solidFill>
              <a:latin typeface="Cormorant Garamond"/>
              <a:ea typeface="Cormorant Garamond"/>
              <a:cs typeface="Cormorant Garamond"/>
              <a:sym typeface="Cormorant Garamond"/>
            </a:endParaRPr>
          </a:p>
        </p:txBody>
      </p:sp>
    </p:spTree>
    <p:extLst>
      <p:ext uri="{BB962C8B-B14F-4D97-AF65-F5344CB8AC3E}">
        <p14:creationId xmlns:p14="http://schemas.microsoft.com/office/powerpoint/2010/main" val="86194442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49544" y="929033"/>
            <a:ext cx="11813406" cy="6938566"/>
          </a:xfrm>
          <a:prstGeom prst="rect">
            <a:avLst/>
          </a:prstGeom>
        </p:spPr>
        <p:txBody>
          <a:bodyPr lIns="0" tIns="0" rIns="0" bIns="0" rtlCol="0" anchor="t">
            <a:spAutoFit/>
          </a:bodyPr>
          <a:lstStyle/>
          <a:p>
            <a:pPr>
              <a:lnSpc>
                <a:spcPts val="4150"/>
              </a:lnSpc>
            </a:pPr>
            <a:r>
              <a:rPr lang="en-US" sz="2000" u="sng" dirty="0">
                <a:latin typeface="Antique Olive"/>
                <a:ea typeface="Quicksand"/>
                <a:cs typeface="Quicksand"/>
                <a:sym typeface="Quicksand"/>
              </a:rPr>
              <a:t>Objects</a:t>
            </a:r>
          </a:p>
          <a:p>
            <a:pPr>
              <a:lnSpc>
                <a:spcPts val="4150"/>
              </a:lnSpc>
            </a:pPr>
            <a:r>
              <a:rPr lang="en-US" sz="2000" dirty="0">
                <a:latin typeface="Antique Olive"/>
                <a:ea typeface="Quicksand"/>
                <a:cs typeface="Quicksand"/>
                <a:sym typeface="Quicksand"/>
              </a:rPr>
              <a:t>Create a function </a:t>
            </a:r>
            <a:r>
              <a:rPr lang="en-US" sz="2000" dirty="0" err="1">
                <a:latin typeface="Antique Olive"/>
                <a:ea typeface="Quicksand"/>
                <a:cs typeface="Quicksand"/>
                <a:sym typeface="Quicksand"/>
              </a:rPr>
              <a:t>multiplyNumeric</a:t>
            </a:r>
            <a:r>
              <a:rPr lang="en-US" sz="2000" dirty="0">
                <a:latin typeface="Antique Olive"/>
                <a:ea typeface="Quicksand"/>
                <a:cs typeface="Quicksand"/>
                <a:sym typeface="Quicksand"/>
              </a:rPr>
              <a:t>(obj) that multiplies all numeric property values of obj by 2.</a:t>
            </a:r>
            <a:endParaRPr lang="en-US" sz="2000" dirty="0">
              <a:latin typeface="Antique Olive"/>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p:txBody>
      </p:sp>
      <p:sp>
        <p:nvSpPr>
          <p:cNvPr id="3" name="Freeform 3"/>
          <p:cNvSpPr/>
          <p:nvPr/>
        </p:nvSpPr>
        <p:spPr>
          <a:xfrm>
            <a:off x="2677868" y="2682989"/>
            <a:ext cx="4175037" cy="1833787"/>
          </a:xfrm>
          <a:custGeom>
            <a:avLst/>
            <a:gdLst/>
            <a:ahLst/>
            <a:cxnLst/>
            <a:rect l="l" t="t" r="r" b="b"/>
            <a:pathLst>
              <a:path w="6262555" h="2750680">
                <a:moveTo>
                  <a:pt x="0" y="0"/>
                </a:moveTo>
                <a:lnTo>
                  <a:pt x="6262555" y="0"/>
                </a:lnTo>
                <a:lnTo>
                  <a:pt x="6262555" y="2750680"/>
                </a:lnTo>
                <a:lnTo>
                  <a:pt x="0" y="2750680"/>
                </a:lnTo>
                <a:lnTo>
                  <a:pt x="0" y="0"/>
                </a:lnTo>
                <a:close/>
              </a:path>
            </a:pathLst>
          </a:custGeom>
          <a:blipFill>
            <a:blip r:embed="rId3"/>
            <a:stretch>
              <a:fillRect/>
            </a:stretch>
          </a:blipFill>
        </p:spPr>
      </p:sp>
      <p:sp>
        <p:nvSpPr>
          <p:cNvPr id="4" name="TextBox 4"/>
          <p:cNvSpPr txBox="1"/>
          <p:nvPr/>
        </p:nvSpPr>
        <p:spPr>
          <a:xfrm>
            <a:off x="4410191" y="402510"/>
            <a:ext cx="7532265" cy="721672"/>
          </a:xfrm>
          <a:prstGeom prst="rect">
            <a:avLst/>
          </a:prstGeom>
        </p:spPr>
        <p:txBody>
          <a:bodyPr lIns="0" tIns="0" rIns="0" bIns="0" rtlCol="0" anchor="t">
            <a:spAutoFit/>
          </a:bodyPr>
          <a:lstStyle/>
          <a:p>
            <a:pPr algn="just">
              <a:lnSpc>
                <a:spcPts val="5973"/>
              </a:lnSpc>
              <a:spcBef>
                <a:spcPct val="0"/>
              </a:spcBef>
            </a:pPr>
            <a:r>
              <a:rPr lang="en-US" sz="4400" b="1" dirty="0">
                <a:latin typeface="Antique Olive"/>
                <a:ea typeface="Cormorant Garamond"/>
                <a:cs typeface="Cormorant Garamond"/>
                <a:sym typeface="Cormorant Garamond"/>
              </a:rPr>
              <a:t>Task</a:t>
            </a:r>
            <a:endParaRPr lang="en-US" sz="4266" dirty="0">
              <a:solidFill>
                <a:srgbClr val="0F4662"/>
              </a:solidFill>
              <a:latin typeface="Cormorant Garamond"/>
              <a:ea typeface="Cormorant Garamond"/>
              <a:cs typeface="Cormorant Garamond"/>
              <a:sym typeface="Cormorant Garamond"/>
            </a:endParaRPr>
          </a:p>
        </p:txBody>
      </p:sp>
    </p:spTree>
    <p:extLst>
      <p:ext uri="{BB962C8B-B14F-4D97-AF65-F5344CB8AC3E}">
        <p14:creationId xmlns:p14="http://schemas.microsoft.com/office/powerpoint/2010/main" val="370458203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49544" y="929033"/>
            <a:ext cx="11813406" cy="11786047"/>
          </a:xfrm>
          <a:prstGeom prst="rect">
            <a:avLst/>
          </a:prstGeom>
        </p:spPr>
        <p:txBody>
          <a:bodyPr lIns="0" tIns="0" rIns="0" bIns="0" rtlCol="0" anchor="t">
            <a:spAutoFit/>
          </a:bodyPr>
          <a:lstStyle/>
          <a:p>
            <a:pPr>
              <a:lnSpc>
                <a:spcPts val="4150"/>
              </a:lnSpc>
            </a:pPr>
            <a:r>
              <a:rPr lang="en-US" sz="2000" u="sng" dirty="0">
                <a:latin typeface="Antique Olive"/>
                <a:ea typeface="Quicksand"/>
                <a:cs typeface="Quicksand"/>
                <a:sym typeface="Quicksand"/>
              </a:rPr>
              <a:t>Objects</a:t>
            </a:r>
          </a:p>
          <a:p>
            <a:pPr>
              <a:lnSpc>
                <a:spcPts val="4150"/>
              </a:lnSpc>
            </a:pPr>
            <a:r>
              <a:rPr lang="en-US" sz="2000" dirty="0">
                <a:latin typeface="Antique Olive"/>
                <a:ea typeface="Quicksand"/>
                <a:cs typeface="Quicksand"/>
                <a:sym typeface="Quicksand"/>
              </a:rPr>
              <a:t>If you’ve just started to read the tutorial and learn JavaScript, maybe the problem hasn’t touched you yet, but it’s quite common.</a:t>
            </a:r>
          </a:p>
          <a:p>
            <a:pPr>
              <a:lnSpc>
                <a:spcPts val="4150"/>
              </a:lnSpc>
            </a:pPr>
            <a:r>
              <a:rPr lang="en-US" sz="2000" dirty="0">
                <a:latin typeface="Antique Olive"/>
                <a:ea typeface="Quicksand"/>
                <a:cs typeface="Quicksand"/>
                <a:sym typeface="Quicksand"/>
              </a:rPr>
              <a:t>As an example, let’s say we have user objects that hold the information about our users.</a:t>
            </a:r>
          </a:p>
          <a:p>
            <a:pPr>
              <a:lnSpc>
                <a:spcPts val="4150"/>
              </a:lnSpc>
            </a:pPr>
            <a:r>
              <a:rPr lang="en-US" sz="2000" dirty="0">
                <a:solidFill>
                  <a:srgbClr val="000000"/>
                </a:solidFill>
                <a:latin typeface="Antique Olive"/>
                <a:ea typeface="Quicksand"/>
                <a:cs typeface="Quicksand"/>
                <a:sym typeface="Quicksand"/>
              </a:rPr>
              <a:t>Most of our users have addresses in </a:t>
            </a:r>
            <a:r>
              <a:rPr lang="en-US" sz="2000" dirty="0" err="1">
                <a:solidFill>
                  <a:srgbClr val="000000"/>
                </a:solidFill>
                <a:latin typeface="Antique Olive"/>
                <a:ea typeface="Quicksand"/>
                <a:cs typeface="Quicksand"/>
                <a:sym typeface="Quicksand"/>
              </a:rPr>
              <a:t>user.address</a:t>
            </a:r>
            <a:r>
              <a:rPr lang="en-US" sz="2000" dirty="0">
                <a:solidFill>
                  <a:srgbClr val="000000"/>
                </a:solidFill>
                <a:latin typeface="Antique Olive"/>
                <a:ea typeface="Quicksand"/>
                <a:cs typeface="Quicksand"/>
                <a:sym typeface="Quicksand"/>
              </a:rPr>
              <a:t> property, with the street </a:t>
            </a:r>
            <a:r>
              <a:rPr lang="en-US" sz="2000" dirty="0" err="1">
                <a:solidFill>
                  <a:srgbClr val="000000"/>
                </a:solidFill>
                <a:latin typeface="Antique Olive"/>
                <a:ea typeface="Quicksand"/>
                <a:cs typeface="Quicksand"/>
                <a:sym typeface="Quicksand"/>
              </a:rPr>
              <a:t>user.address.street</a:t>
            </a:r>
            <a:r>
              <a:rPr lang="en-US" sz="2000" dirty="0">
                <a:latin typeface="Antique Olive"/>
                <a:ea typeface="Quicksand"/>
                <a:cs typeface="Quicksand"/>
                <a:sym typeface="Quicksand"/>
              </a:rPr>
              <a:t>, but some did not provide them.</a:t>
            </a:r>
          </a:p>
          <a:p>
            <a:pPr>
              <a:lnSpc>
                <a:spcPts val="4150"/>
              </a:lnSpc>
            </a:pPr>
            <a:r>
              <a:rPr lang="en-US" sz="2000" dirty="0">
                <a:solidFill>
                  <a:srgbClr val="000000"/>
                </a:solidFill>
                <a:latin typeface="Antique Olive"/>
                <a:ea typeface="Quicksand"/>
                <a:cs typeface="Quicksand"/>
                <a:sym typeface="Quicksand"/>
              </a:rPr>
              <a:t>In such case, when we attempt to get </a:t>
            </a:r>
            <a:r>
              <a:rPr lang="en-US" sz="2000" dirty="0" err="1">
                <a:solidFill>
                  <a:srgbClr val="000000"/>
                </a:solidFill>
                <a:latin typeface="Antique Olive"/>
                <a:ea typeface="Quicksand"/>
                <a:cs typeface="Quicksand"/>
                <a:sym typeface="Quicksand"/>
              </a:rPr>
              <a:t>user.address.street</a:t>
            </a:r>
            <a:r>
              <a:rPr lang="en-US" sz="2000" dirty="0">
                <a:latin typeface="Antique Olive"/>
                <a:ea typeface="Quicksand"/>
                <a:cs typeface="Quicksand"/>
                <a:sym typeface="Quicksand"/>
              </a:rPr>
              <a:t>, and the user happens to be without an address, we get an error:</a:t>
            </a:r>
          </a:p>
          <a:p>
            <a:pPr>
              <a:lnSpc>
                <a:spcPts val="4150"/>
              </a:lnSpc>
            </a:pPr>
            <a:r>
              <a:rPr lang="en-US" sz="2000" dirty="0">
                <a:latin typeface="Antique Olive"/>
                <a:ea typeface="Quicksand"/>
                <a:cs typeface="Quicksand"/>
                <a:sym typeface="Quicksand"/>
              </a:rPr>
              <a:t>let user = {}; // a user without "address" property</a:t>
            </a:r>
          </a:p>
          <a:p>
            <a:pPr>
              <a:lnSpc>
                <a:spcPts val="4150"/>
              </a:lnSpc>
            </a:pPr>
            <a:r>
              <a:rPr lang="en-US" sz="2000" dirty="0">
                <a:solidFill>
                  <a:srgbClr val="000000"/>
                </a:solidFill>
                <a:latin typeface="Antique Olive"/>
                <a:ea typeface="Quicksand"/>
                <a:cs typeface="Quicksand"/>
                <a:sym typeface="Quicksand"/>
              </a:rPr>
              <a:t>alert(</a:t>
            </a:r>
            <a:r>
              <a:rPr lang="en-US" sz="2000" dirty="0" err="1">
                <a:solidFill>
                  <a:srgbClr val="000000"/>
                </a:solidFill>
                <a:latin typeface="Antique Olive"/>
                <a:ea typeface="Quicksand"/>
                <a:cs typeface="Quicksand"/>
                <a:sym typeface="Quicksand"/>
              </a:rPr>
              <a:t>user.address.street</a:t>
            </a:r>
            <a:r>
              <a:rPr lang="en-US" sz="2000" dirty="0">
                <a:latin typeface="Antique Olive"/>
                <a:ea typeface="Quicksand"/>
                <a:cs typeface="Quicksand"/>
                <a:sym typeface="Quicksand"/>
              </a:rPr>
              <a:t>); // Error!</a:t>
            </a:r>
            <a:endParaRPr lang="en-US" sz="2000" dirty="0">
              <a:latin typeface="Antique Olive"/>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p:txBody>
      </p:sp>
      <p:sp>
        <p:nvSpPr>
          <p:cNvPr id="3" name="TextBox 3"/>
          <p:cNvSpPr txBox="1"/>
          <p:nvPr/>
        </p:nvSpPr>
        <p:spPr>
          <a:xfrm>
            <a:off x="3973935" y="420266"/>
            <a:ext cx="7532265" cy="726033"/>
          </a:xfrm>
          <a:prstGeom prst="rect">
            <a:avLst/>
          </a:prstGeom>
        </p:spPr>
        <p:txBody>
          <a:bodyPr lIns="0" tIns="0" rIns="0" bIns="0" rtlCol="0" anchor="t">
            <a:spAutoFit/>
          </a:bodyPr>
          <a:lstStyle/>
          <a:p>
            <a:pPr algn="just">
              <a:lnSpc>
                <a:spcPts val="5973"/>
              </a:lnSpc>
              <a:spcBef>
                <a:spcPct val="0"/>
              </a:spcBef>
            </a:pPr>
            <a:r>
              <a:rPr lang="en-US" sz="4000" b="1" dirty="0">
                <a:latin typeface="Antique Olive"/>
                <a:ea typeface="Cormorant Garamond"/>
                <a:cs typeface="Cormorant Garamond"/>
                <a:sym typeface="Cormorant Garamond"/>
              </a:rPr>
              <a:t>Data types</a:t>
            </a:r>
            <a:endParaRPr lang="en-US" sz="4000" b="1" dirty="0">
              <a:latin typeface="Antique Olive"/>
              <a:ea typeface="Cormorant Garamond"/>
              <a:cs typeface="Cormorant Garamond"/>
              <a:sym typeface="Cormorant Garamond"/>
              <a:hlinkClick r:id="rId3" tooltip="https://javascript.info/variables#constant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211071659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49544" y="929033"/>
            <a:ext cx="11813406" cy="11786047"/>
          </a:xfrm>
          <a:prstGeom prst="rect">
            <a:avLst/>
          </a:prstGeom>
        </p:spPr>
        <p:txBody>
          <a:bodyPr lIns="0" tIns="0" rIns="0" bIns="0" rtlCol="0" anchor="t">
            <a:spAutoFit/>
          </a:bodyPr>
          <a:lstStyle/>
          <a:p>
            <a:pPr>
              <a:lnSpc>
                <a:spcPts val="4150"/>
              </a:lnSpc>
            </a:pPr>
            <a:r>
              <a:rPr lang="en-US" sz="2000" u="sng" dirty="0">
                <a:latin typeface="Antique Olive"/>
                <a:ea typeface="Quicksand"/>
                <a:cs typeface="Quicksand"/>
                <a:sym typeface="Quicksand"/>
              </a:rPr>
              <a:t>Objects</a:t>
            </a:r>
          </a:p>
          <a:p>
            <a:pPr>
              <a:lnSpc>
                <a:spcPts val="4150"/>
              </a:lnSpc>
            </a:pPr>
            <a:r>
              <a:rPr lang="en-US" sz="2000" b="1" dirty="0">
                <a:latin typeface="Antique Olive"/>
                <a:ea typeface="Quicksand Bold"/>
                <a:cs typeface="Quicksand Bold"/>
                <a:sym typeface="Quicksand Bold"/>
              </a:rPr>
              <a:t>The optional chaining </a:t>
            </a:r>
            <a:r>
              <a:rPr lang="en-US" sz="2000" dirty="0">
                <a:latin typeface="Antique Olive"/>
                <a:ea typeface="Quicksand"/>
                <a:cs typeface="Quicksand"/>
                <a:sym typeface="Quicksand"/>
              </a:rPr>
              <a:t>?. stops the evaluation if the value before ?. is undefined or null and returns undefined.</a:t>
            </a:r>
          </a:p>
          <a:p>
            <a:pPr>
              <a:lnSpc>
                <a:spcPts val="4150"/>
              </a:lnSpc>
            </a:pPr>
            <a:r>
              <a:rPr lang="en-US" sz="2000" dirty="0">
                <a:latin typeface="Antique Olive"/>
                <a:ea typeface="Quicksand"/>
                <a:cs typeface="Quicksand"/>
                <a:sym typeface="Quicksand"/>
              </a:rPr>
              <a:t>Further in this article, for brevity, we’ll be saying that something “exists” if it’s not null and not undefined.</a:t>
            </a:r>
          </a:p>
          <a:p>
            <a:pPr>
              <a:lnSpc>
                <a:spcPts val="4150"/>
              </a:lnSpc>
            </a:pPr>
            <a:r>
              <a:rPr lang="en-US" sz="2000" dirty="0">
                <a:solidFill>
                  <a:srgbClr val="000000"/>
                </a:solidFill>
                <a:latin typeface="Antique Olive"/>
                <a:ea typeface="Quicksand"/>
                <a:cs typeface="Quicksand"/>
                <a:sym typeface="Quicksand"/>
              </a:rPr>
              <a:t>In other words, </a:t>
            </a:r>
            <a:r>
              <a:rPr lang="en-US" sz="2000" dirty="0" err="1">
                <a:solidFill>
                  <a:srgbClr val="000000"/>
                </a:solidFill>
                <a:latin typeface="Antique Olive"/>
                <a:ea typeface="Quicksand"/>
                <a:cs typeface="Quicksand"/>
                <a:sym typeface="Quicksand"/>
              </a:rPr>
              <a:t>value?.prop</a:t>
            </a:r>
            <a:r>
              <a:rPr lang="en-US" sz="2000" dirty="0">
                <a:latin typeface="Antique Olive"/>
                <a:ea typeface="Quicksand"/>
                <a:cs typeface="Quicksand"/>
                <a:sym typeface="Quicksand"/>
              </a:rPr>
              <a:t>:</a:t>
            </a:r>
          </a:p>
          <a:p>
            <a:pPr marL="527028" lvl="1" indent="-263514">
              <a:lnSpc>
                <a:spcPts val="4150"/>
              </a:lnSpc>
              <a:buFont typeface="Arial"/>
              <a:buChar char="•"/>
            </a:pPr>
            <a:r>
              <a:rPr lang="en-US" sz="2000" dirty="0">
                <a:solidFill>
                  <a:srgbClr val="000000"/>
                </a:solidFill>
                <a:latin typeface="Antique Olive"/>
                <a:ea typeface="Quicksand"/>
                <a:cs typeface="Quicksand"/>
                <a:sym typeface="Quicksand"/>
              </a:rPr>
              <a:t>works as </a:t>
            </a:r>
            <a:r>
              <a:rPr lang="en-US" sz="2000" dirty="0" err="1">
                <a:solidFill>
                  <a:srgbClr val="000000"/>
                </a:solidFill>
                <a:latin typeface="Antique Olive"/>
                <a:ea typeface="Quicksand"/>
                <a:cs typeface="Quicksand"/>
                <a:sym typeface="Quicksand"/>
              </a:rPr>
              <a:t>value.prop</a:t>
            </a:r>
            <a:r>
              <a:rPr lang="en-US" sz="2000" dirty="0">
                <a:latin typeface="Antique Olive"/>
                <a:ea typeface="Quicksand"/>
                <a:cs typeface="Quicksand"/>
                <a:sym typeface="Quicksand"/>
              </a:rPr>
              <a:t>, if value exists,</a:t>
            </a:r>
          </a:p>
          <a:p>
            <a:pPr marL="527028" lvl="1" indent="-263514">
              <a:lnSpc>
                <a:spcPts val="4150"/>
              </a:lnSpc>
              <a:buFont typeface="Arial"/>
              <a:buChar char="•"/>
            </a:pPr>
            <a:r>
              <a:rPr lang="en-US" sz="2000" dirty="0">
                <a:latin typeface="Antique Olive"/>
                <a:ea typeface="Quicksand"/>
                <a:cs typeface="Quicksand"/>
                <a:sym typeface="Quicksand"/>
              </a:rPr>
              <a:t>otherwise (when value is undefined/null) it returns undefined.</a:t>
            </a:r>
          </a:p>
          <a:p>
            <a:pPr>
              <a:lnSpc>
                <a:spcPts val="4150"/>
              </a:lnSpc>
            </a:pPr>
            <a:r>
              <a:rPr lang="en-US" sz="2000" dirty="0">
                <a:solidFill>
                  <a:srgbClr val="000000"/>
                </a:solidFill>
                <a:latin typeface="Antique Olive"/>
                <a:ea typeface="Quicksand"/>
                <a:cs typeface="Quicksand"/>
                <a:sym typeface="Quicksand"/>
              </a:rPr>
              <a:t>Here’s the safe way to access </a:t>
            </a:r>
            <a:r>
              <a:rPr lang="en-US" sz="2000" dirty="0" err="1">
                <a:solidFill>
                  <a:srgbClr val="000000"/>
                </a:solidFill>
                <a:latin typeface="Antique Olive"/>
                <a:ea typeface="Quicksand"/>
                <a:cs typeface="Quicksand"/>
                <a:sym typeface="Quicksand"/>
              </a:rPr>
              <a:t>user.address.street</a:t>
            </a:r>
            <a:r>
              <a:rPr lang="en-US" sz="2000" dirty="0">
                <a:latin typeface="Antique Olive"/>
                <a:ea typeface="Quicksand"/>
                <a:cs typeface="Quicksand"/>
                <a:sym typeface="Quicksand"/>
              </a:rPr>
              <a:t> using ?.:</a:t>
            </a:r>
          </a:p>
          <a:p>
            <a:pPr>
              <a:lnSpc>
                <a:spcPts val="4150"/>
              </a:lnSpc>
            </a:pPr>
            <a:r>
              <a:rPr lang="en-US" sz="2000" dirty="0">
                <a:latin typeface="Antique Olive"/>
                <a:ea typeface="Quicksand"/>
                <a:cs typeface="Quicksand"/>
                <a:sym typeface="Quicksand"/>
              </a:rPr>
              <a:t>let user = {}; // user has no address</a:t>
            </a:r>
          </a:p>
          <a:p>
            <a:pPr>
              <a:lnSpc>
                <a:spcPts val="4150"/>
              </a:lnSpc>
            </a:pPr>
            <a:r>
              <a:rPr lang="en-US" sz="2000" dirty="0">
                <a:solidFill>
                  <a:srgbClr val="000000"/>
                </a:solidFill>
                <a:latin typeface="Antique Olive"/>
                <a:ea typeface="Quicksand"/>
                <a:cs typeface="Quicksand"/>
                <a:sym typeface="Quicksand"/>
              </a:rPr>
              <a:t>alert( </a:t>
            </a:r>
            <a:r>
              <a:rPr lang="en-US" sz="2000" dirty="0" err="1">
                <a:solidFill>
                  <a:srgbClr val="000000"/>
                </a:solidFill>
                <a:latin typeface="Antique Olive"/>
                <a:ea typeface="Quicksand"/>
                <a:cs typeface="Quicksand"/>
                <a:sym typeface="Quicksand"/>
              </a:rPr>
              <a:t>user?.address?.street</a:t>
            </a:r>
            <a:r>
              <a:rPr lang="en-US" sz="2000" dirty="0">
                <a:latin typeface="Antique Olive"/>
                <a:ea typeface="Quicksand"/>
                <a:cs typeface="Quicksand"/>
                <a:sym typeface="Quicksand"/>
              </a:rPr>
              <a:t> ); // undefined (no error)</a:t>
            </a:r>
            <a:endParaRPr lang="en-US" sz="2000" dirty="0">
              <a:latin typeface="Antique Olive"/>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bject#literals-and-properties">
                <a:extLst>
                  <a:ext uri="{A12FA001-AC4F-418D-AE19-62706E023703}">
                    <ahyp:hlinkClr xmlns:ahyp="http://schemas.microsoft.com/office/drawing/2018/hyperlinkcolor" val="tx"/>
                  </a:ext>
                </a:extLst>
              </a:hlinkClick>
            </a:endParaRPr>
          </a:p>
        </p:txBody>
      </p:sp>
      <p:sp>
        <p:nvSpPr>
          <p:cNvPr id="3" name="TextBox 3"/>
          <p:cNvSpPr txBox="1"/>
          <p:nvPr/>
        </p:nvSpPr>
        <p:spPr>
          <a:xfrm>
            <a:off x="3973935" y="420266"/>
            <a:ext cx="7532265" cy="726033"/>
          </a:xfrm>
          <a:prstGeom prst="rect">
            <a:avLst/>
          </a:prstGeom>
        </p:spPr>
        <p:txBody>
          <a:bodyPr lIns="0" tIns="0" rIns="0" bIns="0" rtlCol="0" anchor="t">
            <a:spAutoFit/>
          </a:bodyPr>
          <a:lstStyle/>
          <a:p>
            <a:pPr algn="just">
              <a:lnSpc>
                <a:spcPts val="5973"/>
              </a:lnSpc>
              <a:spcBef>
                <a:spcPct val="0"/>
              </a:spcBef>
            </a:pPr>
            <a:r>
              <a:rPr lang="en-US" sz="4000" b="1" dirty="0">
                <a:latin typeface="Antique Olive"/>
                <a:ea typeface="Cormorant Garamond"/>
                <a:cs typeface="Cormorant Garamond"/>
                <a:sym typeface="Cormorant Garamond"/>
              </a:rPr>
              <a:t>Data types</a:t>
            </a:r>
            <a:endParaRPr lang="en-US" sz="4000" b="1" dirty="0">
              <a:latin typeface="Antique Olive"/>
              <a:ea typeface="Cormorant Garamond"/>
              <a:cs typeface="Cormorant Garamond"/>
              <a:sym typeface="Cormorant Garamond"/>
              <a:hlinkClick r:id="rId3" tooltip="https://javascript.info/variables#constant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263821375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78594" y="1029443"/>
            <a:ext cx="11813406" cy="3168303"/>
          </a:xfrm>
          <a:prstGeom prst="rect">
            <a:avLst/>
          </a:prstGeom>
        </p:spPr>
        <p:txBody>
          <a:bodyPr lIns="0" tIns="0" rIns="0" bIns="0" rtlCol="0" anchor="t">
            <a:spAutoFit/>
          </a:bodyPr>
          <a:lstStyle/>
          <a:p>
            <a:pPr>
              <a:lnSpc>
                <a:spcPts val="4150"/>
              </a:lnSpc>
            </a:pPr>
            <a:r>
              <a:rPr lang="en-US" sz="2000" u="sng" dirty="0">
                <a:latin typeface="Antique Olive"/>
                <a:ea typeface="Quicksand"/>
                <a:cs typeface="Quicksand"/>
                <a:sym typeface="Quicksand"/>
              </a:rPr>
              <a:t>What is the output of the script?</a:t>
            </a:r>
          </a:p>
          <a:p>
            <a:pPr>
              <a:lnSpc>
                <a:spcPts val="4150"/>
              </a:lnSpc>
            </a:pPr>
            <a:r>
              <a:rPr lang="en-US" sz="2000" u="sng" dirty="0">
                <a:latin typeface="Antique Olive"/>
                <a:ea typeface="Quicksand"/>
                <a:cs typeface="Quicksand"/>
                <a:sym typeface="Quicksand"/>
              </a:rPr>
              <a:t>l</a:t>
            </a:r>
            <a:r>
              <a:rPr lang="en-US" sz="2000" dirty="0">
                <a:latin typeface="Antique Olive"/>
                <a:ea typeface="Quicksand"/>
                <a:cs typeface="Quicksand"/>
                <a:sym typeface="Quicksand"/>
              </a:rPr>
              <a:t>et name = "Ilya";</a:t>
            </a:r>
          </a:p>
          <a:p>
            <a:pPr>
              <a:lnSpc>
                <a:spcPts val="4150"/>
              </a:lnSpc>
            </a:pPr>
            <a:r>
              <a:rPr lang="en-US" sz="2000" dirty="0">
                <a:latin typeface="Antique Olive"/>
                <a:ea typeface="Quicksand"/>
                <a:cs typeface="Quicksand"/>
                <a:sym typeface="Quicksand"/>
              </a:rPr>
              <a:t>alert( `hello ${1}` );                    // ?</a:t>
            </a:r>
          </a:p>
          <a:p>
            <a:pPr>
              <a:lnSpc>
                <a:spcPts val="4150"/>
              </a:lnSpc>
            </a:pPr>
            <a:r>
              <a:rPr lang="en-US" sz="2000" dirty="0">
                <a:latin typeface="Antique Olive"/>
                <a:ea typeface="Quicksand"/>
                <a:cs typeface="Quicksand"/>
                <a:sym typeface="Quicksand"/>
              </a:rPr>
              <a:t>alert( `hello ${"name"}` );        // ?</a:t>
            </a:r>
          </a:p>
          <a:p>
            <a:pPr>
              <a:lnSpc>
                <a:spcPts val="4150"/>
              </a:lnSpc>
            </a:pPr>
            <a:r>
              <a:rPr lang="en-US" sz="2000" dirty="0">
                <a:latin typeface="Antique Olive"/>
                <a:ea typeface="Quicksand"/>
                <a:cs typeface="Quicksand"/>
                <a:sym typeface="Quicksand"/>
              </a:rPr>
              <a:t>alert( `hello ${name}` );            // ?</a:t>
            </a:r>
            <a:endParaRPr lang="en-US" sz="2000" dirty="0">
              <a:latin typeface="Antique Olive"/>
              <a:ea typeface="Quicksand"/>
              <a:cs typeface="Quicksand"/>
              <a:sym typeface="Quicksand"/>
              <a:hlinkClick r:id="rId2" tooltip="https://javascript.info/types#type-typeof">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types#type-typeof">
                <a:extLst>
                  <a:ext uri="{A12FA001-AC4F-418D-AE19-62706E023703}">
                    <ahyp:hlinkClr xmlns:ahyp="http://schemas.microsoft.com/office/drawing/2018/hyperlinkcolor" val="tx"/>
                  </a:ext>
                </a:extLst>
              </a:hlinkClick>
            </a:endParaRPr>
          </a:p>
        </p:txBody>
      </p:sp>
      <p:sp>
        <p:nvSpPr>
          <p:cNvPr id="3" name="TextBox 3"/>
          <p:cNvSpPr txBox="1"/>
          <p:nvPr/>
        </p:nvSpPr>
        <p:spPr>
          <a:xfrm>
            <a:off x="4659735" y="420266"/>
            <a:ext cx="7532265" cy="712503"/>
          </a:xfrm>
          <a:prstGeom prst="rect">
            <a:avLst/>
          </a:prstGeom>
        </p:spPr>
        <p:txBody>
          <a:bodyPr lIns="0" tIns="0" rIns="0" bIns="0" rtlCol="0" anchor="t">
            <a:spAutoFit/>
          </a:bodyPr>
          <a:lstStyle/>
          <a:p>
            <a:pPr algn="just">
              <a:lnSpc>
                <a:spcPts val="5973"/>
              </a:lnSpc>
              <a:spcBef>
                <a:spcPct val="0"/>
              </a:spcBef>
            </a:pPr>
            <a:r>
              <a:rPr lang="en-US" sz="4000" b="1" dirty="0">
                <a:latin typeface="Antique Olive"/>
                <a:ea typeface="Cormorant Garamond"/>
                <a:cs typeface="Cormorant Garamond"/>
                <a:sym typeface="Cormorant Garamond"/>
              </a:rPr>
              <a:t>Task</a:t>
            </a:r>
          </a:p>
        </p:txBody>
      </p:sp>
    </p:spTree>
    <p:extLst>
      <p:ext uri="{BB962C8B-B14F-4D97-AF65-F5344CB8AC3E}">
        <p14:creationId xmlns:p14="http://schemas.microsoft.com/office/powerpoint/2010/main" val="106892707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78594" y="1029443"/>
            <a:ext cx="11813406" cy="5861348"/>
          </a:xfrm>
          <a:prstGeom prst="rect">
            <a:avLst/>
          </a:prstGeom>
        </p:spPr>
        <p:txBody>
          <a:bodyPr lIns="0" tIns="0" rIns="0" bIns="0" rtlCol="0" anchor="t">
            <a:spAutoFit/>
          </a:bodyPr>
          <a:lstStyle/>
          <a:p>
            <a:pPr>
              <a:lnSpc>
                <a:spcPts val="4150"/>
              </a:lnSpc>
            </a:pPr>
            <a:r>
              <a:rPr lang="en-US" sz="2000" dirty="0">
                <a:latin typeface="Antique Olive"/>
                <a:ea typeface="Quicksand"/>
                <a:cs typeface="Quicksand"/>
                <a:sym typeface="Quicksand"/>
              </a:rPr>
              <a:t>Let’s meet a new built-in object: Date. It stores the date, time and provides methods for date/time management.</a:t>
            </a:r>
          </a:p>
          <a:p>
            <a:pPr>
              <a:lnSpc>
                <a:spcPts val="4150"/>
              </a:lnSpc>
            </a:pPr>
            <a:r>
              <a:rPr lang="en-US" sz="2000" dirty="0">
                <a:latin typeface="Antique Olive"/>
                <a:ea typeface="Quicksand"/>
                <a:cs typeface="Quicksand"/>
                <a:sym typeface="Quicksand"/>
              </a:rPr>
              <a:t>For instance, we can use it to store creation/modification times, to measure time, or just to print out the current date.</a:t>
            </a:r>
          </a:p>
          <a:p>
            <a:pPr>
              <a:lnSpc>
                <a:spcPts val="4150"/>
              </a:lnSpc>
            </a:pPr>
            <a:r>
              <a:rPr lang="en-US" sz="2000" b="1" dirty="0">
                <a:latin typeface="Antique Olive"/>
                <a:ea typeface="Quicksand Bold"/>
                <a:cs typeface="Quicksand Bold"/>
                <a:sym typeface="Quicksand Bold"/>
              </a:rPr>
              <a:t>Creation</a:t>
            </a:r>
          </a:p>
          <a:p>
            <a:pPr>
              <a:lnSpc>
                <a:spcPts val="4150"/>
              </a:lnSpc>
            </a:pPr>
            <a:r>
              <a:rPr lang="en-US" sz="2000" dirty="0">
                <a:solidFill>
                  <a:srgbClr val="000000"/>
                </a:solidFill>
                <a:latin typeface="Antique Olive"/>
                <a:ea typeface="Quicksand"/>
                <a:cs typeface="Quicksand"/>
                <a:sym typeface="Quicksand"/>
              </a:rPr>
              <a:t>To create a new Date object</a:t>
            </a:r>
            <a:r>
              <a:rPr lang="en-US" sz="2000" dirty="0">
                <a:latin typeface="Antique Olive"/>
                <a:ea typeface="Quicksand"/>
                <a:cs typeface="Quicksand"/>
                <a:sym typeface="Quicksand"/>
              </a:rPr>
              <a:t> call new Date() with one of the following arguments:</a:t>
            </a:r>
          </a:p>
          <a:p>
            <a:pPr>
              <a:lnSpc>
                <a:spcPts val="4150"/>
              </a:lnSpc>
            </a:pPr>
            <a:r>
              <a:rPr lang="en-US" sz="2000" dirty="0">
                <a:latin typeface="Antique Olive"/>
                <a:ea typeface="Quicksand"/>
                <a:cs typeface="Quicksand"/>
                <a:sym typeface="Quicksand"/>
              </a:rPr>
              <a:t>new Date()</a:t>
            </a:r>
          </a:p>
          <a:p>
            <a:pPr>
              <a:lnSpc>
                <a:spcPts val="4150"/>
              </a:lnSpc>
            </a:pPr>
            <a:r>
              <a:rPr lang="en-US" sz="2000" dirty="0">
                <a:latin typeface="Antique Olive"/>
                <a:ea typeface="Quicksand"/>
                <a:cs typeface="Quicksand"/>
                <a:sym typeface="Quicksand"/>
              </a:rPr>
              <a:t>Without arguments – create a Date object for the current date and time:</a:t>
            </a:r>
          </a:p>
          <a:p>
            <a:pPr>
              <a:lnSpc>
                <a:spcPts val="4150"/>
              </a:lnSpc>
            </a:pPr>
            <a:r>
              <a:rPr lang="en-US" sz="2000" dirty="0">
                <a:latin typeface="Antique Olive"/>
                <a:ea typeface="Quicksand"/>
                <a:cs typeface="Quicksand"/>
                <a:sym typeface="Quicksand"/>
              </a:rPr>
              <a:t>let now = new Date();</a:t>
            </a:r>
          </a:p>
          <a:p>
            <a:pPr>
              <a:lnSpc>
                <a:spcPts val="4150"/>
              </a:lnSpc>
            </a:pPr>
            <a:r>
              <a:rPr lang="en-US" sz="2000" dirty="0">
                <a:latin typeface="Antique Olive"/>
                <a:ea typeface="Quicksand"/>
                <a:cs typeface="Quicksand"/>
                <a:sym typeface="Quicksand"/>
              </a:rPr>
              <a:t>alert( now ); // shows current date/time</a:t>
            </a:r>
            <a:endParaRPr lang="en-US" sz="2000" dirty="0">
              <a:latin typeface="Antique Olive"/>
              <a:ea typeface="Quicksand"/>
              <a:cs typeface="Quicksand"/>
              <a:sym typeface="Quicksand"/>
              <a:hlinkClick r:id="rId2" tooltip="https://javascript.info/types#type-typeof">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types#type-typeof">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types#type-typeof">
                <a:extLst>
                  <a:ext uri="{A12FA001-AC4F-418D-AE19-62706E023703}">
                    <ahyp:hlinkClr xmlns:ahyp="http://schemas.microsoft.com/office/drawing/2018/hyperlinkcolor" val="tx"/>
                  </a:ext>
                </a:extLst>
              </a:hlinkClick>
            </a:endParaRPr>
          </a:p>
        </p:txBody>
      </p:sp>
      <p:sp>
        <p:nvSpPr>
          <p:cNvPr id="3" name="TextBox 3"/>
          <p:cNvSpPr txBox="1"/>
          <p:nvPr/>
        </p:nvSpPr>
        <p:spPr>
          <a:xfrm>
            <a:off x="3860744" y="393633"/>
            <a:ext cx="7532265" cy="1471108"/>
          </a:xfrm>
          <a:prstGeom prst="rect">
            <a:avLst/>
          </a:prstGeom>
        </p:spPr>
        <p:txBody>
          <a:bodyPr lIns="0" tIns="0" rIns="0" bIns="0" rtlCol="0" anchor="t">
            <a:spAutoFit/>
          </a:bodyPr>
          <a:lstStyle/>
          <a:p>
            <a:pPr algn="just">
              <a:lnSpc>
                <a:spcPts val="5973"/>
              </a:lnSpc>
            </a:pPr>
            <a:r>
              <a:rPr lang="en-US" sz="4400" b="1" dirty="0">
                <a:latin typeface="Antique Olive"/>
                <a:ea typeface="Cormorant Garamond"/>
                <a:cs typeface="Cormorant Garamond"/>
                <a:sym typeface="Cormorant Garamond"/>
              </a:rPr>
              <a:t>Date and time</a:t>
            </a:r>
          </a:p>
          <a:p>
            <a:pPr algn="just">
              <a:lnSpc>
                <a:spcPts val="5973"/>
              </a:lnSpc>
              <a:spcBef>
                <a:spcPct val="0"/>
              </a:spcBef>
            </a:pPr>
            <a:endParaRPr lang="en-US" sz="4266" dirty="0">
              <a:solidFill>
                <a:srgbClr val="0F4662"/>
              </a:solidFill>
              <a:latin typeface="Cormorant Garamond"/>
              <a:ea typeface="Cormorant Garamond"/>
              <a:cs typeface="Cormorant Garamond"/>
              <a:sym typeface="Cormorant Garamond"/>
            </a:endParaRPr>
          </a:p>
        </p:txBody>
      </p:sp>
    </p:spTree>
    <p:extLst>
      <p:ext uri="{BB962C8B-B14F-4D97-AF65-F5344CB8AC3E}">
        <p14:creationId xmlns:p14="http://schemas.microsoft.com/office/powerpoint/2010/main" val="28494675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78594" y="1029443"/>
            <a:ext cx="11813406" cy="6938566"/>
          </a:xfrm>
          <a:prstGeom prst="rect">
            <a:avLst/>
          </a:prstGeom>
        </p:spPr>
        <p:txBody>
          <a:bodyPr lIns="0" tIns="0" rIns="0" bIns="0" rtlCol="0" anchor="t">
            <a:spAutoFit/>
          </a:bodyPr>
          <a:lstStyle/>
          <a:p>
            <a:pPr>
              <a:lnSpc>
                <a:spcPts val="4150"/>
              </a:lnSpc>
            </a:pPr>
            <a:r>
              <a:rPr lang="en-US" sz="2000" u="sng" dirty="0">
                <a:latin typeface="Antique Olive"/>
                <a:ea typeface="Quicksand"/>
                <a:cs typeface="Quicksand"/>
                <a:sym typeface="Quicksand"/>
              </a:rPr>
              <a:t>Access date components</a:t>
            </a:r>
          </a:p>
          <a:p>
            <a:pPr>
              <a:lnSpc>
                <a:spcPts val="4150"/>
              </a:lnSpc>
            </a:pPr>
            <a:r>
              <a:rPr lang="en-US" sz="2000" dirty="0">
                <a:latin typeface="Antique Olive"/>
                <a:ea typeface="Quicksand"/>
                <a:cs typeface="Quicksand"/>
                <a:sym typeface="Quicksand"/>
              </a:rPr>
              <a:t>There are methods to access the year, month and so on from the Date object:</a:t>
            </a:r>
          </a:p>
          <a:p>
            <a:pPr>
              <a:lnSpc>
                <a:spcPts val="4150"/>
              </a:lnSpc>
            </a:pPr>
            <a:r>
              <a:rPr lang="en-US" sz="2000" u="sng" dirty="0" err="1">
                <a:solidFill>
                  <a:srgbClr val="000000"/>
                </a:solidFill>
                <a:latin typeface="Antique Olive"/>
                <a:ea typeface="Quicksand"/>
                <a:cs typeface="Quicksand"/>
                <a:sym typeface="Quicksand"/>
              </a:rPr>
              <a:t>getFullYear</a:t>
            </a:r>
            <a:r>
              <a:rPr lang="en-US" sz="2000" u="sng" dirty="0">
                <a:latin typeface="Antique Olive"/>
                <a:ea typeface="Quicksand"/>
                <a:cs typeface="Quicksand"/>
                <a:sym typeface="Quicksand"/>
              </a:rPr>
              <a:t>()</a:t>
            </a:r>
          </a:p>
          <a:p>
            <a:pPr>
              <a:lnSpc>
                <a:spcPts val="4150"/>
              </a:lnSpc>
            </a:pPr>
            <a:r>
              <a:rPr lang="en-US" sz="2000" dirty="0">
                <a:latin typeface="Antique Olive"/>
                <a:ea typeface="Quicksand"/>
                <a:cs typeface="Quicksand"/>
                <a:sym typeface="Quicksand"/>
              </a:rPr>
              <a:t>Get the year (4 digits)</a:t>
            </a:r>
          </a:p>
          <a:p>
            <a:pPr>
              <a:lnSpc>
                <a:spcPts val="4150"/>
              </a:lnSpc>
            </a:pPr>
            <a:r>
              <a:rPr lang="en-US" sz="2000" u="sng" dirty="0" err="1">
                <a:latin typeface="Antique Olive"/>
                <a:ea typeface="Quicksand"/>
                <a:cs typeface="Quicksand"/>
                <a:sym typeface="Quicksand"/>
              </a:rPr>
              <a:t>getMon</a:t>
            </a:r>
            <a:r>
              <a:rPr lang="en-US" sz="2000" u="sng" dirty="0" err="1">
                <a:solidFill>
                  <a:srgbClr val="000000"/>
                </a:solidFill>
                <a:latin typeface="Antique Olive"/>
                <a:ea typeface="Quicksand"/>
                <a:cs typeface="Quicksand"/>
                <a:sym typeface="Quicksand"/>
              </a:rPr>
              <a:t>th</a:t>
            </a:r>
            <a:r>
              <a:rPr lang="en-US" sz="2000" u="sng" dirty="0">
                <a:latin typeface="Antique Olive"/>
                <a:ea typeface="Quicksand"/>
                <a:cs typeface="Quicksand"/>
                <a:sym typeface="Quicksand"/>
              </a:rPr>
              <a:t>()</a:t>
            </a:r>
          </a:p>
          <a:p>
            <a:pPr>
              <a:lnSpc>
                <a:spcPts val="4150"/>
              </a:lnSpc>
            </a:pPr>
            <a:r>
              <a:rPr lang="en-US" sz="2000" dirty="0">
                <a:latin typeface="Antique Olive"/>
                <a:ea typeface="Quicksand"/>
                <a:cs typeface="Quicksand"/>
                <a:sym typeface="Quicksand"/>
              </a:rPr>
              <a:t>Get the month, from 0 to 11.</a:t>
            </a:r>
          </a:p>
          <a:p>
            <a:pPr>
              <a:lnSpc>
                <a:spcPts val="4150"/>
              </a:lnSpc>
            </a:pPr>
            <a:r>
              <a:rPr lang="en-US" sz="2000" u="sng" dirty="0" err="1">
                <a:solidFill>
                  <a:srgbClr val="000000"/>
                </a:solidFill>
                <a:latin typeface="Antique Olive"/>
                <a:ea typeface="Quicksand"/>
                <a:cs typeface="Quicksand"/>
                <a:sym typeface="Quicksand"/>
              </a:rPr>
              <a:t>getDate</a:t>
            </a:r>
            <a:r>
              <a:rPr lang="en-US" sz="2000" u="sng" dirty="0">
                <a:latin typeface="Antique Olive"/>
                <a:ea typeface="Quicksand"/>
                <a:cs typeface="Quicksand"/>
                <a:sym typeface="Quicksand"/>
              </a:rPr>
              <a:t>()</a:t>
            </a:r>
          </a:p>
          <a:p>
            <a:pPr>
              <a:lnSpc>
                <a:spcPts val="4150"/>
              </a:lnSpc>
            </a:pPr>
            <a:r>
              <a:rPr lang="en-US" sz="2000" dirty="0">
                <a:latin typeface="Antique Olive"/>
                <a:ea typeface="Quicksand"/>
                <a:cs typeface="Quicksand"/>
                <a:sym typeface="Quicksand"/>
              </a:rPr>
              <a:t>Get the day of month, from 1 to 31, the name of the method does look a little bit strange.</a:t>
            </a:r>
          </a:p>
          <a:p>
            <a:pPr>
              <a:lnSpc>
                <a:spcPts val="4150"/>
              </a:lnSpc>
            </a:pPr>
            <a:r>
              <a:rPr lang="en-US" sz="2000" u="sng" dirty="0" err="1">
                <a:latin typeface="Antique Olive"/>
                <a:ea typeface="Quicksand"/>
                <a:cs typeface="Quicksand"/>
                <a:sym typeface="Quicksand"/>
              </a:rPr>
              <a:t>getH</a:t>
            </a:r>
            <a:r>
              <a:rPr lang="en-US" sz="2000" u="sng" dirty="0" err="1">
                <a:solidFill>
                  <a:srgbClr val="000000"/>
                </a:solidFill>
                <a:latin typeface="Antique Olive"/>
                <a:ea typeface="Quicksand"/>
                <a:cs typeface="Quicksand"/>
                <a:sym typeface="Quicksand"/>
              </a:rPr>
              <a:t>ours</a:t>
            </a:r>
            <a:r>
              <a:rPr lang="en-US" sz="2000" u="sng" dirty="0">
                <a:latin typeface="Antique Olive"/>
                <a:ea typeface="Quicksand"/>
                <a:cs typeface="Quicksand"/>
                <a:sym typeface="Quicksand"/>
              </a:rPr>
              <a:t>()</a:t>
            </a:r>
            <a:r>
              <a:rPr lang="en-US" sz="2000" dirty="0">
                <a:latin typeface="Antique Olive"/>
                <a:ea typeface="Quicksand"/>
                <a:cs typeface="Quicksand"/>
                <a:sym typeface="Quicksand"/>
              </a:rPr>
              <a:t>, </a:t>
            </a:r>
            <a:r>
              <a:rPr lang="en-US" sz="2000" u="sng" dirty="0" err="1">
                <a:solidFill>
                  <a:srgbClr val="000000"/>
                </a:solidFill>
                <a:latin typeface="Antique Olive"/>
                <a:ea typeface="Quicksand"/>
                <a:cs typeface="Quicksand"/>
                <a:sym typeface="Quicksand"/>
              </a:rPr>
              <a:t>getMinutes</a:t>
            </a:r>
            <a:r>
              <a:rPr lang="en-US" sz="2000" u="sng" dirty="0">
                <a:latin typeface="Antique Olive"/>
                <a:ea typeface="Quicksand"/>
                <a:cs typeface="Quicksand"/>
                <a:sym typeface="Quicksand"/>
              </a:rPr>
              <a:t>()</a:t>
            </a:r>
            <a:r>
              <a:rPr lang="en-US" sz="2000" dirty="0">
                <a:latin typeface="Antique Olive"/>
                <a:ea typeface="Quicksand"/>
                <a:cs typeface="Quicksand"/>
                <a:sym typeface="Quicksand"/>
              </a:rPr>
              <a:t>, </a:t>
            </a:r>
            <a:r>
              <a:rPr lang="en-US" sz="2000" u="sng" dirty="0" err="1">
                <a:solidFill>
                  <a:srgbClr val="000000"/>
                </a:solidFill>
                <a:latin typeface="Antique Olive"/>
                <a:ea typeface="Quicksand"/>
                <a:cs typeface="Quicksand"/>
                <a:sym typeface="Quicksand"/>
              </a:rPr>
              <a:t>getSeconds</a:t>
            </a:r>
            <a:r>
              <a:rPr lang="en-US" sz="2000" u="sng" dirty="0">
                <a:latin typeface="Antique Olive"/>
                <a:ea typeface="Quicksand"/>
                <a:cs typeface="Quicksand"/>
                <a:sym typeface="Quicksand"/>
              </a:rPr>
              <a:t>()</a:t>
            </a:r>
            <a:r>
              <a:rPr lang="en-US" sz="2000" dirty="0">
                <a:latin typeface="Antique Olive"/>
                <a:ea typeface="Quicksand"/>
                <a:cs typeface="Quicksand"/>
                <a:sym typeface="Quicksand"/>
              </a:rPr>
              <a:t>, </a:t>
            </a:r>
            <a:r>
              <a:rPr lang="en-US" sz="2000" u="sng" dirty="0" err="1">
                <a:solidFill>
                  <a:srgbClr val="000000"/>
                </a:solidFill>
                <a:latin typeface="Antique Olive"/>
                <a:ea typeface="Quicksand"/>
                <a:cs typeface="Quicksand"/>
                <a:sym typeface="Quicksand"/>
              </a:rPr>
              <a:t>getMilliseconds</a:t>
            </a:r>
            <a:r>
              <a:rPr lang="en-US" sz="2000" u="sng" dirty="0">
                <a:latin typeface="Antique Olive"/>
                <a:ea typeface="Quicksand"/>
                <a:cs typeface="Quicksand"/>
                <a:sym typeface="Quicksand"/>
              </a:rPr>
              <a:t>()</a:t>
            </a:r>
          </a:p>
          <a:p>
            <a:pPr>
              <a:lnSpc>
                <a:spcPts val="4150"/>
              </a:lnSpc>
            </a:pPr>
            <a:r>
              <a:rPr lang="en-US" sz="2000" dirty="0">
                <a:latin typeface="Antique Olive"/>
                <a:ea typeface="Quicksand"/>
                <a:cs typeface="Quicksand"/>
                <a:sym typeface="Quicksand"/>
              </a:rPr>
              <a:t>Get the corresponding time components.</a:t>
            </a:r>
            <a:endParaRPr lang="en-US" sz="2000" dirty="0">
              <a:latin typeface="Antique Olive"/>
              <a:ea typeface="Quicksand"/>
              <a:cs typeface="Quicksand"/>
              <a:sym typeface="Quicksand"/>
              <a:hlinkClick r:id="rId2" tooltip="https://javascript.info/types#type-typeof">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types#type-typeof">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types#type-typeof">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types#type-typeof">
                <a:extLst>
                  <a:ext uri="{A12FA001-AC4F-418D-AE19-62706E023703}">
                    <ahyp:hlinkClr xmlns:ahyp="http://schemas.microsoft.com/office/drawing/2018/hyperlinkcolor" val="tx"/>
                  </a:ext>
                </a:extLst>
              </a:hlinkClick>
            </a:endParaRPr>
          </a:p>
        </p:txBody>
      </p:sp>
      <p:sp>
        <p:nvSpPr>
          <p:cNvPr id="3" name="TextBox 3"/>
          <p:cNvSpPr txBox="1"/>
          <p:nvPr/>
        </p:nvSpPr>
        <p:spPr>
          <a:xfrm>
            <a:off x="3807479" y="293889"/>
            <a:ext cx="7532265" cy="1471108"/>
          </a:xfrm>
          <a:prstGeom prst="rect">
            <a:avLst/>
          </a:prstGeom>
        </p:spPr>
        <p:txBody>
          <a:bodyPr lIns="0" tIns="0" rIns="0" bIns="0" rtlCol="0" anchor="t">
            <a:spAutoFit/>
          </a:bodyPr>
          <a:lstStyle/>
          <a:p>
            <a:pPr algn="just">
              <a:lnSpc>
                <a:spcPts val="5973"/>
              </a:lnSpc>
            </a:pPr>
            <a:r>
              <a:rPr lang="en-US" sz="4000" b="1" dirty="0">
                <a:latin typeface="Antique Olive"/>
                <a:ea typeface="Cormorant Garamond"/>
                <a:cs typeface="Cormorant Garamond"/>
                <a:sym typeface="Cormorant Garamond"/>
              </a:rPr>
              <a:t>Date and time</a:t>
            </a:r>
          </a:p>
          <a:p>
            <a:pPr algn="just">
              <a:lnSpc>
                <a:spcPts val="5973"/>
              </a:lnSpc>
              <a:spcBef>
                <a:spcPct val="0"/>
              </a:spcBef>
            </a:pPr>
            <a:endParaRPr lang="en-US" sz="4266" dirty="0">
              <a:solidFill>
                <a:srgbClr val="0F4662"/>
              </a:solidFill>
              <a:latin typeface="Cormorant Garamond"/>
              <a:ea typeface="Cormorant Garamond"/>
              <a:cs typeface="Cormorant Garamond"/>
              <a:sym typeface="Cormorant Garamond"/>
            </a:endParaRPr>
          </a:p>
        </p:txBody>
      </p:sp>
    </p:spTree>
    <p:extLst>
      <p:ext uri="{BB962C8B-B14F-4D97-AF65-F5344CB8AC3E}">
        <p14:creationId xmlns:p14="http://schemas.microsoft.com/office/powerpoint/2010/main" val="40213863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78594" y="1029443"/>
            <a:ext cx="11813406" cy="6938566"/>
          </a:xfrm>
          <a:prstGeom prst="rect">
            <a:avLst/>
          </a:prstGeom>
        </p:spPr>
        <p:txBody>
          <a:bodyPr lIns="0" tIns="0" rIns="0" bIns="0" rtlCol="0" anchor="t">
            <a:spAutoFit/>
          </a:bodyPr>
          <a:lstStyle/>
          <a:p>
            <a:pPr>
              <a:lnSpc>
                <a:spcPts val="4150"/>
              </a:lnSpc>
            </a:pPr>
            <a:r>
              <a:rPr lang="en-US" sz="2000" b="1" dirty="0">
                <a:latin typeface="Antique Olive"/>
                <a:ea typeface="Quicksand Bold"/>
                <a:cs typeface="Quicksand Bold"/>
                <a:sym typeface="Quicksand Bold"/>
              </a:rPr>
              <a:t>Examples:</a:t>
            </a:r>
          </a:p>
          <a:p>
            <a:pPr>
              <a:lnSpc>
                <a:spcPts val="4150"/>
              </a:lnSpc>
            </a:pPr>
            <a:r>
              <a:rPr lang="en-US" sz="2000" dirty="0">
                <a:latin typeface="Antique Olive"/>
                <a:ea typeface="Quicksand"/>
                <a:cs typeface="Quicksand"/>
                <a:sym typeface="Quicksand"/>
                <a:hlinkClick r:id="rId2" tooltip="https://javascript.info/date#access-date-components">
                  <a:extLst>
                    <a:ext uri="{A12FA001-AC4F-418D-AE19-62706E023703}">
                      <ahyp:hlinkClr xmlns:ahyp="http://schemas.microsoft.com/office/drawing/2018/hyperlinkcolor" val="tx"/>
                    </a:ext>
                  </a:extLst>
                </a:hlinkClick>
              </a:rPr>
              <a:t>// current date</a:t>
            </a:r>
          </a:p>
          <a:p>
            <a:pPr>
              <a:lnSpc>
                <a:spcPts val="4150"/>
              </a:lnSpc>
            </a:pPr>
            <a:r>
              <a:rPr lang="en-US" sz="2000" dirty="0">
                <a:latin typeface="Antique Olive"/>
                <a:ea typeface="Quicksand"/>
                <a:cs typeface="Quicksand"/>
                <a:sym typeface="Quicksand"/>
                <a:hlinkClick r:id="rId2" tooltip="https://javascript.info/date#access-date-components">
                  <a:extLst>
                    <a:ext uri="{A12FA001-AC4F-418D-AE19-62706E023703}">
                      <ahyp:hlinkClr xmlns:ahyp="http://schemas.microsoft.com/office/drawing/2018/hyperlinkcolor" val="tx"/>
                    </a:ext>
                  </a:extLst>
                </a:hlinkClick>
              </a:rPr>
              <a:t>let date = new Date();// the hour in your current time zone</a:t>
            </a:r>
          </a:p>
          <a:p>
            <a:pPr>
              <a:lnSpc>
                <a:spcPts val="4150"/>
              </a:lnSpc>
            </a:pPr>
            <a:r>
              <a:rPr lang="en-US" sz="2000" dirty="0">
                <a:solidFill>
                  <a:srgbClr val="000000"/>
                </a:solidFill>
                <a:latin typeface="Antique Olive"/>
                <a:ea typeface="Quicksand"/>
                <a:cs typeface="Quicksand"/>
                <a:sym typeface="Quicksand"/>
                <a:hlinkClick r:id="rId2" tooltip="https://javascript.info/date#access-date-components">
                  <a:extLst>
                    <a:ext uri="{A12FA001-AC4F-418D-AE19-62706E023703}">
                      <ahyp:hlinkClr xmlns:ahyp="http://schemas.microsoft.com/office/drawing/2018/hyperlinkcolor" val="tx"/>
                    </a:ext>
                  </a:extLst>
                </a:hlinkClick>
              </a:rPr>
              <a:t>alert( </a:t>
            </a:r>
            <a:r>
              <a:rPr lang="en-US" sz="2000" dirty="0" err="1">
                <a:latin typeface="Antique Olive"/>
                <a:ea typeface="Quicksand"/>
                <a:cs typeface="Quicksand"/>
                <a:sym typeface="Quicksand"/>
                <a:hlinkClick r:id="rId2" tooltip="https://javascript.info/date#access-date-components">
                  <a:extLst>
                    <a:ext uri="{A12FA001-AC4F-418D-AE19-62706E023703}">
                      <ahyp:hlinkClr xmlns:ahyp="http://schemas.microsoft.com/office/drawing/2018/hyperlinkcolor" val="tx"/>
                    </a:ext>
                  </a:extLst>
                </a:hlinkClick>
              </a:rPr>
              <a:t>date.getH</a:t>
            </a:r>
            <a:r>
              <a:rPr lang="en-US" sz="2000" dirty="0" err="1">
                <a:solidFill>
                  <a:srgbClr val="000000"/>
                </a:solidFill>
                <a:latin typeface="Antique Olive"/>
                <a:ea typeface="Quicksand"/>
                <a:cs typeface="Quicksand"/>
                <a:sym typeface="Quicksand"/>
                <a:hlinkClick r:id="rId2" tooltip="https://javascript.info/date#access-date-components">
                  <a:extLst>
                    <a:ext uri="{A12FA001-AC4F-418D-AE19-62706E023703}">
                      <ahyp:hlinkClr xmlns:ahyp="http://schemas.microsoft.com/office/drawing/2018/hyperlinkcolor" val="tx"/>
                    </a:ext>
                  </a:extLst>
                </a:hlinkClick>
              </a:rPr>
              <a:t>ours</a:t>
            </a:r>
            <a:r>
              <a:rPr lang="en-US" sz="2000" dirty="0">
                <a:solidFill>
                  <a:srgbClr val="000000"/>
                </a:solidFill>
                <a:latin typeface="Antique Olive"/>
                <a:ea typeface="Quicksand"/>
                <a:cs typeface="Quicksand"/>
                <a:sym typeface="Quicksand"/>
                <a:hlinkClick r:id="rId2" tooltip="https://javascript.info/date#access-date-components">
                  <a:extLst>
                    <a:ext uri="{A12FA001-AC4F-418D-AE19-62706E023703}">
                      <ahyp:hlinkClr xmlns:ahyp="http://schemas.microsoft.com/office/drawing/2018/hyperlinkcolor" val="tx"/>
                    </a:ext>
                  </a:extLst>
                </a:hlinkClick>
              </a:rPr>
              <a:t>() );</a:t>
            </a:r>
          </a:p>
          <a:p>
            <a:pPr>
              <a:lnSpc>
                <a:spcPts val="4150"/>
              </a:lnSpc>
            </a:pPr>
            <a:endParaRPr lang="en-US" sz="2000" dirty="0">
              <a:latin typeface="Antique Olive"/>
              <a:ea typeface="Quicksand"/>
              <a:cs typeface="Quicksand"/>
              <a:sym typeface="Quicksand"/>
              <a:hlinkClick r:id="rId2" tooltip="https://javascript.info/date#access-date-components">
                <a:extLst>
                  <a:ext uri="{A12FA001-AC4F-418D-AE19-62706E023703}">
                    <ahyp:hlinkClr xmlns:ahyp="http://schemas.microsoft.com/office/drawing/2018/hyperlinkcolor" val="tx"/>
                  </a:ext>
                </a:extLst>
              </a:hlinkClick>
            </a:endParaRPr>
          </a:p>
          <a:p>
            <a:pPr>
              <a:lnSpc>
                <a:spcPts val="4150"/>
              </a:lnSpc>
            </a:pPr>
            <a:r>
              <a:rPr lang="en-US" sz="2000" dirty="0">
                <a:latin typeface="Antique Olive"/>
                <a:ea typeface="Quicksand"/>
                <a:cs typeface="Quicksand"/>
                <a:sym typeface="Quicksand"/>
              </a:rPr>
              <a:t>let today = new Date(); </a:t>
            </a:r>
          </a:p>
          <a:p>
            <a:pPr>
              <a:lnSpc>
                <a:spcPts val="4150"/>
              </a:lnSpc>
            </a:pPr>
            <a:r>
              <a:rPr lang="en-US" sz="2000" dirty="0" err="1">
                <a:latin typeface="Antique Olive"/>
                <a:ea typeface="Quicksand"/>
                <a:cs typeface="Quicksand"/>
                <a:sym typeface="Quicksand"/>
              </a:rPr>
              <a:t>today.setHours</a:t>
            </a:r>
            <a:r>
              <a:rPr lang="en-US" sz="2000" dirty="0">
                <a:latin typeface="Antique Olive"/>
                <a:ea typeface="Quicksand"/>
                <a:cs typeface="Quicksand"/>
                <a:sym typeface="Quicksand"/>
              </a:rPr>
              <a:t>(0);</a:t>
            </a:r>
          </a:p>
          <a:p>
            <a:pPr>
              <a:lnSpc>
                <a:spcPts val="4150"/>
              </a:lnSpc>
            </a:pPr>
            <a:r>
              <a:rPr lang="en-US" sz="2000" dirty="0">
                <a:latin typeface="Antique Olive"/>
                <a:ea typeface="Quicksand"/>
                <a:cs typeface="Quicksand"/>
                <a:sym typeface="Quicksand"/>
              </a:rPr>
              <a:t>alert(today); // still today, but the hour is changed to 0 </a:t>
            </a:r>
          </a:p>
          <a:p>
            <a:pPr>
              <a:lnSpc>
                <a:spcPts val="4150"/>
              </a:lnSpc>
            </a:pPr>
            <a:r>
              <a:rPr lang="en-US" sz="2000" dirty="0" err="1">
                <a:latin typeface="Antique Olive"/>
                <a:ea typeface="Quicksand"/>
                <a:cs typeface="Quicksand"/>
                <a:sym typeface="Quicksand"/>
              </a:rPr>
              <a:t>today.setHours</a:t>
            </a:r>
            <a:r>
              <a:rPr lang="en-US" sz="2000" dirty="0">
                <a:latin typeface="Antique Olive"/>
                <a:ea typeface="Quicksand"/>
                <a:cs typeface="Quicksand"/>
                <a:sym typeface="Quicksand"/>
              </a:rPr>
              <a:t>(0, 0, 0, 0);</a:t>
            </a:r>
          </a:p>
          <a:p>
            <a:pPr>
              <a:lnSpc>
                <a:spcPts val="4150"/>
              </a:lnSpc>
            </a:pPr>
            <a:r>
              <a:rPr lang="en-US" sz="2000" dirty="0">
                <a:latin typeface="Antique Olive"/>
                <a:ea typeface="Quicksand"/>
                <a:cs typeface="Quicksand"/>
                <a:sym typeface="Quicksand"/>
              </a:rPr>
              <a:t>alert(today); // still today, now 00:00:00 sharp.</a:t>
            </a:r>
          </a:p>
          <a:p>
            <a:pPr>
              <a:lnSpc>
                <a:spcPts val="4150"/>
              </a:lnSpc>
            </a:pPr>
            <a:endParaRPr lang="en-US" sz="2000" dirty="0">
              <a:latin typeface="Antique Olive"/>
              <a:ea typeface="Quicksand"/>
              <a:cs typeface="Quicksand"/>
              <a:sym typeface="Quicksand"/>
            </a:endParaRPr>
          </a:p>
          <a:p>
            <a:pPr>
              <a:lnSpc>
                <a:spcPts val="4150"/>
              </a:lnSpc>
            </a:pPr>
            <a:endParaRPr lang="en-US" sz="2000" dirty="0">
              <a:latin typeface="Antique Olive"/>
              <a:ea typeface="Quicksand"/>
              <a:cs typeface="Quicksand"/>
              <a:sym typeface="Quicksand"/>
            </a:endParaRPr>
          </a:p>
          <a:p>
            <a:pPr>
              <a:lnSpc>
                <a:spcPts val="4150"/>
              </a:lnSpc>
            </a:pPr>
            <a:endParaRPr lang="en-US" sz="2000" dirty="0">
              <a:latin typeface="Antique Olive"/>
              <a:ea typeface="Quicksand"/>
              <a:cs typeface="Quicksand"/>
              <a:sym typeface="Quicksand"/>
            </a:endParaRPr>
          </a:p>
        </p:txBody>
      </p:sp>
      <p:sp>
        <p:nvSpPr>
          <p:cNvPr id="3" name="TextBox 3"/>
          <p:cNvSpPr txBox="1"/>
          <p:nvPr/>
        </p:nvSpPr>
        <p:spPr>
          <a:xfrm>
            <a:off x="4029420" y="293889"/>
            <a:ext cx="7532265" cy="1471108"/>
          </a:xfrm>
          <a:prstGeom prst="rect">
            <a:avLst/>
          </a:prstGeom>
        </p:spPr>
        <p:txBody>
          <a:bodyPr lIns="0" tIns="0" rIns="0" bIns="0" rtlCol="0" anchor="t">
            <a:spAutoFit/>
          </a:bodyPr>
          <a:lstStyle/>
          <a:p>
            <a:pPr algn="just">
              <a:lnSpc>
                <a:spcPts val="5973"/>
              </a:lnSpc>
            </a:pPr>
            <a:r>
              <a:rPr lang="en-US" sz="4400" b="1" dirty="0">
                <a:latin typeface="Antique Olive"/>
                <a:ea typeface="Cormorant Garamond"/>
                <a:cs typeface="Cormorant Garamond"/>
                <a:sym typeface="Cormorant Garamond"/>
              </a:rPr>
              <a:t>Date and time</a:t>
            </a:r>
          </a:p>
          <a:p>
            <a:pPr algn="just">
              <a:lnSpc>
                <a:spcPts val="5973"/>
              </a:lnSpc>
              <a:spcBef>
                <a:spcPct val="0"/>
              </a:spcBef>
            </a:pPr>
            <a:endParaRPr lang="en-US" sz="4266" dirty="0">
              <a:solidFill>
                <a:srgbClr val="0F4662"/>
              </a:solidFill>
              <a:latin typeface="Cormorant Garamond"/>
              <a:ea typeface="Cormorant Garamond"/>
              <a:cs typeface="Cormorant Garamond"/>
              <a:sym typeface="Cormorant Garamond"/>
            </a:endParaRPr>
          </a:p>
        </p:txBody>
      </p:sp>
    </p:spTree>
    <p:extLst>
      <p:ext uri="{BB962C8B-B14F-4D97-AF65-F5344CB8AC3E}">
        <p14:creationId xmlns:p14="http://schemas.microsoft.com/office/powerpoint/2010/main" val="22076486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92944" y="1015155"/>
            <a:ext cx="9413476" cy="6399957"/>
          </a:xfrm>
          <a:prstGeom prst="rect">
            <a:avLst/>
          </a:prstGeom>
        </p:spPr>
        <p:txBody>
          <a:bodyPr wrap="square" lIns="0" tIns="0" rIns="0" bIns="0" rtlCol="0" anchor="t">
            <a:spAutoFit/>
          </a:bodyPr>
          <a:lstStyle/>
          <a:p>
            <a:pPr>
              <a:lnSpc>
                <a:spcPts val="4150"/>
              </a:lnSpc>
            </a:pPr>
            <a:r>
              <a:rPr lang="en-US" sz="2000" dirty="0">
                <a:latin typeface="Antique Olive"/>
                <a:ea typeface="Quicksand"/>
                <a:cs typeface="Quicksand"/>
                <a:sym typeface="Quicksand"/>
              </a:rPr>
              <a:t>The </a:t>
            </a:r>
            <a:r>
              <a:rPr lang="en-US" sz="2000" u="sng" dirty="0">
                <a:latin typeface="Antique Olive"/>
                <a:ea typeface="Quicksand"/>
                <a:cs typeface="Quicksand"/>
                <a:sym typeface="Quicksand"/>
                <a:hlinkClick r:id="rId2" tooltip="https://en.wikipedia.org/wiki/JSON">
                  <a:extLst>
                    <a:ext uri="{A12FA001-AC4F-418D-AE19-62706E023703}">
                      <ahyp:hlinkClr xmlns:ahyp="http://schemas.microsoft.com/office/drawing/2018/hyperlinkcolor" val="tx"/>
                    </a:ext>
                  </a:extLst>
                </a:hlinkClick>
              </a:rPr>
              <a:t>JSON</a:t>
            </a:r>
            <a:r>
              <a:rPr lang="en-US" sz="2000" dirty="0">
                <a:latin typeface="Antique Olive"/>
                <a:ea typeface="Quicksand"/>
                <a:cs typeface="Quicksand"/>
                <a:sym typeface="Quicksand"/>
              </a:rPr>
              <a:t> (JavaScript Object Notation) is a general format to represent values and </a:t>
            </a:r>
            <a:r>
              <a:rPr lang="en-US" sz="2000" dirty="0" err="1">
                <a:latin typeface="Antique Olive"/>
                <a:ea typeface="Quicksand"/>
                <a:cs typeface="Quicksand"/>
                <a:sym typeface="Quicksand"/>
              </a:rPr>
              <a:t>objects.Initially</a:t>
            </a:r>
            <a:r>
              <a:rPr lang="en-US" sz="2000" dirty="0">
                <a:latin typeface="Antique Olive"/>
                <a:ea typeface="Quicksand"/>
                <a:cs typeface="Quicksand"/>
                <a:sym typeface="Quicksand"/>
              </a:rPr>
              <a:t> it was made for JavaScript, but many other languages have libraries to handle it as well. So it’s easy to use JSON for data exchange when the client uses JavaScript and the server is written on Ruby/PHP/Java/Whatever.</a:t>
            </a:r>
          </a:p>
          <a:p>
            <a:pPr>
              <a:lnSpc>
                <a:spcPts val="4150"/>
              </a:lnSpc>
            </a:pPr>
            <a:r>
              <a:rPr lang="en-US" sz="2000" dirty="0">
                <a:latin typeface="Antique Olive"/>
                <a:ea typeface="Quicksand"/>
                <a:cs typeface="Quicksand"/>
                <a:sym typeface="Quicksand"/>
              </a:rPr>
              <a:t>JavaScript provides methods:</a:t>
            </a:r>
          </a:p>
          <a:p>
            <a:pPr marL="527028" lvl="1" indent="-263514">
              <a:lnSpc>
                <a:spcPts val="4150"/>
              </a:lnSpc>
              <a:buFont typeface="Arial"/>
              <a:buChar char="•"/>
            </a:pPr>
            <a:r>
              <a:rPr lang="en-US" sz="2000" dirty="0" err="1">
                <a:latin typeface="Antique Olive"/>
                <a:ea typeface="Quicksand"/>
                <a:cs typeface="Quicksand"/>
                <a:sym typeface="Quicksand"/>
              </a:rPr>
              <a:t>JSON.stringify</a:t>
            </a:r>
            <a:r>
              <a:rPr lang="en-US" sz="2000" dirty="0">
                <a:latin typeface="Antique Olive"/>
                <a:ea typeface="Quicksand"/>
                <a:cs typeface="Quicksand"/>
                <a:sym typeface="Quicksand"/>
              </a:rPr>
              <a:t> to convert objects into JSON.</a:t>
            </a:r>
          </a:p>
          <a:p>
            <a:pPr marL="527028" lvl="1" indent="-263514">
              <a:lnSpc>
                <a:spcPts val="4150"/>
              </a:lnSpc>
              <a:buFont typeface="Arial"/>
              <a:buChar char="•"/>
            </a:pPr>
            <a:r>
              <a:rPr lang="en-US" sz="2000" dirty="0" err="1">
                <a:latin typeface="Antique Olive"/>
                <a:ea typeface="Quicksand"/>
                <a:cs typeface="Quicksand"/>
                <a:sym typeface="Quicksand"/>
              </a:rPr>
              <a:t>JSON.parse</a:t>
            </a:r>
            <a:r>
              <a:rPr lang="en-US" sz="2000" dirty="0">
                <a:latin typeface="Antique Olive"/>
                <a:ea typeface="Quicksand"/>
                <a:cs typeface="Quicksand"/>
                <a:sym typeface="Quicksand"/>
              </a:rPr>
              <a:t> to convert JSON back into an object.</a:t>
            </a: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p:txBody>
      </p:sp>
      <p:sp>
        <p:nvSpPr>
          <p:cNvPr id="3" name="TextBox 3"/>
          <p:cNvSpPr txBox="1"/>
          <p:nvPr/>
        </p:nvSpPr>
        <p:spPr>
          <a:xfrm>
            <a:off x="4659735" y="420266"/>
            <a:ext cx="7532265" cy="710323"/>
          </a:xfrm>
          <a:prstGeom prst="rect">
            <a:avLst/>
          </a:prstGeom>
        </p:spPr>
        <p:txBody>
          <a:bodyPr lIns="0" tIns="0" rIns="0" bIns="0" rtlCol="0" anchor="t">
            <a:spAutoFit/>
          </a:bodyPr>
          <a:lstStyle/>
          <a:p>
            <a:pPr algn="just">
              <a:lnSpc>
                <a:spcPts val="5973"/>
              </a:lnSpc>
              <a:spcBef>
                <a:spcPct val="0"/>
              </a:spcBef>
            </a:pPr>
            <a:r>
              <a:rPr lang="en-US" sz="4000" b="1" dirty="0">
                <a:latin typeface="Antique Olive" panose="020B0603020204030204"/>
                <a:ea typeface="Cormorant Garamond"/>
                <a:cs typeface="Cormorant Garamond"/>
                <a:sym typeface="Cormorant Garamond"/>
              </a:rPr>
              <a:t>JSON</a:t>
            </a:r>
            <a:r>
              <a:rPr lang="en-US" sz="4266" dirty="0">
                <a:solidFill>
                  <a:srgbClr val="0F4662"/>
                </a:solidFill>
                <a:latin typeface="Cormorant Garamond"/>
                <a:ea typeface="Cormorant Garamond"/>
                <a:cs typeface="Cormorant Garamond"/>
                <a:sym typeface="Cormorant Garamond"/>
              </a:rPr>
              <a:t> </a:t>
            </a:r>
          </a:p>
        </p:txBody>
      </p:sp>
    </p:spTree>
    <p:extLst>
      <p:ext uri="{BB962C8B-B14F-4D97-AF65-F5344CB8AC3E}">
        <p14:creationId xmlns:p14="http://schemas.microsoft.com/office/powerpoint/2010/main" val="382677632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78594" y="1029443"/>
            <a:ext cx="11813406" cy="8554393"/>
          </a:xfrm>
          <a:prstGeom prst="rect">
            <a:avLst/>
          </a:prstGeom>
        </p:spPr>
        <p:txBody>
          <a:bodyPr lIns="0" tIns="0" rIns="0" bIns="0" rtlCol="0" anchor="t">
            <a:spAutoFit/>
          </a:bodyPr>
          <a:lstStyle/>
          <a:p>
            <a:pPr>
              <a:lnSpc>
                <a:spcPts val="4150"/>
              </a:lnSpc>
            </a:pPr>
            <a:r>
              <a:rPr lang="en-US" sz="2000" dirty="0">
                <a:latin typeface="Antique Olive"/>
                <a:ea typeface="Quicksand"/>
                <a:cs typeface="Quicksand"/>
                <a:sym typeface="Quicksand"/>
              </a:rPr>
              <a:t>For instance, here we </a:t>
            </a:r>
            <a:r>
              <a:rPr lang="en-US" sz="2000" b="1" dirty="0" err="1">
                <a:latin typeface="Antique Olive"/>
                <a:ea typeface="Quicksand Bold"/>
                <a:cs typeface="Quicksand Bold"/>
                <a:sym typeface="Quicksand Bold"/>
              </a:rPr>
              <a:t>JSON.stringify</a:t>
            </a:r>
            <a:r>
              <a:rPr lang="en-US" sz="2000" dirty="0">
                <a:latin typeface="Antique Olive"/>
                <a:ea typeface="Quicksand"/>
                <a:cs typeface="Quicksand"/>
                <a:sym typeface="Quicksand"/>
              </a:rPr>
              <a:t> a student:</a:t>
            </a:r>
          </a:p>
          <a:p>
            <a:pPr>
              <a:lnSpc>
                <a:spcPts val="4150"/>
              </a:lnSpc>
            </a:pPr>
            <a:r>
              <a:rPr lang="en-US" sz="2000" dirty="0">
                <a:latin typeface="Antique Olive"/>
                <a:ea typeface="Quicksand"/>
                <a:cs typeface="Quicksand"/>
                <a:sym typeface="Quicksand"/>
              </a:rPr>
              <a:t>let student = {name: '</a:t>
            </a:r>
            <a:r>
              <a:rPr lang="en-US" sz="2000" dirty="0" err="1">
                <a:latin typeface="Antique Olive"/>
                <a:ea typeface="Quicksand"/>
                <a:cs typeface="Quicksand"/>
                <a:sym typeface="Quicksand"/>
              </a:rPr>
              <a:t>John',age</a:t>
            </a:r>
            <a:r>
              <a:rPr lang="en-US" sz="2000" dirty="0">
                <a:latin typeface="Antique Olive"/>
                <a:ea typeface="Quicksand"/>
                <a:cs typeface="Quicksand"/>
                <a:sym typeface="Quicksand"/>
              </a:rPr>
              <a:t>: 30,isAdmin: </a:t>
            </a:r>
            <a:r>
              <a:rPr lang="en-US" sz="2000" dirty="0" err="1">
                <a:latin typeface="Antique Olive"/>
                <a:ea typeface="Quicksand"/>
                <a:cs typeface="Quicksand"/>
                <a:sym typeface="Quicksand"/>
              </a:rPr>
              <a:t>false,courses</a:t>
            </a:r>
            <a:r>
              <a:rPr lang="en-US" sz="2000" dirty="0">
                <a:latin typeface="Antique Olive"/>
                <a:ea typeface="Quicksand"/>
                <a:cs typeface="Quicksand"/>
                <a:sym typeface="Quicksand"/>
              </a:rPr>
              <a:t>: ['html', '</a:t>
            </a:r>
            <a:r>
              <a:rPr lang="en-US" sz="2000" dirty="0" err="1">
                <a:latin typeface="Antique Olive"/>
                <a:ea typeface="Quicksand"/>
                <a:cs typeface="Quicksand"/>
                <a:sym typeface="Quicksand"/>
              </a:rPr>
              <a:t>css</a:t>
            </a:r>
            <a:r>
              <a:rPr lang="en-US" sz="2000" dirty="0">
                <a:latin typeface="Antique Olive"/>
                <a:ea typeface="Quicksand"/>
                <a:cs typeface="Quicksand"/>
                <a:sym typeface="Quicksand"/>
              </a:rPr>
              <a:t>', '</a:t>
            </a:r>
            <a:r>
              <a:rPr lang="en-US" sz="2000" dirty="0" err="1">
                <a:latin typeface="Antique Olive"/>
                <a:ea typeface="Quicksand"/>
                <a:cs typeface="Quicksand"/>
                <a:sym typeface="Quicksand"/>
              </a:rPr>
              <a:t>js'</a:t>
            </a:r>
            <a:r>
              <a:rPr lang="en-US" sz="2000" dirty="0">
                <a:latin typeface="Antique Olive"/>
                <a:ea typeface="Quicksand"/>
                <a:cs typeface="Quicksand"/>
                <a:sym typeface="Quicksand"/>
              </a:rPr>
              <a:t>],spouse: null};</a:t>
            </a:r>
          </a:p>
          <a:p>
            <a:pPr>
              <a:lnSpc>
                <a:spcPts val="4150"/>
              </a:lnSpc>
            </a:pPr>
            <a:r>
              <a:rPr lang="en-US" sz="2000" dirty="0">
                <a:latin typeface="Antique Olive"/>
                <a:ea typeface="Quicksand"/>
                <a:cs typeface="Quicksand"/>
                <a:sym typeface="Quicksand"/>
              </a:rPr>
              <a:t>let </a:t>
            </a:r>
            <a:r>
              <a:rPr lang="en-US" sz="2000" dirty="0" err="1">
                <a:latin typeface="Antique Olive"/>
                <a:ea typeface="Quicksand"/>
                <a:cs typeface="Quicksand"/>
                <a:sym typeface="Quicksand"/>
              </a:rPr>
              <a:t>json</a:t>
            </a:r>
            <a:r>
              <a:rPr lang="en-US" sz="2000" dirty="0">
                <a:latin typeface="Antique Olive"/>
                <a:ea typeface="Quicksand"/>
                <a:cs typeface="Quicksand"/>
                <a:sym typeface="Quicksand"/>
              </a:rPr>
              <a:t> = </a:t>
            </a:r>
            <a:r>
              <a:rPr lang="en-US" sz="2000" dirty="0" err="1">
                <a:latin typeface="Antique Olive"/>
                <a:ea typeface="Quicksand"/>
                <a:cs typeface="Quicksand"/>
                <a:sym typeface="Quicksand"/>
              </a:rPr>
              <a:t>JSON.stringify</a:t>
            </a:r>
            <a:r>
              <a:rPr lang="en-US" sz="2000" dirty="0">
                <a:latin typeface="Antique Olive"/>
                <a:ea typeface="Quicksand"/>
                <a:cs typeface="Quicksand"/>
                <a:sym typeface="Quicksand"/>
              </a:rPr>
              <a:t>(student);</a:t>
            </a:r>
          </a:p>
          <a:p>
            <a:pPr>
              <a:lnSpc>
                <a:spcPts val="4150"/>
              </a:lnSpc>
            </a:pPr>
            <a:r>
              <a:rPr lang="en-US" sz="2000" dirty="0">
                <a:latin typeface="Antique Olive"/>
                <a:ea typeface="Quicksand"/>
                <a:cs typeface="Quicksand"/>
                <a:sym typeface="Quicksand"/>
              </a:rPr>
              <a:t>alert(</a:t>
            </a:r>
            <a:r>
              <a:rPr lang="en-US" sz="2000" dirty="0" err="1">
                <a:latin typeface="Antique Olive"/>
                <a:ea typeface="Quicksand"/>
                <a:cs typeface="Quicksand"/>
                <a:sym typeface="Quicksand"/>
              </a:rPr>
              <a:t>typeof</a:t>
            </a:r>
            <a:r>
              <a:rPr lang="en-US" sz="2000" dirty="0">
                <a:latin typeface="Antique Olive"/>
                <a:ea typeface="Quicksand"/>
                <a:cs typeface="Quicksand"/>
                <a:sym typeface="Quicksand"/>
              </a:rPr>
              <a:t> </a:t>
            </a:r>
            <a:r>
              <a:rPr lang="en-US" sz="2000" dirty="0" err="1">
                <a:latin typeface="Antique Olive"/>
                <a:ea typeface="Quicksand"/>
                <a:cs typeface="Quicksand"/>
                <a:sym typeface="Quicksand"/>
              </a:rPr>
              <a:t>json</a:t>
            </a:r>
            <a:r>
              <a:rPr lang="en-US" sz="2000" dirty="0">
                <a:latin typeface="Antique Olive"/>
                <a:ea typeface="Quicksand"/>
                <a:cs typeface="Quicksand"/>
                <a:sym typeface="Quicksand"/>
              </a:rPr>
              <a:t>); // we've got a string!</a:t>
            </a:r>
          </a:p>
          <a:p>
            <a:pPr>
              <a:lnSpc>
                <a:spcPts val="4150"/>
              </a:lnSpc>
            </a:pPr>
            <a:r>
              <a:rPr lang="en-US" sz="2000" dirty="0">
                <a:latin typeface="Antique Olive"/>
                <a:ea typeface="Quicksand"/>
                <a:cs typeface="Quicksand"/>
                <a:sym typeface="Quicksand"/>
              </a:rPr>
              <a:t>alert(</a:t>
            </a:r>
            <a:r>
              <a:rPr lang="en-US" sz="2000" dirty="0" err="1">
                <a:latin typeface="Antique Olive"/>
                <a:ea typeface="Quicksand"/>
                <a:cs typeface="Quicksand"/>
                <a:sym typeface="Quicksand"/>
              </a:rPr>
              <a:t>json</a:t>
            </a:r>
            <a:r>
              <a:rPr lang="en-US" sz="2000" dirty="0">
                <a:latin typeface="Antique Olive"/>
                <a:ea typeface="Quicksand"/>
                <a:cs typeface="Quicksand"/>
                <a:sym typeface="Quicksand"/>
              </a:rPr>
              <a:t>); /* JSON-encoded object:</a:t>
            </a:r>
          </a:p>
          <a:p>
            <a:pPr>
              <a:lnSpc>
                <a:spcPts val="4150"/>
              </a:lnSpc>
            </a:pPr>
            <a:r>
              <a:rPr lang="en-US" sz="2000" dirty="0">
                <a:latin typeface="Antique Olive"/>
                <a:ea typeface="Quicksand"/>
                <a:cs typeface="Quicksand"/>
                <a:sym typeface="Quicksand"/>
              </a:rPr>
              <a:t>‘{</a:t>
            </a:r>
          </a:p>
          <a:p>
            <a:pPr>
              <a:lnSpc>
                <a:spcPts val="4150"/>
              </a:lnSpc>
            </a:pPr>
            <a:r>
              <a:rPr lang="en-US" sz="2000" dirty="0">
                <a:latin typeface="Antique Olive"/>
                <a:ea typeface="Quicksand"/>
                <a:cs typeface="Quicksand"/>
                <a:sym typeface="Quicksand"/>
              </a:rPr>
              <a:t> "name": "</a:t>
            </a:r>
            <a:r>
              <a:rPr lang="en-US" sz="2000" dirty="0" err="1">
                <a:latin typeface="Antique Olive"/>
                <a:ea typeface="Quicksand"/>
                <a:cs typeface="Quicksand"/>
                <a:sym typeface="Quicksand"/>
              </a:rPr>
              <a:t>John","age</a:t>
            </a:r>
            <a:r>
              <a:rPr lang="en-US" sz="2000" dirty="0">
                <a:latin typeface="Antique Olive"/>
                <a:ea typeface="Quicksand"/>
                <a:cs typeface="Quicksand"/>
                <a:sym typeface="Quicksand"/>
              </a:rPr>
              <a:t>": 30,"isAdmin": false,</a:t>
            </a:r>
          </a:p>
          <a:p>
            <a:pPr>
              <a:lnSpc>
                <a:spcPts val="4150"/>
              </a:lnSpc>
            </a:pPr>
            <a:r>
              <a:rPr lang="en-US" sz="2000" dirty="0">
                <a:latin typeface="Antique Olive"/>
                <a:ea typeface="Quicksand"/>
                <a:cs typeface="Quicksand"/>
                <a:sym typeface="Quicksand"/>
              </a:rPr>
              <a:t> "courses": ["html", "</a:t>
            </a:r>
            <a:r>
              <a:rPr lang="en-US" sz="2000" dirty="0" err="1">
                <a:latin typeface="Antique Olive"/>
                <a:ea typeface="Quicksand"/>
                <a:cs typeface="Quicksand"/>
                <a:sym typeface="Quicksand"/>
              </a:rPr>
              <a:t>css</a:t>
            </a:r>
            <a:r>
              <a:rPr lang="en-US" sz="2000" dirty="0">
                <a:latin typeface="Antique Olive"/>
                <a:ea typeface="Quicksand"/>
                <a:cs typeface="Quicksand"/>
                <a:sym typeface="Quicksand"/>
              </a:rPr>
              <a:t>", "</a:t>
            </a:r>
            <a:r>
              <a:rPr lang="en-US" sz="2000" dirty="0" err="1">
                <a:latin typeface="Antique Olive"/>
                <a:ea typeface="Quicksand"/>
                <a:cs typeface="Quicksand"/>
                <a:sym typeface="Quicksand"/>
              </a:rPr>
              <a:t>js</a:t>
            </a:r>
            <a:r>
              <a:rPr lang="en-US" sz="2000" dirty="0">
                <a:latin typeface="Antique Olive"/>
                <a:ea typeface="Quicksand"/>
                <a:cs typeface="Quicksand"/>
                <a:sym typeface="Quicksand"/>
              </a:rPr>
              <a:t>"],"spouse": null</a:t>
            </a:r>
          </a:p>
          <a:p>
            <a:pPr>
              <a:lnSpc>
                <a:spcPts val="4150"/>
              </a:lnSpc>
            </a:pPr>
            <a:r>
              <a:rPr lang="en-US" sz="2000" dirty="0">
                <a:latin typeface="Antique Olive"/>
                <a:ea typeface="Quicksand"/>
                <a:cs typeface="Quicksand"/>
                <a:sym typeface="Quicksand"/>
              </a:rPr>
              <a:t>}’</a:t>
            </a:r>
          </a:p>
          <a:p>
            <a:pPr>
              <a:lnSpc>
                <a:spcPts val="4150"/>
              </a:lnSpc>
            </a:pPr>
            <a:r>
              <a:rPr lang="en-US" sz="2000" dirty="0">
                <a:latin typeface="Antique Olive"/>
                <a:ea typeface="Quicksand"/>
                <a:cs typeface="Quicksand"/>
                <a:sym typeface="Quicksand"/>
              </a:rPr>
              <a:t>*/</a:t>
            </a: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p:txBody>
      </p:sp>
      <p:sp>
        <p:nvSpPr>
          <p:cNvPr id="3" name="TextBox 3"/>
          <p:cNvSpPr txBox="1"/>
          <p:nvPr/>
        </p:nvSpPr>
        <p:spPr>
          <a:xfrm>
            <a:off x="4659735" y="420266"/>
            <a:ext cx="7532265" cy="721672"/>
          </a:xfrm>
          <a:prstGeom prst="rect">
            <a:avLst/>
          </a:prstGeom>
        </p:spPr>
        <p:txBody>
          <a:bodyPr lIns="0" tIns="0" rIns="0" bIns="0" rtlCol="0" anchor="t">
            <a:spAutoFit/>
          </a:bodyPr>
          <a:lstStyle/>
          <a:p>
            <a:pPr algn="just">
              <a:lnSpc>
                <a:spcPts val="5973"/>
              </a:lnSpc>
              <a:spcBef>
                <a:spcPct val="0"/>
              </a:spcBef>
            </a:pPr>
            <a:r>
              <a:rPr lang="en-US" sz="4000" b="1" dirty="0">
                <a:latin typeface="Antique Olive" panose="020B0603020204030204"/>
                <a:ea typeface="Cormorant Garamond"/>
                <a:cs typeface="Cormorant Garamond"/>
                <a:sym typeface="Cormorant Garamond"/>
              </a:rPr>
              <a:t>JSON</a:t>
            </a:r>
            <a:endParaRPr lang="en-US" sz="4000" b="1" dirty="0">
              <a:solidFill>
                <a:srgbClr val="0F4662"/>
              </a:solidFill>
              <a:latin typeface="Cormorant Garamond"/>
              <a:ea typeface="Cormorant Garamond"/>
              <a:cs typeface="Cormorant Garamond"/>
              <a:sym typeface="Cormorant Garamond"/>
            </a:endParaRPr>
          </a:p>
        </p:txBody>
      </p:sp>
    </p:spTree>
    <p:extLst>
      <p:ext uri="{BB962C8B-B14F-4D97-AF65-F5344CB8AC3E}">
        <p14:creationId xmlns:p14="http://schemas.microsoft.com/office/powerpoint/2010/main" val="18061156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78594" y="1029443"/>
            <a:ext cx="11813406" cy="10170220"/>
          </a:xfrm>
          <a:prstGeom prst="rect">
            <a:avLst/>
          </a:prstGeom>
        </p:spPr>
        <p:txBody>
          <a:bodyPr lIns="0" tIns="0" rIns="0" bIns="0" rtlCol="0" anchor="t">
            <a:spAutoFit/>
          </a:bodyPr>
          <a:lstStyle/>
          <a:p>
            <a:pPr>
              <a:lnSpc>
                <a:spcPts val="4150"/>
              </a:lnSpc>
            </a:pPr>
            <a:r>
              <a:rPr lang="en-US" sz="2000" u="sng" dirty="0" err="1">
                <a:latin typeface="Antique Olive"/>
                <a:ea typeface="Quicksand"/>
                <a:cs typeface="Quicksand"/>
                <a:sym typeface="Quicksand"/>
                <a:hlinkClick r:id="rId2" tooltip="https://javascript.info/json#json-parse">
                  <a:extLst>
                    <a:ext uri="{A12FA001-AC4F-418D-AE19-62706E023703}">
                      <ahyp:hlinkClr xmlns:ahyp="http://schemas.microsoft.com/office/drawing/2018/hyperlinkcolor" val="tx"/>
                    </a:ext>
                  </a:extLst>
                </a:hlinkClick>
              </a:rPr>
              <a:t>JSON.pars</a:t>
            </a:r>
            <a:r>
              <a:rPr lang="en-US" sz="2000" u="sng" dirty="0" err="1">
                <a:solidFill>
                  <a:srgbClr val="000000"/>
                </a:solidFill>
                <a:latin typeface="Antique Olive"/>
                <a:ea typeface="Quicksand"/>
                <a:cs typeface="Quicksand"/>
                <a:sym typeface="Quicksand"/>
                <a:hlinkClick r:id="rId2" tooltip="https://javascript.info/json#json-parse">
                  <a:extLst>
                    <a:ext uri="{A12FA001-AC4F-418D-AE19-62706E023703}">
                      <ahyp:hlinkClr xmlns:ahyp="http://schemas.microsoft.com/office/drawing/2018/hyperlinkcolor" val="tx"/>
                    </a:ext>
                  </a:extLst>
                </a:hlinkClick>
              </a:rPr>
              <a:t>e</a:t>
            </a:r>
            <a:endParaRPr lang="en-US" sz="2000" u="sng" dirty="0">
              <a:latin typeface="Antique Olive"/>
              <a:ea typeface="Quicksand"/>
              <a:cs typeface="Quicksand"/>
              <a:sym typeface="Quicksand"/>
              <a:hlinkClick r:id="rId2" tooltip="https://javascript.info/json#json-parse">
                <a:extLst>
                  <a:ext uri="{A12FA001-AC4F-418D-AE19-62706E023703}">
                    <ahyp:hlinkClr xmlns:ahyp="http://schemas.microsoft.com/office/drawing/2018/hyperlinkcolor" val="tx"/>
                  </a:ext>
                </a:extLst>
              </a:hlinkClick>
            </a:endParaRPr>
          </a:p>
          <a:p>
            <a:pPr>
              <a:lnSpc>
                <a:spcPts val="4150"/>
              </a:lnSpc>
            </a:pPr>
            <a:r>
              <a:rPr lang="en-US" sz="2000" dirty="0">
                <a:latin typeface="Antique Olive"/>
                <a:ea typeface="Quicksand"/>
                <a:cs typeface="Quicksand"/>
                <a:sym typeface="Quicksand"/>
              </a:rPr>
              <a:t>To decode a JSON-string, we need another method named </a:t>
            </a:r>
            <a:r>
              <a:rPr lang="en-US" sz="2000" u="sng" dirty="0" err="1">
                <a:latin typeface="Antique Olive"/>
                <a:ea typeface="Quicksand"/>
                <a:cs typeface="Quicksand"/>
                <a:sym typeface="Quicksand"/>
                <a:hlinkClick r:id="rId3" tooltip="https://developer.mozilla.org/en-US/docs/Web/JavaScript/Reference/Global_Objects/JSON/parse">
                  <a:extLst>
                    <a:ext uri="{A12FA001-AC4F-418D-AE19-62706E023703}">
                      <ahyp:hlinkClr xmlns:ahyp="http://schemas.microsoft.com/office/drawing/2018/hyperlinkcolor" val="tx"/>
                    </a:ext>
                  </a:extLst>
                </a:hlinkClick>
              </a:rPr>
              <a:t>JSON.parse</a:t>
            </a:r>
            <a:r>
              <a:rPr lang="en-US" sz="2000" dirty="0">
                <a:latin typeface="Antique Olive"/>
                <a:ea typeface="Quicksand"/>
                <a:cs typeface="Quicksand"/>
                <a:sym typeface="Quicksand"/>
              </a:rPr>
              <a:t>.</a:t>
            </a:r>
          </a:p>
          <a:p>
            <a:pPr>
              <a:lnSpc>
                <a:spcPts val="4150"/>
              </a:lnSpc>
            </a:pPr>
            <a:r>
              <a:rPr lang="en-US" sz="2000" dirty="0">
                <a:latin typeface="Antique Olive"/>
                <a:ea typeface="Quicksand"/>
                <a:cs typeface="Quicksand"/>
                <a:sym typeface="Quicksand"/>
              </a:rPr>
              <a:t>The syntax:</a:t>
            </a:r>
          </a:p>
          <a:p>
            <a:pPr>
              <a:lnSpc>
                <a:spcPts val="4150"/>
              </a:lnSpc>
            </a:pPr>
            <a:r>
              <a:rPr lang="en-US" sz="2000" dirty="0">
                <a:latin typeface="Antique Olive"/>
                <a:ea typeface="Quicksand"/>
                <a:cs typeface="Quicksand"/>
                <a:sym typeface="Quicksand"/>
              </a:rPr>
              <a:t>let value = </a:t>
            </a:r>
            <a:r>
              <a:rPr lang="en-US" sz="2000" dirty="0" err="1">
                <a:latin typeface="Antique Olive"/>
                <a:ea typeface="Quicksand"/>
                <a:cs typeface="Quicksand"/>
                <a:sym typeface="Quicksand"/>
              </a:rPr>
              <a:t>JSON.parse</a:t>
            </a:r>
            <a:r>
              <a:rPr lang="en-US" sz="2000" dirty="0">
                <a:latin typeface="Antique Olive"/>
                <a:ea typeface="Quicksand"/>
                <a:cs typeface="Quicksand"/>
                <a:sym typeface="Quicksand"/>
              </a:rPr>
              <a:t>(str[, reviver]);</a:t>
            </a:r>
          </a:p>
          <a:p>
            <a:pPr>
              <a:lnSpc>
                <a:spcPts val="4150"/>
              </a:lnSpc>
            </a:pPr>
            <a:r>
              <a:rPr lang="en-US" sz="2000" b="1" dirty="0" err="1">
                <a:latin typeface="Antique Olive"/>
                <a:ea typeface="Quicksand Bold"/>
                <a:cs typeface="Quicksand Bold"/>
                <a:sym typeface="Quicksand Bold"/>
              </a:rPr>
              <a:t>str</a:t>
            </a:r>
            <a:r>
              <a:rPr lang="en-US" sz="2000" dirty="0" err="1">
                <a:latin typeface="Antique Olive"/>
                <a:ea typeface="Quicksand"/>
                <a:cs typeface="Quicksand"/>
                <a:sym typeface="Quicksand"/>
              </a:rPr>
              <a:t>:JSON-string</a:t>
            </a:r>
            <a:r>
              <a:rPr lang="en-US" sz="2000" dirty="0">
                <a:latin typeface="Antique Olive"/>
                <a:ea typeface="Quicksand"/>
                <a:cs typeface="Quicksand"/>
                <a:sym typeface="Quicksand"/>
              </a:rPr>
              <a:t> to parse.</a:t>
            </a:r>
          </a:p>
          <a:p>
            <a:pPr>
              <a:lnSpc>
                <a:spcPts val="4150"/>
              </a:lnSpc>
            </a:pPr>
            <a:r>
              <a:rPr lang="en-US" sz="2000" b="1" dirty="0" err="1">
                <a:latin typeface="Antique Olive"/>
                <a:ea typeface="Quicksand Bold"/>
                <a:cs typeface="Quicksand Bold"/>
                <a:sym typeface="Quicksand Bold"/>
              </a:rPr>
              <a:t>reviver</a:t>
            </a:r>
            <a:r>
              <a:rPr lang="en-US" sz="2000" dirty="0" err="1">
                <a:latin typeface="Antique Olive"/>
                <a:ea typeface="Quicksand"/>
                <a:cs typeface="Quicksand"/>
                <a:sym typeface="Quicksand"/>
              </a:rPr>
              <a:t>:Optional</a:t>
            </a:r>
            <a:r>
              <a:rPr lang="en-US" sz="2000" dirty="0">
                <a:latin typeface="Antique Olive"/>
                <a:ea typeface="Quicksand"/>
                <a:cs typeface="Quicksand"/>
                <a:sym typeface="Quicksand"/>
              </a:rPr>
              <a:t> function(</a:t>
            </a:r>
            <a:r>
              <a:rPr lang="en-US" sz="2000" dirty="0" err="1">
                <a:latin typeface="Antique Olive"/>
                <a:ea typeface="Quicksand"/>
                <a:cs typeface="Quicksand"/>
                <a:sym typeface="Quicksand"/>
              </a:rPr>
              <a:t>key,value</a:t>
            </a:r>
            <a:r>
              <a:rPr lang="en-US" sz="2000" dirty="0">
                <a:latin typeface="Antique Olive"/>
                <a:ea typeface="Quicksand"/>
                <a:cs typeface="Quicksand"/>
                <a:sym typeface="Quicksand"/>
              </a:rPr>
              <a:t>) that will be called for each (key, value) pair and can transform the value.</a:t>
            </a:r>
          </a:p>
          <a:p>
            <a:pPr>
              <a:lnSpc>
                <a:spcPts val="4150"/>
              </a:lnSpc>
            </a:pPr>
            <a:r>
              <a:rPr lang="en-US" sz="2000" dirty="0">
                <a:latin typeface="Antique Olive"/>
                <a:ea typeface="Quicksand"/>
                <a:cs typeface="Quicksand"/>
                <a:sym typeface="Quicksand"/>
              </a:rPr>
              <a:t>// stringified array</a:t>
            </a:r>
          </a:p>
          <a:p>
            <a:pPr>
              <a:lnSpc>
                <a:spcPts val="4150"/>
              </a:lnSpc>
            </a:pPr>
            <a:r>
              <a:rPr lang="en-US" sz="2000" dirty="0">
                <a:latin typeface="Antique Olive"/>
                <a:ea typeface="Quicksand"/>
                <a:cs typeface="Quicksand"/>
                <a:sym typeface="Quicksand"/>
              </a:rPr>
              <a:t>let numbers = "[0, 1, 2, 3]";</a:t>
            </a:r>
          </a:p>
          <a:p>
            <a:pPr>
              <a:lnSpc>
                <a:spcPts val="4150"/>
              </a:lnSpc>
            </a:pPr>
            <a:r>
              <a:rPr lang="en-US" sz="2000" dirty="0">
                <a:latin typeface="Antique Olive"/>
                <a:ea typeface="Quicksand"/>
                <a:cs typeface="Quicksand"/>
                <a:sym typeface="Quicksand"/>
              </a:rPr>
              <a:t>numbers = </a:t>
            </a:r>
            <a:r>
              <a:rPr lang="en-US" sz="2000" dirty="0" err="1">
                <a:latin typeface="Antique Olive"/>
                <a:ea typeface="Quicksand"/>
                <a:cs typeface="Quicksand"/>
                <a:sym typeface="Quicksand"/>
              </a:rPr>
              <a:t>JSON.parse</a:t>
            </a:r>
            <a:r>
              <a:rPr lang="en-US" sz="2000" dirty="0">
                <a:latin typeface="Antique Olive"/>
                <a:ea typeface="Quicksand"/>
                <a:cs typeface="Quicksand"/>
                <a:sym typeface="Quicksand"/>
              </a:rPr>
              <a:t>(numbers);</a:t>
            </a:r>
          </a:p>
          <a:p>
            <a:pPr>
              <a:lnSpc>
                <a:spcPts val="4150"/>
              </a:lnSpc>
            </a:pPr>
            <a:r>
              <a:rPr lang="en-US" sz="2000" dirty="0">
                <a:latin typeface="Antique Olive"/>
                <a:ea typeface="Quicksand"/>
                <a:cs typeface="Quicksand"/>
                <a:sym typeface="Quicksand"/>
              </a:rPr>
              <a:t>alert( numbers[1] ); // 1</a:t>
            </a: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p:txBody>
      </p:sp>
      <p:sp>
        <p:nvSpPr>
          <p:cNvPr id="3" name="TextBox 3"/>
          <p:cNvSpPr txBox="1"/>
          <p:nvPr/>
        </p:nvSpPr>
        <p:spPr>
          <a:xfrm>
            <a:off x="4659735" y="420266"/>
            <a:ext cx="7532265" cy="710323"/>
          </a:xfrm>
          <a:prstGeom prst="rect">
            <a:avLst/>
          </a:prstGeom>
        </p:spPr>
        <p:txBody>
          <a:bodyPr lIns="0" tIns="0" rIns="0" bIns="0" rtlCol="0" anchor="t">
            <a:spAutoFit/>
          </a:bodyPr>
          <a:lstStyle/>
          <a:p>
            <a:pPr algn="just">
              <a:lnSpc>
                <a:spcPts val="5973"/>
              </a:lnSpc>
              <a:spcBef>
                <a:spcPct val="0"/>
              </a:spcBef>
            </a:pPr>
            <a:r>
              <a:rPr lang="en-US" sz="4000" b="1" dirty="0">
                <a:latin typeface="Antique Olive" panose="020B0603020204030204"/>
                <a:ea typeface="Cormorant Garamond"/>
                <a:cs typeface="Cormorant Garamond"/>
                <a:sym typeface="Cormorant Garamond"/>
              </a:rPr>
              <a:t>JSON</a:t>
            </a:r>
            <a:r>
              <a:rPr lang="en-US" sz="4266" dirty="0">
                <a:solidFill>
                  <a:srgbClr val="0F4662"/>
                </a:solidFill>
                <a:latin typeface="Cormorant Garamond"/>
                <a:ea typeface="Cormorant Garamond"/>
                <a:cs typeface="Cormorant Garamond"/>
                <a:sym typeface="Cormorant Garamond"/>
              </a:rPr>
              <a:t> </a:t>
            </a:r>
          </a:p>
        </p:txBody>
      </p:sp>
    </p:spTree>
    <p:extLst>
      <p:ext uri="{BB962C8B-B14F-4D97-AF65-F5344CB8AC3E}">
        <p14:creationId xmlns:p14="http://schemas.microsoft.com/office/powerpoint/2010/main" val="246216547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78594" y="1089689"/>
            <a:ext cx="11813406" cy="8015784"/>
          </a:xfrm>
          <a:prstGeom prst="rect">
            <a:avLst/>
          </a:prstGeom>
        </p:spPr>
        <p:txBody>
          <a:bodyPr lIns="0" tIns="0" rIns="0" bIns="0" rtlCol="0" anchor="t">
            <a:spAutoFit/>
          </a:bodyPr>
          <a:lstStyle/>
          <a:p>
            <a:pPr>
              <a:lnSpc>
                <a:spcPts val="4150"/>
              </a:lnSpc>
            </a:pPr>
            <a:r>
              <a:rPr lang="en-US" sz="2441" u="sng" dirty="0" err="1">
                <a:solidFill>
                  <a:srgbClr val="0F4662"/>
                </a:solidFill>
                <a:latin typeface="Quicksand"/>
                <a:ea typeface="Quicksand"/>
                <a:cs typeface="Quicksand"/>
                <a:sym typeface="Quicksand"/>
                <a:hlinkClick r:id="rId2" tooltip="https://javascript.info/json#json-parse"/>
              </a:rPr>
              <a:t>JSON.parse</a:t>
            </a:r>
            <a:endParaRPr lang="en-US" sz="2441" u="sng" dirty="0">
              <a:solidFill>
                <a:srgbClr val="0F4662"/>
              </a:solidFill>
              <a:latin typeface="Quicksand"/>
              <a:ea typeface="Quicksand"/>
              <a:cs typeface="Quicksand"/>
              <a:sym typeface="Quicksand"/>
              <a:hlinkClick r:id="rId2" tooltip="https://javascript.info/json#json-parse"/>
            </a:endParaRPr>
          </a:p>
          <a:p>
            <a:pPr>
              <a:lnSpc>
                <a:spcPts val="4150"/>
              </a:lnSpc>
            </a:pPr>
            <a:r>
              <a:rPr lang="en-US" sz="2000" u="sng" dirty="0">
                <a:latin typeface="Antique Olive"/>
                <a:ea typeface="Quicksand"/>
                <a:cs typeface="Quicksand"/>
                <a:sym typeface="Quicksand"/>
              </a:rPr>
              <a:t>examples:</a:t>
            </a:r>
          </a:p>
          <a:p>
            <a:pPr>
              <a:lnSpc>
                <a:spcPts val="4150"/>
              </a:lnSpc>
            </a:pPr>
            <a:r>
              <a:rPr lang="en-US" sz="2000" dirty="0">
                <a:latin typeface="Antique Olive"/>
                <a:ea typeface="Quicksand"/>
                <a:cs typeface="Quicksand"/>
                <a:sym typeface="Quicksand"/>
              </a:rPr>
              <a:t>let </a:t>
            </a:r>
            <a:r>
              <a:rPr lang="en-US" sz="2000" dirty="0" err="1">
                <a:latin typeface="Antique Olive"/>
                <a:ea typeface="Quicksand"/>
                <a:cs typeface="Quicksand"/>
                <a:sym typeface="Quicksand"/>
              </a:rPr>
              <a:t>userData</a:t>
            </a:r>
            <a:r>
              <a:rPr lang="en-US" sz="2000" dirty="0">
                <a:latin typeface="Antique Olive"/>
                <a:ea typeface="Quicksand"/>
                <a:cs typeface="Quicksand"/>
                <a:sym typeface="Quicksand"/>
              </a:rPr>
              <a:t> = '{ "name": "John", "age": 35, "</a:t>
            </a:r>
            <a:r>
              <a:rPr lang="en-US" sz="2000" dirty="0" err="1">
                <a:latin typeface="Antique Olive"/>
                <a:ea typeface="Quicksand"/>
                <a:cs typeface="Quicksand"/>
                <a:sym typeface="Quicksand"/>
              </a:rPr>
              <a:t>isAdmin</a:t>
            </a:r>
            <a:r>
              <a:rPr lang="en-US" sz="2000" dirty="0">
                <a:latin typeface="Antique Olive"/>
                <a:ea typeface="Quicksand"/>
                <a:cs typeface="Quicksand"/>
                <a:sym typeface="Quicksand"/>
              </a:rPr>
              <a:t>": false, "friends": [0,1,2,3] }';</a:t>
            </a:r>
          </a:p>
          <a:p>
            <a:pPr>
              <a:lnSpc>
                <a:spcPts val="4150"/>
              </a:lnSpc>
            </a:pPr>
            <a:r>
              <a:rPr lang="en-US" sz="2000" dirty="0">
                <a:latin typeface="Antique Olive"/>
                <a:ea typeface="Quicksand"/>
                <a:cs typeface="Quicksand"/>
                <a:sym typeface="Quicksand"/>
              </a:rPr>
              <a:t>let user = </a:t>
            </a:r>
            <a:r>
              <a:rPr lang="en-US" sz="2000" dirty="0" err="1">
                <a:latin typeface="Antique Olive"/>
                <a:ea typeface="Quicksand"/>
                <a:cs typeface="Quicksand"/>
                <a:sym typeface="Quicksand"/>
              </a:rPr>
              <a:t>JSON.parse</a:t>
            </a:r>
            <a:r>
              <a:rPr lang="en-US" sz="2000" dirty="0">
                <a:latin typeface="Antique Olive"/>
                <a:ea typeface="Quicksand"/>
                <a:cs typeface="Quicksand"/>
                <a:sym typeface="Quicksand"/>
              </a:rPr>
              <a:t>(</a:t>
            </a:r>
            <a:r>
              <a:rPr lang="en-US" sz="2000" dirty="0" err="1">
                <a:latin typeface="Antique Olive"/>
                <a:ea typeface="Quicksand"/>
                <a:cs typeface="Quicksand"/>
                <a:sym typeface="Quicksand"/>
              </a:rPr>
              <a:t>userData</a:t>
            </a:r>
            <a:r>
              <a:rPr lang="en-US" sz="2000" dirty="0">
                <a:latin typeface="Antique Olive"/>
                <a:ea typeface="Quicksand"/>
                <a:cs typeface="Quicksand"/>
                <a:sym typeface="Quicksand"/>
              </a:rPr>
              <a:t>);</a:t>
            </a:r>
          </a:p>
          <a:p>
            <a:pPr>
              <a:lnSpc>
                <a:spcPts val="4150"/>
              </a:lnSpc>
            </a:pPr>
            <a:r>
              <a:rPr lang="en-US" sz="2000" dirty="0">
                <a:latin typeface="Antique Olive"/>
                <a:ea typeface="Quicksand"/>
                <a:cs typeface="Quicksand"/>
                <a:sym typeface="Quicksand"/>
              </a:rPr>
              <a:t>alert( </a:t>
            </a:r>
            <a:r>
              <a:rPr lang="en-US" sz="2000" dirty="0" err="1">
                <a:latin typeface="Antique Olive"/>
                <a:ea typeface="Quicksand"/>
                <a:cs typeface="Quicksand"/>
                <a:sym typeface="Quicksand"/>
              </a:rPr>
              <a:t>user.friends</a:t>
            </a:r>
            <a:r>
              <a:rPr lang="en-US" sz="2000" dirty="0">
                <a:latin typeface="Antique Olive"/>
                <a:ea typeface="Quicksand"/>
                <a:cs typeface="Quicksand"/>
                <a:sym typeface="Quicksand"/>
              </a:rPr>
              <a:t>[1] ); // 1</a:t>
            </a: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p:txBody>
      </p:sp>
      <p:sp>
        <p:nvSpPr>
          <p:cNvPr id="3" name="TextBox 3"/>
          <p:cNvSpPr txBox="1"/>
          <p:nvPr/>
        </p:nvSpPr>
        <p:spPr>
          <a:xfrm>
            <a:off x="4659735" y="420266"/>
            <a:ext cx="7532265" cy="710323"/>
          </a:xfrm>
          <a:prstGeom prst="rect">
            <a:avLst/>
          </a:prstGeom>
        </p:spPr>
        <p:txBody>
          <a:bodyPr lIns="0" tIns="0" rIns="0" bIns="0" rtlCol="0" anchor="t">
            <a:spAutoFit/>
          </a:bodyPr>
          <a:lstStyle/>
          <a:p>
            <a:pPr algn="just">
              <a:lnSpc>
                <a:spcPts val="5973"/>
              </a:lnSpc>
              <a:spcBef>
                <a:spcPct val="0"/>
              </a:spcBef>
            </a:pPr>
            <a:r>
              <a:rPr lang="en-US" sz="4000" b="1" dirty="0">
                <a:latin typeface="Antique Olive" panose="020B0603020204030204"/>
                <a:ea typeface="Cormorant Garamond"/>
                <a:cs typeface="Cormorant Garamond"/>
                <a:sym typeface="Cormorant Garamond"/>
              </a:rPr>
              <a:t>JSON</a:t>
            </a:r>
            <a:r>
              <a:rPr lang="en-US" sz="4266" dirty="0">
                <a:solidFill>
                  <a:srgbClr val="0F4662"/>
                </a:solidFill>
                <a:latin typeface="Cormorant Garamond"/>
                <a:ea typeface="Cormorant Garamond"/>
                <a:cs typeface="Cormorant Garamond"/>
                <a:sym typeface="Cormorant Garamond"/>
              </a:rPr>
              <a:t> </a:t>
            </a:r>
          </a:p>
        </p:txBody>
      </p:sp>
    </p:spTree>
    <p:extLst>
      <p:ext uri="{BB962C8B-B14F-4D97-AF65-F5344CB8AC3E}">
        <p14:creationId xmlns:p14="http://schemas.microsoft.com/office/powerpoint/2010/main" val="172041274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1174198"/>
            <a:ext cx="11287478" cy="5861348"/>
          </a:xfrm>
          <a:prstGeom prst="rect">
            <a:avLst/>
          </a:prstGeom>
        </p:spPr>
        <p:txBody>
          <a:bodyPr lIns="0" tIns="0" rIns="0" bIns="0" rtlCol="0" anchor="t">
            <a:spAutoFit/>
          </a:bodyPr>
          <a:lstStyle/>
          <a:p>
            <a:pPr>
              <a:lnSpc>
                <a:spcPts val="4150"/>
              </a:lnSpc>
            </a:pPr>
            <a:r>
              <a:rPr lang="en-US" sz="2000" u="sng" dirty="0">
                <a:latin typeface="Antique Olive"/>
                <a:ea typeface="Quicksand"/>
                <a:cs typeface="Quicksand"/>
                <a:sym typeface="Quicksand"/>
              </a:rPr>
              <a:t>Mathematical Operators:</a:t>
            </a:r>
          </a:p>
          <a:p>
            <a:pPr>
              <a:lnSpc>
                <a:spcPts val="4150"/>
              </a:lnSpc>
            </a:pPr>
            <a:r>
              <a:rPr lang="en-US" sz="2000" dirty="0">
                <a:latin typeface="Antique Olive"/>
                <a:ea typeface="Quicksand"/>
                <a:cs typeface="Quicksand"/>
                <a:sym typeface="Quicksand"/>
              </a:rPr>
              <a:t>The following math operations are supported:</a:t>
            </a:r>
          </a:p>
          <a:p>
            <a:pPr marL="527028" lvl="1" indent="-263514">
              <a:lnSpc>
                <a:spcPts val="4150"/>
              </a:lnSpc>
              <a:buFont typeface="Arial"/>
              <a:buChar char="•"/>
            </a:pPr>
            <a:r>
              <a:rPr lang="en-US" sz="2000" dirty="0">
                <a:latin typeface="Antique Olive"/>
                <a:ea typeface="Quicksand"/>
                <a:cs typeface="Quicksand"/>
                <a:sym typeface="Quicksand"/>
              </a:rPr>
              <a:t>Addition +,</a:t>
            </a:r>
          </a:p>
          <a:p>
            <a:pPr marL="527028" lvl="1" indent="-263514">
              <a:lnSpc>
                <a:spcPts val="4150"/>
              </a:lnSpc>
              <a:buFont typeface="Arial"/>
              <a:buChar char="•"/>
            </a:pPr>
            <a:r>
              <a:rPr lang="en-US" sz="2000" dirty="0">
                <a:latin typeface="Antique Olive"/>
                <a:ea typeface="Quicksand"/>
                <a:cs typeface="Quicksand"/>
                <a:sym typeface="Quicksand"/>
              </a:rPr>
              <a:t>Subtraction -,</a:t>
            </a:r>
          </a:p>
          <a:p>
            <a:pPr marL="527028" lvl="1" indent="-263514">
              <a:lnSpc>
                <a:spcPts val="4150"/>
              </a:lnSpc>
              <a:buFont typeface="Arial"/>
              <a:buChar char="•"/>
            </a:pPr>
            <a:r>
              <a:rPr lang="en-US" sz="2000" dirty="0">
                <a:latin typeface="Antique Olive"/>
                <a:ea typeface="Quicksand"/>
                <a:cs typeface="Quicksand"/>
                <a:sym typeface="Quicksand"/>
              </a:rPr>
              <a:t>Multiplication *,</a:t>
            </a:r>
          </a:p>
          <a:p>
            <a:pPr marL="527028" lvl="1" indent="-263514">
              <a:lnSpc>
                <a:spcPts val="4150"/>
              </a:lnSpc>
              <a:buFont typeface="Arial"/>
              <a:buChar char="•"/>
            </a:pPr>
            <a:r>
              <a:rPr lang="en-US" sz="2000" dirty="0">
                <a:latin typeface="Antique Olive"/>
                <a:ea typeface="Quicksand"/>
                <a:cs typeface="Quicksand"/>
                <a:sym typeface="Quicksand"/>
              </a:rPr>
              <a:t>Division /,</a:t>
            </a:r>
          </a:p>
          <a:p>
            <a:pPr marL="527028" lvl="1" indent="-263514">
              <a:lnSpc>
                <a:spcPts val="4150"/>
              </a:lnSpc>
              <a:buFont typeface="Arial"/>
              <a:buChar char="•"/>
            </a:pPr>
            <a:r>
              <a:rPr lang="en-US" sz="2000" dirty="0">
                <a:latin typeface="Antique Olive"/>
                <a:ea typeface="Quicksand"/>
                <a:cs typeface="Quicksand"/>
                <a:sym typeface="Quicksand"/>
              </a:rPr>
              <a:t>Remainder %,</a:t>
            </a:r>
          </a:p>
          <a:p>
            <a:pPr marL="527028" lvl="1" indent="-263514">
              <a:lnSpc>
                <a:spcPts val="4150"/>
              </a:lnSpc>
              <a:buFont typeface="Arial"/>
              <a:buChar char="•"/>
            </a:pPr>
            <a:r>
              <a:rPr lang="en-US" sz="2000" dirty="0">
                <a:latin typeface="Antique Olive"/>
                <a:ea typeface="Quicksand"/>
                <a:cs typeface="Quicksand"/>
                <a:sym typeface="Quicksand"/>
              </a:rPr>
              <a:t>Exponentiation **.</a:t>
            </a:r>
          </a:p>
          <a:p>
            <a:pPr>
              <a:lnSpc>
                <a:spcPts val="4150"/>
              </a:lnSpc>
            </a:pPr>
            <a:r>
              <a:rPr lang="en-US" sz="2000" dirty="0">
                <a:latin typeface="Antique Olive"/>
                <a:ea typeface="Quicksand"/>
                <a:cs typeface="Quicksand"/>
                <a:sym typeface="Quicksand"/>
              </a:rPr>
              <a:t>The first four are straightforward, while % and ** need a few words about them.</a:t>
            </a:r>
          </a:p>
          <a:p>
            <a:pPr>
              <a:lnSpc>
                <a:spcPts val="4150"/>
              </a:lnSpc>
            </a:pPr>
            <a:endParaRPr lang="en-US" sz="2000" dirty="0">
              <a:latin typeface="Antique Olive"/>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p:txBody>
      </p:sp>
      <p:sp>
        <p:nvSpPr>
          <p:cNvPr id="3" name="TextBox 3"/>
          <p:cNvSpPr txBox="1"/>
          <p:nvPr/>
        </p:nvSpPr>
        <p:spPr>
          <a:xfrm>
            <a:off x="4441013" y="565021"/>
            <a:ext cx="7532265" cy="712503"/>
          </a:xfrm>
          <a:prstGeom prst="rect">
            <a:avLst/>
          </a:prstGeom>
        </p:spPr>
        <p:txBody>
          <a:bodyPr lIns="0" tIns="0" rIns="0" bIns="0" rtlCol="0" anchor="t">
            <a:spAutoFit/>
          </a:bodyPr>
          <a:lstStyle/>
          <a:p>
            <a:pPr algn="just">
              <a:lnSpc>
                <a:spcPts val="5973"/>
              </a:lnSpc>
              <a:spcBef>
                <a:spcPct val="0"/>
              </a:spcBef>
            </a:pPr>
            <a:r>
              <a:rPr lang="en-US" sz="4000" b="1" dirty="0">
                <a:latin typeface="Antique Olive" panose="020B0603020204030204"/>
                <a:ea typeface="Cormorant Garamond"/>
                <a:cs typeface="Cormorant Garamond"/>
                <a:sym typeface="Cormorant Garamond"/>
              </a:rPr>
              <a:t>Operators</a:t>
            </a:r>
          </a:p>
        </p:txBody>
      </p:sp>
    </p:spTree>
    <p:extLst>
      <p:ext uri="{BB962C8B-B14F-4D97-AF65-F5344CB8AC3E}">
        <p14:creationId xmlns:p14="http://schemas.microsoft.com/office/powerpoint/2010/main" val="199163472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1463485"/>
            <a:ext cx="11287478" cy="5861348"/>
          </a:xfrm>
          <a:prstGeom prst="rect">
            <a:avLst/>
          </a:prstGeom>
        </p:spPr>
        <p:txBody>
          <a:bodyPr lIns="0" tIns="0" rIns="0" bIns="0" rtlCol="0" anchor="t">
            <a:spAutoFit/>
          </a:bodyPr>
          <a:lstStyle/>
          <a:p>
            <a:pPr>
              <a:lnSpc>
                <a:spcPts val="4150"/>
              </a:lnSpc>
            </a:pPr>
            <a:r>
              <a:rPr lang="en-US" sz="2000" u="sng" dirty="0">
                <a:latin typeface="Antique Olive" panose="020B0603020204030204"/>
                <a:ea typeface="Quicksand"/>
                <a:cs typeface="Quicksand"/>
                <a:sym typeface="Quicksand"/>
              </a:rPr>
              <a:t>Mathematical Operators:</a:t>
            </a:r>
          </a:p>
          <a:p>
            <a:pPr>
              <a:lnSpc>
                <a:spcPts val="4150"/>
              </a:lnSpc>
            </a:pPr>
            <a:r>
              <a:rPr lang="en-US" sz="2000" u="sng" dirty="0">
                <a:latin typeface="Antique Olive" panose="020B0603020204030204"/>
                <a:ea typeface="Quicksand"/>
                <a:cs typeface="Quicksand"/>
                <a:sym typeface="Quicksand"/>
                <a:hlinkClick r:id="rId2" tooltip="https://javascript.info/operators#remainder">
                  <a:extLst>
                    <a:ext uri="{A12FA001-AC4F-418D-AE19-62706E023703}">
                      <ahyp:hlinkClr xmlns:ahyp="http://schemas.microsoft.com/office/drawing/2018/hyperlinkcolor" val="tx"/>
                    </a:ext>
                  </a:extLst>
                </a:hlinkClick>
              </a:rPr>
              <a:t>Remainder %</a:t>
            </a:r>
          </a:p>
          <a:p>
            <a:pPr>
              <a:lnSpc>
                <a:spcPts val="4150"/>
              </a:lnSpc>
            </a:pPr>
            <a:r>
              <a:rPr lang="en-US" sz="2000" dirty="0">
                <a:latin typeface="Antique Olive" panose="020B0603020204030204"/>
                <a:ea typeface="Quicksand"/>
                <a:cs typeface="Quicksand"/>
                <a:sym typeface="Quicksand"/>
              </a:rPr>
              <a:t>The remainder operator %, despite its appearance, is not related to percents.</a:t>
            </a:r>
          </a:p>
          <a:p>
            <a:pPr>
              <a:lnSpc>
                <a:spcPts val="4150"/>
              </a:lnSpc>
            </a:pPr>
            <a:r>
              <a:rPr lang="en-US" sz="2000" dirty="0">
                <a:latin typeface="Antique Olive" panose="020B0603020204030204"/>
                <a:ea typeface="Quicksand"/>
                <a:cs typeface="Quicksand"/>
                <a:sym typeface="Quicksand"/>
              </a:rPr>
              <a:t>The result of a % b is the </a:t>
            </a:r>
            <a:r>
              <a:rPr lang="en-US" sz="2000" u="sng" dirty="0">
                <a:latin typeface="Antique Olive" panose="020B0603020204030204"/>
                <a:ea typeface="Quicksand"/>
                <a:cs typeface="Quicksand"/>
                <a:sym typeface="Quicksand"/>
                <a:hlinkClick r:id="rId3" tooltip="https://en.wikipedia.org/wiki/Remainder">
                  <a:extLst>
                    <a:ext uri="{A12FA001-AC4F-418D-AE19-62706E023703}">
                      <ahyp:hlinkClr xmlns:ahyp="http://schemas.microsoft.com/office/drawing/2018/hyperlinkcolor" val="tx"/>
                    </a:ext>
                  </a:extLst>
                </a:hlinkClick>
              </a:rPr>
              <a:t>remainder</a:t>
            </a:r>
            <a:r>
              <a:rPr lang="en-US" sz="2000" dirty="0">
                <a:latin typeface="Antique Olive" panose="020B0603020204030204"/>
                <a:ea typeface="Quicksand"/>
                <a:cs typeface="Quicksand"/>
                <a:sym typeface="Quicksand"/>
              </a:rPr>
              <a:t> of the integer division of a by b.</a:t>
            </a:r>
          </a:p>
          <a:p>
            <a:pPr>
              <a:lnSpc>
                <a:spcPts val="4150"/>
              </a:lnSpc>
            </a:pPr>
            <a:r>
              <a:rPr lang="en-US" sz="2000" dirty="0">
                <a:latin typeface="Antique Olive" panose="020B0603020204030204"/>
                <a:ea typeface="Quicksand"/>
                <a:cs typeface="Quicksand"/>
                <a:sym typeface="Quicksand"/>
              </a:rPr>
              <a:t>For instance:</a:t>
            </a:r>
          </a:p>
          <a:p>
            <a:pPr>
              <a:lnSpc>
                <a:spcPts val="4150"/>
              </a:lnSpc>
            </a:pPr>
            <a:r>
              <a:rPr lang="en-US" sz="2000" dirty="0">
                <a:latin typeface="Antique Olive" panose="020B0603020204030204"/>
                <a:ea typeface="Quicksand"/>
                <a:cs typeface="Quicksand"/>
                <a:sym typeface="Quicksand"/>
              </a:rPr>
              <a:t>alert( 5 % 2 ); // 1, the remainder of 5 divided by 2</a:t>
            </a:r>
          </a:p>
          <a:p>
            <a:pPr>
              <a:lnSpc>
                <a:spcPts val="4150"/>
              </a:lnSpc>
            </a:pPr>
            <a:r>
              <a:rPr lang="en-US" sz="2000" dirty="0">
                <a:latin typeface="Antique Olive" panose="020B0603020204030204"/>
                <a:ea typeface="Quicksand"/>
                <a:cs typeface="Quicksand"/>
                <a:sym typeface="Quicksand"/>
              </a:rPr>
              <a:t>alert( 8 % 3 ); // 2, the remainder of 8 divided by 3</a:t>
            </a:r>
          </a:p>
          <a:p>
            <a:pPr>
              <a:lnSpc>
                <a:spcPts val="4150"/>
              </a:lnSpc>
            </a:pPr>
            <a:r>
              <a:rPr lang="en-US" sz="2000" dirty="0">
                <a:latin typeface="Antique Olive" panose="020B0603020204030204"/>
                <a:ea typeface="Quicksand"/>
                <a:cs typeface="Quicksand"/>
                <a:sym typeface="Quicksand"/>
              </a:rPr>
              <a:t>alert( 8 % 4 ); // 0, the remainder of 8 divided by 4</a:t>
            </a: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p:txBody>
      </p:sp>
      <p:sp>
        <p:nvSpPr>
          <p:cNvPr id="3" name="TextBox 3"/>
          <p:cNvSpPr txBox="1"/>
          <p:nvPr/>
        </p:nvSpPr>
        <p:spPr>
          <a:xfrm>
            <a:off x="4441013" y="565021"/>
            <a:ext cx="7532265" cy="712503"/>
          </a:xfrm>
          <a:prstGeom prst="rect">
            <a:avLst/>
          </a:prstGeom>
        </p:spPr>
        <p:txBody>
          <a:bodyPr lIns="0" tIns="0" rIns="0" bIns="0" rtlCol="0" anchor="t">
            <a:spAutoFit/>
          </a:bodyPr>
          <a:lstStyle/>
          <a:p>
            <a:pPr algn="just">
              <a:lnSpc>
                <a:spcPts val="5973"/>
              </a:lnSpc>
              <a:spcBef>
                <a:spcPct val="0"/>
              </a:spcBef>
            </a:pPr>
            <a:r>
              <a:rPr lang="en-US" sz="4000" b="1" dirty="0">
                <a:latin typeface="Antique Olive" panose="020B0603020204030204"/>
                <a:ea typeface="Cormorant Garamond"/>
                <a:cs typeface="Cormorant Garamond"/>
                <a:sym typeface="Cormorant Garamond"/>
              </a:rPr>
              <a:t>Operators</a:t>
            </a:r>
          </a:p>
        </p:txBody>
      </p:sp>
    </p:spTree>
    <p:extLst>
      <p:ext uri="{BB962C8B-B14F-4D97-AF65-F5344CB8AC3E}">
        <p14:creationId xmlns:p14="http://schemas.microsoft.com/office/powerpoint/2010/main" val="52968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1442448"/>
            <a:ext cx="11287478" cy="6399957"/>
          </a:xfrm>
          <a:prstGeom prst="rect">
            <a:avLst/>
          </a:prstGeom>
        </p:spPr>
        <p:txBody>
          <a:bodyPr lIns="0" tIns="0" rIns="0" bIns="0" rtlCol="0" anchor="t">
            <a:spAutoFit/>
          </a:bodyPr>
          <a:lstStyle/>
          <a:p>
            <a:pPr>
              <a:lnSpc>
                <a:spcPts val="4150"/>
              </a:lnSpc>
            </a:pPr>
            <a:r>
              <a:rPr lang="en-US" sz="2000" dirty="0">
                <a:latin typeface="Antique Olive" panose="020B0603020204030204"/>
                <a:ea typeface="Quicksand"/>
                <a:cs typeface="Quicksand"/>
                <a:sym typeface="Quicksand"/>
              </a:rPr>
              <a:t>Mathematical Operators:</a:t>
            </a:r>
          </a:p>
          <a:p>
            <a:pPr>
              <a:lnSpc>
                <a:spcPts val="4150"/>
              </a:lnSpc>
            </a:pPr>
            <a:r>
              <a:rPr lang="en-US" sz="2000" dirty="0">
                <a:latin typeface="Antique Olive" panose="020B0603020204030204"/>
                <a:ea typeface="Quicksand"/>
                <a:cs typeface="Quicksand"/>
                <a:sym typeface="Quicksand"/>
              </a:rPr>
              <a:t>Exponentiation **</a:t>
            </a:r>
          </a:p>
          <a:p>
            <a:pPr>
              <a:lnSpc>
                <a:spcPts val="4150"/>
              </a:lnSpc>
            </a:pPr>
            <a:r>
              <a:rPr lang="en-US" sz="2000" dirty="0">
                <a:latin typeface="Antique Olive" panose="020B0603020204030204"/>
                <a:ea typeface="Quicksand"/>
                <a:cs typeface="Quicksand"/>
                <a:sym typeface="Quicksand"/>
              </a:rPr>
              <a:t>The exponentiation operator a ** b raises a to the power of b.</a:t>
            </a:r>
          </a:p>
          <a:p>
            <a:pPr>
              <a:lnSpc>
                <a:spcPts val="4150"/>
              </a:lnSpc>
            </a:pPr>
            <a:r>
              <a:rPr lang="en-US" sz="2000" dirty="0">
                <a:latin typeface="Antique Olive" panose="020B0603020204030204"/>
                <a:ea typeface="Quicksand"/>
                <a:cs typeface="Quicksand"/>
                <a:sym typeface="Quicksand"/>
              </a:rPr>
              <a:t>In school </a:t>
            </a:r>
            <a:r>
              <a:rPr lang="en-US" sz="2000" dirty="0" err="1">
                <a:latin typeface="Antique Olive" panose="020B0603020204030204"/>
                <a:ea typeface="Quicksand"/>
                <a:cs typeface="Quicksand"/>
                <a:sym typeface="Quicksand"/>
              </a:rPr>
              <a:t>maths</a:t>
            </a:r>
            <a:r>
              <a:rPr lang="en-US" sz="2000" dirty="0">
                <a:latin typeface="Antique Olive" panose="020B0603020204030204"/>
                <a:ea typeface="Quicksand"/>
                <a:cs typeface="Quicksand"/>
                <a:sym typeface="Quicksand"/>
              </a:rPr>
              <a:t>, we write that as ab.</a:t>
            </a:r>
          </a:p>
          <a:p>
            <a:pPr>
              <a:lnSpc>
                <a:spcPts val="4150"/>
              </a:lnSpc>
            </a:pPr>
            <a:r>
              <a:rPr lang="en-US" sz="2000" b="1" dirty="0">
                <a:latin typeface="Antique Olive" panose="020B0603020204030204"/>
                <a:ea typeface="Quicksand Bold"/>
                <a:cs typeface="Quicksand Bold"/>
                <a:sym typeface="Quicksand Bold"/>
              </a:rPr>
              <a:t>For instance:</a:t>
            </a:r>
          </a:p>
          <a:p>
            <a:pPr>
              <a:lnSpc>
                <a:spcPts val="4150"/>
              </a:lnSpc>
            </a:pPr>
            <a:r>
              <a:rPr lang="en-US" sz="2000" dirty="0">
                <a:latin typeface="Antique Olive" panose="020B0603020204030204"/>
                <a:ea typeface="Quicksand"/>
                <a:cs typeface="Quicksand"/>
                <a:sym typeface="Quicksand"/>
              </a:rPr>
              <a:t>alert( 2 ** 2 ); // 2² = 4</a:t>
            </a:r>
          </a:p>
          <a:p>
            <a:pPr>
              <a:lnSpc>
                <a:spcPts val="4150"/>
              </a:lnSpc>
            </a:pPr>
            <a:r>
              <a:rPr lang="en-US" sz="2000" dirty="0">
                <a:latin typeface="Antique Olive" panose="020B0603020204030204"/>
                <a:ea typeface="Quicksand"/>
                <a:cs typeface="Quicksand"/>
                <a:sym typeface="Quicksand"/>
              </a:rPr>
              <a:t>alert( 2 ** 3 ); // 2³ = 8</a:t>
            </a:r>
          </a:p>
          <a:p>
            <a:pPr>
              <a:lnSpc>
                <a:spcPts val="4150"/>
              </a:lnSpc>
            </a:pPr>
            <a:r>
              <a:rPr lang="en-US" sz="2000" dirty="0">
                <a:latin typeface="Antique Olive" panose="020B0603020204030204"/>
                <a:ea typeface="Quicksand"/>
                <a:cs typeface="Quicksand"/>
                <a:sym typeface="Quicksand"/>
              </a:rPr>
              <a:t>alert( 2 ** 4 ); // 2⁴ = 16</a:t>
            </a:r>
            <a:endParaRPr lang="en-US" sz="2000" dirty="0">
              <a:latin typeface="Antique Olive" panose="020B0603020204030204"/>
              <a:ea typeface="Quicksand"/>
              <a:cs typeface="Quicksand"/>
              <a:sym typeface="Quicksand"/>
              <a:hlinkClick r:id="rId2" tooltip="https://javascript.info/operators#remainder">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perators#remainder">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perators#remainder">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perators#remainder">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perators#remainder">
                <a:extLst>
                  <a:ext uri="{A12FA001-AC4F-418D-AE19-62706E023703}">
                    <ahyp:hlinkClr xmlns:ahyp="http://schemas.microsoft.com/office/drawing/2018/hyperlinkcolor" val="tx"/>
                  </a:ext>
                </a:extLst>
              </a:hlinkClick>
            </a:endParaRPr>
          </a:p>
        </p:txBody>
      </p:sp>
      <p:sp>
        <p:nvSpPr>
          <p:cNvPr id="3" name="TextBox 3"/>
          <p:cNvSpPr txBox="1"/>
          <p:nvPr/>
        </p:nvSpPr>
        <p:spPr>
          <a:xfrm>
            <a:off x="4441013" y="565021"/>
            <a:ext cx="7532265" cy="721480"/>
          </a:xfrm>
          <a:prstGeom prst="rect">
            <a:avLst/>
          </a:prstGeom>
        </p:spPr>
        <p:txBody>
          <a:bodyPr lIns="0" tIns="0" rIns="0" bIns="0" rtlCol="0" anchor="t">
            <a:spAutoFit/>
          </a:bodyPr>
          <a:lstStyle/>
          <a:p>
            <a:pPr algn="just">
              <a:lnSpc>
                <a:spcPts val="5973"/>
              </a:lnSpc>
              <a:spcBef>
                <a:spcPct val="0"/>
              </a:spcBef>
            </a:pPr>
            <a:r>
              <a:rPr lang="en-US" sz="4000" b="1" dirty="0">
                <a:latin typeface="Antique Olive" panose="020B0603020204030204"/>
                <a:ea typeface="Cormorant Garamond"/>
                <a:cs typeface="Cormorant Garamond"/>
                <a:sym typeface="Cormorant Garamond"/>
              </a:rPr>
              <a:t>Operators</a:t>
            </a:r>
          </a:p>
        </p:txBody>
      </p:sp>
    </p:spTree>
    <p:extLst>
      <p:ext uri="{BB962C8B-B14F-4D97-AF65-F5344CB8AC3E}">
        <p14:creationId xmlns:p14="http://schemas.microsoft.com/office/powerpoint/2010/main" val="64686917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1005900"/>
            <a:ext cx="11287478" cy="5861348"/>
          </a:xfrm>
          <a:prstGeom prst="rect">
            <a:avLst/>
          </a:prstGeom>
        </p:spPr>
        <p:txBody>
          <a:bodyPr lIns="0" tIns="0" rIns="0" bIns="0" rtlCol="0" anchor="t">
            <a:spAutoFit/>
          </a:bodyPr>
          <a:lstStyle/>
          <a:p>
            <a:pPr>
              <a:lnSpc>
                <a:spcPts val="4150"/>
              </a:lnSpc>
            </a:pPr>
            <a:r>
              <a:rPr lang="en-US" sz="2000" u="sng" dirty="0">
                <a:latin typeface="Antique Olive" panose="020B0603020204030204"/>
                <a:ea typeface="Quicksand"/>
                <a:cs typeface="Quicksand"/>
                <a:sym typeface="Quicksand"/>
              </a:rPr>
              <a:t>Assignment Operators </a:t>
            </a:r>
          </a:p>
          <a:p>
            <a:pPr>
              <a:lnSpc>
                <a:spcPts val="4150"/>
              </a:lnSpc>
            </a:pPr>
            <a:r>
              <a:rPr lang="en-US" sz="2000" dirty="0">
                <a:latin typeface="Antique Olive" panose="020B0603020204030204"/>
                <a:ea typeface="Quicksand"/>
                <a:cs typeface="Quicksand"/>
                <a:sym typeface="Quicksand"/>
              </a:rPr>
              <a:t>Let’s note that an assignment = is also an operator. It is listed in the precedence table with the very low priority of 2.</a:t>
            </a:r>
          </a:p>
          <a:p>
            <a:pPr>
              <a:lnSpc>
                <a:spcPts val="4150"/>
              </a:lnSpc>
            </a:pPr>
            <a:r>
              <a:rPr lang="en-US" sz="2000" dirty="0">
                <a:latin typeface="Antique Olive" panose="020B0603020204030204"/>
                <a:ea typeface="Quicksand"/>
                <a:cs typeface="Quicksand"/>
                <a:sym typeface="Quicksand"/>
              </a:rPr>
              <a:t>That’s why, when we assign a variable, like x = 2 * 2 + 1, the calculations are done first and then the = is evaluated, storing the result in x.</a:t>
            </a:r>
          </a:p>
          <a:p>
            <a:pPr>
              <a:lnSpc>
                <a:spcPts val="4150"/>
              </a:lnSpc>
            </a:pPr>
            <a:r>
              <a:rPr lang="en-US" sz="2000" dirty="0">
                <a:latin typeface="Antique Olive" panose="020B0603020204030204"/>
                <a:ea typeface="Quicksand"/>
                <a:cs typeface="Quicksand"/>
                <a:sym typeface="Quicksand"/>
              </a:rPr>
              <a:t>let x = 2 * 2 + 1;            alert( x ); // 5</a:t>
            </a:r>
          </a:p>
          <a:p>
            <a:pPr>
              <a:lnSpc>
                <a:spcPts val="4150"/>
              </a:lnSpc>
            </a:pPr>
            <a:r>
              <a:rPr lang="en-US" sz="2000" u="sng" dirty="0">
                <a:latin typeface="Antique Olive" panose="020B0603020204030204"/>
                <a:ea typeface="Quicksand"/>
                <a:cs typeface="Quicksand"/>
                <a:sym typeface="Quicksand"/>
              </a:rPr>
              <a:t>Assignment = returns a value</a:t>
            </a:r>
          </a:p>
          <a:p>
            <a:pPr>
              <a:lnSpc>
                <a:spcPts val="4150"/>
              </a:lnSpc>
            </a:pPr>
            <a:r>
              <a:rPr lang="en-US" sz="2000" dirty="0">
                <a:latin typeface="Antique Olive" panose="020B0603020204030204"/>
                <a:ea typeface="Quicksand"/>
                <a:cs typeface="Quicksand"/>
                <a:sym typeface="Quicksand"/>
              </a:rPr>
              <a:t>The fact of = being an operator, not a “magical” language construct has an interesting implication.</a:t>
            </a:r>
          </a:p>
          <a:p>
            <a:pPr>
              <a:lnSpc>
                <a:spcPts val="4150"/>
              </a:lnSpc>
            </a:pPr>
            <a:r>
              <a:rPr lang="en-US" sz="2000" dirty="0">
                <a:latin typeface="Antique Olive" panose="020B0603020204030204"/>
                <a:ea typeface="Quicksand"/>
                <a:cs typeface="Quicksand"/>
                <a:sym typeface="Quicksand"/>
              </a:rPr>
              <a:t>All operators in JavaScript return a value. That’s obvious for + and -, but also true for =.The call x = value writes the value into x and then returns it.</a:t>
            </a:r>
          </a:p>
          <a:p>
            <a:pPr>
              <a:lnSpc>
                <a:spcPts val="4150"/>
              </a:lnSpc>
            </a:pPr>
            <a:endParaRPr lang="en-US" sz="2441" dirty="0">
              <a:solidFill>
                <a:srgbClr val="0F4662"/>
              </a:solidFill>
              <a:latin typeface="Quicksand"/>
              <a:ea typeface="Quicksand"/>
              <a:cs typeface="Quicksand"/>
              <a:sym typeface="Quicksand"/>
            </a:endParaRPr>
          </a:p>
        </p:txBody>
      </p:sp>
      <p:sp>
        <p:nvSpPr>
          <p:cNvPr id="3" name="TextBox 3"/>
          <p:cNvSpPr txBox="1"/>
          <p:nvPr/>
        </p:nvSpPr>
        <p:spPr>
          <a:xfrm>
            <a:off x="4441013" y="396724"/>
            <a:ext cx="7532265" cy="712503"/>
          </a:xfrm>
          <a:prstGeom prst="rect">
            <a:avLst/>
          </a:prstGeom>
        </p:spPr>
        <p:txBody>
          <a:bodyPr lIns="0" tIns="0" rIns="0" bIns="0" rtlCol="0" anchor="t">
            <a:spAutoFit/>
          </a:bodyPr>
          <a:lstStyle/>
          <a:p>
            <a:pPr algn="just">
              <a:lnSpc>
                <a:spcPts val="5973"/>
              </a:lnSpc>
              <a:spcBef>
                <a:spcPct val="0"/>
              </a:spcBef>
            </a:pPr>
            <a:r>
              <a:rPr lang="en-US" sz="4000" b="1" dirty="0">
                <a:latin typeface="Antique Olive" panose="020B0603020204030204"/>
                <a:ea typeface="Cormorant Garamond"/>
                <a:cs typeface="Cormorant Garamond"/>
                <a:sym typeface="Cormorant Garamond"/>
              </a:rPr>
              <a:t>Operators</a:t>
            </a:r>
          </a:p>
        </p:txBody>
      </p:sp>
    </p:spTree>
    <p:extLst>
      <p:ext uri="{BB962C8B-B14F-4D97-AF65-F5344CB8AC3E}">
        <p14:creationId xmlns:p14="http://schemas.microsoft.com/office/powerpoint/2010/main" val="414001853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1174198"/>
            <a:ext cx="11287478" cy="5322739"/>
          </a:xfrm>
          <a:prstGeom prst="rect">
            <a:avLst/>
          </a:prstGeom>
        </p:spPr>
        <p:txBody>
          <a:bodyPr lIns="0" tIns="0" rIns="0" bIns="0" rtlCol="0" anchor="t">
            <a:spAutoFit/>
          </a:bodyPr>
          <a:lstStyle/>
          <a:p>
            <a:pPr>
              <a:lnSpc>
                <a:spcPts val="4150"/>
              </a:lnSpc>
            </a:pPr>
            <a:r>
              <a:rPr lang="en-US" sz="2000" u="sng" dirty="0">
                <a:latin typeface="Antique Olive" panose="020B0603020204030204"/>
                <a:ea typeface="Quicksand"/>
                <a:cs typeface="Quicksand"/>
                <a:sym typeface="Quicksand"/>
                <a:hlinkClick r:id="rId2" tooltip="https://javascript.info/operators#string-concatenation-with-binary">
                  <a:extLst>
                    <a:ext uri="{A12FA001-AC4F-418D-AE19-62706E023703}">
                      <ahyp:hlinkClr xmlns:ahyp="http://schemas.microsoft.com/office/drawing/2018/hyperlinkcolor" val="tx"/>
                    </a:ext>
                  </a:extLst>
                </a:hlinkClick>
              </a:rPr>
              <a:t>String concatenation with binary +</a:t>
            </a:r>
          </a:p>
          <a:p>
            <a:pPr>
              <a:lnSpc>
                <a:spcPts val="4150"/>
              </a:lnSpc>
            </a:pPr>
            <a:r>
              <a:rPr lang="en-US" sz="2000" dirty="0">
                <a:latin typeface="Antique Olive" panose="020B0603020204030204"/>
                <a:ea typeface="Quicksand"/>
                <a:cs typeface="Quicksand"/>
                <a:sym typeface="Quicksand"/>
              </a:rPr>
              <a:t>Let’s meet the features of JavaScript operators that are beyond school </a:t>
            </a:r>
            <a:r>
              <a:rPr lang="en-US" sz="2000" dirty="0" err="1">
                <a:latin typeface="Antique Olive" panose="020B0603020204030204"/>
                <a:ea typeface="Quicksand"/>
                <a:cs typeface="Quicksand"/>
                <a:sym typeface="Quicksand"/>
              </a:rPr>
              <a:t>arithmetics</a:t>
            </a:r>
            <a:r>
              <a:rPr lang="en-US" sz="2000" dirty="0">
                <a:latin typeface="Antique Olive" panose="020B0603020204030204"/>
                <a:ea typeface="Quicksand"/>
                <a:cs typeface="Quicksand"/>
                <a:sym typeface="Quicksand"/>
              </a:rPr>
              <a:t>.</a:t>
            </a:r>
          </a:p>
          <a:p>
            <a:pPr>
              <a:lnSpc>
                <a:spcPts val="4150"/>
              </a:lnSpc>
            </a:pPr>
            <a:r>
              <a:rPr lang="en-US" sz="2000" dirty="0">
                <a:latin typeface="Antique Olive" panose="020B0603020204030204"/>
                <a:ea typeface="Quicksand"/>
                <a:cs typeface="Quicksand"/>
                <a:sym typeface="Quicksand"/>
              </a:rPr>
              <a:t>Usually, the plus operator + sums numbers.</a:t>
            </a:r>
          </a:p>
          <a:p>
            <a:pPr>
              <a:lnSpc>
                <a:spcPts val="4150"/>
              </a:lnSpc>
            </a:pPr>
            <a:r>
              <a:rPr lang="en-US" sz="2000" dirty="0">
                <a:latin typeface="Antique Olive" panose="020B0603020204030204"/>
                <a:ea typeface="Quicksand"/>
                <a:cs typeface="Quicksand"/>
                <a:sym typeface="Quicksand"/>
              </a:rPr>
              <a:t>But, if the binary + is applied to strings, it merges (concatenates) them:</a:t>
            </a:r>
          </a:p>
          <a:p>
            <a:pPr>
              <a:lnSpc>
                <a:spcPts val="4150"/>
              </a:lnSpc>
            </a:pPr>
            <a:r>
              <a:rPr lang="en-US" sz="2000" dirty="0">
                <a:latin typeface="Antique Olive" panose="020B0603020204030204"/>
                <a:ea typeface="Quicksand"/>
                <a:cs typeface="Quicksand"/>
                <a:sym typeface="Quicksand"/>
              </a:rPr>
              <a:t>let s = "my" + "</a:t>
            </a:r>
            <a:r>
              <a:rPr lang="en-US" sz="2000" dirty="0" err="1">
                <a:latin typeface="Antique Olive" panose="020B0603020204030204"/>
                <a:ea typeface="Quicksand"/>
                <a:cs typeface="Quicksand"/>
                <a:sym typeface="Quicksand"/>
              </a:rPr>
              <a:t>string";alert</a:t>
            </a:r>
            <a:r>
              <a:rPr lang="en-US" sz="2000" dirty="0">
                <a:latin typeface="Antique Olive" panose="020B0603020204030204"/>
                <a:ea typeface="Quicksand"/>
                <a:cs typeface="Quicksand"/>
                <a:sym typeface="Quicksand"/>
              </a:rPr>
              <a:t>(s); // </a:t>
            </a:r>
            <a:r>
              <a:rPr lang="en-US" sz="2000" dirty="0" err="1">
                <a:latin typeface="Antique Olive" panose="020B0603020204030204"/>
                <a:ea typeface="Quicksand"/>
                <a:cs typeface="Quicksand"/>
                <a:sym typeface="Quicksand"/>
              </a:rPr>
              <a:t>mystring</a:t>
            </a:r>
            <a:endParaRPr lang="en-US" sz="2000" dirty="0">
              <a:latin typeface="Antique Olive" panose="020B0603020204030204"/>
              <a:ea typeface="Quicksand"/>
              <a:cs typeface="Quicksand"/>
              <a:sym typeface="Quicksand"/>
            </a:endParaRPr>
          </a:p>
          <a:p>
            <a:pPr>
              <a:lnSpc>
                <a:spcPts val="4150"/>
              </a:lnSpc>
            </a:pPr>
            <a:r>
              <a:rPr lang="en-US" sz="2000" dirty="0">
                <a:latin typeface="Antique Olive" panose="020B0603020204030204"/>
                <a:ea typeface="Quicksand"/>
                <a:cs typeface="Quicksand"/>
                <a:sym typeface="Quicksand"/>
              </a:rPr>
              <a:t>Note that if any of the operands is a string, then the other one is converted to a string too.</a:t>
            </a:r>
          </a:p>
          <a:p>
            <a:pPr>
              <a:lnSpc>
                <a:spcPts val="4150"/>
              </a:lnSpc>
            </a:pPr>
            <a:r>
              <a:rPr lang="en-US" sz="2000" b="1" dirty="0">
                <a:latin typeface="Antique Olive" panose="020B0603020204030204"/>
                <a:ea typeface="Quicksand Bold"/>
                <a:cs typeface="Quicksand Bold"/>
                <a:sym typeface="Quicksand Bold"/>
              </a:rPr>
              <a:t>For example:</a:t>
            </a:r>
          </a:p>
          <a:p>
            <a:pPr>
              <a:lnSpc>
                <a:spcPts val="4150"/>
              </a:lnSpc>
            </a:pPr>
            <a:r>
              <a:rPr lang="en-US" sz="2000" dirty="0">
                <a:latin typeface="Antique Olive" panose="020B0603020204030204"/>
                <a:ea typeface="Quicksand"/>
                <a:cs typeface="Quicksand"/>
                <a:sym typeface="Quicksand"/>
              </a:rPr>
              <a:t>alert( '1' + 2 ); // "12"</a:t>
            </a:r>
          </a:p>
          <a:p>
            <a:pPr>
              <a:lnSpc>
                <a:spcPts val="4150"/>
              </a:lnSpc>
            </a:pPr>
            <a:r>
              <a:rPr lang="en-US" sz="2000" dirty="0">
                <a:latin typeface="Antique Olive" panose="020B0603020204030204"/>
                <a:ea typeface="Quicksand"/>
                <a:cs typeface="Quicksand"/>
                <a:sym typeface="Quicksand"/>
              </a:rPr>
              <a:t>alert( 2 + '1' ); // "21"</a:t>
            </a:r>
          </a:p>
          <a:p>
            <a:pPr>
              <a:lnSpc>
                <a:spcPts val="4150"/>
              </a:lnSpc>
            </a:pPr>
            <a:endParaRPr lang="en-US" sz="2441" dirty="0">
              <a:solidFill>
                <a:srgbClr val="0F4662"/>
              </a:solidFill>
              <a:latin typeface="Quicksand"/>
              <a:ea typeface="Quicksand"/>
              <a:cs typeface="Quicksand"/>
              <a:sym typeface="Quicksand"/>
            </a:endParaRPr>
          </a:p>
        </p:txBody>
      </p:sp>
      <p:sp>
        <p:nvSpPr>
          <p:cNvPr id="3" name="TextBox 3"/>
          <p:cNvSpPr txBox="1"/>
          <p:nvPr/>
        </p:nvSpPr>
        <p:spPr>
          <a:xfrm>
            <a:off x="4441013" y="565021"/>
            <a:ext cx="7532265" cy="721480"/>
          </a:xfrm>
          <a:prstGeom prst="rect">
            <a:avLst/>
          </a:prstGeom>
        </p:spPr>
        <p:txBody>
          <a:bodyPr lIns="0" tIns="0" rIns="0" bIns="0" rtlCol="0" anchor="t">
            <a:spAutoFit/>
          </a:bodyPr>
          <a:lstStyle/>
          <a:p>
            <a:pPr algn="just">
              <a:lnSpc>
                <a:spcPts val="5973"/>
              </a:lnSpc>
              <a:spcBef>
                <a:spcPct val="0"/>
              </a:spcBef>
            </a:pPr>
            <a:r>
              <a:rPr lang="en-US" sz="4000" b="1" dirty="0">
                <a:latin typeface="Antique Olive" panose="020B0603020204030204"/>
                <a:ea typeface="Cormorant Garamond"/>
                <a:cs typeface="Cormorant Garamond"/>
                <a:sym typeface="Cormorant Garamond"/>
              </a:rPr>
              <a:t>Operators</a:t>
            </a:r>
          </a:p>
        </p:txBody>
      </p:sp>
    </p:spTree>
    <p:extLst>
      <p:ext uri="{BB962C8B-B14F-4D97-AF65-F5344CB8AC3E}">
        <p14:creationId xmlns:p14="http://schemas.microsoft.com/office/powerpoint/2010/main" val="190023207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14778" y="944362"/>
            <a:ext cx="11287478" cy="6399957"/>
          </a:xfrm>
          <a:prstGeom prst="rect">
            <a:avLst/>
          </a:prstGeom>
        </p:spPr>
        <p:txBody>
          <a:bodyPr lIns="0" tIns="0" rIns="0" bIns="0" rtlCol="0" anchor="t">
            <a:spAutoFit/>
          </a:bodyPr>
          <a:lstStyle/>
          <a:p>
            <a:pPr>
              <a:lnSpc>
                <a:spcPts val="4150"/>
              </a:lnSpc>
            </a:pPr>
            <a:r>
              <a:rPr lang="en-US" sz="2000" u="sng" dirty="0">
                <a:latin typeface="Antique Olive" panose="020B0603020204030204"/>
                <a:ea typeface="Quicksand"/>
                <a:cs typeface="Quicksand"/>
                <a:sym typeface="Quicksand"/>
              </a:rPr>
              <a:t>Increment/decrement</a:t>
            </a:r>
          </a:p>
          <a:p>
            <a:pPr>
              <a:lnSpc>
                <a:spcPts val="4150"/>
              </a:lnSpc>
            </a:pPr>
            <a:r>
              <a:rPr lang="en-US" sz="2000" dirty="0">
                <a:latin typeface="Antique Olive" panose="020B0603020204030204"/>
                <a:ea typeface="Quicksand"/>
                <a:cs typeface="Quicksand"/>
                <a:sym typeface="Quicksand"/>
              </a:rPr>
              <a:t>Increasing or decreasing a number by one is among the most common numerical operations.</a:t>
            </a:r>
          </a:p>
          <a:p>
            <a:pPr>
              <a:lnSpc>
                <a:spcPts val="4150"/>
              </a:lnSpc>
            </a:pPr>
            <a:r>
              <a:rPr lang="en-US" sz="2000" dirty="0">
                <a:latin typeface="Antique Olive" panose="020B0603020204030204"/>
                <a:ea typeface="Quicksand"/>
                <a:cs typeface="Quicksand"/>
                <a:sym typeface="Quicksand"/>
              </a:rPr>
              <a:t>So, there are special operators for it:</a:t>
            </a:r>
          </a:p>
          <a:p>
            <a:pPr>
              <a:lnSpc>
                <a:spcPts val="4150"/>
              </a:lnSpc>
            </a:pPr>
            <a:r>
              <a:rPr lang="en-US" sz="2000" b="1" dirty="0">
                <a:latin typeface="Antique Olive" panose="020B0603020204030204"/>
                <a:ea typeface="Quicksand Bold"/>
                <a:cs typeface="Quicksand Bold"/>
                <a:sym typeface="Quicksand Bold"/>
              </a:rPr>
              <a:t>Increment ++ increases a variable by 1:</a:t>
            </a:r>
          </a:p>
          <a:p>
            <a:pPr>
              <a:lnSpc>
                <a:spcPts val="4150"/>
              </a:lnSpc>
            </a:pPr>
            <a:r>
              <a:rPr lang="en-US" sz="2000" dirty="0">
                <a:latin typeface="Antique Olive" panose="020B0603020204030204"/>
                <a:ea typeface="Quicksand"/>
                <a:cs typeface="Quicksand"/>
                <a:sym typeface="Quicksand"/>
              </a:rPr>
              <a:t>let counter = 2;</a:t>
            </a:r>
          </a:p>
          <a:p>
            <a:pPr>
              <a:lnSpc>
                <a:spcPts val="4150"/>
              </a:lnSpc>
            </a:pPr>
            <a:r>
              <a:rPr lang="en-US" sz="2000" dirty="0">
                <a:latin typeface="Antique Olive" panose="020B0603020204030204"/>
                <a:ea typeface="Quicksand"/>
                <a:cs typeface="Quicksand"/>
                <a:sym typeface="Quicksand"/>
              </a:rPr>
              <a:t>counter++;        // works the same as counter = counter + 1, but is shorter</a:t>
            </a:r>
          </a:p>
          <a:p>
            <a:pPr>
              <a:lnSpc>
                <a:spcPts val="4150"/>
              </a:lnSpc>
            </a:pPr>
            <a:r>
              <a:rPr lang="en-US" sz="2000" dirty="0">
                <a:latin typeface="Antique Olive" panose="020B0603020204030204"/>
                <a:ea typeface="Quicksand"/>
                <a:cs typeface="Quicksand"/>
                <a:sym typeface="Quicksand"/>
              </a:rPr>
              <a:t>alert( counter ); // 3</a:t>
            </a:r>
          </a:p>
          <a:p>
            <a:pPr>
              <a:lnSpc>
                <a:spcPts val="4150"/>
              </a:lnSpc>
            </a:pPr>
            <a:r>
              <a:rPr lang="en-US" sz="2000" b="1" dirty="0">
                <a:latin typeface="Antique Olive" panose="020B0603020204030204"/>
                <a:ea typeface="Quicksand Bold"/>
                <a:cs typeface="Quicksand Bold"/>
                <a:sym typeface="Quicksand Bold"/>
              </a:rPr>
              <a:t>Decrement -- decreases a variable by 1:</a:t>
            </a:r>
          </a:p>
          <a:p>
            <a:pPr>
              <a:lnSpc>
                <a:spcPts val="4150"/>
              </a:lnSpc>
            </a:pPr>
            <a:r>
              <a:rPr lang="en-US" sz="2000" dirty="0">
                <a:latin typeface="Antique Olive" panose="020B0603020204030204"/>
                <a:ea typeface="Quicksand"/>
                <a:cs typeface="Quicksand"/>
                <a:sym typeface="Quicksand"/>
              </a:rPr>
              <a:t>let counter = 2;</a:t>
            </a:r>
          </a:p>
          <a:p>
            <a:pPr>
              <a:lnSpc>
                <a:spcPts val="4150"/>
              </a:lnSpc>
            </a:pPr>
            <a:r>
              <a:rPr lang="en-US" sz="2000" dirty="0">
                <a:latin typeface="Antique Olive" panose="020B0603020204030204"/>
                <a:ea typeface="Quicksand"/>
                <a:cs typeface="Quicksand"/>
                <a:sym typeface="Quicksand"/>
              </a:rPr>
              <a:t>counter--;        // works the same as counter = counter - 1, but is shorter</a:t>
            </a:r>
          </a:p>
          <a:p>
            <a:pPr>
              <a:lnSpc>
                <a:spcPts val="4150"/>
              </a:lnSpc>
            </a:pPr>
            <a:r>
              <a:rPr lang="en-US" sz="2000" dirty="0">
                <a:latin typeface="Antique Olive" panose="020B0603020204030204"/>
                <a:ea typeface="Quicksand"/>
                <a:cs typeface="Quicksand"/>
                <a:sym typeface="Quicksand"/>
              </a:rPr>
              <a:t>alert( counter ); // 1</a:t>
            </a:r>
            <a:endParaRPr lang="en-US" sz="2000" dirty="0">
              <a:latin typeface="Antique Olive" panose="020B0603020204030204"/>
              <a:ea typeface="Quicksand"/>
              <a:cs typeface="Quicksand"/>
              <a:sym typeface="Quicksand"/>
              <a:hlinkClick r:id="rId2" tooltip="https://javascript.info/operators#string-concatenation-with-binary">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perators#string-concatenation-with-binary">
                <a:extLst>
                  <a:ext uri="{A12FA001-AC4F-418D-AE19-62706E023703}">
                    <ahyp:hlinkClr xmlns:ahyp="http://schemas.microsoft.com/office/drawing/2018/hyperlinkcolor" val="tx"/>
                  </a:ext>
                </a:extLst>
              </a:hlinkClick>
            </a:endParaRPr>
          </a:p>
        </p:txBody>
      </p:sp>
      <p:sp>
        <p:nvSpPr>
          <p:cNvPr id="3" name="TextBox 3"/>
          <p:cNvSpPr txBox="1"/>
          <p:nvPr/>
        </p:nvSpPr>
        <p:spPr>
          <a:xfrm>
            <a:off x="4222511" y="385439"/>
            <a:ext cx="7532265" cy="712503"/>
          </a:xfrm>
          <a:prstGeom prst="rect">
            <a:avLst/>
          </a:prstGeom>
        </p:spPr>
        <p:txBody>
          <a:bodyPr lIns="0" tIns="0" rIns="0" bIns="0" rtlCol="0" anchor="t">
            <a:spAutoFit/>
          </a:bodyPr>
          <a:lstStyle/>
          <a:p>
            <a:pPr algn="just">
              <a:lnSpc>
                <a:spcPts val="5973"/>
              </a:lnSpc>
              <a:spcBef>
                <a:spcPct val="0"/>
              </a:spcBef>
            </a:pPr>
            <a:r>
              <a:rPr lang="en-US" sz="4000" b="1" dirty="0">
                <a:latin typeface="Antique Olive" panose="020B0603020204030204"/>
                <a:ea typeface="Cormorant Garamond"/>
                <a:cs typeface="Cormorant Garamond"/>
                <a:sym typeface="Cormorant Garamond"/>
              </a:rPr>
              <a:t>Operators</a:t>
            </a:r>
          </a:p>
        </p:txBody>
      </p:sp>
    </p:spTree>
    <p:extLst>
      <p:ext uri="{BB962C8B-B14F-4D97-AF65-F5344CB8AC3E}">
        <p14:creationId xmlns:p14="http://schemas.microsoft.com/office/powerpoint/2010/main" val="191424146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1277524"/>
            <a:ext cx="11287478" cy="4784130"/>
          </a:xfrm>
          <a:prstGeom prst="rect">
            <a:avLst/>
          </a:prstGeom>
        </p:spPr>
        <p:txBody>
          <a:bodyPr lIns="0" tIns="0" rIns="0" bIns="0" rtlCol="0" anchor="t">
            <a:spAutoFit/>
          </a:bodyPr>
          <a:lstStyle/>
          <a:p>
            <a:pPr>
              <a:lnSpc>
                <a:spcPts val="4150"/>
              </a:lnSpc>
            </a:pPr>
            <a:r>
              <a:rPr lang="en-US" sz="2000" b="1" dirty="0">
                <a:latin typeface="Antique Olive" panose="020B0603020204030204"/>
                <a:ea typeface="Quicksand Bold"/>
                <a:cs typeface="Quicksand Bold"/>
                <a:sym typeface="Quicksand Bold"/>
              </a:rPr>
              <a:t>The operators ++ and -- can be placed either before or after a variable.</a:t>
            </a:r>
          </a:p>
          <a:p>
            <a:pPr marL="527028" lvl="1" indent="-263514">
              <a:lnSpc>
                <a:spcPts val="4150"/>
              </a:lnSpc>
              <a:buFont typeface="Arial"/>
              <a:buChar char="•"/>
            </a:pPr>
            <a:r>
              <a:rPr lang="en-US" sz="2000" dirty="0">
                <a:latin typeface="Antique Olive" panose="020B0603020204030204"/>
                <a:ea typeface="Quicksand"/>
                <a:cs typeface="Quicksand"/>
                <a:sym typeface="Quicksand"/>
              </a:rPr>
              <a:t>When the operator goes after the variable, it is in “postfix form”: counter++.</a:t>
            </a:r>
          </a:p>
          <a:p>
            <a:pPr marL="527028" lvl="1" indent="-263514">
              <a:lnSpc>
                <a:spcPts val="4150"/>
              </a:lnSpc>
              <a:buFont typeface="Arial"/>
              <a:buChar char="•"/>
            </a:pPr>
            <a:r>
              <a:rPr lang="en-US" sz="2000" dirty="0">
                <a:latin typeface="Antique Olive" panose="020B0603020204030204"/>
                <a:ea typeface="Quicksand"/>
                <a:cs typeface="Quicksand"/>
                <a:sym typeface="Quicksand"/>
              </a:rPr>
              <a:t>The “prefix form” is when the operator goes before the variable: ++counter.</a:t>
            </a:r>
          </a:p>
          <a:p>
            <a:pPr>
              <a:lnSpc>
                <a:spcPts val="4150"/>
              </a:lnSpc>
            </a:pPr>
            <a:r>
              <a:rPr lang="en-US" sz="2000" dirty="0">
                <a:latin typeface="Antique Olive" panose="020B0603020204030204"/>
                <a:ea typeface="Quicksand"/>
                <a:cs typeface="Quicksand"/>
                <a:sym typeface="Quicksand"/>
              </a:rPr>
              <a:t>Both of these statements do the same thing: increase counter by 1.</a:t>
            </a:r>
          </a:p>
          <a:p>
            <a:pPr>
              <a:lnSpc>
                <a:spcPts val="4150"/>
              </a:lnSpc>
            </a:pPr>
            <a:r>
              <a:rPr lang="en-US" sz="2000" dirty="0">
                <a:latin typeface="Antique Olive" panose="020B0603020204030204"/>
                <a:ea typeface="Quicksand"/>
                <a:cs typeface="Quicksand"/>
                <a:sym typeface="Quicksand"/>
              </a:rPr>
              <a:t>Is there any difference? Yes, but we can only see it if we use the returned value of ++/--.</a:t>
            </a:r>
          </a:p>
          <a:p>
            <a:pPr>
              <a:lnSpc>
                <a:spcPts val="4150"/>
              </a:lnSpc>
            </a:pPr>
            <a:r>
              <a:rPr lang="en-US" sz="2000" dirty="0">
                <a:latin typeface="Antique Olive" panose="020B0603020204030204"/>
                <a:ea typeface="Quicksand"/>
                <a:cs typeface="Quicksand"/>
                <a:sym typeface="Quicksand"/>
              </a:rPr>
              <a:t>Let’s clarify. As we know, all operators return a value. Increment/decrement is no exception. The prefix form returns the new value while the postfix form returns the old value (prior to increment/decrement).</a:t>
            </a:r>
          </a:p>
          <a:p>
            <a:pPr>
              <a:lnSpc>
                <a:spcPts val="4150"/>
              </a:lnSpc>
            </a:pPr>
            <a:r>
              <a:rPr lang="en-US" sz="2000" dirty="0">
                <a:latin typeface="Antique Olive" panose="020B0603020204030204"/>
                <a:ea typeface="Quicksand"/>
                <a:cs typeface="Quicksand"/>
                <a:sym typeface="Quicksand"/>
              </a:rPr>
              <a:t>To see the difference,</a:t>
            </a:r>
            <a:endParaRPr lang="en-US" sz="2000" dirty="0">
              <a:latin typeface="Antique Olive" panose="020B0603020204030204"/>
              <a:ea typeface="Quicksand"/>
              <a:cs typeface="Quicksand"/>
              <a:sym typeface="Quicksand"/>
              <a:hlinkClick r:id="rId2" tooltip="https://javascript.info/operators#string-concatenation-with-binary">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perators#string-concatenation-with-binary">
                <a:extLst>
                  <a:ext uri="{A12FA001-AC4F-418D-AE19-62706E023703}">
                    <ahyp:hlinkClr xmlns:ahyp="http://schemas.microsoft.com/office/drawing/2018/hyperlinkcolor" val="tx"/>
                  </a:ext>
                </a:extLst>
              </a:hlinkClick>
            </a:endParaRPr>
          </a:p>
        </p:txBody>
      </p:sp>
      <p:sp>
        <p:nvSpPr>
          <p:cNvPr id="3" name="TextBox 3"/>
          <p:cNvSpPr txBox="1"/>
          <p:nvPr/>
        </p:nvSpPr>
        <p:spPr>
          <a:xfrm>
            <a:off x="4441013" y="565021"/>
            <a:ext cx="7532265" cy="712503"/>
          </a:xfrm>
          <a:prstGeom prst="rect">
            <a:avLst/>
          </a:prstGeom>
        </p:spPr>
        <p:txBody>
          <a:bodyPr lIns="0" tIns="0" rIns="0" bIns="0" rtlCol="0" anchor="t">
            <a:spAutoFit/>
          </a:bodyPr>
          <a:lstStyle/>
          <a:p>
            <a:pPr algn="just">
              <a:lnSpc>
                <a:spcPts val="5973"/>
              </a:lnSpc>
              <a:spcBef>
                <a:spcPct val="0"/>
              </a:spcBef>
            </a:pPr>
            <a:r>
              <a:rPr lang="en-US" sz="4000" b="1" dirty="0">
                <a:latin typeface="Antique Olive" panose="020B0603020204030204"/>
                <a:ea typeface="Cormorant Garamond"/>
                <a:cs typeface="Cormorant Garamond"/>
                <a:sym typeface="Cormorant Garamond"/>
              </a:rPr>
              <a:t>Operators</a:t>
            </a:r>
          </a:p>
        </p:txBody>
      </p:sp>
    </p:spTree>
    <p:extLst>
      <p:ext uri="{BB962C8B-B14F-4D97-AF65-F5344CB8AC3E}">
        <p14:creationId xmlns:p14="http://schemas.microsoft.com/office/powerpoint/2010/main" val="147484514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996645"/>
            <a:ext cx="11287478" cy="6399957"/>
          </a:xfrm>
          <a:prstGeom prst="rect">
            <a:avLst/>
          </a:prstGeom>
        </p:spPr>
        <p:txBody>
          <a:bodyPr lIns="0" tIns="0" rIns="0" bIns="0" rtlCol="0" anchor="t">
            <a:spAutoFit/>
          </a:bodyPr>
          <a:lstStyle/>
          <a:p>
            <a:pPr>
              <a:lnSpc>
                <a:spcPts val="4150"/>
              </a:lnSpc>
            </a:pPr>
            <a:r>
              <a:rPr lang="en-US" sz="2441" u="sng" dirty="0">
                <a:solidFill>
                  <a:srgbClr val="0F4662"/>
                </a:solidFill>
                <a:latin typeface="Quicksand"/>
                <a:ea typeface="Quicksand"/>
                <a:cs typeface="Quicksand"/>
                <a:sym typeface="Quicksand"/>
                <a:hlinkClick r:id="rId2" tooltip="https://javascript.info/operators#string-concatenation-with-binary"/>
              </a:rPr>
              <a:t> </a:t>
            </a:r>
            <a:r>
              <a:rPr lang="en-US" sz="2000" u="sng" dirty="0">
                <a:latin typeface="Antique Olive" panose="020B0603020204030204"/>
                <a:ea typeface="Quicksand"/>
                <a:cs typeface="Quicksand"/>
                <a:sym typeface="Quicksand"/>
                <a:hlinkClick r:id="rId2" tooltip="https://javascript.info/operators#string-concatenation-with-binary">
                  <a:extLst>
                    <a:ext uri="{A12FA001-AC4F-418D-AE19-62706E023703}">
                      <ahyp:hlinkClr xmlns:ahyp="http://schemas.microsoft.com/office/drawing/2018/hyperlinkcolor" val="tx"/>
                    </a:ext>
                  </a:extLst>
                </a:hlinkClick>
              </a:rPr>
              <a:t>here’s an example:</a:t>
            </a:r>
          </a:p>
          <a:p>
            <a:pPr>
              <a:lnSpc>
                <a:spcPts val="4150"/>
              </a:lnSpc>
            </a:pPr>
            <a:r>
              <a:rPr lang="en-US" sz="2000" dirty="0">
                <a:latin typeface="Antique Olive" panose="020B0603020204030204"/>
                <a:ea typeface="Quicksand"/>
                <a:cs typeface="Quicksand"/>
                <a:sym typeface="Quicksand"/>
              </a:rPr>
              <a:t>let counter = 1;</a:t>
            </a:r>
          </a:p>
          <a:p>
            <a:pPr>
              <a:lnSpc>
                <a:spcPts val="4150"/>
              </a:lnSpc>
            </a:pPr>
            <a:r>
              <a:rPr lang="en-US" sz="2000" dirty="0">
                <a:latin typeface="Antique Olive" panose="020B0603020204030204"/>
                <a:ea typeface="Quicksand"/>
                <a:cs typeface="Quicksand"/>
                <a:sym typeface="Quicksand"/>
              </a:rPr>
              <a:t>let a = ++counter; // (*)</a:t>
            </a:r>
          </a:p>
          <a:p>
            <a:pPr>
              <a:lnSpc>
                <a:spcPts val="4150"/>
              </a:lnSpc>
            </a:pPr>
            <a:r>
              <a:rPr lang="en-US" sz="2000" dirty="0">
                <a:latin typeface="Antique Olive" panose="020B0603020204030204"/>
                <a:ea typeface="Quicksand"/>
                <a:cs typeface="Quicksand"/>
                <a:sym typeface="Quicksand"/>
              </a:rPr>
              <a:t>alert(a); // 2</a:t>
            </a:r>
          </a:p>
          <a:p>
            <a:pPr>
              <a:lnSpc>
                <a:spcPts val="4150"/>
              </a:lnSpc>
            </a:pPr>
            <a:endParaRPr lang="en-US" sz="2000" dirty="0">
              <a:latin typeface="Antique Olive" panose="020B0603020204030204"/>
              <a:ea typeface="Quicksand"/>
              <a:cs typeface="Quicksand"/>
              <a:sym typeface="Quicksand"/>
            </a:endParaRPr>
          </a:p>
          <a:p>
            <a:pPr>
              <a:lnSpc>
                <a:spcPts val="4150"/>
              </a:lnSpc>
            </a:pPr>
            <a:r>
              <a:rPr lang="en-US" sz="2000" dirty="0">
                <a:latin typeface="Antique Olive" panose="020B0603020204030204"/>
                <a:ea typeface="Quicksand"/>
                <a:cs typeface="Quicksand"/>
                <a:sym typeface="Quicksand"/>
              </a:rPr>
              <a:t>In the line (*), the prefix form ++counter increments counter and returns the new value, 2. So, the alert shows 2.</a:t>
            </a:r>
          </a:p>
          <a:p>
            <a:pPr>
              <a:lnSpc>
                <a:spcPts val="4150"/>
              </a:lnSpc>
            </a:pPr>
            <a:r>
              <a:rPr lang="en-US" sz="2000" dirty="0">
                <a:latin typeface="Antique Olive" panose="020B0603020204030204"/>
                <a:ea typeface="Quicksand"/>
                <a:cs typeface="Quicksand"/>
                <a:sym typeface="Quicksand"/>
              </a:rPr>
              <a:t>Now, let’s use the postfix form:</a:t>
            </a:r>
          </a:p>
          <a:p>
            <a:pPr>
              <a:lnSpc>
                <a:spcPts val="4150"/>
              </a:lnSpc>
            </a:pPr>
            <a:r>
              <a:rPr lang="en-US" sz="2000" dirty="0">
                <a:latin typeface="Antique Olive" panose="020B0603020204030204"/>
                <a:ea typeface="Quicksand"/>
                <a:cs typeface="Quicksand"/>
                <a:sym typeface="Quicksand"/>
              </a:rPr>
              <a:t>let counter = 1;</a:t>
            </a:r>
          </a:p>
          <a:p>
            <a:pPr>
              <a:lnSpc>
                <a:spcPts val="4150"/>
              </a:lnSpc>
            </a:pPr>
            <a:r>
              <a:rPr lang="en-US" sz="2000" dirty="0">
                <a:latin typeface="Antique Olive" panose="020B0603020204030204"/>
                <a:ea typeface="Quicksand"/>
                <a:cs typeface="Quicksand"/>
                <a:sym typeface="Quicksand"/>
              </a:rPr>
              <a:t>let a = counter++; // (*) changed ++counter to counter++</a:t>
            </a:r>
          </a:p>
          <a:p>
            <a:pPr>
              <a:lnSpc>
                <a:spcPts val="4150"/>
              </a:lnSpc>
            </a:pPr>
            <a:r>
              <a:rPr lang="en-US" sz="2000" dirty="0">
                <a:latin typeface="Antique Olive" panose="020B0603020204030204"/>
                <a:ea typeface="Quicksand"/>
                <a:cs typeface="Quicksand"/>
                <a:sym typeface="Quicksand"/>
              </a:rPr>
              <a:t>alert(a); // 1</a:t>
            </a:r>
          </a:p>
          <a:p>
            <a:pPr>
              <a:lnSpc>
                <a:spcPts val="4150"/>
              </a:lnSpc>
            </a:pPr>
            <a:endParaRPr lang="en-US" sz="2441" dirty="0">
              <a:solidFill>
                <a:srgbClr val="0F4662"/>
              </a:solidFill>
              <a:latin typeface="Quicksand"/>
              <a:ea typeface="Quicksand"/>
              <a:cs typeface="Quicksand"/>
              <a:sym typeface="Quicksand"/>
            </a:endParaRPr>
          </a:p>
        </p:txBody>
      </p:sp>
      <p:sp>
        <p:nvSpPr>
          <p:cNvPr id="3" name="TextBox 3"/>
          <p:cNvSpPr txBox="1"/>
          <p:nvPr/>
        </p:nvSpPr>
        <p:spPr>
          <a:xfrm>
            <a:off x="4441013" y="440734"/>
            <a:ext cx="7532265" cy="712503"/>
          </a:xfrm>
          <a:prstGeom prst="rect">
            <a:avLst/>
          </a:prstGeom>
        </p:spPr>
        <p:txBody>
          <a:bodyPr lIns="0" tIns="0" rIns="0" bIns="0" rtlCol="0" anchor="t">
            <a:spAutoFit/>
          </a:bodyPr>
          <a:lstStyle/>
          <a:p>
            <a:pPr algn="just">
              <a:lnSpc>
                <a:spcPts val="5973"/>
              </a:lnSpc>
              <a:spcBef>
                <a:spcPct val="0"/>
              </a:spcBef>
            </a:pPr>
            <a:r>
              <a:rPr lang="en-US" sz="4000" b="1" dirty="0">
                <a:latin typeface="Antique Olive" panose="020B0603020204030204"/>
                <a:ea typeface="Cormorant Garamond"/>
                <a:cs typeface="Cormorant Garamond"/>
                <a:sym typeface="Cormorant Garamond"/>
              </a:rPr>
              <a:t>Operators</a:t>
            </a:r>
          </a:p>
        </p:txBody>
      </p:sp>
    </p:spTree>
    <p:extLst>
      <p:ext uri="{BB962C8B-B14F-4D97-AF65-F5344CB8AC3E}">
        <p14:creationId xmlns:p14="http://schemas.microsoft.com/office/powerpoint/2010/main" val="161510462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1174198"/>
            <a:ext cx="11287478" cy="5322739"/>
          </a:xfrm>
          <a:prstGeom prst="rect">
            <a:avLst/>
          </a:prstGeom>
        </p:spPr>
        <p:txBody>
          <a:bodyPr lIns="0" tIns="0" rIns="0" bIns="0" rtlCol="0" anchor="t">
            <a:spAutoFit/>
          </a:bodyPr>
          <a:lstStyle/>
          <a:p>
            <a:pPr>
              <a:lnSpc>
                <a:spcPts val="4150"/>
              </a:lnSpc>
            </a:pPr>
            <a:r>
              <a:rPr lang="en-US" sz="2000" u="sng" dirty="0">
                <a:latin typeface="Antique Olive" panose="020B0603020204030204"/>
                <a:ea typeface="Quicksand"/>
                <a:cs typeface="Quicksand"/>
                <a:sym typeface="Quicksand"/>
              </a:rPr>
              <a:t>Comparisons</a:t>
            </a:r>
          </a:p>
          <a:p>
            <a:pPr>
              <a:lnSpc>
                <a:spcPts val="4150"/>
              </a:lnSpc>
            </a:pPr>
            <a:r>
              <a:rPr lang="en-US" sz="2000" dirty="0">
                <a:latin typeface="Antique Olive" panose="020B0603020204030204"/>
                <a:ea typeface="Quicksand"/>
                <a:cs typeface="Quicksand"/>
                <a:sym typeface="Quicksand"/>
              </a:rPr>
              <a:t>We know many comparison operators from </a:t>
            </a:r>
            <a:r>
              <a:rPr lang="en-US" sz="2000" dirty="0" err="1">
                <a:latin typeface="Antique Olive" panose="020B0603020204030204"/>
                <a:ea typeface="Quicksand"/>
                <a:cs typeface="Quicksand"/>
                <a:sym typeface="Quicksand"/>
              </a:rPr>
              <a:t>maths</a:t>
            </a:r>
            <a:r>
              <a:rPr lang="en-US" sz="2000" dirty="0">
                <a:latin typeface="Antique Olive" panose="020B0603020204030204"/>
                <a:ea typeface="Quicksand"/>
                <a:cs typeface="Quicksand"/>
                <a:sym typeface="Quicksand"/>
              </a:rPr>
              <a:t>.</a:t>
            </a:r>
          </a:p>
          <a:p>
            <a:pPr>
              <a:lnSpc>
                <a:spcPts val="4150"/>
              </a:lnSpc>
            </a:pPr>
            <a:r>
              <a:rPr lang="en-US" sz="2000" dirty="0">
                <a:latin typeface="Antique Olive" panose="020B0603020204030204"/>
                <a:ea typeface="Quicksand"/>
                <a:cs typeface="Quicksand"/>
                <a:sym typeface="Quicksand"/>
              </a:rPr>
              <a:t>In JavaScript they are written like this:</a:t>
            </a:r>
          </a:p>
          <a:p>
            <a:pPr marL="527028" lvl="1" indent="-263514">
              <a:lnSpc>
                <a:spcPts val="4150"/>
              </a:lnSpc>
              <a:buFont typeface="Arial"/>
              <a:buChar char="•"/>
            </a:pPr>
            <a:r>
              <a:rPr lang="en-US" sz="2000" dirty="0">
                <a:latin typeface="Antique Olive" panose="020B0603020204030204"/>
                <a:ea typeface="Quicksand"/>
                <a:cs typeface="Quicksand"/>
                <a:sym typeface="Quicksand"/>
              </a:rPr>
              <a:t>Greater/less than: a &gt; b, a &lt; b.</a:t>
            </a:r>
          </a:p>
          <a:p>
            <a:pPr marL="527028" lvl="1" indent="-263514">
              <a:lnSpc>
                <a:spcPts val="4150"/>
              </a:lnSpc>
              <a:buFont typeface="Arial"/>
              <a:buChar char="•"/>
            </a:pPr>
            <a:r>
              <a:rPr lang="en-US" sz="2000" dirty="0">
                <a:latin typeface="Antique Olive" panose="020B0603020204030204"/>
                <a:ea typeface="Quicksand"/>
                <a:cs typeface="Quicksand"/>
                <a:sym typeface="Quicksand"/>
              </a:rPr>
              <a:t>Greater/less than or equals: a &gt;= b, a &lt;= b.</a:t>
            </a:r>
          </a:p>
          <a:p>
            <a:pPr marL="527028" lvl="1" indent="-263514">
              <a:lnSpc>
                <a:spcPts val="4150"/>
              </a:lnSpc>
              <a:buFont typeface="Arial"/>
              <a:buChar char="•"/>
            </a:pPr>
            <a:r>
              <a:rPr lang="en-US" sz="2000" dirty="0">
                <a:latin typeface="Antique Olive" panose="020B0603020204030204"/>
                <a:ea typeface="Quicksand"/>
                <a:cs typeface="Quicksand"/>
                <a:sym typeface="Quicksand"/>
              </a:rPr>
              <a:t>Equals: a == b, please note the double equality sign == means the equality test, while a single one a = b means an assignment.</a:t>
            </a:r>
          </a:p>
          <a:p>
            <a:pPr marL="527028" lvl="1" indent="-263514">
              <a:lnSpc>
                <a:spcPts val="4150"/>
              </a:lnSpc>
              <a:buFont typeface="Arial"/>
              <a:buChar char="•"/>
            </a:pPr>
            <a:r>
              <a:rPr lang="en-US" sz="2000" dirty="0">
                <a:latin typeface="Antique Olive" panose="020B0603020204030204"/>
                <a:ea typeface="Quicksand"/>
                <a:cs typeface="Quicksand"/>
                <a:sym typeface="Quicksand"/>
              </a:rPr>
              <a:t>Not equals: In </a:t>
            </a:r>
            <a:r>
              <a:rPr lang="en-US" sz="2000" dirty="0" err="1">
                <a:latin typeface="Antique Olive" panose="020B0603020204030204"/>
                <a:ea typeface="Quicksand"/>
                <a:cs typeface="Quicksand"/>
                <a:sym typeface="Quicksand"/>
              </a:rPr>
              <a:t>maths</a:t>
            </a:r>
            <a:r>
              <a:rPr lang="en-US" sz="2000" dirty="0">
                <a:latin typeface="Antique Olive" panose="020B0603020204030204"/>
                <a:ea typeface="Quicksand"/>
                <a:cs typeface="Quicksand"/>
                <a:sym typeface="Quicksand"/>
              </a:rPr>
              <a:t> the notation is ≠, but in JavaScript it’s written as a != b.</a:t>
            </a:r>
            <a:endParaRPr lang="en-US" sz="2000" dirty="0">
              <a:latin typeface="Antique Olive" panose="020B0603020204030204"/>
              <a:ea typeface="Quicksand"/>
              <a:cs typeface="Quicksand"/>
              <a:sym typeface="Quicksand"/>
              <a:hlinkClick r:id="rId2" tooltip="https://javascript.info/operators#string-concatenation-with-binary">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perators#string-concatenation-with-binary">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perators#string-concatenation-with-binary">
                <a:extLst>
                  <a:ext uri="{A12FA001-AC4F-418D-AE19-62706E023703}">
                    <ahyp:hlinkClr xmlns:ahyp="http://schemas.microsoft.com/office/drawing/2018/hyperlinkcolor" val="tx"/>
                  </a:ext>
                </a:extLst>
              </a:hlinkClick>
            </a:endParaRPr>
          </a:p>
        </p:txBody>
      </p:sp>
      <p:sp>
        <p:nvSpPr>
          <p:cNvPr id="3" name="TextBox 3"/>
          <p:cNvSpPr txBox="1"/>
          <p:nvPr/>
        </p:nvSpPr>
        <p:spPr>
          <a:xfrm>
            <a:off x="4441013" y="565021"/>
            <a:ext cx="7532265" cy="721672"/>
          </a:xfrm>
          <a:prstGeom prst="rect">
            <a:avLst/>
          </a:prstGeom>
        </p:spPr>
        <p:txBody>
          <a:bodyPr lIns="0" tIns="0" rIns="0" bIns="0" rtlCol="0" anchor="t">
            <a:spAutoFit/>
          </a:bodyPr>
          <a:lstStyle/>
          <a:p>
            <a:pPr algn="just">
              <a:lnSpc>
                <a:spcPts val="5973"/>
              </a:lnSpc>
              <a:spcBef>
                <a:spcPct val="0"/>
              </a:spcBef>
            </a:pPr>
            <a:r>
              <a:rPr lang="en-US" sz="4400" b="1" dirty="0">
                <a:latin typeface="Antique Olive" panose="020B0603020204030204"/>
                <a:ea typeface="Cormorant Garamond"/>
                <a:cs typeface="Cormorant Garamond"/>
                <a:sym typeface="Cormorant Garamond"/>
              </a:rPr>
              <a:t>Operators</a:t>
            </a:r>
            <a:endParaRPr lang="en-US" sz="4266" dirty="0">
              <a:solidFill>
                <a:srgbClr val="0F4662"/>
              </a:solidFill>
              <a:latin typeface="Cormorant Garamond"/>
              <a:ea typeface="Cormorant Garamond"/>
              <a:cs typeface="Cormorant Garamond"/>
              <a:sym typeface="Cormorant Garamond"/>
            </a:endParaRPr>
          </a:p>
        </p:txBody>
      </p:sp>
    </p:spTree>
    <p:extLst>
      <p:ext uri="{BB962C8B-B14F-4D97-AF65-F5344CB8AC3E}">
        <p14:creationId xmlns:p14="http://schemas.microsoft.com/office/powerpoint/2010/main" val="379013312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1174197"/>
            <a:ext cx="11287478" cy="4784130"/>
          </a:xfrm>
          <a:prstGeom prst="rect">
            <a:avLst/>
          </a:prstGeom>
        </p:spPr>
        <p:txBody>
          <a:bodyPr lIns="0" tIns="0" rIns="0" bIns="0" rtlCol="0" anchor="t">
            <a:spAutoFit/>
          </a:bodyPr>
          <a:lstStyle/>
          <a:p>
            <a:pPr>
              <a:lnSpc>
                <a:spcPts val="4150"/>
              </a:lnSpc>
            </a:pPr>
            <a:r>
              <a:rPr lang="en-US" sz="2000" dirty="0">
                <a:latin typeface="Antique Olive"/>
                <a:ea typeface="Quicksand"/>
                <a:cs typeface="Quicksand"/>
                <a:sym typeface="Quicksand"/>
              </a:rPr>
              <a:t>Boolean is the result</a:t>
            </a:r>
          </a:p>
          <a:p>
            <a:pPr>
              <a:lnSpc>
                <a:spcPts val="4150"/>
              </a:lnSpc>
            </a:pPr>
            <a:r>
              <a:rPr lang="en-US" sz="2000" dirty="0">
                <a:latin typeface="Antique Olive"/>
                <a:ea typeface="Quicksand"/>
                <a:cs typeface="Quicksand"/>
                <a:sym typeface="Quicksand"/>
              </a:rPr>
              <a:t>All</a:t>
            </a:r>
            <a:r>
              <a:rPr lang="en-US" sz="2000" dirty="0">
                <a:solidFill>
                  <a:srgbClr val="000000"/>
                </a:solidFill>
                <a:latin typeface="Antique Olive"/>
                <a:ea typeface="Quicksand"/>
                <a:cs typeface="Quicksand"/>
                <a:sym typeface="Quicksand"/>
              </a:rPr>
              <a:t> comparison operators return a </a:t>
            </a:r>
            <a:r>
              <a:rPr lang="en-US" sz="2000" dirty="0" err="1">
                <a:solidFill>
                  <a:srgbClr val="000000"/>
                </a:solidFill>
                <a:latin typeface="Antique Olive"/>
                <a:ea typeface="Quicksand"/>
                <a:cs typeface="Quicksand"/>
                <a:sym typeface="Quicksand"/>
              </a:rPr>
              <a:t>boolean</a:t>
            </a:r>
            <a:r>
              <a:rPr lang="en-US" sz="2000" dirty="0">
                <a:latin typeface="Antique Olive"/>
                <a:ea typeface="Quicksand"/>
                <a:cs typeface="Quicksand"/>
                <a:sym typeface="Quicksand"/>
              </a:rPr>
              <a:t> value:</a:t>
            </a:r>
          </a:p>
          <a:p>
            <a:pPr marL="527028" lvl="1" indent="-263514">
              <a:lnSpc>
                <a:spcPts val="4150"/>
              </a:lnSpc>
              <a:buFont typeface="Arial"/>
              <a:buChar char="•"/>
            </a:pPr>
            <a:r>
              <a:rPr lang="en-US" sz="2000" dirty="0">
                <a:latin typeface="Antique Olive"/>
                <a:ea typeface="Quicksand"/>
                <a:cs typeface="Quicksand"/>
                <a:sym typeface="Quicksand"/>
              </a:rPr>
              <a:t>true – means “yes”, “correct” or “the truth”.</a:t>
            </a:r>
          </a:p>
          <a:p>
            <a:pPr marL="527028" lvl="1" indent="-263514">
              <a:lnSpc>
                <a:spcPts val="4150"/>
              </a:lnSpc>
              <a:buFont typeface="Arial"/>
              <a:buChar char="•"/>
            </a:pPr>
            <a:r>
              <a:rPr lang="en-US" sz="2000" dirty="0">
                <a:latin typeface="Antique Olive"/>
                <a:ea typeface="Quicksand"/>
                <a:cs typeface="Quicksand"/>
                <a:sym typeface="Quicksand"/>
              </a:rPr>
              <a:t>false – means “no”, “wrong” or “not the truth”.</a:t>
            </a:r>
          </a:p>
          <a:p>
            <a:pPr>
              <a:lnSpc>
                <a:spcPts val="4150"/>
              </a:lnSpc>
            </a:pPr>
            <a:r>
              <a:rPr lang="en-US" sz="2000" b="1" dirty="0">
                <a:latin typeface="Antique Olive"/>
                <a:ea typeface="Quicksand Bold"/>
                <a:cs typeface="Quicksand Bold"/>
                <a:sym typeface="Quicksand Bold"/>
              </a:rPr>
              <a:t>For example:</a:t>
            </a:r>
          </a:p>
          <a:p>
            <a:pPr>
              <a:lnSpc>
                <a:spcPts val="4150"/>
              </a:lnSpc>
            </a:pPr>
            <a:r>
              <a:rPr lang="en-US" sz="2000" dirty="0">
                <a:latin typeface="Antique Olive"/>
                <a:ea typeface="Quicksand"/>
                <a:cs typeface="Quicksand"/>
                <a:sym typeface="Quicksand"/>
              </a:rPr>
              <a:t>alert( 2 &gt; 1 );  // true (correct)</a:t>
            </a:r>
          </a:p>
          <a:p>
            <a:pPr>
              <a:lnSpc>
                <a:spcPts val="4150"/>
              </a:lnSpc>
            </a:pPr>
            <a:r>
              <a:rPr lang="en-US" sz="2000" dirty="0">
                <a:latin typeface="Antique Olive"/>
                <a:ea typeface="Quicksand"/>
                <a:cs typeface="Quicksand"/>
                <a:sym typeface="Quicksand"/>
              </a:rPr>
              <a:t>alert( 2 == 1 ); // false (wrong)</a:t>
            </a:r>
          </a:p>
          <a:p>
            <a:pPr>
              <a:lnSpc>
                <a:spcPts val="4150"/>
              </a:lnSpc>
            </a:pPr>
            <a:r>
              <a:rPr lang="en-US" sz="2000" dirty="0">
                <a:latin typeface="Antique Olive"/>
                <a:ea typeface="Quicksand"/>
                <a:cs typeface="Quicksand"/>
                <a:sym typeface="Quicksand"/>
              </a:rPr>
              <a:t>alert( 2 != 1 ); // true (correct)</a:t>
            </a:r>
            <a:endParaRPr lang="en-US" sz="2000" dirty="0">
              <a:latin typeface="Antique Olive"/>
              <a:ea typeface="Quicksand"/>
              <a:cs typeface="Quicksand"/>
              <a:sym typeface="Quicksand"/>
              <a:hlinkClick r:id="rId2" tooltip="https://javascript.info/operators#string-concatenation-with-binary">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operators#string-concatenation-with-binary">
                <a:extLst>
                  <a:ext uri="{A12FA001-AC4F-418D-AE19-62706E023703}">
                    <ahyp:hlinkClr xmlns:ahyp="http://schemas.microsoft.com/office/drawing/2018/hyperlinkcolor" val="tx"/>
                  </a:ext>
                </a:extLst>
              </a:hlinkClick>
            </a:endParaRPr>
          </a:p>
        </p:txBody>
      </p:sp>
      <p:sp>
        <p:nvSpPr>
          <p:cNvPr id="3" name="TextBox 3"/>
          <p:cNvSpPr txBox="1"/>
          <p:nvPr/>
        </p:nvSpPr>
        <p:spPr>
          <a:xfrm>
            <a:off x="4441013" y="565021"/>
            <a:ext cx="7532265" cy="721672"/>
          </a:xfrm>
          <a:prstGeom prst="rect">
            <a:avLst/>
          </a:prstGeom>
        </p:spPr>
        <p:txBody>
          <a:bodyPr lIns="0" tIns="0" rIns="0" bIns="0" rtlCol="0" anchor="t">
            <a:spAutoFit/>
          </a:bodyPr>
          <a:lstStyle/>
          <a:p>
            <a:pPr algn="just">
              <a:lnSpc>
                <a:spcPts val="5973"/>
              </a:lnSpc>
              <a:spcBef>
                <a:spcPct val="0"/>
              </a:spcBef>
            </a:pPr>
            <a:r>
              <a:rPr lang="en-US" sz="4400" b="1" dirty="0">
                <a:latin typeface="Antique Olive" panose="020B0603020204030204"/>
                <a:ea typeface="Cormorant Garamond"/>
                <a:cs typeface="Cormorant Garamond"/>
                <a:sym typeface="Cormorant Garamond"/>
              </a:rPr>
              <a:t>Operators</a:t>
            </a:r>
            <a:endParaRPr lang="en-US" sz="4266" dirty="0">
              <a:solidFill>
                <a:srgbClr val="0F4662"/>
              </a:solidFill>
              <a:latin typeface="Cormorant Garamond"/>
              <a:ea typeface="Cormorant Garamond"/>
              <a:cs typeface="Cormorant Garamond"/>
              <a:sym typeface="Cormorant Garamond"/>
            </a:endParaRPr>
          </a:p>
        </p:txBody>
      </p:sp>
    </p:spTree>
    <p:extLst>
      <p:ext uri="{BB962C8B-B14F-4D97-AF65-F5344CB8AC3E}">
        <p14:creationId xmlns:p14="http://schemas.microsoft.com/office/powerpoint/2010/main" val="328764556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1174198"/>
            <a:ext cx="11287478" cy="4784130"/>
          </a:xfrm>
          <a:prstGeom prst="rect">
            <a:avLst/>
          </a:prstGeom>
        </p:spPr>
        <p:txBody>
          <a:bodyPr lIns="0" tIns="0" rIns="0" bIns="0" rtlCol="0" anchor="t">
            <a:spAutoFit/>
          </a:bodyPr>
          <a:lstStyle/>
          <a:p>
            <a:pPr>
              <a:lnSpc>
                <a:spcPts val="4150"/>
              </a:lnSpc>
            </a:pPr>
            <a:r>
              <a:rPr lang="en-US" sz="2000" u="sng" dirty="0">
                <a:latin typeface="Antique Olive" panose="020B0603020204030204"/>
                <a:ea typeface="Quicksand"/>
                <a:cs typeface="Quicksand"/>
                <a:sym typeface="Quicksand"/>
              </a:rPr>
              <a:t>String comparison</a:t>
            </a:r>
          </a:p>
          <a:p>
            <a:pPr>
              <a:lnSpc>
                <a:spcPts val="4150"/>
              </a:lnSpc>
            </a:pPr>
            <a:r>
              <a:rPr lang="en-US" sz="2000" dirty="0">
                <a:latin typeface="Antique Olive" panose="020B0603020204030204"/>
                <a:ea typeface="Quicksand"/>
                <a:cs typeface="Quicksand"/>
                <a:sym typeface="Quicksand"/>
              </a:rPr>
              <a:t>To see whether a string is greater than another, JavaScript uses the so-called “dictionary” or “lexicographical” order.</a:t>
            </a:r>
          </a:p>
          <a:p>
            <a:pPr>
              <a:lnSpc>
                <a:spcPts val="4150"/>
              </a:lnSpc>
            </a:pPr>
            <a:r>
              <a:rPr lang="en-US" sz="2000" dirty="0">
                <a:latin typeface="Antique Olive" panose="020B0603020204030204"/>
                <a:ea typeface="Quicksand"/>
                <a:cs typeface="Quicksand"/>
                <a:sym typeface="Quicksand"/>
              </a:rPr>
              <a:t>In other words, strings are compared letter-by-letter.</a:t>
            </a:r>
          </a:p>
          <a:p>
            <a:pPr>
              <a:lnSpc>
                <a:spcPts val="4150"/>
              </a:lnSpc>
            </a:pPr>
            <a:r>
              <a:rPr lang="en-US" sz="2000" b="1" dirty="0">
                <a:latin typeface="Antique Olive" panose="020B0603020204030204"/>
                <a:ea typeface="Quicksand Bold"/>
                <a:cs typeface="Quicksand Bold"/>
                <a:sym typeface="Quicksand Bold"/>
              </a:rPr>
              <a:t>For example:</a:t>
            </a:r>
          </a:p>
          <a:p>
            <a:pPr>
              <a:lnSpc>
                <a:spcPts val="4150"/>
              </a:lnSpc>
            </a:pPr>
            <a:r>
              <a:rPr lang="en-US" sz="2000" dirty="0">
                <a:latin typeface="Antique Olive" panose="020B0603020204030204"/>
                <a:ea typeface="Quicksand"/>
                <a:cs typeface="Quicksand"/>
                <a:sym typeface="Quicksand"/>
              </a:rPr>
              <a:t>alert( 'Z' &gt; 'A' ); // true</a:t>
            </a:r>
          </a:p>
          <a:p>
            <a:pPr>
              <a:lnSpc>
                <a:spcPts val="4150"/>
              </a:lnSpc>
            </a:pPr>
            <a:r>
              <a:rPr lang="en-US" sz="2000" dirty="0">
                <a:latin typeface="Antique Olive" panose="020B0603020204030204"/>
                <a:ea typeface="Quicksand"/>
                <a:cs typeface="Quicksand"/>
                <a:sym typeface="Quicksand"/>
              </a:rPr>
              <a:t>alert( 'Glow' &gt; 'Glee' ); // true</a:t>
            </a:r>
          </a:p>
          <a:p>
            <a:pPr>
              <a:lnSpc>
                <a:spcPts val="4150"/>
              </a:lnSpc>
            </a:pPr>
            <a:r>
              <a:rPr lang="en-US" sz="2000" dirty="0">
                <a:latin typeface="Antique Olive" panose="020B0603020204030204"/>
                <a:ea typeface="Quicksand"/>
                <a:cs typeface="Quicksand"/>
                <a:sym typeface="Quicksand"/>
              </a:rPr>
              <a:t>alert( 'Bee' &gt; 'Be' ); // true</a:t>
            </a:r>
            <a:endParaRPr lang="en-US" sz="2000" dirty="0">
              <a:latin typeface="Antique Olive" panose="020B0603020204030204"/>
              <a:ea typeface="Quicksand"/>
              <a:cs typeface="Quicksand"/>
              <a:sym typeface="Quicksand"/>
              <a:hlinkClick r:id="rId2" tooltip="https://javascript.info/comparison#boolean-is-the-result">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comparison#boolean-is-the-result">
                <a:extLst>
                  <a:ext uri="{A12FA001-AC4F-418D-AE19-62706E023703}">
                    <ahyp:hlinkClr xmlns:ahyp="http://schemas.microsoft.com/office/drawing/2018/hyperlinkcolor" val="tx"/>
                  </a:ext>
                </a:extLst>
              </a:hlinkClick>
            </a:endParaRPr>
          </a:p>
        </p:txBody>
      </p:sp>
      <p:sp>
        <p:nvSpPr>
          <p:cNvPr id="3" name="TextBox 3"/>
          <p:cNvSpPr txBox="1"/>
          <p:nvPr/>
        </p:nvSpPr>
        <p:spPr>
          <a:xfrm>
            <a:off x="4441013" y="565021"/>
            <a:ext cx="7532265" cy="712503"/>
          </a:xfrm>
          <a:prstGeom prst="rect">
            <a:avLst/>
          </a:prstGeom>
        </p:spPr>
        <p:txBody>
          <a:bodyPr lIns="0" tIns="0" rIns="0" bIns="0" rtlCol="0" anchor="t">
            <a:spAutoFit/>
          </a:bodyPr>
          <a:lstStyle/>
          <a:p>
            <a:pPr algn="just">
              <a:lnSpc>
                <a:spcPts val="5973"/>
              </a:lnSpc>
              <a:spcBef>
                <a:spcPct val="0"/>
              </a:spcBef>
            </a:pPr>
            <a:r>
              <a:rPr lang="en-US" sz="4000" b="1" dirty="0">
                <a:latin typeface="Antique Olive" panose="020B0603020204030204"/>
                <a:ea typeface="Cormorant Garamond"/>
                <a:cs typeface="Cormorant Garamond"/>
                <a:sym typeface="Cormorant Garamond"/>
              </a:rPr>
              <a:t>Operators</a:t>
            </a:r>
          </a:p>
        </p:txBody>
      </p:sp>
    </p:spTree>
    <p:extLst>
      <p:ext uri="{BB962C8B-B14F-4D97-AF65-F5344CB8AC3E}">
        <p14:creationId xmlns:p14="http://schemas.microsoft.com/office/powerpoint/2010/main" val="171260956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1277524"/>
            <a:ext cx="11287478" cy="3703321"/>
          </a:xfrm>
          <a:prstGeom prst="rect">
            <a:avLst/>
          </a:prstGeom>
        </p:spPr>
        <p:txBody>
          <a:bodyPr lIns="0" tIns="0" rIns="0" bIns="0" rtlCol="0" anchor="t">
            <a:spAutoFit/>
          </a:bodyPr>
          <a:lstStyle/>
          <a:p>
            <a:pPr>
              <a:lnSpc>
                <a:spcPts val="4150"/>
              </a:lnSpc>
            </a:pPr>
            <a:r>
              <a:rPr lang="en-US" sz="2000" dirty="0">
                <a:latin typeface="Antique Olive" panose="020B0603020204030204"/>
                <a:ea typeface="Quicksand"/>
                <a:cs typeface="Quicksand"/>
                <a:sym typeface="Quicksand"/>
              </a:rPr>
              <a:t>The algorithm to compare two strings is simple:</a:t>
            </a:r>
          </a:p>
          <a:p>
            <a:pPr marL="527028" lvl="1" indent="-263514">
              <a:lnSpc>
                <a:spcPts val="4150"/>
              </a:lnSpc>
              <a:buAutoNum type="arabicPeriod"/>
            </a:pPr>
            <a:r>
              <a:rPr lang="en-US" sz="2000" dirty="0">
                <a:latin typeface="Antique Olive" panose="020B0603020204030204"/>
                <a:ea typeface="Quicksand"/>
                <a:cs typeface="Quicksand"/>
                <a:sym typeface="Quicksand"/>
              </a:rPr>
              <a:t>Compare the first character of both strings.</a:t>
            </a:r>
          </a:p>
          <a:p>
            <a:pPr marL="527028" lvl="1" indent="-263514">
              <a:lnSpc>
                <a:spcPts val="4150"/>
              </a:lnSpc>
              <a:buAutoNum type="arabicPeriod"/>
            </a:pPr>
            <a:r>
              <a:rPr lang="en-US" sz="2000" dirty="0">
                <a:latin typeface="Antique Olive" panose="020B0603020204030204"/>
                <a:ea typeface="Quicksand"/>
                <a:cs typeface="Quicksand"/>
                <a:sym typeface="Quicksand"/>
              </a:rPr>
              <a:t>If the first character from the first string is greater (or less) than the other string’s, then the first string is greater (or less) than the second. We’re done.</a:t>
            </a:r>
          </a:p>
          <a:p>
            <a:pPr marL="527028" lvl="1" indent="-263514">
              <a:lnSpc>
                <a:spcPts val="4150"/>
              </a:lnSpc>
              <a:buAutoNum type="arabicPeriod"/>
            </a:pPr>
            <a:r>
              <a:rPr lang="en-US" sz="2000" dirty="0">
                <a:latin typeface="Antique Olive" panose="020B0603020204030204"/>
                <a:ea typeface="Quicksand"/>
                <a:cs typeface="Quicksand"/>
                <a:sym typeface="Quicksand"/>
              </a:rPr>
              <a:t>Otherwise, if both strings’ first characters are the same, compare the second characters the same way.</a:t>
            </a:r>
          </a:p>
          <a:p>
            <a:pPr marL="527028" lvl="1" indent="-263514">
              <a:lnSpc>
                <a:spcPts val="4150"/>
              </a:lnSpc>
              <a:buAutoNum type="arabicPeriod"/>
            </a:pPr>
            <a:r>
              <a:rPr lang="en-US" sz="2000" dirty="0">
                <a:latin typeface="Antique Olive" panose="020B0603020204030204"/>
                <a:ea typeface="Quicksand"/>
                <a:cs typeface="Quicksand"/>
                <a:sym typeface="Quicksand"/>
              </a:rPr>
              <a:t>Repeat until the end of either string.</a:t>
            </a:r>
          </a:p>
          <a:p>
            <a:pPr marL="527028" lvl="1" indent="-263514">
              <a:lnSpc>
                <a:spcPts val="4150"/>
              </a:lnSpc>
              <a:buAutoNum type="arabicPeriod"/>
            </a:pPr>
            <a:r>
              <a:rPr lang="en-US" sz="2000" dirty="0">
                <a:latin typeface="Antique Olive" panose="020B0603020204030204"/>
                <a:ea typeface="Quicksand"/>
                <a:cs typeface="Quicksand"/>
                <a:sym typeface="Quicksand"/>
              </a:rPr>
              <a:t>If both strings end at the same length, then they are equal. Otherwise, the longer string is greater.</a:t>
            </a:r>
            <a:endParaRPr lang="en-US" sz="2000" dirty="0">
              <a:latin typeface="Antique Olive" panose="020B0603020204030204"/>
              <a:ea typeface="Quicksand"/>
              <a:cs typeface="Quicksand"/>
              <a:sym typeface="Quicksand"/>
              <a:hlinkClick r:id="rId2" tooltip="https://javascript.info/comparison#string-comparison">
                <a:extLst>
                  <a:ext uri="{A12FA001-AC4F-418D-AE19-62706E023703}">
                    <ahyp:hlinkClr xmlns:ahyp="http://schemas.microsoft.com/office/drawing/2018/hyperlinkcolor" val="tx"/>
                  </a:ext>
                </a:extLst>
              </a:hlinkClick>
            </a:endParaRPr>
          </a:p>
        </p:txBody>
      </p:sp>
      <p:sp>
        <p:nvSpPr>
          <p:cNvPr id="3" name="TextBox 3"/>
          <p:cNvSpPr txBox="1"/>
          <p:nvPr/>
        </p:nvSpPr>
        <p:spPr>
          <a:xfrm>
            <a:off x="4441013" y="565021"/>
            <a:ext cx="7532265" cy="712503"/>
          </a:xfrm>
          <a:prstGeom prst="rect">
            <a:avLst/>
          </a:prstGeom>
        </p:spPr>
        <p:txBody>
          <a:bodyPr lIns="0" tIns="0" rIns="0" bIns="0" rtlCol="0" anchor="t">
            <a:spAutoFit/>
          </a:bodyPr>
          <a:lstStyle/>
          <a:p>
            <a:pPr algn="just">
              <a:lnSpc>
                <a:spcPts val="5973"/>
              </a:lnSpc>
              <a:spcBef>
                <a:spcPct val="0"/>
              </a:spcBef>
            </a:pPr>
            <a:r>
              <a:rPr lang="en-US" sz="4000" b="1" dirty="0">
                <a:latin typeface="Antique Olive" panose="020B0603020204030204"/>
                <a:ea typeface="Cormorant Garamond"/>
                <a:cs typeface="Cormorant Garamond"/>
                <a:sym typeface="Cormorant Garamond"/>
              </a:rPr>
              <a:t>Operators</a:t>
            </a:r>
          </a:p>
        </p:txBody>
      </p:sp>
    </p:spTree>
    <p:extLst>
      <p:ext uri="{BB962C8B-B14F-4D97-AF65-F5344CB8AC3E}">
        <p14:creationId xmlns:p14="http://schemas.microsoft.com/office/powerpoint/2010/main" val="208895259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1174198"/>
            <a:ext cx="11287478" cy="3168303"/>
          </a:xfrm>
          <a:prstGeom prst="rect">
            <a:avLst/>
          </a:prstGeom>
        </p:spPr>
        <p:txBody>
          <a:bodyPr lIns="0" tIns="0" rIns="0" bIns="0" rtlCol="0" anchor="t">
            <a:spAutoFit/>
          </a:bodyPr>
          <a:lstStyle/>
          <a:p>
            <a:pPr>
              <a:lnSpc>
                <a:spcPts val="4150"/>
              </a:lnSpc>
            </a:pPr>
            <a:r>
              <a:rPr lang="en-US" sz="2000" dirty="0">
                <a:latin typeface="Antique Olive" panose="020B0603020204030204"/>
                <a:ea typeface="Quicksand"/>
                <a:cs typeface="Quicksand"/>
                <a:sym typeface="Quicksand"/>
              </a:rPr>
              <a:t>In the first example above, the comparison 'Z' &gt; 'A' gets to a result at the first step.</a:t>
            </a:r>
          </a:p>
          <a:p>
            <a:pPr>
              <a:lnSpc>
                <a:spcPts val="4150"/>
              </a:lnSpc>
            </a:pPr>
            <a:r>
              <a:rPr lang="en-US" sz="2000" dirty="0">
                <a:latin typeface="Antique Olive" panose="020B0603020204030204"/>
                <a:ea typeface="Quicksand"/>
                <a:cs typeface="Quicksand"/>
                <a:sym typeface="Quicksand"/>
              </a:rPr>
              <a:t>The second comparison 'Glow' and 'Glee' needs more steps as strings are compared character-by-character:</a:t>
            </a:r>
          </a:p>
          <a:p>
            <a:pPr marL="527028" lvl="1" indent="-263514">
              <a:lnSpc>
                <a:spcPts val="4150"/>
              </a:lnSpc>
              <a:buAutoNum type="arabicPeriod"/>
            </a:pPr>
            <a:r>
              <a:rPr lang="en-US" sz="2000" dirty="0">
                <a:latin typeface="Antique Olive" panose="020B0603020204030204"/>
                <a:ea typeface="Quicksand"/>
                <a:cs typeface="Quicksand"/>
                <a:sym typeface="Quicksand"/>
              </a:rPr>
              <a:t>G is the same as G.</a:t>
            </a:r>
          </a:p>
          <a:p>
            <a:pPr marL="527028" lvl="1" indent="-263514">
              <a:lnSpc>
                <a:spcPts val="4150"/>
              </a:lnSpc>
              <a:buAutoNum type="arabicPeriod"/>
            </a:pPr>
            <a:r>
              <a:rPr lang="en-US" sz="2000" dirty="0">
                <a:latin typeface="Antique Olive" panose="020B0603020204030204"/>
                <a:ea typeface="Quicksand"/>
                <a:cs typeface="Quicksand"/>
                <a:sym typeface="Quicksand"/>
              </a:rPr>
              <a:t>l is the same as l.</a:t>
            </a:r>
          </a:p>
          <a:p>
            <a:pPr marL="527028" lvl="1" indent="-263514">
              <a:lnSpc>
                <a:spcPts val="4150"/>
              </a:lnSpc>
              <a:buAutoNum type="arabicPeriod"/>
            </a:pPr>
            <a:r>
              <a:rPr lang="en-US" sz="2000" dirty="0">
                <a:solidFill>
                  <a:srgbClr val="000000"/>
                </a:solidFill>
                <a:latin typeface="Antique Olive" panose="020B0603020204030204"/>
                <a:ea typeface="Quicksand"/>
                <a:cs typeface="Quicksand"/>
                <a:sym typeface="Quicksand"/>
              </a:rPr>
              <a:t>o is greater than e. Stop here. The first string is </a:t>
            </a:r>
            <a:r>
              <a:rPr lang="en-US" sz="2000" dirty="0" err="1">
                <a:solidFill>
                  <a:srgbClr val="000000"/>
                </a:solidFill>
                <a:latin typeface="Antique Olive" panose="020B0603020204030204"/>
                <a:ea typeface="Quicksand"/>
                <a:cs typeface="Quicksand"/>
                <a:sym typeface="Quicksand"/>
              </a:rPr>
              <a:t>greate</a:t>
            </a:r>
            <a:endParaRPr lang="en-US" sz="2000" dirty="0">
              <a:latin typeface="Antique Olive" panose="020B0603020204030204"/>
              <a:ea typeface="Quicksand"/>
              <a:cs typeface="Quicksand"/>
              <a:sym typeface="Quicksand"/>
              <a:hlinkClick r:id="rId2" tooltip="https://javascript.info/comparison#string-comparison">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comparison#string-comparison">
                <a:extLst>
                  <a:ext uri="{A12FA001-AC4F-418D-AE19-62706E023703}">
                    <ahyp:hlinkClr xmlns:ahyp="http://schemas.microsoft.com/office/drawing/2018/hyperlinkcolor" val="tx"/>
                  </a:ext>
                </a:extLst>
              </a:hlinkClick>
            </a:endParaRPr>
          </a:p>
        </p:txBody>
      </p:sp>
      <p:sp>
        <p:nvSpPr>
          <p:cNvPr id="3" name="TextBox 3"/>
          <p:cNvSpPr txBox="1"/>
          <p:nvPr/>
        </p:nvSpPr>
        <p:spPr>
          <a:xfrm>
            <a:off x="4441013" y="565021"/>
            <a:ext cx="7532265" cy="721480"/>
          </a:xfrm>
          <a:prstGeom prst="rect">
            <a:avLst/>
          </a:prstGeom>
        </p:spPr>
        <p:txBody>
          <a:bodyPr lIns="0" tIns="0" rIns="0" bIns="0" rtlCol="0" anchor="t">
            <a:spAutoFit/>
          </a:bodyPr>
          <a:lstStyle/>
          <a:p>
            <a:pPr algn="just">
              <a:lnSpc>
                <a:spcPts val="5973"/>
              </a:lnSpc>
              <a:spcBef>
                <a:spcPct val="0"/>
              </a:spcBef>
            </a:pPr>
            <a:r>
              <a:rPr lang="en-US" sz="4000" b="1" dirty="0">
                <a:latin typeface="Antique Olive" panose="020B0603020204030204"/>
                <a:ea typeface="Cormorant Garamond"/>
                <a:cs typeface="Cormorant Garamond"/>
                <a:sym typeface="Cormorant Garamond"/>
              </a:rPr>
              <a:t>Operators</a:t>
            </a:r>
          </a:p>
        </p:txBody>
      </p:sp>
    </p:spTree>
    <p:extLst>
      <p:ext uri="{BB962C8B-B14F-4D97-AF65-F5344CB8AC3E}">
        <p14:creationId xmlns:p14="http://schemas.microsoft.com/office/powerpoint/2010/main" val="378627805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1174197"/>
            <a:ext cx="11287478" cy="3706912"/>
          </a:xfrm>
          <a:prstGeom prst="rect">
            <a:avLst/>
          </a:prstGeom>
        </p:spPr>
        <p:txBody>
          <a:bodyPr lIns="0" tIns="0" rIns="0" bIns="0" rtlCol="0" anchor="t">
            <a:spAutoFit/>
          </a:bodyPr>
          <a:lstStyle/>
          <a:p>
            <a:pPr>
              <a:lnSpc>
                <a:spcPts val="4150"/>
              </a:lnSpc>
            </a:pPr>
            <a:r>
              <a:rPr lang="en-US" sz="2000" u="sng" dirty="0">
                <a:latin typeface="Antique Olive" panose="020B0603020204030204"/>
                <a:ea typeface="Quicksand"/>
                <a:cs typeface="Quicksand"/>
                <a:sym typeface="Quicksand"/>
              </a:rPr>
              <a:t>Strict equality</a:t>
            </a:r>
          </a:p>
          <a:p>
            <a:pPr>
              <a:lnSpc>
                <a:spcPts val="4150"/>
              </a:lnSpc>
            </a:pPr>
            <a:r>
              <a:rPr lang="en-US" sz="2000" dirty="0">
                <a:latin typeface="Antique Olive" panose="020B0603020204030204"/>
                <a:ea typeface="Quicksand"/>
                <a:cs typeface="Quicksand"/>
                <a:sym typeface="Quicksand"/>
              </a:rPr>
              <a:t>A regular equality check == has a problem. It cannot differentiate 0 from false:</a:t>
            </a:r>
          </a:p>
          <a:p>
            <a:pPr>
              <a:lnSpc>
                <a:spcPts val="4150"/>
              </a:lnSpc>
            </a:pPr>
            <a:r>
              <a:rPr lang="en-US" sz="2000" dirty="0">
                <a:latin typeface="Antique Olive" panose="020B0603020204030204"/>
                <a:ea typeface="Quicksand"/>
                <a:cs typeface="Quicksand"/>
                <a:sym typeface="Quicksand"/>
              </a:rPr>
              <a:t>alert( 0 == false ); // true</a:t>
            </a:r>
          </a:p>
          <a:p>
            <a:pPr>
              <a:lnSpc>
                <a:spcPts val="4150"/>
              </a:lnSpc>
            </a:pPr>
            <a:r>
              <a:rPr lang="en-US" sz="2000" dirty="0">
                <a:latin typeface="Antique Olive" panose="020B0603020204030204"/>
                <a:ea typeface="Quicksand"/>
                <a:cs typeface="Quicksand"/>
                <a:sym typeface="Quicksand"/>
              </a:rPr>
              <a:t>The same thing happens with an empty string</a:t>
            </a:r>
          </a:p>
          <a:p>
            <a:pPr>
              <a:lnSpc>
                <a:spcPts val="4150"/>
              </a:lnSpc>
            </a:pPr>
            <a:r>
              <a:rPr lang="en-US" sz="2000" dirty="0">
                <a:latin typeface="Antique Olive" panose="020B0603020204030204"/>
                <a:ea typeface="Quicksand"/>
                <a:cs typeface="Quicksand"/>
                <a:sym typeface="Quicksand"/>
              </a:rPr>
              <a:t>alert( '' == false ); // true</a:t>
            </a:r>
            <a:endParaRPr lang="en-US" sz="2000" dirty="0">
              <a:latin typeface="Antique Olive" panose="020B0603020204030204"/>
              <a:ea typeface="Quicksand"/>
              <a:cs typeface="Quicksand"/>
              <a:sym typeface="Quicksand"/>
              <a:hlinkClick r:id="rId2" tooltip="https://javascript.info/comparison#string-comparison">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comparison#string-comparison">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comparison#string-comparison">
                <a:extLst>
                  <a:ext uri="{A12FA001-AC4F-418D-AE19-62706E023703}">
                    <ahyp:hlinkClr xmlns:ahyp="http://schemas.microsoft.com/office/drawing/2018/hyperlinkcolor" val="tx"/>
                  </a:ext>
                </a:extLst>
              </a:hlinkClick>
            </a:endParaRPr>
          </a:p>
        </p:txBody>
      </p:sp>
      <p:sp>
        <p:nvSpPr>
          <p:cNvPr id="3" name="TextBox 3"/>
          <p:cNvSpPr txBox="1"/>
          <p:nvPr/>
        </p:nvSpPr>
        <p:spPr>
          <a:xfrm>
            <a:off x="4441013" y="565021"/>
            <a:ext cx="7532265" cy="721480"/>
          </a:xfrm>
          <a:prstGeom prst="rect">
            <a:avLst/>
          </a:prstGeom>
        </p:spPr>
        <p:txBody>
          <a:bodyPr lIns="0" tIns="0" rIns="0" bIns="0" rtlCol="0" anchor="t">
            <a:spAutoFit/>
          </a:bodyPr>
          <a:lstStyle/>
          <a:p>
            <a:pPr algn="just">
              <a:lnSpc>
                <a:spcPts val="5973"/>
              </a:lnSpc>
              <a:spcBef>
                <a:spcPct val="0"/>
              </a:spcBef>
            </a:pPr>
            <a:r>
              <a:rPr lang="en-US" sz="4000" b="1" dirty="0">
                <a:latin typeface="Antique Olive" panose="020B0603020204030204"/>
                <a:ea typeface="Cormorant Garamond"/>
                <a:cs typeface="Cormorant Garamond"/>
                <a:sym typeface="Cormorant Garamond"/>
              </a:rPr>
              <a:t>Operators</a:t>
            </a:r>
          </a:p>
        </p:txBody>
      </p:sp>
    </p:spTree>
    <p:extLst>
      <p:ext uri="{BB962C8B-B14F-4D97-AF65-F5344CB8AC3E}">
        <p14:creationId xmlns:p14="http://schemas.microsoft.com/office/powerpoint/2010/main" val="208920815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1174198"/>
            <a:ext cx="11287478" cy="6399957"/>
          </a:xfrm>
          <a:prstGeom prst="rect">
            <a:avLst/>
          </a:prstGeom>
        </p:spPr>
        <p:txBody>
          <a:bodyPr lIns="0" tIns="0" rIns="0" bIns="0" rtlCol="0" anchor="t">
            <a:spAutoFit/>
          </a:bodyPr>
          <a:lstStyle/>
          <a:p>
            <a:pPr>
              <a:lnSpc>
                <a:spcPts val="4150"/>
              </a:lnSpc>
            </a:pPr>
            <a:r>
              <a:rPr lang="en-US" sz="2000" u="sng" dirty="0">
                <a:latin typeface="Antique Olive" panose="020B0603020204030204"/>
                <a:ea typeface="Quicksand"/>
                <a:cs typeface="Quicksand"/>
                <a:sym typeface="Quicksand"/>
              </a:rPr>
              <a:t>Strict equality</a:t>
            </a:r>
          </a:p>
          <a:p>
            <a:pPr>
              <a:lnSpc>
                <a:spcPts val="4150"/>
              </a:lnSpc>
            </a:pPr>
            <a:r>
              <a:rPr lang="en-US" sz="2000" dirty="0">
                <a:latin typeface="Antique Olive" panose="020B0603020204030204"/>
                <a:ea typeface="Quicksand"/>
                <a:cs typeface="Quicksand"/>
                <a:sym typeface="Quicksand"/>
              </a:rPr>
              <a:t>This happens because operands of different types are converted to numbers by the equality operator ==. An empty string, just like false, becomes a zero.</a:t>
            </a:r>
          </a:p>
          <a:p>
            <a:pPr>
              <a:lnSpc>
                <a:spcPts val="4150"/>
              </a:lnSpc>
            </a:pPr>
            <a:r>
              <a:rPr lang="en-US" sz="2000" dirty="0">
                <a:latin typeface="Antique Olive" panose="020B0603020204030204"/>
                <a:ea typeface="Quicksand"/>
                <a:cs typeface="Quicksand"/>
                <a:sym typeface="Quicksand"/>
              </a:rPr>
              <a:t>What to do if we’d like to differentiate 0 from false?</a:t>
            </a:r>
          </a:p>
          <a:p>
            <a:pPr>
              <a:lnSpc>
                <a:spcPts val="4150"/>
              </a:lnSpc>
            </a:pPr>
            <a:r>
              <a:rPr lang="en-US" sz="2000" dirty="0">
                <a:latin typeface="Antique Olive" panose="020B0603020204030204"/>
                <a:ea typeface="Quicksand"/>
                <a:cs typeface="Quicksand"/>
                <a:sym typeface="Quicksand"/>
              </a:rPr>
              <a:t>A strict equality operator === checks the equality without type conversion.</a:t>
            </a:r>
          </a:p>
          <a:p>
            <a:pPr>
              <a:lnSpc>
                <a:spcPts val="4150"/>
              </a:lnSpc>
            </a:pPr>
            <a:r>
              <a:rPr lang="en-US" sz="2000" dirty="0">
                <a:latin typeface="Antique Olive" panose="020B0603020204030204"/>
                <a:ea typeface="Quicksand"/>
                <a:cs typeface="Quicksand"/>
                <a:sym typeface="Quicksand"/>
              </a:rPr>
              <a:t>In other words, if a and b are of different types, then a === b immediately returns false without an attempt to convert them.</a:t>
            </a:r>
          </a:p>
          <a:p>
            <a:pPr>
              <a:lnSpc>
                <a:spcPts val="4150"/>
              </a:lnSpc>
            </a:pPr>
            <a:r>
              <a:rPr lang="en-US" sz="2000" dirty="0">
                <a:latin typeface="Antique Olive" panose="020B0603020204030204"/>
                <a:ea typeface="Quicksand"/>
                <a:cs typeface="Quicksand"/>
                <a:sym typeface="Quicksand"/>
              </a:rPr>
              <a:t>Let’s try it:</a:t>
            </a:r>
          </a:p>
          <a:p>
            <a:pPr>
              <a:lnSpc>
                <a:spcPts val="4150"/>
              </a:lnSpc>
            </a:pPr>
            <a:r>
              <a:rPr lang="en-US" sz="2000" dirty="0">
                <a:latin typeface="Antique Olive" panose="020B0603020204030204"/>
                <a:ea typeface="Quicksand"/>
                <a:cs typeface="Quicksand"/>
                <a:sym typeface="Quicksand"/>
              </a:rPr>
              <a:t>alert( 0 === false ); // false, because the types are different</a:t>
            </a:r>
          </a:p>
          <a:p>
            <a:pPr>
              <a:lnSpc>
                <a:spcPts val="4150"/>
              </a:lnSpc>
            </a:pPr>
            <a:r>
              <a:rPr lang="en-US" sz="2000" dirty="0">
                <a:latin typeface="Antique Olive" panose="020B0603020204030204"/>
                <a:ea typeface="Quicksand"/>
                <a:cs typeface="Quicksand"/>
                <a:sym typeface="Quicksand"/>
              </a:rPr>
              <a:t>There is also a “strict non-equality” operator !== analogous to !=.</a:t>
            </a:r>
          </a:p>
          <a:p>
            <a:pPr>
              <a:lnSpc>
                <a:spcPts val="4150"/>
              </a:lnSpc>
            </a:pPr>
            <a:endParaRPr lang="en-US" sz="2000" dirty="0">
              <a:latin typeface="Antique Olive" panose="020B0603020204030204"/>
              <a:ea typeface="Quicksand"/>
              <a:cs typeface="Quicksand"/>
              <a:sym typeface="Quicksand"/>
            </a:endParaRPr>
          </a:p>
          <a:p>
            <a:pPr>
              <a:lnSpc>
                <a:spcPts val="4150"/>
              </a:lnSpc>
            </a:pPr>
            <a:endParaRPr lang="en-US" sz="2000" dirty="0">
              <a:latin typeface="Antique Olive" panose="020B0603020204030204"/>
              <a:ea typeface="Quicksand"/>
              <a:cs typeface="Quicksand"/>
              <a:sym typeface="Quicksand"/>
            </a:endParaRPr>
          </a:p>
        </p:txBody>
      </p:sp>
      <p:sp>
        <p:nvSpPr>
          <p:cNvPr id="3" name="TextBox 3"/>
          <p:cNvSpPr txBox="1"/>
          <p:nvPr/>
        </p:nvSpPr>
        <p:spPr>
          <a:xfrm>
            <a:off x="4441013" y="565021"/>
            <a:ext cx="7532265" cy="712503"/>
          </a:xfrm>
          <a:prstGeom prst="rect">
            <a:avLst/>
          </a:prstGeom>
        </p:spPr>
        <p:txBody>
          <a:bodyPr lIns="0" tIns="0" rIns="0" bIns="0" rtlCol="0" anchor="t">
            <a:spAutoFit/>
          </a:bodyPr>
          <a:lstStyle/>
          <a:p>
            <a:pPr algn="just">
              <a:lnSpc>
                <a:spcPts val="5973"/>
              </a:lnSpc>
              <a:spcBef>
                <a:spcPct val="0"/>
              </a:spcBef>
            </a:pPr>
            <a:r>
              <a:rPr lang="en-US" sz="4000" b="1" dirty="0">
                <a:latin typeface="Antique Olive" panose="020B0603020204030204"/>
                <a:ea typeface="Cormorant Garamond"/>
                <a:cs typeface="Cormorant Garamond"/>
                <a:sym typeface="Cormorant Garamond"/>
              </a:rPr>
              <a:t>Operators</a:t>
            </a:r>
          </a:p>
        </p:txBody>
      </p:sp>
    </p:spTree>
    <p:extLst>
      <p:ext uri="{BB962C8B-B14F-4D97-AF65-F5344CB8AC3E}">
        <p14:creationId xmlns:p14="http://schemas.microsoft.com/office/powerpoint/2010/main" val="254373793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1174197"/>
            <a:ext cx="11287478" cy="3718262"/>
          </a:xfrm>
          <a:prstGeom prst="rect">
            <a:avLst/>
          </a:prstGeom>
        </p:spPr>
        <p:txBody>
          <a:bodyPr lIns="0" tIns="0" rIns="0" bIns="0" rtlCol="0" anchor="t">
            <a:spAutoFit/>
          </a:bodyPr>
          <a:lstStyle/>
          <a:p>
            <a:pPr>
              <a:lnSpc>
                <a:spcPts val="4150"/>
              </a:lnSpc>
            </a:pPr>
            <a:r>
              <a:rPr lang="en-US" sz="2000" u="sng" dirty="0">
                <a:latin typeface="Antique Olive" panose="020B0603020204030204"/>
                <a:ea typeface="Quicksand"/>
                <a:cs typeface="Quicksand"/>
                <a:sym typeface="Quicksand"/>
              </a:rPr>
              <a:t>What will be the result for these expressions?</a:t>
            </a:r>
          </a:p>
          <a:p>
            <a:pPr marL="527028" lvl="1" indent="-263514">
              <a:lnSpc>
                <a:spcPts val="4150"/>
              </a:lnSpc>
              <a:buFont typeface="Arial"/>
              <a:buChar char="•"/>
            </a:pPr>
            <a:r>
              <a:rPr lang="en-US" sz="2000" dirty="0">
                <a:latin typeface="Antique Olive" panose="020B0603020204030204"/>
                <a:ea typeface="Quicksand"/>
                <a:cs typeface="Quicksand"/>
                <a:sym typeface="Quicksand"/>
              </a:rPr>
              <a:t>5 &gt; 4</a:t>
            </a:r>
          </a:p>
          <a:p>
            <a:pPr marL="527028" lvl="1" indent="-263514">
              <a:lnSpc>
                <a:spcPts val="4150"/>
              </a:lnSpc>
              <a:buFont typeface="Arial"/>
              <a:buChar char="•"/>
            </a:pPr>
            <a:r>
              <a:rPr lang="en-US" sz="2000" dirty="0">
                <a:latin typeface="Antique Olive" panose="020B0603020204030204"/>
                <a:ea typeface="Quicksand"/>
                <a:cs typeface="Quicksand"/>
                <a:sym typeface="Quicksand"/>
              </a:rPr>
              <a:t>"apple" &gt; "pineapple"</a:t>
            </a:r>
          </a:p>
          <a:p>
            <a:pPr marL="527028" lvl="1" indent="-263514">
              <a:lnSpc>
                <a:spcPts val="4150"/>
              </a:lnSpc>
              <a:buFont typeface="Arial"/>
              <a:buChar char="•"/>
            </a:pPr>
            <a:r>
              <a:rPr lang="en-US" sz="2000" dirty="0">
                <a:latin typeface="Antique Olive" panose="020B0603020204030204"/>
                <a:ea typeface="Quicksand"/>
                <a:cs typeface="Quicksand"/>
                <a:sym typeface="Quicksand"/>
              </a:rPr>
              <a:t>"2" &gt; "12"</a:t>
            </a:r>
          </a:p>
          <a:p>
            <a:pPr marL="527028" lvl="1" indent="-263514">
              <a:lnSpc>
                <a:spcPts val="4150"/>
              </a:lnSpc>
              <a:buFont typeface="Arial"/>
              <a:buChar char="•"/>
            </a:pPr>
            <a:r>
              <a:rPr lang="en-US" sz="2000" dirty="0">
                <a:latin typeface="Antique Olive" panose="020B0603020204030204"/>
                <a:ea typeface="Quicksand"/>
                <a:cs typeface="Quicksand"/>
                <a:sym typeface="Quicksand"/>
              </a:rPr>
              <a:t>undefined == null</a:t>
            </a:r>
          </a:p>
          <a:p>
            <a:pPr marL="527028" lvl="1" indent="-263514">
              <a:lnSpc>
                <a:spcPts val="4150"/>
              </a:lnSpc>
              <a:buFont typeface="Arial"/>
              <a:buChar char="•"/>
            </a:pPr>
            <a:r>
              <a:rPr lang="en-US" sz="2000" dirty="0">
                <a:latin typeface="Antique Olive" panose="020B0603020204030204"/>
                <a:ea typeface="Quicksand"/>
                <a:cs typeface="Quicksand"/>
                <a:sym typeface="Quicksand"/>
              </a:rPr>
              <a:t>undefined === null</a:t>
            </a:r>
          </a:p>
          <a:p>
            <a:pPr>
              <a:lnSpc>
                <a:spcPts val="4150"/>
              </a:lnSpc>
            </a:pPr>
            <a:endParaRPr lang="en-US" sz="2441" dirty="0">
              <a:solidFill>
                <a:srgbClr val="000000"/>
              </a:solidFill>
              <a:latin typeface="Quicksand"/>
              <a:ea typeface="Quicksand"/>
              <a:cs typeface="Quicksand"/>
              <a:sym typeface="Quicksand"/>
              <a:hlinkClick r:id="rId2" tooltip="https://javascript.info/comparison#strict-equality">
                <a:extLst>
                  <a:ext uri="{A12FA001-AC4F-418D-AE19-62706E023703}">
                    <ahyp:hlinkClr xmlns:ahyp="http://schemas.microsoft.com/office/drawing/2018/hyperlinkcolor" val="tx"/>
                  </a:ext>
                </a:extLst>
              </a:hlinkClick>
            </a:endParaRPr>
          </a:p>
        </p:txBody>
      </p:sp>
      <p:sp>
        <p:nvSpPr>
          <p:cNvPr id="3" name="TextBox 3"/>
          <p:cNvSpPr txBox="1"/>
          <p:nvPr/>
        </p:nvSpPr>
        <p:spPr>
          <a:xfrm>
            <a:off x="4955918" y="543421"/>
            <a:ext cx="7532265" cy="712503"/>
          </a:xfrm>
          <a:prstGeom prst="rect">
            <a:avLst/>
          </a:prstGeom>
        </p:spPr>
        <p:txBody>
          <a:bodyPr lIns="0" tIns="0" rIns="0" bIns="0" rtlCol="0" anchor="t">
            <a:spAutoFit/>
          </a:bodyPr>
          <a:lstStyle/>
          <a:p>
            <a:pPr algn="just">
              <a:lnSpc>
                <a:spcPts val="5973"/>
              </a:lnSpc>
              <a:spcBef>
                <a:spcPct val="0"/>
              </a:spcBef>
            </a:pPr>
            <a:r>
              <a:rPr lang="en-US" sz="4000" b="1" dirty="0">
                <a:latin typeface="Antique Olive" panose="020B0603020204030204"/>
                <a:ea typeface="Cormorant Garamond"/>
                <a:cs typeface="Cormorant Garamond"/>
                <a:sym typeface="Cormorant Garamond"/>
              </a:rPr>
              <a:t>Task</a:t>
            </a:r>
          </a:p>
        </p:txBody>
      </p:sp>
    </p:spTree>
    <p:extLst>
      <p:ext uri="{BB962C8B-B14F-4D97-AF65-F5344CB8AC3E}">
        <p14:creationId xmlns:p14="http://schemas.microsoft.com/office/powerpoint/2010/main" val="11726260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1174198"/>
            <a:ext cx="11287478" cy="5322739"/>
          </a:xfrm>
          <a:prstGeom prst="rect">
            <a:avLst/>
          </a:prstGeom>
        </p:spPr>
        <p:txBody>
          <a:bodyPr lIns="0" tIns="0" rIns="0" bIns="0" rtlCol="0" anchor="t">
            <a:spAutoFit/>
          </a:bodyPr>
          <a:lstStyle/>
          <a:p>
            <a:pPr>
              <a:lnSpc>
                <a:spcPts val="4150"/>
              </a:lnSpc>
            </a:pPr>
            <a:r>
              <a:rPr lang="en-US" sz="2000" dirty="0">
                <a:latin typeface="Antique Olive" panose="020B0603020204030204"/>
                <a:ea typeface="Quicksand"/>
                <a:cs typeface="Quicksand"/>
                <a:sym typeface="Quicksand"/>
              </a:rPr>
              <a:t>Conditional branching: if, '?'</a:t>
            </a:r>
          </a:p>
          <a:p>
            <a:pPr>
              <a:lnSpc>
                <a:spcPts val="4150"/>
              </a:lnSpc>
            </a:pPr>
            <a:r>
              <a:rPr lang="en-US" sz="2000" dirty="0">
                <a:latin typeface="Antique Olive" panose="020B0603020204030204"/>
                <a:ea typeface="Quicksand"/>
                <a:cs typeface="Quicksand"/>
                <a:sym typeface="Quicksand"/>
              </a:rPr>
              <a:t>Sometimes, we need to perform different actions based on different conditions.</a:t>
            </a:r>
          </a:p>
          <a:p>
            <a:pPr>
              <a:lnSpc>
                <a:spcPts val="4150"/>
              </a:lnSpc>
            </a:pPr>
            <a:r>
              <a:rPr lang="en-US" sz="2000" dirty="0">
                <a:latin typeface="Antique Olive" panose="020B0603020204030204"/>
                <a:ea typeface="Quicksand"/>
                <a:cs typeface="Quicksand"/>
                <a:sym typeface="Quicksand"/>
              </a:rPr>
              <a:t>To do that, we can use the if statement and the conditional operator ?, that’s also called a “question mark” operator.</a:t>
            </a:r>
          </a:p>
          <a:p>
            <a:pPr>
              <a:lnSpc>
                <a:spcPts val="4150"/>
              </a:lnSpc>
            </a:pPr>
            <a:r>
              <a:rPr lang="en-US" sz="2000" b="1" dirty="0">
                <a:latin typeface="Antique Olive" panose="020B0603020204030204"/>
                <a:ea typeface="Quicksand Bold"/>
                <a:cs typeface="Quicksand Bold"/>
                <a:sym typeface="Quicksand Bold"/>
              </a:rPr>
              <a:t>The “if” statement</a:t>
            </a:r>
          </a:p>
          <a:p>
            <a:pPr>
              <a:lnSpc>
                <a:spcPts val="4150"/>
              </a:lnSpc>
            </a:pPr>
            <a:r>
              <a:rPr lang="en-US" sz="2000" dirty="0">
                <a:latin typeface="Antique Olive" panose="020B0603020204030204"/>
                <a:ea typeface="Quicksand"/>
                <a:cs typeface="Quicksand"/>
                <a:sym typeface="Quicksand"/>
              </a:rPr>
              <a:t>The if(...) statement evaluates a condition in parentheses and, if the result is true, executes a block of </a:t>
            </a:r>
            <a:r>
              <a:rPr lang="en-US" sz="2000" dirty="0" err="1">
                <a:latin typeface="Antique Olive" panose="020B0603020204030204"/>
                <a:ea typeface="Quicksand"/>
                <a:cs typeface="Quicksand"/>
                <a:sym typeface="Quicksand"/>
              </a:rPr>
              <a:t>code.</a:t>
            </a:r>
            <a:r>
              <a:rPr lang="en-US" sz="2000" b="1" dirty="0" err="1">
                <a:latin typeface="Antique Olive" panose="020B0603020204030204"/>
                <a:ea typeface="Quicksand Bold"/>
                <a:cs typeface="Quicksand Bold"/>
                <a:sym typeface="Quicksand Bold"/>
              </a:rPr>
              <a:t>For</a:t>
            </a:r>
            <a:r>
              <a:rPr lang="en-US" sz="2000" b="1" dirty="0">
                <a:latin typeface="Antique Olive" panose="020B0603020204030204"/>
                <a:ea typeface="Quicksand Bold"/>
                <a:cs typeface="Quicksand Bold"/>
                <a:sym typeface="Quicksand Bold"/>
              </a:rPr>
              <a:t> example:</a:t>
            </a:r>
          </a:p>
          <a:p>
            <a:pPr>
              <a:lnSpc>
                <a:spcPts val="4150"/>
              </a:lnSpc>
            </a:pPr>
            <a:r>
              <a:rPr lang="en-US" sz="2000" dirty="0">
                <a:latin typeface="Antique Olive" panose="020B0603020204030204"/>
                <a:ea typeface="Quicksand"/>
                <a:cs typeface="Quicksand"/>
                <a:sym typeface="Quicksand"/>
              </a:rPr>
              <a:t>let year = prompt('In which year was ECMAScript-2015 specification published?', '');</a:t>
            </a:r>
          </a:p>
          <a:p>
            <a:pPr>
              <a:lnSpc>
                <a:spcPts val="4150"/>
              </a:lnSpc>
            </a:pPr>
            <a:r>
              <a:rPr lang="en-US" sz="2000" dirty="0">
                <a:latin typeface="Antique Olive" panose="020B0603020204030204"/>
                <a:ea typeface="Quicksand"/>
                <a:cs typeface="Quicksand"/>
                <a:sym typeface="Quicksand"/>
              </a:rPr>
              <a:t>if (year == 2015) alert( 'You are right!' );</a:t>
            </a:r>
            <a:endParaRPr lang="en-US" sz="2000" dirty="0">
              <a:latin typeface="Antique Olive" panose="020B0603020204030204"/>
              <a:ea typeface="Quicksand"/>
              <a:cs typeface="Quicksand"/>
              <a:sym typeface="Quicksand"/>
              <a:hlinkClick r:id="rId2" tooltip="https://javascript.info/comparison#strict-equality">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comparison#strict-equality">
                <a:extLst>
                  <a:ext uri="{A12FA001-AC4F-418D-AE19-62706E023703}">
                    <ahyp:hlinkClr xmlns:ahyp="http://schemas.microsoft.com/office/drawing/2018/hyperlinkcolor" val="tx"/>
                  </a:ext>
                </a:extLst>
              </a:hlinkClick>
            </a:endParaRPr>
          </a:p>
        </p:txBody>
      </p:sp>
      <p:sp>
        <p:nvSpPr>
          <p:cNvPr id="3" name="TextBox 3"/>
          <p:cNvSpPr txBox="1"/>
          <p:nvPr/>
        </p:nvSpPr>
        <p:spPr>
          <a:xfrm>
            <a:off x="3467034" y="565021"/>
            <a:ext cx="7532265" cy="712503"/>
          </a:xfrm>
          <a:prstGeom prst="rect">
            <a:avLst/>
          </a:prstGeom>
        </p:spPr>
        <p:txBody>
          <a:bodyPr lIns="0" tIns="0" rIns="0" bIns="0" rtlCol="0" anchor="t">
            <a:spAutoFit/>
          </a:bodyPr>
          <a:lstStyle/>
          <a:p>
            <a:pPr algn="just">
              <a:lnSpc>
                <a:spcPts val="5973"/>
              </a:lnSpc>
              <a:spcBef>
                <a:spcPct val="0"/>
              </a:spcBef>
            </a:pPr>
            <a:r>
              <a:rPr lang="en-US" sz="4000" b="1" dirty="0">
                <a:latin typeface="Antique Olive" panose="020B0603020204030204"/>
                <a:ea typeface="Cormorant Garamond"/>
                <a:cs typeface="Cormorant Garamond"/>
                <a:sym typeface="Cormorant Garamond"/>
              </a:rPr>
              <a:t>Conditional Operators</a:t>
            </a:r>
            <a:endParaRPr lang="en-US" sz="4000" b="1" dirty="0">
              <a:latin typeface="Antique Olive" panose="020B0603020204030204"/>
              <a:ea typeface="Cormorant Garamond"/>
              <a:cs typeface="Cormorant Garamond"/>
              <a:sym typeface="Cormorant Garamond"/>
              <a:hlinkClick r:id="rId2" tooltip="https://javascript.info/comparison#strict-equality">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312069831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1047975"/>
            <a:ext cx="11287478" cy="5334089"/>
          </a:xfrm>
          <a:prstGeom prst="rect">
            <a:avLst/>
          </a:prstGeom>
        </p:spPr>
        <p:txBody>
          <a:bodyPr lIns="0" tIns="0" rIns="0" bIns="0" rtlCol="0" anchor="t">
            <a:spAutoFit/>
          </a:bodyPr>
          <a:lstStyle/>
          <a:p>
            <a:pPr>
              <a:lnSpc>
                <a:spcPts val="4150"/>
              </a:lnSpc>
            </a:pPr>
            <a:r>
              <a:rPr lang="en-US" sz="2200" dirty="0">
                <a:latin typeface="Quicksand"/>
                <a:ea typeface="Quicksand"/>
                <a:cs typeface="Quicksand"/>
                <a:sym typeface="Quicksand"/>
              </a:rPr>
              <a:t>If we want to execute more than one statement, we have to wrap our code block inside curly braces:</a:t>
            </a:r>
          </a:p>
          <a:p>
            <a:pPr>
              <a:lnSpc>
                <a:spcPts val="4150"/>
              </a:lnSpc>
            </a:pPr>
            <a:r>
              <a:rPr lang="en-US" sz="2200" dirty="0">
                <a:latin typeface="Quicksand"/>
                <a:ea typeface="Quicksand"/>
                <a:cs typeface="Quicksand"/>
                <a:sym typeface="Quicksand"/>
              </a:rPr>
              <a:t>if (year == 2015) {alert( "That's correct!" );</a:t>
            </a:r>
          </a:p>
          <a:p>
            <a:pPr>
              <a:lnSpc>
                <a:spcPts val="4150"/>
              </a:lnSpc>
            </a:pPr>
            <a:r>
              <a:rPr lang="en-US" sz="2200" dirty="0">
                <a:latin typeface="Quicksand"/>
                <a:ea typeface="Quicksand"/>
                <a:cs typeface="Quicksand"/>
                <a:sym typeface="Quicksand"/>
              </a:rPr>
              <a:t>alert( "You're so smart!" );}</a:t>
            </a:r>
          </a:p>
          <a:p>
            <a:pPr>
              <a:lnSpc>
                <a:spcPts val="4150"/>
              </a:lnSpc>
            </a:pPr>
            <a:r>
              <a:rPr lang="en-US" sz="2200" u="sng" dirty="0">
                <a:latin typeface="Quicksand"/>
                <a:ea typeface="Quicksand"/>
                <a:cs typeface="Quicksand"/>
                <a:sym typeface="Quicksand"/>
              </a:rPr>
              <a:t>The “else” clause</a:t>
            </a:r>
            <a:endParaRPr lang="en-US" sz="2200" u="sng" dirty="0">
              <a:latin typeface="Quicksand"/>
              <a:ea typeface="Quicksand"/>
              <a:cs typeface="Quicksand"/>
              <a:sym typeface="Quicksand"/>
              <a:hlinkClick r:id="rId2" tooltip="https://javascript.info/ifelse#the-else-clause">
                <a:extLst>
                  <a:ext uri="{A12FA001-AC4F-418D-AE19-62706E023703}">
                    <ahyp:hlinkClr xmlns:ahyp="http://schemas.microsoft.com/office/drawing/2018/hyperlinkcolor" val="tx"/>
                  </a:ext>
                </a:extLst>
              </a:hlinkClick>
            </a:endParaRPr>
          </a:p>
          <a:p>
            <a:pPr>
              <a:lnSpc>
                <a:spcPts val="4150"/>
              </a:lnSpc>
            </a:pPr>
            <a:r>
              <a:rPr lang="en-US" sz="2200" dirty="0">
                <a:latin typeface="Quicksand"/>
                <a:ea typeface="Quicksand"/>
                <a:cs typeface="Quicksand"/>
                <a:sym typeface="Quicksand"/>
              </a:rPr>
              <a:t>The if statement may contain an optional else block. It executes when the condition is </a:t>
            </a:r>
            <a:r>
              <a:rPr lang="en-US" sz="2200" dirty="0" err="1">
                <a:latin typeface="Quicksand"/>
                <a:ea typeface="Quicksand"/>
                <a:cs typeface="Quicksand"/>
                <a:sym typeface="Quicksand"/>
              </a:rPr>
              <a:t>falsy.</a:t>
            </a:r>
            <a:r>
              <a:rPr lang="en-US" sz="2200" b="1" dirty="0" err="1">
                <a:latin typeface="Quicksand Bold"/>
                <a:ea typeface="Quicksand Bold"/>
                <a:cs typeface="Quicksand Bold"/>
                <a:sym typeface="Quicksand Bold"/>
              </a:rPr>
              <a:t>For</a:t>
            </a:r>
            <a:r>
              <a:rPr lang="en-US" sz="2200" b="1" dirty="0">
                <a:latin typeface="Quicksand Bold"/>
                <a:ea typeface="Quicksand Bold"/>
                <a:cs typeface="Quicksand Bold"/>
                <a:sym typeface="Quicksand Bold"/>
              </a:rPr>
              <a:t> example:</a:t>
            </a:r>
          </a:p>
          <a:p>
            <a:pPr>
              <a:lnSpc>
                <a:spcPts val="4150"/>
              </a:lnSpc>
            </a:pPr>
            <a:r>
              <a:rPr lang="en-US" sz="2200" dirty="0">
                <a:latin typeface="Quicksand"/>
                <a:ea typeface="Quicksand"/>
                <a:cs typeface="Quicksand"/>
                <a:sym typeface="Quicksand"/>
              </a:rPr>
              <a:t>let year = prompt('In which year was the ECMAScript-2015 specification published?', '');</a:t>
            </a:r>
          </a:p>
          <a:p>
            <a:pPr>
              <a:lnSpc>
                <a:spcPts val="4150"/>
              </a:lnSpc>
            </a:pPr>
            <a:r>
              <a:rPr lang="en-US" sz="2200" dirty="0">
                <a:latin typeface="Quicksand"/>
                <a:ea typeface="Quicksand"/>
                <a:cs typeface="Quicksand"/>
                <a:sym typeface="Quicksand"/>
              </a:rPr>
              <a:t>if (year == 2015) {alert( 'You guessed it right!' );} </a:t>
            </a:r>
          </a:p>
          <a:p>
            <a:pPr>
              <a:lnSpc>
                <a:spcPts val="4150"/>
              </a:lnSpc>
            </a:pPr>
            <a:r>
              <a:rPr lang="en-US" sz="2200" dirty="0">
                <a:latin typeface="Quicksand"/>
                <a:ea typeface="Quicksand"/>
                <a:cs typeface="Quicksand"/>
                <a:sym typeface="Quicksand"/>
              </a:rPr>
              <a:t>else {alert( 'How can you be so wrong?' ); }// any value except 2015</a:t>
            </a:r>
          </a:p>
        </p:txBody>
      </p:sp>
      <p:sp>
        <p:nvSpPr>
          <p:cNvPr id="3" name="TextBox 3"/>
          <p:cNvSpPr txBox="1"/>
          <p:nvPr/>
        </p:nvSpPr>
        <p:spPr>
          <a:xfrm>
            <a:off x="3396746" y="524857"/>
            <a:ext cx="7532265" cy="726033"/>
          </a:xfrm>
          <a:prstGeom prst="rect">
            <a:avLst/>
          </a:prstGeom>
        </p:spPr>
        <p:txBody>
          <a:bodyPr lIns="0" tIns="0" rIns="0" bIns="0" rtlCol="0" anchor="t">
            <a:spAutoFit/>
          </a:bodyPr>
          <a:lstStyle/>
          <a:p>
            <a:pPr algn="just">
              <a:lnSpc>
                <a:spcPts val="5973"/>
              </a:lnSpc>
              <a:spcBef>
                <a:spcPct val="0"/>
              </a:spcBef>
            </a:pPr>
            <a:r>
              <a:rPr lang="en-US" sz="4400" b="1" dirty="0">
                <a:latin typeface="Antique Olive" panose="020B0603020204030204"/>
                <a:ea typeface="Cormorant Garamond"/>
                <a:cs typeface="Cormorant Garamond"/>
                <a:sym typeface="Cormorant Garamond"/>
              </a:rPr>
              <a:t>Conditional Operators</a:t>
            </a:r>
            <a:endParaRPr lang="en-US" sz="4400" b="1" dirty="0">
              <a:latin typeface="Antique Olive" panose="020B0603020204030204"/>
              <a:ea typeface="Cormorant Garamond"/>
              <a:cs typeface="Cormorant Garamond"/>
              <a:sym typeface="Cormorant Garamond"/>
              <a:hlinkClick r:id="rId3" tooltip="https://javascript.info/comparison#strict-equality">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243023214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1047975"/>
            <a:ext cx="11287478" cy="5872698"/>
          </a:xfrm>
          <a:prstGeom prst="rect">
            <a:avLst/>
          </a:prstGeom>
        </p:spPr>
        <p:txBody>
          <a:bodyPr lIns="0" tIns="0" rIns="0" bIns="0" rtlCol="0" anchor="t">
            <a:spAutoFit/>
          </a:bodyPr>
          <a:lstStyle/>
          <a:p>
            <a:pPr>
              <a:lnSpc>
                <a:spcPts val="4150"/>
              </a:lnSpc>
            </a:pPr>
            <a:r>
              <a:rPr lang="en-US" sz="2441" u="sng" dirty="0">
                <a:latin typeface="Quicksand"/>
                <a:ea typeface="Quicksand"/>
                <a:cs typeface="Quicksand"/>
                <a:sym typeface="Quicksand"/>
              </a:rPr>
              <a:t>Several conditions: “else if”</a:t>
            </a:r>
          </a:p>
          <a:p>
            <a:pPr>
              <a:lnSpc>
                <a:spcPts val="4150"/>
              </a:lnSpc>
            </a:pPr>
            <a:r>
              <a:rPr lang="en-US" sz="2441" dirty="0">
                <a:latin typeface="Quicksand"/>
                <a:ea typeface="Quicksand"/>
                <a:cs typeface="Quicksand"/>
                <a:sym typeface="Quicksand"/>
              </a:rPr>
              <a:t>Sometimes, we’d like to test several variants of a condition. The else if clause lets us do </a:t>
            </a:r>
            <a:r>
              <a:rPr lang="en-US" sz="2441" dirty="0" err="1">
                <a:latin typeface="Quicksand"/>
                <a:ea typeface="Quicksand"/>
                <a:cs typeface="Quicksand"/>
                <a:sym typeface="Quicksand"/>
              </a:rPr>
              <a:t>that.</a:t>
            </a:r>
            <a:r>
              <a:rPr lang="en-US" sz="2441" b="1" dirty="0" err="1">
                <a:latin typeface="Quicksand Bold"/>
                <a:ea typeface="Quicksand Bold"/>
                <a:cs typeface="Quicksand Bold"/>
                <a:sym typeface="Quicksand Bold"/>
              </a:rPr>
              <a:t>For</a:t>
            </a:r>
            <a:r>
              <a:rPr lang="en-US" sz="2441" b="1" dirty="0">
                <a:latin typeface="Quicksand Bold"/>
                <a:ea typeface="Quicksand Bold"/>
                <a:cs typeface="Quicksand Bold"/>
                <a:sym typeface="Quicksand Bold"/>
              </a:rPr>
              <a:t> example:</a:t>
            </a:r>
          </a:p>
          <a:p>
            <a:pPr>
              <a:lnSpc>
                <a:spcPts val="4150"/>
              </a:lnSpc>
            </a:pPr>
            <a:r>
              <a:rPr lang="en-US" sz="2441" dirty="0">
                <a:latin typeface="Quicksand"/>
                <a:ea typeface="Quicksand"/>
                <a:cs typeface="Quicksand"/>
                <a:sym typeface="Quicksand"/>
              </a:rPr>
              <a:t>let year = prompt('In which year was the ECMAScript-2015 specification published?', '');</a:t>
            </a:r>
          </a:p>
          <a:p>
            <a:pPr>
              <a:lnSpc>
                <a:spcPts val="4150"/>
              </a:lnSpc>
            </a:pPr>
            <a:r>
              <a:rPr lang="en-US" sz="2441" dirty="0">
                <a:latin typeface="Quicksand"/>
                <a:ea typeface="Quicksand"/>
                <a:cs typeface="Quicksand"/>
                <a:sym typeface="Quicksand"/>
              </a:rPr>
              <a:t>if (year &lt; 2015) {alert( 'Too early...' );} </a:t>
            </a:r>
          </a:p>
          <a:p>
            <a:pPr>
              <a:lnSpc>
                <a:spcPts val="4150"/>
              </a:lnSpc>
            </a:pPr>
            <a:r>
              <a:rPr lang="en-US" sz="2441" dirty="0">
                <a:latin typeface="Quicksand"/>
                <a:ea typeface="Quicksand"/>
                <a:cs typeface="Quicksand"/>
                <a:sym typeface="Quicksand"/>
              </a:rPr>
              <a:t>else if (year &gt; 2015) {alert( 'Too late' );} </a:t>
            </a:r>
          </a:p>
          <a:p>
            <a:pPr>
              <a:lnSpc>
                <a:spcPts val="4150"/>
              </a:lnSpc>
            </a:pPr>
            <a:r>
              <a:rPr lang="en-US" sz="2441" dirty="0">
                <a:latin typeface="Quicksand"/>
                <a:ea typeface="Quicksand"/>
                <a:cs typeface="Quicksand"/>
                <a:sym typeface="Quicksand"/>
              </a:rPr>
              <a:t>else {alert( 'Exactly!' );}</a:t>
            </a:r>
          </a:p>
          <a:p>
            <a:pPr>
              <a:lnSpc>
                <a:spcPts val="4150"/>
              </a:lnSpc>
            </a:pPr>
            <a:r>
              <a:rPr lang="en-US" sz="2441" dirty="0">
                <a:latin typeface="Quicksand"/>
                <a:ea typeface="Quicksand"/>
                <a:cs typeface="Quicksand"/>
                <a:sym typeface="Quicksand"/>
              </a:rPr>
              <a:t>In the code above, JavaScript first checks year &lt; 2015. If that is </a:t>
            </a:r>
            <a:r>
              <a:rPr lang="en-US" sz="2441" dirty="0" err="1">
                <a:latin typeface="Quicksand"/>
                <a:ea typeface="Quicksand"/>
                <a:cs typeface="Quicksand"/>
                <a:sym typeface="Quicksand"/>
              </a:rPr>
              <a:t>falsy</a:t>
            </a:r>
            <a:r>
              <a:rPr lang="en-US" sz="2441" dirty="0">
                <a:latin typeface="Quicksand"/>
                <a:ea typeface="Quicksand"/>
                <a:cs typeface="Quicksand"/>
                <a:sym typeface="Quicksand"/>
              </a:rPr>
              <a:t>, it goes to the next condition year &gt; 2015. If that is also </a:t>
            </a:r>
            <a:r>
              <a:rPr lang="en-US" sz="2441" dirty="0" err="1">
                <a:latin typeface="Quicksand"/>
                <a:ea typeface="Quicksand"/>
                <a:cs typeface="Quicksand"/>
                <a:sym typeface="Quicksand"/>
              </a:rPr>
              <a:t>falsy</a:t>
            </a:r>
            <a:r>
              <a:rPr lang="en-US" sz="2441" dirty="0">
                <a:latin typeface="Quicksand"/>
                <a:ea typeface="Quicksand"/>
                <a:cs typeface="Quicksand"/>
                <a:sym typeface="Quicksand"/>
              </a:rPr>
              <a:t>, it shows the last alert.</a:t>
            </a:r>
          </a:p>
          <a:p>
            <a:pPr>
              <a:lnSpc>
                <a:spcPts val="4150"/>
              </a:lnSpc>
            </a:pPr>
            <a:r>
              <a:rPr lang="en-US" sz="2441" dirty="0">
                <a:latin typeface="Quicksand"/>
                <a:ea typeface="Quicksand"/>
                <a:cs typeface="Quicksand"/>
                <a:sym typeface="Quicksand"/>
              </a:rPr>
              <a:t>There can be more else if blocks. The final else is optional.</a:t>
            </a:r>
          </a:p>
          <a:p>
            <a:pPr>
              <a:lnSpc>
                <a:spcPts val="4150"/>
              </a:lnSpc>
            </a:pPr>
            <a:endParaRPr lang="en-US" sz="2441" dirty="0">
              <a:latin typeface="Quicksand"/>
              <a:ea typeface="Quicksand"/>
              <a:cs typeface="Quicksand"/>
              <a:sym typeface="Quicksand"/>
              <a:hlinkClick r:id="rId2" tooltip="https://javascript.info/comparison#strict-equality">
                <a:extLst>
                  <a:ext uri="{A12FA001-AC4F-418D-AE19-62706E023703}">
                    <ahyp:hlinkClr xmlns:ahyp="http://schemas.microsoft.com/office/drawing/2018/hyperlinkcolor" val="tx"/>
                  </a:ext>
                </a:extLst>
              </a:hlinkClick>
            </a:endParaRPr>
          </a:p>
        </p:txBody>
      </p:sp>
      <p:sp>
        <p:nvSpPr>
          <p:cNvPr id="3" name="TextBox 3"/>
          <p:cNvSpPr txBox="1"/>
          <p:nvPr/>
        </p:nvSpPr>
        <p:spPr>
          <a:xfrm>
            <a:off x="3326459" y="438798"/>
            <a:ext cx="7532265" cy="726033"/>
          </a:xfrm>
          <a:prstGeom prst="rect">
            <a:avLst/>
          </a:prstGeom>
        </p:spPr>
        <p:txBody>
          <a:bodyPr lIns="0" tIns="0" rIns="0" bIns="0" rtlCol="0" anchor="t">
            <a:spAutoFit/>
          </a:bodyPr>
          <a:lstStyle/>
          <a:p>
            <a:pPr algn="just">
              <a:lnSpc>
                <a:spcPts val="5973"/>
              </a:lnSpc>
              <a:spcBef>
                <a:spcPct val="0"/>
              </a:spcBef>
            </a:pPr>
            <a:r>
              <a:rPr lang="en-US" sz="4400" b="1" dirty="0">
                <a:latin typeface="Antique Olive" panose="020B0603020204030204"/>
                <a:ea typeface="Cormorant Garamond"/>
                <a:cs typeface="Cormorant Garamond"/>
                <a:sym typeface="Cormorant Garamond"/>
              </a:rPr>
              <a:t>Conditional Operators</a:t>
            </a:r>
            <a:endParaRPr lang="en-US" sz="4400" b="1" dirty="0">
              <a:latin typeface="Antique Olive" panose="020B0603020204030204"/>
              <a:ea typeface="Cormorant Garamond"/>
              <a:cs typeface="Cormorant Garamond"/>
              <a:sym typeface="Cormorant Garamond"/>
              <a:hlinkClick r:id="rId2" tooltip="https://javascript.info/comparison#strict-equality">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353754280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1047975"/>
            <a:ext cx="11287478" cy="5861348"/>
          </a:xfrm>
          <a:prstGeom prst="rect">
            <a:avLst/>
          </a:prstGeom>
        </p:spPr>
        <p:txBody>
          <a:bodyPr lIns="0" tIns="0" rIns="0" bIns="0" rtlCol="0" anchor="t">
            <a:spAutoFit/>
          </a:bodyPr>
          <a:lstStyle/>
          <a:p>
            <a:pPr>
              <a:lnSpc>
                <a:spcPts val="4150"/>
              </a:lnSpc>
            </a:pPr>
            <a:r>
              <a:rPr lang="en-US" sz="2441" u="sng" dirty="0">
                <a:latin typeface="Quicksand"/>
                <a:ea typeface="Quicksand"/>
                <a:cs typeface="Quicksand"/>
                <a:sym typeface="Quicksand"/>
              </a:rPr>
              <a:t>Conditional operator ‘?’</a:t>
            </a:r>
          </a:p>
          <a:p>
            <a:pPr>
              <a:lnSpc>
                <a:spcPts val="4150"/>
              </a:lnSpc>
            </a:pPr>
            <a:r>
              <a:rPr lang="en-US" sz="2441" dirty="0">
                <a:solidFill>
                  <a:srgbClr val="000000"/>
                </a:solidFill>
                <a:latin typeface="Quicksand"/>
                <a:ea typeface="Quicksand"/>
                <a:cs typeface="Quicksand"/>
                <a:sym typeface="Quicksand"/>
              </a:rPr>
              <a:t>Sometimes, we need to assign a variable depending on a condition.</a:t>
            </a:r>
          </a:p>
          <a:p>
            <a:pPr>
              <a:lnSpc>
                <a:spcPts val="4150"/>
              </a:lnSpc>
            </a:pPr>
            <a:r>
              <a:rPr lang="en-US" sz="2441" dirty="0">
                <a:solidFill>
                  <a:srgbClr val="000000"/>
                </a:solidFill>
                <a:latin typeface="Quicksand"/>
                <a:ea typeface="Quicksand"/>
                <a:cs typeface="Quicksand"/>
                <a:sym typeface="Quicksand"/>
              </a:rPr>
              <a:t>For instance:</a:t>
            </a:r>
          </a:p>
          <a:p>
            <a:pPr>
              <a:lnSpc>
                <a:spcPts val="4150"/>
              </a:lnSpc>
            </a:pPr>
            <a:r>
              <a:rPr lang="en-US" sz="2441" dirty="0">
                <a:solidFill>
                  <a:srgbClr val="000000"/>
                </a:solidFill>
                <a:latin typeface="Quicksand"/>
                <a:ea typeface="Quicksand"/>
                <a:cs typeface="Quicksand"/>
                <a:sym typeface="Quicksand"/>
              </a:rPr>
              <a:t>let </a:t>
            </a:r>
            <a:r>
              <a:rPr lang="en-US" sz="2441" dirty="0" err="1">
                <a:solidFill>
                  <a:srgbClr val="000000"/>
                </a:solidFill>
                <a:latin typeface="Quicksand"/>
                <a:ea typeface="Quicksand"/>
                <a:cs typeface="Quicksand"/>
                <a:sym typeface="Quicksand"/>
              </a:rPr>
              <a:t>accessAllowed</a:t>
            </a:r>
            <a:r>
              <a:rPr lang="en-US" sz="2441" dirty="0">
                <a:solidFill>
                  <a:srgbClr val="000000"/>
                </a:solidFill>
                <a:latin typeface="Quicksand"/>
                <a:ea typeface="Quicksand"/>
                <a:cs typeface="Quicksand"/>
                <a:sym typeface="Quicksand"/>
              </a:rPr>
              <a:t>;</a:t>
            </a:r>
          </a:p>
          <a:p>
            <a:pPr>
              <a:lnSpc>
                <a:spcPts val="4150"/>
              </a:lnSpc>
            </a:pPr>
            <a:r>
              <a:rPr lang="en-US" sz="2441" dirty="0">
                <a:solidFill>
                  <a:srgbClr val="000000"/>
                </a:solidFill>
                <a:latin typeface="Quicksand"/>
                <a:ea typeface="Quicksand"/>
                <a:cs typeface="Quicksand"/>
                <a:sym typeface="Quicksand"/>
              </a:rPr>
              <a:t>let age = prompt('How old are you?', '');</a:t>
            </a:r>
          </a:p>
          <a:p>
            <a:pPr>
              <a:lnSpc>
                <a:spcPts val="4150"/>
              </a:lnSpc>
            </a:pPr>
            <a:r>
              <a:rPr lang="en-US" sz="2441" dirty="0">
                <a:solidFill>
                  <a:srgbClr val="000000"/>
                </a:solidFill>
                <a:latin typeface="Quicksand"/>
                <a:ea typeface="Quicksand"/>
                <a:cs typeface="Quicksand"/>
                <a:sym typeface="Quicksand"/>
              </a:rPr>
              <a:t>if (age &gt; 18) {</a:t>
            </a:r>
          </a:p>
          <a:p>
            <a:pPr>
              <a:lnSpc>
                <a:spcPts val="4150"/>
              </a:lnSpc>
            </a:pPr>
            <a:r>
              <a:rPr lang="en-US" sz="2441" dirty="0">
                <a:solidFill>
                  <a:srgbClr val="000000"/>
                </a:solidFill>
                <a:latin typeface="Quicksand"/>
                <a:ea typeface="Quicksand"/>
                <a:cs typeface="Quicksand"/>
                <a:sym typeface="Quicksand"/>
              </a:rPr>
              <a:t>  </a:t>
            </a:r>
            <a:r>
              <a:rPr lang="en-US" sz="2441" dirty="0" err="1">
                <a:solidFill>
                  <a:srgbClr val="000000"/>
                </a:solidFill>
                <a:latin typeface="Quicksand"/>
                <a:ea typeface="Quicksand"/>
                <a:cs typeface="Quicksand"/>
                <a:sym typeface="Quicksand"/>
              </a:rPr>
              <a:t>accessAllowed</a:t>
            </a:r>
            <a:r>
              <a:rPr lang="en-US" sz="2441" dirty="0">
                <a:solidFill>
                  <a:srgbClr val="000000"/>
                </a:solidFill>
                <a:latin typeface="Quicksand"/>
                <a:ea typeface="Quicksand"/>
                <a:cs typeface="Quicksand"/>
                <a:sym typeface="Quicksand"/>
              </a:rPr>
              <a:t> = true;} </a:t>
            </a:r>
          </a:p>
          <a:p>
            <a:pPr>
              <a:lnSpc>
                <a:spcPts val="4150"/>
              </a:lnSpc>
            </a:pPr>
            <a:r>
              <a:rPr lang="en-US" sz="2441" dirty="0">
                <a:solidFill>
                  <a:srgbClr val="000000"/>
                </a:solidFill>
                <a:latin typeface="Quicksand"/>
                <a:ea typeface="Quicksand"/>
                <a:cs typeface="Quicksand"/>
                <a:sym typeface="Quicksand"/>
              </a:rPr>
              <a:t>else {</a:t>
            </a:r>
          </a:p>
          <a:p>
            <a:pPr>
              <a:lnSpc>
                <a:spcPts val="4150"/>
              </a:lnSpc>
            </a:pPr>
            <a:r>
              <a:rPr lang="en-US" sz="2441" dirty="0">
                <a:solidFill>
                  <a:srgbClr val="000000"/>
                </a:solidFill>
                <a:latin typeface="Quicksand"/>
                <a:ea typeface="Quicksand"/>
                <a:cs typeface="Quicksand"/>
                <a:sym typeface="Quicksand"/>
              </a:rPr>
              <a:t>  </a:t>
            </a:r>
            <a:r>
              <a:rPr lang="en-US" sz="2441" dirty="0" err="1">
                <a:solidFill>
                  <a:srgbClr val="000000"/>
                </a:solidFill>
                <a:latin typeface="Quicksand"/>
                <a:ea typeface="Quicksand"/>
                <a:cs typeface="Quicksand"/>
                <a:sym typeface="Quicksand"/>
              </a:rPr>
              <a:t>accessAllowed</a:t>
            </a:r>
            <a:r>
              <a:rPr lang="en-US" sz="2441" dirty="0">
                <a:solidFill>
                  <a:srgbClr val="000000"/>
                </a:solidFill>
                <a:latin typeface="Quicksand"/>
                <a:ea typeface="Quicksand"/>
                <a:cs typeface="Quicksand"/>
                <a:sym typeface="Quicksand"/>
              </a:rPr>
              <a:t> = false;}</a:t>
            </a:r>
          </a:p>
          <a:p>
            <a:pPr>
              <a:lnSpc>
                <a:spcPts val="4150"/>
              </a:lnSpc>
            </a:pPr>
            <a:r>
              <a:rPr lang="en-US" sz="2441" dirty="0">
                <a:solidFill>
                  <a:srgbClr val="000000"/>
                </a:solidFill>
                <a:latin typeface="Quicksand"/>
                <a:ea typeface="Quicksand"/>
                <a:cs typeface="Quicksand"/>
                <a:sym typeface="Quicksand"/>
              </a:rPr>
              <a:t>alert(</a:t>
            </a:r>
            <a:r>
              <a:rPr lang="en-US" sz="2441" dirty="0" err="1">
                <a:solidFill>
                  <a:srgbClr val="000000"/>
                </a:solidFill>
                <a:latin typeface="Quicksand"/>
                <a:ea typeface="Quicksand"/>
                <a:cs typeface="Quicksand"/>
                <a:sym typeface="Quicksand"/>
              </a:rPr>
              <a:t>accessAllowed</a:t>
            </a:r>
            <a:r>
              <a:rPr lang="en-US" sz="2441" dirty="0">
                <a:solidFill>
                  <a:srgbClr val="000000"/>
                </a:solidFill>
                <a:latin typeface="Quicksand"/>
                <a:ea typeface="Quicksand"/>
                <a:cs typeface="Quicksand"/>
                <a:sym typeface="Quicksand"/>
              </a:rPr>
              <a:t>);</a:t>
            </a:r>
          </a:p>
          <a:p>
            <a:pPr>
              <a:lnSpc>
                <a:spcPts val="4150"/>
              </a:lnSpc>
            </a:pPr>
            <a:endParaRPr lang="en-US" sz="2441" dirty="0">
              <a:latin typeface="Quicksand"/>
              <a:ea typeface="Quicksand"/>
              <a:cs typeface="Quicksand"/>
              <a:sym typeface="Quicksand"/>
              <a:hlinkClick r:id="rId2" tooltip="https://javascript.info/ifelse#several-conditions-else-if">
                <a:extLst>
                  <a:ext uri="{A12FA001-AC4F-418D-AE19-62706E023703}">
                    <ahyp:hlinkClr xmlns:ahyp="http://schemas.microsoft.com/office/drawing/2018/hyperlinkcolor" val="tx"/>
                  </a:ext>
                </a:extLst>
              </a:hlinkClick>
            </a:endParaRPr>
          </a:p>
        </p:txBody>
      </p:sp>
      <p:sp>
        <p:nvSpPr>
          <p:cNvPr id="3" name="TextBox 3"/>
          <p:cNvSpPr txBox="1"/>
          <p:nvPr/>
        </p:nvSpPr>
        <p:spPr>
          <a:xfrm>
            <a:off x="3416828" y="438798"/>
            <a:ext cx="7532265" cy="726033"/>
          </a:xfrm>
          <a:prstGeom prst="rect">
            <a:avLst/>
          </a:prstGeom>
        </p:spPr>
        <p:txBody>
          <a:bodyPr lIns="0" tIns="0" rIns="0" bIns="0" rtlCol="0" anchor="t">
            <a:spAutoFit/>
          </a:bodyPr>
          <a:lstStyle/>
          <a:p>
            <a:pPr algn="just">
              <a:lnSpc>
                <a:spcPts val="5973"/>
              </a:lnSpc>
              <a:spcBef>
                <a:spcPct val="0"/>
              </a:spcBef>
            </a:pPr>
            <a:r>
              <a:rPr lang="en-US" sz="4400" b="1" dirty="0">
                <a:latin typeface="Antique Olive" panose="020B0603020204030204"/>
                <a:ea typeface="Cormorant Garamond"/>
                <a:cs typeface="Cormorant Garamond"/>
                <a:sym typeface="Cormorant Garamond"/>
              </a:rPr>
              <a:t>Conditional Operators</a:t>
            </a:r>
            <a:endParaRPr lang="en-US" sz="4400" b="1" dirty="0">
              <a:latin typeface="Antique Olive" panose="020B0603020204030204"/>
              <a:ea typeface="Cormorant Garamond"/>
              <a:cs typeface="Cormorant Garamond"/>
              <a:sym typeface="Cormorant Garamond"/>
              <a:hlinkClick r:id="rId3" tooltip="https://javascript.info/comparison#strict-equality">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20134045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1047975"/>
            <a:ext cx="11287478" cy="4795480"/>
          </a:xfrm>
          <a:prstGeom prst="rect">
            <a:avLst/>
          </a:prstGeom>
        </p:spPr>
        <p:txBody>
          <a:bodyPr lIns="0" tIns="0" rIns="0" bIns="0" rtlCol="0" anchor="t">
            <a:spAutoFit/>
          </a:bodyPr>
          <a:lstStyle/>
          <a:p>
            <a:pPr>
              <a:lnSpc>
                <a:spcPts val="4150"/>
              </a:lnSpc>
            </a:pPr>
            <a:r>
              <a:rPr lang="en-US" sz="2441" u="sng" dirty="0">
                <a:latin typeface="Quicksand"/>
                <a:ea typeface="Quicksand"/>
                <a:cs typeface="Quicksand"/>
                <a:sym typeface="Quicksand"/>
              </a:rPr>
              <a:t>Conditional operator ‘?’</a:t>
            </a:r>
            <a:endParaRPr lang="en-US" sz="2441" u="sng" dirty="0">
              <a:latin typeface="Quicksand"/>
              <a:ea typeface="Quicksand"/>
              <a:cs typeface="Quicksand"/>
              <a:sym typeface="Quicksand"/>
              <a:hlinkClick r:id="rId2" tooltip="https://javascript.info/ifelse#conditional-operator">
                <a:extLst>
                  <a:ext uri="{A12FA001-AC4F-418D-AE19-62706E023703}">
                    <ahyp:hlinkClr xmlns:ahyp="http://schemas.microsoft.com/office/drawing/2018/hyperlinkcolor" val="tx"/>
                  </a:ext>
                </a:extLst>
              </a:hlinkClick>
            </a:endParaRPr>
          </a:p>
          <a:p>
            <a:pPr>
              <a:lnSpc>
                <a:spcPts val="4150"/>
              </a:lnSpc>
            </a:pPr>
            <a:r>
              <a:rPr lang="en-US" sz="2441" dirty="0">
                <a:latin typeface="Quicksand"/>
                <a:ea typeface="Quicksand"/>
                <a:cs typeface="Quicksand"/>
                <a:sym typeface="Quicksand"/>
              </a:rPr>
              <a:t>The operator is represented by a question mark ?. Sometimes it’s called “ternary”, because the operator has three operands. It is actually the one and only operator in JavaScript which has that many.</a:t>
            </a:r>
          </a:p>
          <a:p>
            <a:pPr>
              <a:lnSpc>
                <a:spcPts val="4150"/>
              </a:lnSpc>
            </a:pPr>
            <a:r>
              <a:rPr lang="en-US" sz="2441" dirty="0">
                <a:latin typeface="Quicksand"/>
                <a:ea typeface="Quicksand"/>
                <a:cs typeface="Quicksand"/>
                <a:sym typeface="Quicksand"/>
              </a:rPr>
              <a:t>The syntax is:</a:t>
            </a:r>
            <a:br>
              <a:rPr lang="en-US" sz="2441" dirty="0">
                <a:latin typeface="Quicksand"/>
                <a:ea typeface="Quicksand"/>
                <a:cs typeface="Quicksand"/>
                <a:sym typeface="Quicksand"/>
              </a:rPr>
            </a:br>
            <a:r>
              <a:rPr lang="en-US" sz="2441" dirty="0">
                <a:latin typeface="Quicksand"/>
                <a:ea typeface="Quicksand"/>
                <a:cs typeface="Quicksand"/>
                <a:sym typeface="Quicksand"/>
              </a:rPr>
              <a:t>let </a:t>
            </a:r>
            <a:r>
              <a:rPr lang="en-US" sz="2441" dirty="0" err="1">
                <a:latin typeface="Quicksand"/>
                <a:ea typeface="Quicksand"/>
                <a:cs typeface="Quicksand"/>
                <a:sym typeface="Quicksand"/>
              </a:rPr>
              <a:t>accessAllowed</a:t>
            </a:r>
            <a:r>
              <a:rPr lang="en-US" sz="2441" dirty="0">
                <a:latin typeface="Quicksand"/>
                <a:ea typeface="Quicksand"/>
                <a:cs typeface="Quicksand"/>
                <a:sym typeface="Quicksand"/>
              </a:rPr>
              <a:t> = (age &gt; 18) ? true : false;</a:t>
            </a:r>
          </a:p>
          <a:p>
            <a:pPr algn="ctr">
              <a:lnSpc>
                <a:spcPts val="4150"/>
              </a:lnSpc>
            </a:pPr>
            <a:endParaRPr lang="en-US" sz="2441" dirty="0">
              <a:latin typeface="Quicksand"/>
              <a:ea typeface="Quicksand"/>
              <a:cs typeface="Quicksand"/>
              <a:sym typeface="Quicksand"/>
            </a:endParaRPr>
          </a:p>
          <a:p>
            <a:pPr>
              <a:lnSpc>
                <a:spcPts val="4150"/>
              </a:lnSpc>
            </a:pPr>
            <a:endParaRPr lang="en-US" sz="2441" dirty="0">
              <a:latin typeface="Quicksand"/>
              <a:ea typeface="Quicksand"/>
              <a:cs typeface="Quicksand"/>
              <a:sym typeface="Quicksand"/>
            </a:endParaRPr>
          </a:p>
          <a:p>
            <a:pPr>
              <a:lnSpc>
                <a:spcPts val="4150"/>
              </a:lnSpc>
            </a:pPr>
            <a:endParaRPr lang="en-US" sz="2441" dirty="0">
              <a:latin typeface="Quicksand"/>
              <a:ea typeface="Quicksand"/>
              <a:cs typeface="Quicksand"/>
              <a:sym typeface="Quicksand"/>
            </a:endParaRPr>
          </a:p>
        </p:txBody>
      </p:sp>
      <p:sp>
        <p:nvSpPr>
          <p:cNvPr id="3" name="TextBox 3"/>
          <p:cNvSpPr txBox="1"/>
          <p:nvPr/>
        </p:nvSpPr>
        <p:spPr>
          <a:xfrm>
            <a:off x="3366623" y="514816"/>
            <a:ext cx="7532265" cy="726033"/>
          </a:xfrm>
          <a:prstGeom prst="rect">
            <a:avLst/>
          </a:prstGeom>
        </p:spPr>
        <p:txBody>
          <a:bodyPr lIns="0" tIns="0" rIns="0" bIns="0" rtlCol="0" anchor="t">
            <a:spAutoFit/>
          </a:bodyPr>
          <a:lstStyle/>
          <a:p>
            <a:pPr algn="just">
              <a:lnSpc>
                <a:spcPts val="5973"/>
              </a:lnSpc>
              <a:spcBef>
                <a:spcPct val="0"/>
              </a:spcBef>
            </a:pPr>
            <a:r>
              <a:rPr lang="en-US" sz="4400" b="1" dirty="0">
                <a:latin typeface="Antique Olive" panose="020B0603020204030204"/>
                <a:ea typeface="Cormorant Garamond"/>
                <a:cs typeface="Cormorant Garamond"/>
                <a:sym typeface="Cormorant Garamond"/>
              </a:rPr>
              <a:t>Conditional Operators</a:t>
            </a:r>
            <a:endParaRPr lang="en-US" sz="4400" b="1" dirty="0">
              <a:latin typeface="Antique Olive" panose="020B0603020204030204"/>
              <a:ea typeface="Cormorant Garamond"/>
              <a:cs typeface="Cormorant Garamond"/>
              <a:sym typeface="Cormorant Garamond"/>
              <a:hlinkClick r:id="rId3" tooltip="https://javascript.info/comparison#strict-equality">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29925229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1047975"/>
            <a:ext cx="11287478" cy="6399957"/>
          </a:xfrm>
          <a:prstGeom prst="rect">
            <a:avLst/>
          </a:prstGeom>
        </p:spPr>
        <p:txBody>
          <a:bodyPr lIns="0" tIns="0" rIns="0" bIns="0" rtlCol="0" anchor="t">
            <a:spAutoFit/>
          </a:bodyPr>
          <a:lstStyle/>
          <a:p>
            <a:pPr>
              <a:lnSpc>
                <a:spcPts val="4150"/>
              </a:lnSpc>
            </a:pPr>
            <a:r>
              <a:rPr lang="en-US" sz="2000" u="sng" dirty="0">
                <a:latin typeface="Quicksand" panose="020B0604020202020204" charset="0"/>
                <a:ea typeface="Quicksand"/>
                <a:cs typeface="Quicksand"/>
                <a:sym typeface="Quicksand"/>
              </a:rPr>
              <a:t>Conditional operator ‘?’</a:t>
            </a:r>
          </a:p>
          <a:p>
            <a:pPr>
              <a:lnSpc>
                <a:spcPts val="4150"/>
              </a:lnSpc>
            </a:pPr>
            <a:r>
              <a:rPr lang="en-US" sz="2000" u="sng" dirty="0">
                <a:latin typeface="Quicksand" panose="020B0604020202020204" charset="0"/>
                <a:ea typeface="Quicksand"/>
                <a:cs typeface="Quicksand"/>
                <a:sym typeface="Quicksand"/>
              </a:rPr>
              <a:t>Multiple ‘?’</a:t>
            </a:r>
          </a:p>
          <a:p>
            <a:pPr>
              <a:lnSpc>
                <a:spcPts val="4150"/>
              </a:lnSpc>
            </a:pPr>
            <a:r>
              <a:rPr lang="en-US" sz="2000" dirty="0">
                <a:latin typeface="Quicksand" panose="020B0604020202020204" charset="0"/>
                <a:ea typeface="Quicksand"/>
                <a:cs typeface="Quicksand"/>
                <a:sym typeface="Quicksand"/>
              </a:rPr>
              <a:t>A sequence of question mark operators ? can return a value that depends on more than one condition.</a:t>
            </a:r>
          </a:p>
          <a:p>
            <a:pPr>
              <a:lnSpc>
                <a:spcPts val="4150"/>
              </a:lnSpc>
            </a:pPr>
            <a:r>
              <a:rPr lang="en-US" sz="2000" dirty="0">
                <a:latin typeface="Quicksand" panose="020B0604020202020204" charset="0"/>
                <a:ea typeface="Quicksand"/>
                <a:cs typeface="Quicksand"/>
                <a:sym typeface="Quicksand"/>
              </a:rPr>
              <a:t>For instance:</a:t>
            </a:r>
          </a:p>
          <a:p>
            <a:pPr>
              <a:lnSpc>
                <a:spcPts val="4150"/>
              </a:lnSpc>
            </a:pPr>
            <a:r>
              <a:rPr lang="en-US" sz="2000" dirty="0">
                <a:latin typeface="Quicksand" panose="020B0604020202020204" charset="0"/>
                <a:ea typeface="Quicksand"/>
                <a:cs typeface="Quicksand"/>
                <a:sym typeface="Quicksand"/>
              </a:rPr>
              <a:t>let age = prompt('age?', 18);</a:t>
            </a:r>
          </a:p>
          <a:p>
            <a:pPr>
              <a:lnSpc>
                <a:spcPts val="4150"/>
              </a:lnSpc>
            </a:pPr>
            <a:r>
              <a:rPr lang="en-US" sz="2000" dirty="0">
                <a:latin typeface="Quicksand" panose="020B0604020202020204" charset="0"/>
                <a:ea typeface="Quicksand"/>
                <a:cs typeface="Quicksand"/>
                <a:sym typeface="Quicksand"/>
              </a:rPr>
              <a:t>let message = (age &lt; 3) ? 'Hi, baby!' :(age &lt; 18) ? 'Hello!' :(age &lt; 100) ? 'Greetings!' :'What an unusual age!';alert( message );</a:t>
            </a:r>
            <a:endParaRPr lang="en-US" sz="2000" dirty="0">
              <a:latin typeface="Quicksand" panose="020B0604020202020204" charset="0"/>
              <a:ea typeface="Quicksand"/>
              <a:cs typeface="Quicksand"/>
              <a:sym typeface="Quicksand"/>
              <a:hlinkClick r:id="rId2" tooltip="https://javascript.info/ifelse#several-conditions-else-if">
                <a:extLst>
                  <a:ext uri="{A12FA001-AC4F-418D-AE19-62706E023703}">
                    <ahyp:hlinkClr xmlns:ahyp="http://schemas.microsoft.com/office/drawing/2018/hyperlinkcolor" val="tx"/>
                  </a:ext>
                </a:extLst>
              </a:hlinkClick>
            </a:endParaRPr>
          </a:p>
          <a:p>
            <a:pPr algn="ctr">
              <a:lnSpc>
                <a:spcPts val="4150"/>
              </a:lnSpc>
            </a:pPr>
            <a:endParaRPr lang="en-US" sz="2441" dirty="0">
              <a:solidFill>
                <a:srgbClr val="000000"/>
              </a:solidFill>
              <a:latin typeface="Quicksand"/>
              <a:ea typeface="Quicksand"/>
              <a:cs typeface="Quicksand"/>
              <a:sym typeface="Quicksand"/>
              <a:hlinkClick r:id="rId2" tooltip="https://javascript.info/ifelse#several-conditions-else-if">
                <a:extLst>
                  <a:ext uri="{A12FA001-AC4F-418D-AE19-62706E023703}">
                    <ahyp:hlinkClr xmlns:ahyp="http://schemas.microsoft.com/office/drawing/2018/hyperlinkcolor" val="tx"/>
                  </a:ext>
                </a:extLst>
              </a:hlinkClick>
            </a:endParaRPr>
          </a:p>
          <a:p>
            <a:pPr algn="ctr">
              <a:lnSpc>
                <a:spcPts val="4150"/>
              </a:lnSpc>
            </a:pPr>
            <a:endParaRPr lang="en-US" sz="2441" dirty="0">
              <a:solidFill>
                <a:srgbClr val="000000"/>
              </a:solidFill>
              <a:latin typeface="Quicksand"/>
              <a:ea typeface="Quicksand"/>
              <a:cs typeface="Quicksand"/>
              <a:sym typeface="Quicksand"/>
              <a:hlinkClick r:id="rId2" tooltip="https://javascript.info/ifelse#several-conditions-else-if">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ifelse#several-conditions-else-if">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ifelse#several-conditions-else-if">
                <a:extLst>
                  <a:ext uri="{A12FA001-AC4F-418D-AE19-62706E023703}">
                    <ahyp:hlinkClr xmlns:ahyp="http://schemas.microsoft.com/office/drawing/2018/hyperlinkcolor" val="tx"/>
                  </a:ext>
                </a:extLst>
              </a:hlinkClick>
            </a:endParaRPr>
          </a:p>
        </p:txBody>
      </p:sp>
      <p:sp>
        <p:nvSpPr>
          <p:cNvPr id="3" name="TextBox 3"/>
          <p:cNvSpPr txBox="1"/>
          <p:nvPr/>
        </p:nvSpPr>
        <p:spPr>
          <a:xfrm>
            <a:off x="3467034" y="565021"/>
            <a:ext cx="7532265" cy="726033"/>
          </a:xfrm>
          <a:prstGeom prst="rect">
            <a:avLst/>
          </a:prstGeom>
        </p:spPr>
        <p:txBody>
          <a:bodyPr lIns="0" tIns="0" rIns="0" bIns="0" rtlCol="0" anchor="t">
            <a:spAutoFit/>
          </a:bodyPr>
          <a:lstStyle/>
          <a:p>
            <a:pPr algn="just">
              <a:lnSpc>
                <a:spcPts val="5973"/>
              </a:lnSpc>
              <a:spcBef>
                <a:spcPct val="0"/>
              </a:spcBef>
            </a:pPr>
            <a:r>
              <a:rPr lang="en-US" sz="4400" b="1" dirty="0">
                <a:latin typeface="Antique Olive" panose="020B0603020204030204"/>
                <a:ea typeface="Cormorant Garamond"/>
                <a:cs typeface="Cormorant Garamond"/>
                <a:sym typeface="Cormorant Garamond"/>
              </a:rPr>
              <a:t>Conditional Operators</a:t>
            </a:r>
            <a:endParaRPr lang="en-US" sz="4400" b="1" dirty="0">
              <a:latin typeface="Antique Olive" panose="020B0603020204030204"/>
              <a:ea typeface="Cormorant Garamond"/>
              <a:cs typeface="Cormorant Garamond"/>
              <a:sym typeface="Cormorant Garamond"/>
              <a:hlinkClick r:id="rId3" tooltip="https://javascript.info/comparison#strict-equality">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161014284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836093" y="2845563"/>
            <a:ext cx="6853463" cy="3733404"/>
          </a:xfrm>
          <a:custGeom>
            <a:avLst/>
            <a:gdLst/>
            <a:ahLst/>
            <a:cxnLst/>
            <a:rect l="l" t="t" r="r" b="b"/>
            <a:pathLst>
              <a:path w="10280195" h="5600106">
                <a:moveTo>
                  <a:pt x="0" y="0"/>
                </a:moveTo>
                <a:lnTo>
                  <a:pt x="10280195" y="0"/>
                </a:lnTo>
                <a:lnTo>
                  <a:pt x="10280195" y="5600106"/>
                </a:lnTo>
                <a:lnTo>
                  <a:pt x="0" y="5600106"/>
                </a:lnTo>
                <a:lnTo>
                  <a:pt x="0" y="0"/>
                </a:lnTo>
                <a:close/>
              </a:path>
            </a:pathLst>
          </a:custGeom>
          <a:blipFill>
            <a:blip r:embed="rId2"/>
            <a:stretch>
              <a:fillRect/>
            </a:stretch>
          </a:blipFill>
        </p:spPr>
      </p:sp>
      <p:sp>
        <p:nvSpPr>
          <p:cNvPr id="3" name="TextBox 3"/>
          <p:cNvSpPr txBox="1"/>
          <p:nvPr/>
        </p:nvSpPr>
        <p:spPr>
          <a:xfrm>
            <a:off x="685800" y="1047975"/>
            <a:ext cx="8839940" cy="3718262"/>
          </a:xfrm>
          <a:prstGeom prst="rect">
            <a:avLst/>
          </a:prstGeom>
        </p:spPr>
        <p:txBody>
          <a:bodyPr wrap="square" lIns="0" tIns="0" rIns="0" bIns="0" rtlCol="0" anchor="t">
            <a:spAutoFit/>
          </a:bodyPr>
          <a:lstStyle/>
          <a:p>
            <a:pPr>
              <a:lnSpc>
                <a:spcPts val="4150"/>
              </a:lnSpc>
            </a:pPr>
            <a:r>
              <a:rPr lang="en-US" sz="2000" dirty="0">
                <a:latin typeface="Antique Olive" panose="020B0603020204030204"/>
                <a:ea typeface="Quicksand"/>
                <a:cs typeface="Quicksand"/>
                <a:sym typeface="Quicksand"/>
              </a:rPr>
              <a:t>Using </a:t>
            </a:r>
            <a:r>
              <a:rPr lang="en-US" sz="2000" dirty="0">
                <a:solidFill>
                  <a:srgbClr val="000000"/>
                </a:solidFill>
                <a:latin typeface="Antique Olive" panose="020B0603020204030204"/>
                <a:ea typeface="Quicksand"/>
                <a:cs typeface="Quicksand"/>
                <a:sym typeface="Quicksand"/>
              </a:rPr>
              <a:t>the </a:t>
            </a:r>
            <a:r>
              <a:rPr lang="en-US" sz="2000" dirty="0" err="1">
                <a:solidFill>
                  <a:srgbClr val="000000"/>
                </a:solidFill>
                <a:latin typeface="Antique Olive" panose="020B0603020204030204"/>
                <a:ea typeface="Quicksand"/>
                <a:cs typeface="Quicksand"/>
                <a:sym typeface="Quicksand"/>
              </a:rPr>
              <a:t>if..else</a:t>
            </a:r>
            <a:r>
              <a:rPr lang="en-US" sz="2000" dirty="0">
                <a:latin typeface="Antique Olive" panose="020B0603020204030204"/>
                <a:ea typeface="Quicksand"/>
                <a:cs typeface="Quicksand"/>
                <a:sym typeface="Quicksand"/>
              </a:rPr>
              <a:t> construct, write the code which asks: ‘What is the “official” name of JavaScript?’</a:t>
            </a:r>
          </a:p>
          <a:p>
            <a:pPr>
              <a:lnSpc>
                <a:spcPts val="4150"/>
              </a:lnSpc>
            </a:pPr>
            <a:r>
              <a:rPr lang="en-US" sz="2000" dirty="0">
                <a:latin typeface="Antique Olive" panose="020B0603020204030204"/>
                <a:ea typeface="Quicksand"/>
                <a:cs typeface="Quicksand"/>
                <a:sym typeface="Quicksand"/>
              </a:rPr>
              <a:t>If the visitor enters “ECMAScript”, then output “Right!”, otherwise – output: “You don’t know? ECMAScript!”</a:t>
            </a:r>
            <a:br>
              <a:rPr lang="en-US" sz="2000" dirty="0">
                <a:latin typeface="Antique Olive" panose="020B0603020204030204"/>
                <a:ea typeface="Quicksand"/>
                <a:cs typeface="Quicksand"/>
                <a:sym typeface="Quicksand"/>
              </a:rPr>
            </a:br>
            <a:r>
              <a:rPr lang="en-US" sz="2000" dirty="0">
                <a:latin typeface="Antique Olive" panose="020B0603020204030204"/>
                <a:ea typeface="Quicksand"/>
                <a:cs typeface="Quicksand"/>
                <a:sym typeface="Quicksand"/>
              </a:rPr>
              <a:t>an </a:t>
            </a:r>
            <a:r>
              <a:rPr lang="en-US" sz="2000" dirty="0">
                <a:latin typeface="Antique Olive" panose="020B0603020204030204"/>
                <a:ea typeface="Quicksand"/>
                <a:cs typeface="Quicksand"/>
                <a:sym typeface="Quicksand"/>
                <a:hlinkClick r:id="rId3" tooltip="https://javascript.info/ifelse#conditional-operator">
                  <a:extLst>
                    <a:ext uri="{A12FA001-AC4F-418D-AE19-62706E023703}">
                      <ahyp:hlinkClr xmlns:ahyp="http://schemas.microsoft.com/office/drawing/2018/hyperlinkcolor" val="tx"/>
                    </a:ext>
                  </a:extLst>
                </a:hlinkClick>
              </a:rPr>
              <a:t>I</a:t>
            </a:r>
            <a:r>
              <a:rPr lang="en-US" sz="2000" dirty="0">
                <a:latin typeface="Antique Olive" panose="020B0603020204030204"/>
                <a:ea typeface="Quicksand"/>
                <a:cs typeface="Quicksand"/>
                <a:sym typeface="Quicksand"/>
              </a:rPr>
              <a:t> need it as conditional operator</a:t>
            </a:r>
            <a:endParaRPr lang="en-US" sz="2000" dirty="0">
              <a:latin typeface="Antique Olive" panose="020B0603020204030204"/>
              <a:ea typeface="Quicksand"/>
              <a:cs typeface="Quicksand"/>
              <a:sym typeface="Quicksand"/>
              <a:hlinkClick r:id="rId3" tooltip="https://javascript.info/ifelse#conditional-operator">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3" tooltip="https://javascript.info/ifelse#conditional-operator">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3" tooltip="https://javascript.info/ifelse#conditional-operator">
                <a:extLst>
                  <a:ext uri="{A12FA001-AC4F-418D-AE19-62706E023703}">
                    <ahyp:hlinkClr xmlns:ahyp="http://schemas.microsoft.com/office/drawing/2018/hyperlinkcolor" val="tx"/>
                  </a:ext>
                </a:extLst>
              </a:hlinkClick>
            </a:endParaRPr>
          </a:p>
        </p:txBody>
      </p:sp>
      <p:sp>
        <p:nvSpPr>
          <p:cNvPr id="4" name="TextBox 4"/>
          <p:cNvSpPr txBox="1"/>
          <p:nvPr/>
        </p:nvSpPr>
        <p:spPr>
          <a:xfrm>
            <a:off x="4659735" y="438798"/>
            <a:ext cx="7532265" cy="712503"/>
          </a:xfrm>
          <a:prstGeom prst="rect">
            <a:avLst/>
          </a:prstGeom>
        </p:spPr>
        <p:txBody>
          <a:bodyPr lIns="0" tIns="0" rIns="0" bIns="0" rtlCol="0" anchor="t">
            <a:spAutoFit/>
          </a:bodyPr>
          <a:lstStyle/>
          <a:p>
            <a:pPr algn="just">
              <a:lnSpc>
                <a:spcPts val="5973"/>
              </a:lnSpc>
              <a:spcBef>
                <a:spcPct val="0"/>
              </a:spcBef>
            </a:pPr>
            <a:r>
              <a:rPr lang="en-US" sz="4000" b="1" dirty="0">
                <a:latin typeface="Antique Olive" panose="020B0603020204030204"/>
                <a:ea typeface="Cormorant Garamond"/>
                <a:cs typeface="Cormorant Garamond"/>
                <a:sym typeface="Cormorant Garamond"/>
              </a:rPr>
              <a:t>Task</a:t>
            </a:r>
          </a:p>
        </p:txBody>
      </p:sp>
    </p:spTree>
    <p:extLst>
      <p:ext uri="{BB962C8B-B14F-4D97-AF65-F5344CB8AC3E}">
        <p14:creationId xmlns:p14="http://schemas.microsoft.com/office/powerpoint/2010/main" val="2124888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876956" y="2928752"/>
            <a:ext cx="5593657" cy="3693248"/>
          </a:xfrm>
          <a:custGeom>
            <a:avLst/>
            <a:gdLst/>
            <a:ahLst/>
            <a:cxnLst/>
            <a:rect l="l" t="t" r="r" b="b"/>
            <a:pathLst>
              <a:path w="8390486" h="5539872">
                <a:moveTo>
                  <a:pt x="0" y="0"/>
                </a:moveTo>
                <a:lnTo>
                  <a:pt x="8390485" y="0"/>
                </a:lnTo>
                <a:lnTo>
                  <a:pt x="8390485" y="5539872"/>
                </a:lnTo>
                <a:lnTo>
                  <a:pt x="0" y="5539872"/>
                </a:lnTo>
                <a:lnTo>
                  <a:pt x="0" y="0"/>
                </a:lnTo>
                <a:close/>
              </a:path>
            </a:pathLst>
          </a:custGeom>
          <a:blipFill>
            <a:blip r:embed="rId2"/>
            <a:stretch>
              <a:fillRect/>
            </a:stretch>
          </a:blipFill>
        </p:spPr>
      </p:sp>
      <p:sp>
        <p:nvSpPr>
          <p:cNvPr id="4" name="TextBox 4"/>
          <p:cNvSpPr txBox="1"/>
          <p:nvPr/>
        </p:nvSpPr>
        <p:spPr>
          <a:xfrm>
            <a:off x="4659735" y="438798"/>
            <a:ext cx="7532265" cy="721480"/>
          </a:xfrm>
          <a:prstGeom prst="rect">
            <a:avLst/>
          </a:prstGeom>
        </p:spPr>
        <p:txBody>
          <a:bodyPr lIns="0" tIns="0" rIns="0" bIns="0" rtlCol="0" anchor="t">
            <a:spAutoFit/>
          </a:bodyPr>
          <a:lstStyle/>
          <a:p>
            <a:pPr algn="just">
              <a:lnSpc>
                <a:spcPts val="5973"/>
              </a:lnSpc>
              <a:spcBef>
                <a:spcPct val="0"/>
              </a:spcBef>
            </a:pPr>
            <a:r>
              <a:rPr lang="en-US" sz="4000" b="1" dirty="0">
                <a:latin typeface="Antique Olive" panose="020B0603020204030204"/>
                <a:ea typeface="Cormorant Garamond"/>
                <a:cs typeface="Cormorant Garamond"/>
                <a:sym typeface="Cormorant Garamond"/>
              </a:rPr>
              <a:t>Task solution</a:t>
            </a:r>
          </a:p>
        </p:txBody>
      </p:sp>
      <p:sp>
        <p:nvSpPr>
          <p:cNvPr id="5" name="TextBox 3">
            <a:extLst>
              <a:ext uri="{FF2B5EF4-FFF2-40B4-BE49-F238E27FC236}">
                <a16:creationId xmlns:a16="http://schemas.microsoft.com/office/drawing/2014/main" id="{F829EBDA-1D0F-6021-1D53-E2FA078F8399}"/>
              </a:ext>
            </a:extLst>
          </p:cNvPr>
          <p:cNvSpPr txBox="1"/>
          <p:nvPr/>
        </p:nvSpPr>
        <p:spPr>
          <a:xfrm>
            <a:off x="1129684" y="1344600"/>
            <a:ext cx="8839940" cy="3168303"/>
          </a:xfrm>
          <a:prstGeom prst="rect">
            <a:avLst/>
          </a:prstGeom>
        </p:spPr>
        <p:txBody>
          <a:bodyPr wrap="square" lIns="0" tIns="0" rIns="0" bIns="0" rtlCol="0" anchor="t">
            <a:spAutoFit/>
          </a:bodyPr>
          <a:lstStyle/>
          <a:p>
            <a:pPr>
              <a:lnSpc>
                <a:spcPts val="4150"/>
              </a:lnSpc>
            </a:pPr>
            <a:r>
              <a:rPr lang="en-US" sz="2000" dirty="0">
                <a:latin typeface="Antique Olive" panose="020B0603020204030204"/>
                <a:ea typeface="Quicksand"/>
                <a:cs typeface="Quicksand"/>
                <a:sym typeface="Quicksand"/>
              </a:rPr>
              <a:t>Using </a:t>
            </a:r>
            <a:r>
              <a:rPr lang="en-US" sz="2000" dirty="0">
                <a:solidFill>
                  <a:srgbClr val="000000"/>
                </a:solidFill>
                <a:latin typeface="Antique Olive" panose="020B0603020204030204"/>
                <a:ea typeface="Quicksand"/>
                <a:cs typeface="Quicksand"/>
                <a:sym typeface="Quicksand"/>
              </a:rPr>
              <a:t>the </a:t>
            </a:r>
            <a:r>
              <a:rPr lang="en-US" sz="2000" dirty="0" err="1">
                <a:solidFill>
                  <a:srgbClr val="000000"/>
                </a:solidFill>
                <a:latin typeface="Antique Olive" panose="020B0603020204030204"/>
                <a:ea typeface="Quicksand"/>
                <a:cs typeface="Quicksand"/>
                <a:sym typeface="Quicksand"/>
              </a:rPr>
              <a:t>if..else</a:t>
            </a:r>
            <a:r>
              <a:rPr lang="en-US" sz="2000" dirty="0">
                <a:latin typeface="Antique Olive" panose="020B0603020204030204"/>
                <a:ea typeface="Quicksand"/>
                <a:cs typeface="Quicksand"/>
                <a:sym typeface="Quicksand"/>
              </a:rPr>
              <a:t> construct, write the code which asks: ‘What is the “official” name of JavaScript?’</a:t>
            </a:r>
          </a:p>
          <a:p>
            <a:pPr>
              <a:lnSpc>
                <a:spcPts val="4150"/>
              </a:lnSpc>
            </a:pPr>
            <a:r>
              <a:rPr lang="en-US" sz="2000" dirty="0">
                <a:latin typeface="Antique Olive" panose="020B0603020204030204"/>
                <a:ea typeface="Quicksand"/>
                <a:cs typeface="Quicksand"/>
                <a:sym typeface="Quicksand"/>
              </a:rPr>
              <a:t>If the visitor enters “ECMAScript”, then output “Right!”, otherwise – output: “You don’t know? ECMAScript!”</a:t>
            </a:r>
            <a:endParaRPr lang="en-US" sz="2000" dirty="0">
              <a:latin typeface="Antique Olive" panose="020B0603020204030204"/>
              <a:ea typeface="Quicksand"/>
              <a:cs typeface="Quicksand"/>
              <a:sym typeface="Quicksand"/>
              <a:hlinkClick r:id="rId3" tooltip="https://javascript.info/ifelse#conditional-operator">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3" tooltip="https://javascript.info/ifelse#conditional-operator">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3" tooltip="https://javascript.info/ifelse#conditional-operator">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166584818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1195235"/>
            <a:ext cx="11287478" cy="4784130"/>
          </a:xfrm>
          <a:prstGeom prst="rect">
            <a:avLst/>
          </a:prstGeom>
        </p:spPr>
        <p:txBody>
          <a:bodyPr lIns="0" tIns="0" rIns="0" bIns="0" rtlCol="0" anchor="t">
            <a:spAutoFit/>
          </a:bodyPr>
          <a:lstStyle/>
          <a:p>
            <a:pPr>
              <a:lnSpc>
                <a:spcPts val="4150"/>
              </a:lnSpc>
            </a:pPr>
            <a:r>
              <a:rPr lang="en-US" sz="2000" dirty="0">
                <a:latin typeface="Antique Olive" panose="020B0603020204030204"/>
                <a:ea typeface="Quicksand"/>
                <a:cs typeface="Quicksand"/>
                <a:sym typeface="Quicksand"/>
              </a:rPr>
              <a:t>There are four logical operators in JavaScript: || (OR), &amp;&amp; (AND), ! (NOT), ?? (</a:t>
            </a:r>
            <a:r>
              <a:rPr lang="en-US" sz="2000" dirty="0" err="1">
                <a:latin typeface="Antique Olive" panose="020B0603020204030204"/>
                <a:ea typeface="Quicksand"/>
                <a:cs typeface="Quicksand"/>
                <a:sym typeface="Quicksand"/>
              </a:rPr>
              <a:t>Nullish</a:t>
            </a:r>
            <a:r>
              <a:rPr lang="en-US" sz="2000" dirty="0">
                <a:latin typeface="Antique Olive" panose="020B0603020204030204"/>
                <a:ea typeface="Quicksand"/>
                <a:cs typeface="Quicksand"/>
                <a:sym typeface="Quicksand"/>
              </a:rPr>
              <a:t> Coalescing). Here we cover the first three, the ?? operator is in the next article.</a:t>
            </a:r>
          </a:p>
          <a:p>
            <a:pPr>
              <a:lnSpc>
                <a:spcPts val="4150"/>
              </a:lnSpc>
            </a:pPr>
            <a:r>
              <a:rPr lang="en-US" sz="2000" dirty="0">
                <a:latin typeface="Antique Olive" panose="020B0603020204030204"/>
                <a:ea typeface="Quicksand"/>
                <a:cs typeface="Quicksand"/>
                <a:sym typeface="Quicksand"/>
              </a:rPr>
              <a:t>Although they are called “logical”, they can be applied to values of any type, not only </a:t>
            </a:r>
            <a:r>
              <a:rPr lang="en-US" sz="2000" dirty="0" err="1">
                <a:latin typeface="Antique Olive" panose="020B0603020204030204"/>
                <a:ea typeface="Quicksand"/>
                <a:cs typeface="Quicksand"/>
                <a:sym typeface="Quicksand"/>
              </a:rPr>
              <a:t>boolean</a:t>
            </a:r>
            <a:r>
              <a:rPr lang="en-US" sz="2000" dirty="0">
                <a:latin typeface="Antique Olive" panose="020B0603020204030204"/>
                <a:ea typeface="Quicksand"/>
                <a:cs typeface="Quicksand"/>
                <a:sym typeface="Quicksand"/>
              </a:rPr>
              <a:t>. Their result can also be of any type.</a:t>
            </a:r>
          </a:p>
          <a:p>
            <a:pPr>
              <a:lnSpc>
                <a:spcPts val="4150"/>
              </a:lnSpc>
            </a:pPr>
            <a:r>
              <a:rPr lang="en-US" sz="2000" dirty="0">
                <a:latin typeface="Antique Olive" panose="020B0603020204030204"/>
                <a:ea typeface="Quicksand"/>
                <a:cs typeface="Quicksand"/>
                <a:sym typeface="Quicksand"/>
              </a:rPr>
              <a:t>Let’s see the details.</a:t>
            </a:r>
          </a:p>
          <a:p>
            <a:pPr>
              <a:lnSpc>
                <a:spcPts val="4150"/>
              </a:lnSpc>
            </a:pPr>
            <a:r>
              <a:rPr lang="en-US" sz="2000" u="sng" dirty="0">
                <a:latin typeface="Antique Olive" panose="020B0603020204030204"/>
                <a:ea typeface="Quicksand"/>
                <a:cs typeface="Quicksand"/>
                <a:sym typeface="Quicksand"/>
              </a:rPr>
              <a:t>|| (OR)</a:t>
            </a:r>
          </a:p>
          <a:p>
            <a:pPr>
              <a:lnSpc>
                <a:spcPts val="4150"/>
              </a:lnSpc>
            </a:pPr>
            <a:r>
              <a:rPr lang="en-US" sz="2000" dirty="0">
                <a:latin typeface="Antique Olive" panose="020B0603020204030204"/>
                <a:ea typeface="Quicksand"/>
                <a:cs typeface="Quicksand"/>
                <a:sym typeface="Quicksand"/>
              </a:rPr>
              <a:t>The “OR” operator is represented with two vertical line symbols:</a:t>
            </a:r>
          </a:p>
          <a:p>
            <a:pPr>
              <a:lnSpc>
                <a:spcPts val="4150"/>
              </a:lnSpc>
            </a:pPr>
            <a:r>
              <a:rPr lang="en-US" sz="2000" dirty="0">
                <a:latin typeface="Antique Olive" panose="020B0603020204030204"/>
                <a:ea typeface="Quicksand"/>
                <a:cs typeface="Quicksand"/>
                <a:sym typeface="Quicksand"/>
              </a:rPr>
              <a:t>result = a || b;</a:t>
            </a:r>
            <a:endParaRPr lang="en-US" sz="2000" dirty="0">
              <a:latin typeface="Antique Olive" panose="020B0603020204030204"/>
              <a:ea typeface="Quicksand"/>
              <a:cs typeface="Quicksand"/>
              <a:sym typeface="Quicksand"/>
              <a:hlinkClick r:id="rId2" tooltip="https://javascript.info/ifelse#conditional-operator">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ifelse#conditional-operator">
                <a:extLst>
                  <a:ext uri="{A12FA001-AC4F-418D-AE19-62706E023703}">
                    <ahyp:hlinkClr xmlns:ahyp="http://schemas.microsoft.com/office/drawing/2018/hyperlinkcolor" val="tx"/>
                  </a:ext>
                </a:extLst>
              </a:hlinkClick>
            </a:endParaRPr>
          </a:p>
        </p:txBody>
      </p:sp>
      <p:sp>
        <p:nvSpPr>
          <p:cNvPr id="3" name="TextBox 3"/>
          <p:cNvSpPr txBox="1"/>
          <p:nvPr/>
        </p:nvSpPr>
        <p:spPr>
          <a:xfrm>
            <a:off x="3973935" y="531871"/>
            <a:ext cx="7532265" cy="1471108"/>
          </a:xfrm>
          <a:prstGeom prst="rect">
            <a:avLst/>
          </a:prstGeom>
        </p:spPr>
        <p:txBody>
          <a:bodyPr lIns="0" tIns="0" rIns="0" bIns="0" rtlCol="0" anchor="t">
            <a:spAutoFit/>
          </a:bodyPr>
          <a:lstStyle/>
          <a:p>
            <a:pPr algn="just">
              <a:lnSpc>
                <a:spcPts val="5973"/>
              </a:lnSpc>
            </a:pPr>
            <a:r>
              <a:rPr lang="en-US" sz="4000" b="1" dirty="0">
                <a:latin typeface="Antique Olive" panose="020B0603020204030204"/>
                <a:ea typeface="Cormorant Garamond"/>
                <a:cs typeface="Cormorant Garamond"/>
                <a:sym typeface="Cormorant Garamond"/>
              </a:rPr>
              <a:t>Logical Operators</a:t>
            </a:r>
          </a:p>
          <a:p>
            <a:pPr algn="just">
              <a:lnSpc>
                <a:spcPts val="5973"/>
              </a:lnSpc>
              <a:spcBef>
                <a:spcPct val="0"/>
              </a:spcBef>
            </a:pPr>
            <a:endParaRPr lang="en-US" sz="4266" dirty="0">
              <a:solidFill>
                <a:srgbClr val="0F4662"/>
              </a:solidFill>
              <a:latin typeface="Cormorant Garamond"/>
              <a:ea typeface="Cormorant Garamond"/>
              <a:cs typeface="Cormorant Garamond"/>
              <a:sym typeface="Cormorant Garamond"/>
            </a:endParaRPr>
          </a:p>
        </p:txBody>
      </p:sp>
    </p:spTree>
    <p:extLst>
      <p:ext uri="{BB962C8B-B14F-4D97-AF65-F5344CB8AC3E}">
        <p14:creationId xmlns:p14="http://schemas.microsoft.com/office/powerpoint/2010/main" val="227999781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1195235"/>
            <a:ext cx="11287478" cy="5322739"/>
          </a:xfrm>
          <a:prstGeom prst="rect">
            <a:avLst/>
          </a:prstGeom>
        </p:spPr>
        <p:txBody>
          <a:bodyPr lIns="0" tIns="0" rIns="0" bIns="0" rtlCol="0" anchor="t">
            <a:spAutoFit/>
          </a:bodyPr>
          <a:lstStyle/>
          <a:p>
            <a:pPr>
              <a:lnSpc>
                <a:spcPts val="4150"/>
              </a:lnSpc>
            </a:pPr>
            <a:r>
              <a:rPr lang="en-US" sz="2000" dirty="0">
                <a:latin typeface="Antique Olive" panose="020B0603020204030204"/>
                <a:ea typeface="Quicksand"/>
                <a:cs typeface="Quicksand"/>
                <a:sym typeface="Quicksand"/>
              </a:rPr>
              <a:t>In classical programming, the logical OR is meant to manipulate </a:t>
            </a:r>
            <a:r>
              <a:rPr lang="en-US" sz="2000" dirty="0" err="1">
                <a:latin typeface="Antique Olive" panose="020B0603020204030204"/>
                <a:ea typeface="Quicksand"/>
                <a:cs typeface="Quicksand"/>
                <a:sym typeface="Quicksand"/>
              </a:rPr>
              <a:t>boolean</a:t>
            </a:r>
            <a:r>
              <a:rPr lang="en-US" sz="2000" dirty="0">
                <a:latin typeface="Antique Olive" panose="020B0603020204030204"/>
                <a:ea typeface="Quicksand"/>
                <a:cs typeface="Quicksand"/>
                <a:sym typeface="Quicksand"/>
              </a:rPr>
              <a:t> values only. If any of its arguments are true, it returns true, otherwise it returns false.</a:t>
            </a:r>
          </a:p>
          <a:p>
            <a:pPr>
              <a:lnSpc>
                <a:spcPts val="4150"/>
              </a:lnSpc>
            </a:pPr>
            <a:r>
              <a:rPr lang="en-US" sz="2000" dirty="0">
                <a:latin typeface="Antique Olive" panose="020B0603020204030204"/>
                <a:ea typeface="Quicksand"/>
                <a:cs typeface="Quicksand"/>
                <a:sym typeface="Quicksand"/>
              </a:rPr>
              <a:t>In JavaScript, the operator is a little bit trickier and more powerful. But first, let’s see what happens with </a:t>
            </a:r>
            <a:r>
              <a:rPr lang="en-US" sz="2000" dirty="0" err="1">
                <a:latin typeface="Antique Olive" panose="020B0603020204030204"/>
                <a:ea typeface="Quicksand"/>
                <a:cs typeface="Quicksand"/>
                <a:sym typeface="Quicksand"/>
              </a:rPr>
              <a:t>boolean</a:t>
            </a:r>
            <a:r>
              <a:rPr lang="en-US" sz="2000" dirty="0">
                <a:latin typeface="Antique Olive" panose="020B0603020204030204"/>
                <a:ea typeface="Quicksand"/>
                <a:cs typeface="Quicksand"/>
                <a:sym typeface="Quicksand"/>
              </a:rPr>
              <a:t> values.</a:t>
            </a:r>
          </a:p>
          <a:p>
            <a:pPr>
              <a:lnSpc>
                <a:spcPts val="4150"/>
              </a:lnSpc>
            </a:pPr>
            <a:r>
              <a:rPr lang="en-US" sz="2000" b="1" dirty="0">
                <a:latin typeface="Antique Olive" panose="020B0603020204030204"/>
                <a:ea typeface="Quicksand Bold"/>
                <a:cs typeface="Quicksand Bold"/>
                <a:sym typeface="Quicksand Bold"/>
              </a:rPr>
              <a:t>There are four possible logical combinations:</a:t>
            </a:r>
          </a:p>
          <a:p>
            <a:pPr algn="ctr">
              <a:lnSpc>
                <a:spcPts val="4150"/>
              </a:lnSpc>
            </a:pPr>
            <a:r>
              <a:rPr lang="en-US" sz="2000" dirty="0">
                <a:latin typeface="Antique Olive" panose="020B0603020204030204"/>
                <a:ea typeface="Quicksand"/>
                <a:cs typeface="Quicksand"/>
                <a:sym typeface="Quicksand"/>
              </a:rPr>
              <a:t>alert( true || true );   // true</a:t>
            </a:r>
          </a:p>
          <a:p>
            <a:pPr algn="ctr">
              <a:lnSpc>
                <a:spcPts val="4150"/>
              </a:lnSpc>
            </a:pPr>
            <a:r>
              <a:rPr lang="en-US" sz="2000" dirty="0">
                <a:latin typeface="Antique Olive" panose="020B0603020204030204"/>
                <a:ea typeface="Quicksand"/>
                <a:cs typeface="Quicksand"/>
                <a:sym typeface="Quicksand"/>
              </a:rPr>
              <a:t>alert( false || true );  // true</a:t>
            </a:r>
          </a:p>
          <a:p>
            <a:pPr algn="ctr">
              <a:lnSpc>
                <a:spcPts val="4150"/>
              </a:lnSpc>
            </a:pPr>
            <a:r>
              <a:rPr lang="en-US" sz="2000" dirty="0">
                <a:latin typeface="Antique Olive" panose="020B0603020204030204"/>
                <a:ea typeface="Quicksand"/>
                <a:cs typeface="Quicksand"/>
                <a:sym typeface="Quicksand"/>
              </a:rPr>
              <a:t>alert( true || false );  // true</a:t>
            </a:r>
          </a:p>
          <a:p>
            <a:pPr algn="ctr">
              <a:lnSpc>
                <a:spcPts val="4150"/>
              </a:lnSpc>
            </a:pPr>
            <a:r>
              <a:rPr lang="en-US" sz="2000" dirty="0">
                <a:latin typeface="Antique Olive" panose="020B0603020204030204"/>
                <a:ea typeface="Quicksand"/>
                <a:cs typeface="Quicksand"/>
                <a:sym typeface="Quicksand"/>
              </a:rPr>
              <a:t>  alert( false || false ); // false</a:t>
            </a:r>
            <a:endParaRPr lang="en-US" sz="2000" dirty="0">
              <a:latin typeface="Antique Olive" panose="020B0603020204030204"/>
              <a:ea typeface="Quicksand"/>
              <a:cs typeface="Quicksand"/>
              <a:sym typeface="Quicksand"/>
              <a:hlinkClick r:id="rId2" tooltip="https://javascript.info/ifelse#conditional-operator">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ifelse#conditional-operator">
                <a:extLst>
                  <a:ext uri="{A12FA001-AC4F-418D-AE19-62706E023703}">
                    <ahyp:hlinkClr xmlns:ahyp="http://schemas.microsoft.com/office/drawing/2018/hyperlinkcolor" val="tx"/>
                  </a:ext>
                </a:extLst>
              </a:hlinkClick>
            </a:endParaRPr>
          </a:p>
        </p:txBody>
      </p:sp>
      <p:sp>
        <p:nvSpPr>
          <p:cNvPr id="4" name="TextBox 3">
            <a:extLst>
              <a:ext uri="{FF2B5EF4-FFF2-40B4-BE49-F238E27FC236}">
                <a16:creationId xmlns:a16="http://schemas.microsoft.com/office/drawing/2014/main" id="{C49EFC7A-AB29-CAF7-32D8-7FF7E8C8503F}"/>
              </a:ext>
            </a:extLst>
          </p:cNvPr>
          <p:cNvSpPr txBox="1"/>
          <p:nvPr/>
        </p:nvSpPr>
        <p:spPr>
          <a:xfrm>
            <a:off x="3672094" y="459681"/>
            <a:ext cx="7532265" cy="1471108"/>
          </a:xfrm>
          <a:prstGeom prst="rect">
            <a:avLst/>
          </a:prstGeom>
        </p:spPr>
        <p:txBody>
          <a:bodyPr lIns="0" tIns="0" rIns="0" bIns="0" rtlCol="0" anchor="t">
            <a:spAutoFit/>
          </a:bodyPr>
          <a:lstStyle/>
          <a:p>
            <a:pPr algn="just">
              <a:lnSpc>
                <a:spcPts val="5973"/>
              </a:lnSpc>
            </a:pPr>
            <a:r>
              <a:rPr lang="en-US" sz="4000" b="1" dirty="0">
                <a:latin typeface="Antique Olive" panose="020B0603020204030204"/>
                <a:ea typeface="Cormorant Garamond"/>
                <a:cs typeface="Cormorant Garamond"/>
                <a:sym typeface="Cormorant Garamond"/>
              </a:rPr>
              <a:t>Logical Operators</a:t>
            </a:r>
          </a:p>
          <a:p>
            <a:pPr algn="just">
              <a:lnSpc>
                <a:spcPts val="5973"/>
              </a:lnSpc>
              <a:spcBef>
                <a:spcPct val="0"/>
              </a:spcBef>
            </a:pPr>
            <a:endParaRPr lang="en-US" sz="4266" dirty="0">
              <a:solidFill>
                <a:srgbClr val="0F4662"/>
              </a:solidFill>
              <a:latin typeface="Cormorant Garamond"/>
              <a:ea typeface="Cormorant Garamond"/>
              <a:cs typeface="Cormorant Garamond"/>
              <a:sym typeface="Cormorant Garamond"/>
            </a:endParaRPr>
          </a:p>
        </p:txBody>
      </p:sp>
    </p:spTree>
    <p:extLst>
      <p:ext uri="{BB962C8B-B14F-4D97-AF65-F5344CB8AC3E}">
        <p14:creationId xmlns:p14="http://schemas.microsoft.com/office/powerpoint/2010/main" val="19782223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1195235"/>
            <a:ext cx="11287478" cy="5861348"/>
          </a:xfrm>
          <a:prstGeom prst="rect">
            <a:avLst/>
          </a:prstGeom>
        </p:spPr>
        <p:txBody>
          <a:bodyPr lIns="0" tIns="0" rIns="0" bIns="0" rtlCol="0" anchor="t">
            <a:spAutoFit/>
          </a:bodyPr>
          <a:lstStyle/>
          <a:p>
            <a:pPr>
              <a:lnSpc>
                <a:spcPts val="4150"/>
              </a:lnSpc>
            </a:pPr>
            <a:r>
              <a:rPr lang="en-US" sz="2000" dirty="0">
                <a:latin typeface="Antique Olive" panose="020B0603020204030204"/>
                <a:ea typeface="Quicksand"/>
                <a:cs typeface="Quicksand"/>
                <a:sym typeface="Quicksand"/>
              </a:rPr>
              <a:t>Most of the time, OR || is used in an if statement to test if any of the given conditions is true.</a:t>
            </a:r>
          </a:p>
          <a:p>
            <a:pPr>
              <a:lnSpc>
                <a:spcPts val="4150"/>
              </a:lnSpc>
            </a:pPr>
            <a:r>
              <a:rPr lang="en-US" sz="2000" b="1" dirty="0">
                <a:latin typeface="Antique Olive" panose="020B0603020204030204"/>
                <a:ea typeface="Quicksand Bold"/>
                <a:cs typeface="Quicksand Bold"/>
                <a:sym typeface="Quicksand Bold"/>
              </a:rPr>
              <a:t>For example:</a:t>
            </a:r>
          </a:p>
          <a:p>
            <a:pPr>
              <a:lnSpc>
                <a:spcPts val="4150"/>
              </a:lnSpc>
            </a:pPr>
            <a:r>
              <a:rPr lang="en-US" sz="2000" dirty="0">
                <a:latin typeface="Antique Olive" panose="020B0603020204030204"/>
                <a:ea typeface="Quicksand"/>
                <a:cs typeface="Quicksand"/>
                <a:sym typeface="Quicksand"/>
              </a:rPr>
              <a:t>let hour = 9;</a:t>
            </a:r>
          </a:p>
          <a:p>
            <a:pPr>
              <a:lnSpc>
                <a:spcPts val="4150"/>
              </a:lnSpc>
            </a:pPr>
            <a:r>
              <a:rPr lang="en-US" sz="2000" dirty="0">
                <a:latin typeface="Antique Olive" panose="020B0603020204030204"/>
                <a:ea typeface="Quicksand"/>
                <a:cs typeface="Quicksand"/>
                <a:sym typeface="Quicksand"/>
              </a:rPr>
              <a:t>if (hour &lt; 10 || hour &gt; 18)</a:t>
            </a:r>
          </a:p>
          <a:p>
            <a:pPr>
              <a:lnSpc>
                <a:spcPts val="4150"/>
              </a:lnSpc>
            </a:pPr>
            <a:r>
              <a:rPr lang="en-US" sz="2000" dirty="0">
                <a:latin typeface="Antique Olive" panose="020B0603020204030204"/>
                <a:ea typeface="Quicksand"/>
                <a:cs typeface="Quicksand"/>
                <a:sym typeface="Quicksand"/>
              </a:rPr>
              <a:t> {alert( 'The office is closed.' );}</a:t>
            </a:r>
          </a:p>
          <a:p>
            <a:pPr>
              <a:lnSpc>
                <a:spcPts val="4150"/>
              </a:lnSpc>
            </a:pPr>
            <a:r>
              <a:rPr lang="en-US" sz="2000" b="1" dirty="0">
                <a:latin typeface="Antique Olive" panose="020B0603020204030204"/>
                <a:ea typeface="Quicksand Bold"/>
                <a:cs typeface="Quicksand Bold"/>
                <a:sym typeface="Quicksand Bold"/>
              </a:rPr>
              <a:t>We can pass more conditions:</a:t>
            </a:r>
          </a:p>
          <a:p>
            <a:pPr>
              <a:lnSpc>
                <a:spcPts val="4150"/>
              </a:lnSpc>
            </a:pPr>
            <a:r>
              <a:rPr lang="en-US" sz="2000" dirty="0">
                <a:latin typeface="Antique Olive" panose="020B0603020204030204"/>
                <a:ea typeface="Quicksand"/>
                <a:cs typeface="Quicksand"/>
                <a:sym typeface="Quicksand"/>
              </a:rPr>
              <a:t>let hour = 12;</a:t>
            </a:r>
          </a:p>
          <a:p>
            <a:pPr>
              <a:lnSpc>
                <a:spcPts val="4150"/>
              </a:lnSpc>
            </a:pPr>
            <a:r>
              <a:rPr lang="en-US" sz="2000" dirty="0">
                <a:latin typeface="Antique Olive" panose="020B0603020204030204"/>
                <a:ea typeface="Quicksand"/>
                <a:cs typeface="Quicksand"/>
                <a:sym typeface="Quicksand"/>
              </a:rPr>
              <a:t>let </a:t>
            </a:r>
            <a:r>
              <a:rPr lang="en-US" sz="2000" dirty="0" err="1">
                <a:latin typeface="Antique Olive" panose="020B0603020204030204"/>
                <a:ea typeface="Quicksand"/>
                <a:cs typeface="Quicksand"/>
                <a:sym typeface="Quicksand"/>
              </a:rPr>
              <a:t>isWeekend</a:t>
            </a:r>
            <a:r>
              <a:rPr lang="en-US" sz="2000" dirty="0">
                <a:latin typeface="Antique Olive" panose="020B0603020204030204"/>
                <a:ea typeface="Quicksand"/>
                <a:cs typeface="Quicksand"/>
                <a:sym typeface="Quicksand"/>
              </a:rPr>
              <a:t> = true;</a:t>
            </a:r>
          </a:p>
          <a:p>
            <a:pPr>
              <a:lnSpc>
                <a:spcPts val="4150"/>
              </a:lnSpc>
            </a:pPr>
            <a:r>
              <a:rPr lang="en-US" sz="2000" dirty="0">
                <a:latin typeface="Antique Olive" panose="020B0603020204030204"/>
                <a:ea typeface="Quicksand"/>
                <a:cs typeface="Quicksand"/>
                <a:sym typeface="Quicksand"/>
              </a:rPr>
              <a:t>if (hour &lt; 10 || hour &gt; 18 || </a:t>
            </a:r>
            <a:r>
              <a:rPr lang="en-US" sz="2000" dirty="0" err="1">
                <a:latin typeface="Antique Olive" panose="020B0603020204030204"/>
                <a:ea typeface="Quicksand"/>
                <a:cs typeface="Quicksand"/>
                <a:sym typeface="Quicksand"/>
              </a:rPr>
              <a:t>isWeekend</a:t>
            </a:r>
            <a:r>
              <a:rPr lang="en-US" sz="2000" dirty="0">
                <a:latin typeface="Antique Olive" panose="020B0603020204030204"/>
                <a:ea typeface="Quicksand"/>
                <a:cs typeface="Quicksand"/>
                <a:sym typeface="Quicksand"/>
              </a:rPr>
              <a:t>)</a:t>
            </a:r>
          </a:p>
          <a:p>
            <a:pPr>
              <a:lnSpc>
                <a:spcPts val="4150"/>
              </a:lnSpc>
            </a:pPr>
            <a:r>
              <a:rPr lang="en-US" sz="2000" dirty="0">
                <a:latin typeface="Antique Olive" panose="020B0603020204030204"/>
                <a:ea typeface="Quicksand"/>
                <a:cs typeface="Quicksand"/>
                <a:sym typeface="Quicksand"/>
              </a:rPr>
              <a:t> {alert( 'The office is closed.' ); // it is the weekend}</a:t>
            </a:r>
            <a:endParaRPr lang="en-US" sz="2000" dirty="0">
              <a:latin typeface="Antique Olive" panose="020B0603020204030204"/>
              <a:ea typeface="Quicksand"/>
              <a:cs typeface="Quicksand"/>
              <a:sym typeface="Quicksand"/>
              <a:hlinkClick r:id="rId2" tooltip="https://javascript.info/ifelse#conditional-operator">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ifelse#conditional-operator">
                <a:extLst>
                  <a:ext uri="{A12FA001-AC4F-418D-AE19-62706E023703}">
                    <ahyp:hlinkClr xmlns:ahyp="http://schemas.microsoft.com/office/drawing/2018/hyperlinkcolor" val="tx"/>
                  </a:ext>
                </a:extLst>
              </a:hlinkClick>
            </a:endParaRPr>
          </a:p>
        </p:txBody>
      </p:sp>
      <p:sp>
        <p:nvSpPr>
          <p:cNvPr id="4" name="TextBox 3">
            <a:extLst>
              <a:ext uri="{FF2B5EF4-FFF2-40B4-BE49-F238E27FC236}">
                <a16:creationId xmlns:a16="http://schemas.microsoft.com/office/drawing/2014/main" id="{842BAF3A-7D66-9C64-7B1F-5845E21D9D95}"/>
              </a:ext>
            </a:extLst>
          </p:cNvPr>
          <p:cNvSpPr txBox="1"/>
          <p:nvPr/>
        </p:nvSpPr>
        <p:spPr>
          <a:xfrm>
            <a:off x="3973935" y="531871"/>
            <a:ext cx="7532265" cy="1471108"/>
          </a:xfrm>
          <a:prstGeom prst="rect">
            <a:avLst/>
          </a:prstGeom>
        </p:spPr>
        <p:txBody>
          <a:bodyPr lIns="0" tIns="0" rIns="0" bIns="0" rtlCol="0" anchor="t">
            <a:spAutoFit/>
          </a:bodyPr>
          <a:lstStyle/>
          <a:p>
            <a:pPr algn="just">
              <a:lnSpc>
                <a:spcPts val="5973"/>
              </a:lnSpc>
            </a:pPr>
            <a:r>
              <a:rPr lang="en-US" sz="4000" b="1" dirty="0">
                <a:latin typeface="Antique Olive" panose="020B0603020204030204"/>
                <a:ea typeface="Cormorant Garamond"/>
                <a:cs typeface="Cormorant Garamond"/>
                <a:sym typeface="Cormorant Garamond"/>
              </a:rPr>
              <a:t>Logical Operators</a:t>
            </a:r>
          </a:p>
          <a:p>
            <a:pPr algn="just">
              <a:lnSpc>
                <a:spcPts val="5973"/>
              </a:lnSpc>
              <a:spcBef>
                <a:spcPct val="0"/>
              </a:spcBef>
            </a:pPr>
            <a:endParaRPr lang="en-US" sz="4266" dirty="0">
              <a:solidFill>
                <a:srgbClr val="0F4662"/>
              </a:solidFill>
              <a:latin typeface="Cormorant Garamond"/>
              <a:ea typeface="Cormorant Garamond"/>
              <a:cs typeface="Cormorant Garamond"/>
              <a:sym typeface="Cormorant Garamond"/>
            </a:endParaRPr>
          </a:p>
        </p:txBody>
      </p:sp>
    </p:spTree>
    <p:extLst>
      <p:ext uri="{BB962C8B-B14F-4D97-AF65-F5344CB8AC3E}">
        <p14:creationId xmlns:p14="http://schemas.microsoft.com/office/powerpoint/2010/main" val="249369553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1195235"/>
            <a:ext cx="11287478" cy="4784130"/>
          </a:xfrm>
          <a:prstGeom prst="rect">
            <a:avLst/>
          </a:prstGeom>
        </p:spPr>
        <p:txBody>
          <a:bodyPr lIns="0" tIns="0" rIns="0" bIns="0" rtlCol="0" anchor="t">
            <a:spAutoFit/>
          </a:bodyPr>
          <a:lstStyle/>
          <a:p>
            <a:pPr>
              <a:lnSpc>
                <a:spcPts val="4150"/>
              </a:lnSpc>
            </a:pPr>
            <a:r>
              <a:rPr lang="en-US" sz="2000" u="sng" dirty="0">
                <a:latin typeface="Antique Olive" panose="020B0603020204030204"/>
                <a:ea typeface="Quicksand"/>
                <a:cs typeface="Quicksand"/>
                <a:sym typeface="Quicksand"/>
              </a:rPr>
              <a:t>&amp;&amp; (AND)</a:t>
            </a:r>
          </a:p>
          <a:p>
            <a:pPr>
              <a:lnSpc>
                <a:spcPts val="4150"/>
              </a:lnSpc>
            </a:pPr>
            <a:r>
              <a:rPr lang="en-US" sz="2000" dirty="0">
                <a:latin typeface="Antique Olive" panose="020B0603020204030204"/>
                <a:ea typeface="Quicksand"/>
                <a:cs typeface="Quicksand"/>
                <a:sym typeface="Quicksand"/>
              </a:rPr>
              <a:t>The AND operator is represented with two ampersands &amp;&amp;:</a:t>
            </a:r>
          </a:p>
          <a:p>
            <a:pPr>
              <a:lnSpc>
                <a:spcPts val="4150"/>
              </a:lnSpc>
            </a:pPr>
            <a:r>
              <a:rPr lang="en-US" sz="2000" dirty="0">
                <a:latin typeface="Antique Olive" panose="020B0603020204030204"/>
                <a:ea typeface="Quicksand"/>
                <a:cs typeface="Quicksand"/>
                <a:sym typeface="Quicksand"/>
              </a:rPr>
              <a:t>result = a &amp;&amp; b;</a:t>
            </a:r>
          </a:p>
          <a:p>
            <a:pPr>
              <a:lnSpc>
                <a:spcPts val="4150"/>
              </a:lnSpc>
            </a:pPr>
            <a:r>
              <a:rPr lang="en-US" sz="2000" dirty="0">
                <a:latin typeface="Antique Olive" panose="020B0603020204030204"/>
                <a:ea typeface="Quicksand"/>
                <a:cs typeface="Quicksand"/>
                <a:sym typeface="Quicksand"/>
              </a:rPr>
              <a:t>In classical programming, AND returns true if both operands are truthy and false otherwise:</a:t>
            </a:r>
          </a:p>
          <a:p>
            <a:pPr algn="ctr">
              <a:lnSpc>
                <a:spcPts val="4150"/>
              </a:lnSpc>
            </a:pPr>
            <a:r>
              <a:rPr lang="en-US" sz="2000" dirty="0">
                <a:latin typeface="Antique Olive" panose="020B0603020204030204"/>
                <a:ea typeface="Quicksand"/>
                <a:cs typeface="Quicksand"/>
                <a:sym typeface="Quicksand"/>
              </a:rPr>
              <a:t>alert( true &amp;&amp; true );   // true</a:t>
            </a:r>
          </a:p>
          <a:p>
            <a:pPr algn="ctr">
              <a:lnSpc>
                <a:spcPts val="4150"/>
              </a:lnSpc>
            </a:pPr>
            <a:r>
              <a:rPr lang="en-US" sz="2000" dirty="0">
                <a:latin typeface="Antique Olive" panose="020B0603020204030204"/>
                <a:ea typeface="Quicksand"/>
                <a:cs typeface="Quicksand"/>
                <a:sym typeface="Quicksand"/>
              </a:rPr>
              <a:t> alert( false &amp;&amp; true );  // false</a:t>
            </a:r>
          </a:p>
          <a:p>
            <a:pPr algn="ctr">
              <a:lnSpc>
                <a:spcPts val="4150"/>
              </a:lnSpc>
            </a:pPr>
            <a:r>
              <a:rPr lang="en-US" sz="2000" dirty="0">
                <a:latin typeface="Antique Olive" panose="020B0603020204030204"/>
                <a:ea typeface="Quicksand"/>
                <a:cs typeface="Quicksand"/>
                <a:sym typeface="Quicksand"/>
              </a:rPr>
              <a:t> alert( true &amp;&amp; false );  // false</a:t>
            </a:r>
          </a:p>
          <a:p>
            <a:pPr algn="ctr">
              <a:lnSpc>
                <a:spcPts val="4150"/>
              </a:lnSpc>
            </a:pPr>
            <a:r>
              <a:rPr lang="en-US" sz="2000" dirty="0">
                <a:latin typeface="Antique Olive" panose="020B0603020204030204"/>
                <a:ea typeface="Quicksand"/>
                <a:cs typeface="Quicksand"/>
                <a:sym typeface="Quicksand"/>
              </a:rPr>
              <a:t> alert( false &amp;&amp; false ); // false</a:t>
            </a:r>
            <a:endParaRPr lang="en-US" sz="2000" dirty="0">
              <a:latin typeface="Antique Olive" panose="020B0603020204030204"/>
              <a:ea typeface="Quicksand"/>
              <a:cs typeface="Quicksand"/>
              <a:sym typeface="Quicksand"/>
              <a:hlinkClick r:id="rId2" tooltip="https://javascript.info/ifelse#conditional-operator">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ifelse#conditional-operator">
                <a:extLst>
                  <a:ext uri="{A12FA001-AC4F-418D-AE19-62706E023703}">
                    <ahyp:hlinkClr xmlns:ahyp="http://schemas.microsoft.com/office/drawing/2018/hyperlinkcolor" val="tx"/>
                  </a:ext>
                </a:extLst>
              </a:hlinkClick>
            </a:endParaRPr>
          </a:p>
        </p:txBody>
      </p:sp>
      <p:sp>
        <p:nvSpPr>
          <p:cNvPr id="4" name="TextBox 3">
            <a:extLst>
              <a:ext uri="{FF2B5EF4-FFF2-40B4-BE49-F238E27FC236}">
                <a16:creationId xmlns:a16="http://schemas.microsoft.com/office/drawing/2014/main" id="{17F1634E-524E-68BE-2BC9-A10757388BA9}"/>
              </a:ext>
            </a:extLst>
          </p:cNvPr>
          <p:cNvSpPr txBox="1"/>
          <p:nvPr/>
        </p:nvSpPr>
        <p:spPr>
          <a:xfrm>
            <a:off x="3973935" y="531871"/>
            <a:ext cx="7532265" cy="1471108"/>
          </a:xfrm>
          <a:prstGeom prst="rect">
            <a:avLst/>
          </a:prstGeom>
        </p:spPr>
        <p:txBody>
          <a:bodyPr lIns="0" tIns="0" rIns="0" bIns="0" rtlCol="0" anchor="t">
            <a:spAutoFit/>
          </a:bodyPr>
          <a:lstStyle/>
          <a:p>
            <a:pPr algn="just">
              <a:lnSpc>
                <a:spcPts val="5973"/>
              </a:lnSpc>
            </a:pPr>
            <a:r>
              <a:rPr lang="en-US" sz="4000" b="1" dirty="0">
                <a:latin typeface="Antique Olive" panose="020B0603020204030204"/>
                <a:ea typeface="Cormorant Garamond"/>
                <a:cs typeface="Cormorant Garamond"/>
                <a:sym typeface="Cormorant Garamond"/>
              </a:rPr>
              <a:t>Logical Operators</a:t>
            </a:r>
          </a:p>
          <a:p>
            <a:pPr algn="just">
              <a:lnSpc>
                <a:spcPts val="5973"/>
              </a:lnSpc>
              <a:spcBef>
                <a:spcPct val="0"/>
              </a:spcBef>
            </a:pPr>
            <a:endParaRPr lang="en-US" sz="4266" dirty="0">
              <a:solidFill>
                <a:srgbClr val="0F4662"/>
              </a:solidFill>
              <a:latin typeface="Cormorant Garamond"/>
              <a:ea typeface="Cormorant Garamond"/>
              <a:cs typeface="Cormorant Garamond"/>
              <a:sym typeface="Cormorant Garamond"/>
            </a:endParaRPr>
          </a:p>
        </p:txBody>
      </p:sp>
    </p:spTree>
    <p:extLst>
      <p:ext uri="{BB962C8B-B14F-4D97-AF65-F5344CB8AC3E}">
        <p14:creationId xmlns:p14="http://schemas.microsoft.com/office/powerpoint/2010/main" val="183524322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1195235"/>
            <a:ext cx="11287478" cy="4784130"/>
          </a:xfrm>
          <a:prstGeom prst="rect">
            <a:avLst/>
          </a:prstGeom>
        </p:spPr>
        <p:txBody>
          <a:bodyPr lIns="0" tIns="0" rIns="0" bIns="0" rtlCol="0" anchor="t">
            <a:spAutoFit/>
          </a:bodyPr>
          <a:lstStyle/>
          <a:p>
            <a:pPr>
              <a:lnSpc>
                <a:spcPts val="4150"/>
              </a:lnSpc>
            </a:pPr>
            <a:r>
              <a:rPr lang="en-US" sz="2000" u="sng" dirty="0">
                <a:latin typeface="Antique Olive" panose="020B0603020204030204"/>
                <a:ea typeface="Quicksand"/>
                <a:cs typeface="Quicksand"/>
                <a:sym typeface="Quicksand"/>
              </a:rPr>
              <a:t>&amp;&amp; (AND)</a:t>
            </a:r>
          </a:p>
          <a:p>
            <a:pPr>
              <a:lnSpc>
                <a:spcPts val="4150"/>
              </a:lnSpc>
            </a:pPr>
            <a:r>
              <a:rPr lang="en-US" sz="2000" dirty="0">
                <a:latin typeface="Antique Olive" panose="020B0603020204030204"/>
                <a:ea typeface="Quicksand"/>
                <a:cs typeface="Quicksand"/>
                <a:sym typeface="Quicksand"/>
              </a:rPr>
              <a:t>An example with if:</a:t>
            </a:r>
          </a:p>
          <a:p>
            <a:pPr>
              <a:lnSpc>
                <a:spcPts val="4150"/>
              </a:lnSpc>
            </a:pPr>
            <a:endParaRPr lang="en-US" sz="2000" dirty="0">
              <a:latin typeface="Antique Olive" panose="020B0603020204030204"/>
              <a:ea typeface="Quicksand"/>
              <a:cs typeface="Quicksand"/>
              <a:sym typeface="Quicksand"/>
            </a:endParaRPr>
          </a:p>
          <a:p>
            <a:pPr>
              <a:lnSpc>
                <a:spcPts val="4150"/>
              </a:lnSpc>
            </a:pPr>
            <a:r>
              <a:rPr lang="en-US" sz="2000" dirty="0">
                <a:latin typeface="Antique Olive" panose="020B0603020204030204"/>
                <a:ea typeface="Quicksand"/>
                <a:cs typeface="Quicksand"/>
                <a:sym typeface="Quicksand"/>
              </a:rPr>
              <a:t>let hour = 12;</a:t>
            </a:r>
          </a:p>
          <a:p>
            <a:pPr>
              <a:lnSpc>
                <a:spcPts val="4150"/>
              </a:lnSpc>
            </a:pPr>
            <a:r>
              <a:rPr lang="en-US" sz="2000" dirty="0">
                <a:latin typeface="Antique Olive" panose="020B0603020204030204"/>
                <a:ea typeface="Quicksand"/>
                <a:cs typeface="Quicksand"/>
                <a:sym typeface="Quicksand"/>
              </a:rPr>
              <a:t>let minute = 30;</a:t>
            </a:r>
          </a:p>
          <a:p>
            <a:pPr>
              <a:lnSpc>
                <a:spcPts val="4150"/>
              </a:lnSpc>
            </a:pPr>
            <a:r>
              <a:rPr lang="en-US" sz="2000" dirty="0">
                <a:latin typeface="Antique Olive" panose="020B0603020204030204"/>
                <a:ea typeface="Quicksand"/>
                <a:cs typeface="Quicksand"/>
                <a:sym typeface="Quicksand"/>
              </a:rPr>
              <a:t>if (hour == 12 &amp;&amp; minute == 30)</a:t>
            </a:r>
          </a:p>
          <a:p>
            <a:pPr>
              <a:lnSpc>
                <a:spcPts val="4150"/>
              </a:lnSpc>
            </a:pPr>
            <a:r>
              <a:rPr lang="en-US" sz="2000" dirty="0">
                <a:latin typeface="Antique Olive" panose="020B0603020204030204"/>
                <a:ea typeface="Quicksand"/>
                <a:cs typeface="Quicksand"/>
                <a:sym typeface="Quicksand"/>
              </a:rPr>
              <a:t> {alert( 'The time is 12:30' );}</a:t>
            </a:r>
            <a:endParaRPr lang="en-US" sz="2000" dirty="0">
              <a:latin typeface="Antique Olive" panose="020B0603020204030204"/>
              <a:ea typeface="Quicksand"/>
              <a:cs typeface="Quicksand"/>
              <a:sym typeface="Quicksand"/>
              <a:hlinkClick r:id="rId2" tooltip="https://javascript.info/ifelse#conditional-operator">
                <a:extLst>
                  <a:ext uri="{A12FA001-AC4F-418D-AE19-62706E023703}">
                    <ahyp:hlinkClr xmlns:ahyp="http://schemas.microsoft.com/office/drawing/2018/hyperlinkcolor" val="tx"/>
                  </a:ext>
                </a:extLst>
              </a:hlinkClick>
            </a:endParaRPr>
          </a:p>
          <a:p>
            <a:pPr algn="ctr">
              <a:lnSpc>
                <a:spcPts val="4150"/>
              </a:lnSpc>
            </a:pPr>
            <a:endParaRPr lang="en-US" sz="2441" dirty="0">
              <a:solidFill>
                <a:srgbClr val="000000"/>
              </a:solidFill>
              <a:latin typeface="Quicksand"/>
              <a:ea typeface="Quicksand"/>
              <a:cs typeface="Quicksand"/>
              <a:sym typeface="Quicksand"/>
              <a:hlinkClick r:id="rId2" tooltip="https://javascript.info/ifelse#conditional-operator">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ifelse#conditional-operator">
                <a:extLst>
                  <a:ext uri="{A12FA001-AC4F-418D-AE19-62706E023703}">
                    <ahyp:hlinkClr xmlns:ahyp="http://schemas.microsoft.com/office/drawing/2018/hyperlinkcolor" val="tx"/>
                  </a:ext>
                </a:extLst>
              </a:hlinkClick>
            </a:endParaRPr>
          </a:p>
        </p:txBody>
      </p:sp>
      <p:sp>
        <p:nvSpPr>
          <p:cNvPr id="4" name="TextBox 3">
            <a:extLst>
              <a:ext uri="{FF2B5EF4-FFF2-40B4-BE49-F238E27FC236}">
                <a16:creationId xmlns:a16="http://schemas.microsoft.com/office/drawing/2014/main" id="{53235D87-F3C0-7964-4B4C-30FBCC97B9EF}"/>
              </a:ext>
            </a:extLst>
          </p:cNvPr>
          <p:cNvSpPr txBox="1"/>
          <p:nvPr/>
        </p:nvSpPr>
        <p:spPr>
          <a:xfrm>
            <a:off x="3973935" y="459681"/>
            <a:ext cx="7532265" cy="1471108"/>
          </a:xfrm>
          <a:prstGeom prst="rect">
            <a:avLst/>
          </a:prstGeom>
        </p:spPr>
        <p:txBody>
          <a:bodyPr lIns="0" tIns="0" rIns="0" bIns="0" rtlCol="0" anchor="t">
            <a:spAutoFit/>
          </a:bodyPr>
          <a:lstStyle/>
          <a:p>
            <a:pPr algn="just">
              <a:lnSpc>
                <a:spcPts val="5973"/>
              </a:lnSpc>
            </a:pPr>
            <a:r>
              <a:rPr lang="en-US" sz="4000" b="1" dirty="0">
                <a:latin typeface="Antique Olive" panose="020B0603020204030204"/>
                <a:ea typeface="Cormorant Garamond"/>
                <a:cs typeface="Cormorant Garamond"/>
                <a:sym typeface="Cormorant Garamond"/>
              </a:rPr>
              <a:t>Logical Operators</a:t>
            </a:r>
          </a:p>
          <a:p>
            <a:pPr algn="just">
              <a:lnSpc>
                <a:spcPts val="5973"/>
              </a:lnSpc>
              <a:spcBef>
                <a:spcPct val="0"/>
              </a:spcBef>
            </a:pPr>
            <a:endParaRPr lang="en-US" sz="4266" dirty="0">
              <a:solidFill>
                <a:srgbClr val="0F4662"/>
              </a:solidFill>
              <a:latin typeface="Cormorant Garamond"/>
              <a:ea typeface="Cormorant Garamond"/>
              <a:cs typeface="Cormorant Garamond"/>
              <a:sym typeface="Cormorant Garamond"/>
            </a:endParaRPr>
          </a:p>
        </p:txBody>
      </p:sp>
    </p:spTree>
    <p:extLst>
      <p:ext uri="{BB962C8B-B14F-4D97-AF65-F5344CB8AC3E}">
        <p14:creationId xmlns:p14="http://schemas.microsoft.com/office/powerpoint/2010/main" val="133540837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1195235"/>
            <a:ext cx="11287478" cy="5861348"/>
          </a:xfrm>
          <a:prstGeom prst="rect">
            <a:avLst/>
          </a:prstGeom>
        </p:spPr>
        <p:txBody>
          <a:bodyPr lIns="0" tIns="0" rIns="0" bIns="0" rtlCol="0" anchor="t">
            <a:spAutoFit/>
          </a:bodyPr>
          <a:lstStyle/>
          <a:p>
            <a:pPr>
              <a:lnSpc>
                <a:spcPts val="4150"/>
              </a:lnSpc>
            </a:pPr>
            <a:r>
              <a:rPr lang="en-US" sz="2000" u="sng" dirty="0">
                <a:latin typeface="Antique Olive" panose="020B0603020204030204"/>
                <a:ea typeface="Quicksand"/>
                <a:cs typeface="Quicksand"/>
                <a:sym typeface="Quicksand"/>
              </a:rPr>
              <a:t>! (NOT)</a:t>
            </a:r>
          </a:p>
          <a:p>
            <a:pPr>
              <a:lnSpc>
                <a:spcPts val="4150"/>
              </a:lnSpc>
            </a:pPr>
            <a:r>
              <a:rPr lang="en-US" sz="2000" dirty="0">
                <a:latin typeface="Antique Olive" panose="020B0603020204030204"/>
                <a:ea typeface="Quicksand"/>
                <a:cs typeface="Quicksand"/>
                <a:sym typeface="Quicksand"/>
              </a:rPr>
              <a:t>The </a:t>
            </a:r>
            <a:r>
              <a:rPr lang="en-US" sz="2000" dirty="0" err="1">
                <a:latin typeface="Antique Olive" panose="020B0603020204030204"/>
                <a:ea typeface="Quicksand"/>
                <a:cs typeface="Quicksand"/>
                <a:sym typeface="Quicksand"/>
              </a:rPr>
              <a:t>boolean</a:t>
            </a:r>
            <a:r>
              <a:rPr lang="en-US" sz="2000" dirty="0">
                <a:latin typeface="Antique Olive" panose="020B0603020204030204"/>
                <a:ea typeface="Quicksand"/>
                <a:cs typeface="Quicksand"/>
                <a:sym typeface="Quicksand"/>
              </a:rPr>
              <a:t> NOT operator is represented with an exclamation sign !.</a:t>
            </a:r>
          </a:p>
          <a:p>
            <a:pPr>
              <a:lnSpc>
                <a:spcPts val="4150"/>
              </a:lnSpc>
            </a:pPr>
            <a:r>
              <a:rPr lang="en-US" sz="2000" dirty="0">
                <a:latin typeface="Antique Olive" panose="020B0603020204030204"/>
                <a:ea typeface="Quicksand"/>
                <a:cs typeface="Quicksand"/>
                <a:sym typeface="Quicksand"/>
              </a:rPr>
              <a:t>The syntax is pretty simple:</a:t>
            </a:r>
          </a:p>
          <a:p>
            <a:pPr algn="ctr">
              <a:lnSpc>
                <a:spcPts val="4150"/>
              </a:lnSpc>
            </a:pPr>
            <a:r>
              <a:rPr lang="en-US" sz="2000" dirty="0">
                <a:latin typeface="Antique Olive" panose="020B0603020204030204"/>
                <a:ea typeface="Quicksand"/>
                <a:cs typeface="Quicksand"/>
                <a:sym typeface="Quicksand"/>
              </a:rPr>
              <a:t>result = !value;</a:t>
            </a:r>
          </a:p>
          <a:p>
            <a:pPr>
              <a:lnSpc>
                <a:spcPts val="4150"/>
              </a:lnSpc>
            </a:pPr>
            <a:r>
              <a:rPr lang="en-US" sz="2000" dirty="0">
                <a:latin typeface="Antique Olive" panose="020B0603020204030204"/>
                <a:ea typeface="Quicksand"/>
                <a:cs typeface="Quicksand"/>
                <a:sym typeface="Quicksand"/>
              </a:rPr>
              <a:t>The operator accepts a single argument and does the following:</a:t>
            </a:r>
          </a:p>
          <a:p>
            <a:pPr marL="527028" lvl="1" indent="-263514">
              <a:lnSpc>
                <a:spcPts val="4150"/>
              </a:lnSpc>
              <a:buAutoNum type="arabicPeriod"/>
            </a:pPr>
            <a:r>
              <a:rPr lang="en-US" sz="2000" dirty="0">
                <a:latin typeface="Antique Olive" panose="020B0603020204030204"/>
                <a:ea typeface="Quicksand"/>
                <a:cs typeface="Quicksand"/>
                <a:sym typeface="Quicksand"/>
              </a:rPr>
              <a:t>Converts the operand to </a:t>
            </a:r>
            <a:r>
              <a:rPr lang="en-US" sz="2000" dirty="0" err="1">
                <a:latin typeface="Antique Olive" panose="020B0603020204030204"/>
                <a:ea typeface="Quicksand"/>
                <a:cs typeface="Quicksand"/>
                <a:sym typeface="Quicksand"/>
              </a:rPr>
              <a:t>boolean</a:t>
            </a:r>
            <a:r>
              <a:rPr lang="en-US" sz="2000" dirty="0">
                <a:latin typeface="Antique Olive" panose="020B0603020204030204"/>
                <a:ea typeface="Quicksand"/>
                <a:cs typeface="Quicksand"/>
                <a:sym typeface="Quicksand"/>
              </a:rPr>
              <a:t> type: true/false.</a:t>
            </a:r>
          </a:p>
          <a:p>
            <a:pPr marL="527028" lvl="1" indent="-263514">
              <a:lnSpc>
                <a:spcPts val="4150"/>
              </a:lnSpc>
              <a:buAutoNum type="arabicPeriod"/>
            </a:pPr>
            <a:r>
              <a:rPr lang="en-US" sz="2000" dirty="0">
                <a:latin typeface="Antique Olive" panose="020B0603020204030204"/>
                <a:ea typeface="Quicksand"/>
                <a:cs typeface="Quicksand"/>
                <a:sym typeface="Quicksand"/>
              </a:rPr>
              <a:t>Returns the inverse value.</a:t>
            </a:r>
          </a:p>
          <a:p>
            <a:pPr>
              <a:lnSpc>
                <a:spcPts val="4150"/>
              </a:lnSpc>
            </a:pPr>
            <a:r>
              <a:rPr lang="en-US" sz="2000" dirty="0">
                <a:latin typeface="Antique Olive" panose="020B0603020204030204"/>
                <a:ea typeface="Quicksand"/>
                <a:cs typeface="Quicksand"/>
                <a:sym typeface="Quicksand"/>
              </a:rPr>
              <a:t>For instance:</a:t>
            </a:r>
          </a:p>
          <a:p>
            <a:pPr>
              <a:lnSpc>
                <a:spcPts val="4150"/>
              </a:lnSpc>
            </a:pPr>
            <a:r>
              <a:rPr lang="en-US" sz="2000" dirty="0">
                <a:latin typeface="Antique Olive" panose="020B0603020204030204"/>
                <a:ea typeface="Quicksand"/>
                <a:cs typeface="Quicksand"/>
                <a:sym typeface="Quicksand"/>
              </a:rPr>
              <a:t>alert( !true ); // false</a:t>
            </a:r>
          </a:p>
          <a:p>
            <a:pPr>
              <a:lnSpc>
                <a:spcPts val="4150"/>
              </a:lnSpc>
            </a:pPr>
            <a:r>
              <a:rPr lang="en-US" sz="2000" dirty="0">
                <a:latin typeface="Antique Olive" panose="020B0603020204030204"/>
                <a:ea typeface="Quicksand"/>
                <a:cs typeface="Quicksand"/>
                <a:sym typeface="Quicksand"/>
              </a:rPr>
              <a:t>alert( !0 ); // true</a:t>
            </a:r>
          </a:p>
          <a:p>
            <a:pPr>
              <a:lnSpc>
                <a:spcPts val="4150"/>
              </a:lnSpc>
            </a:pPr>
            <a:r>
              <a:rPr lang="en-US" sz="2000" dirty="0">
                <a:latin typeface="Antique Olive" panose="020B0603020204030204"/>
                <a:ea typeface="Quicksand"/>
                <a:cs typeface="Quicksand"/>
                <a:sym typeface="Quicksand"/>
              </a:rPr>
              <a:t>alert( !!null ); // false</a:t>
            </a:r>
          </a:p>
        </p:txBody>
      </p:sp>
      <p:sp>
        <p:nvSpPr>
          <p:cNvPr id="4" name="TextBox 3">
            <a:extLst>
              <a:ext uri="{FF2B5EF4-FFF2-40B4-BE49-F238E27FC236}">
                <a16:creationId xmlns:a16="http://schemas.microsoft.com/office/drawing/2014/main" id="{8A7CC37A-8BCB-4274-0973-21E59206251A}"/>
              </a:ext>
            </a:extLst>
          </p:cNvPr>
          <p:cNvSpPr txBox="1"/>
          <p:nvPr/>
        </p:nvSpPr>
        <p:spPr>
          <a:xfrm>
            <a:off x="3973935" y="531871"/>
            <a:ext cx="7532265" cy="1471108"/>
          </a:xfrm>
          <a:prstGeom prst="rect">
            <a:avLst/>
          </a:prstGeom>
        </p:spPr>
        <p:txBody>
          <a:bodyPr lIns="0" tIns="0" rIns="0" bIns="0" rtlCol="0" anchor="t">
            <a:spAutoFit/>
          </a:bodyPr>
          <a:lstStyle/>
          <a:p>
            <a:pPr algn="just">
              <a:lnSpc>
                <a:spcPts val="5973"/>
              </a:lnSpc>
            </a:pPr>
            <a:r>
              <a:rPr lang="en-US" sz="4000" b="1" dirty="0">
                <a:latin typeface="Antique Olive" panose="020B0603020204030204"/>
                <a:ea typeface="Cormorant Garamond"/>
                <a:cs typeface="Cormorant Garamond"/>
                <a:sym typeface="Cormorant Garamond"/>
              </a:rPr>
              <a:t>Logical Operators</a:t>
            </a:r>
          </a:p>
          <a:p>
            <a:pPr algn="just">
              <a:lnSpc>
                <a:spcPts val="5973"/>
              </a:lnSpc>
              <a:spcBef>
                <a:spcPct val="0"/>
              </a:spcBef>
            </a:pPr>
            <a:endParaRPr lang="en-US" sz="4266" dirty="0">
              <a:solidFill>
                <a:srgbClr val="0F4662"/>
              </a:solidFill>
              <a:latin typeface="Cormorant Garamond"/>
              <a:ea typeface="Cormorant Garamond"/>
              <a:cs typeface="Cormorant Garamond"/>
              <a:sym typeface="Cormorant Garamond"/>
            </a:endParaRPr>
          </a:p>
        </p:txBody>
      </p:sp>
    </p:spTree>
    <p:extLst>
      <p:ext uri="{BB962C8B-B14F-4D97-AF65-F5344CB8AC3E}">
        <p14:creationId xmlns:p14="http://schemas.microsoft.com/office/powerpoint/2010/main" val="43222261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52261" y="1069012"/>
            <a:ext cx="11287478" cy="5334089"/>
          </a:xfrm>
          <a:prstGeom prst="rect">
            <a:avLst/>
          </a:prstGeom>
        </p:spPr>
        <p:txBody>
          <a:bodyPr lIns="0" tIns="0" rIns="0" bIns="0" rtlCol="0" anchor="t">
            <a:spAutoFit/>
          </a:bodyPr>
          <a:lstStyle/>
          <a:p>
            <a:pPr>
              <a:lnSpc>
                <a:spcPts val="4150"/>
              </a:lnSpc>
            </a:pPr>
            <a:r>
              <a:rPr lang="en-US" sz="2000" dirty="0">
                <a:latin typeface="Antique Olive" panose="020B0603020204030204"/>
                <a:ea typeface="Quicksand"/>
                <a:cs typeface="Quicksand"/>
                <a:sym typeface="Quicksand"/>
              </a:rPr>
              <a:t>Check the login</a:t>
            </a:r>
          </a:p>
          <a:p>
            <a:pPr>
              <a:lnSpc>
                <a:spcPts val="4150"/>
              </a:lnSpc>
            </a:pPr>
            <a:r>
              <a:rPr lang="en-US" sz="2000" dirty="0">
                <a:latin typeface="Antique Olive" panose="020B0603020204030204"/>
                <a:ea typeface="Quicksand"/>
                <a:cs typeface="Quicksand"/>
                <a:sym typeface="Quicksand"/>
              </a:rPr>
              <a:t>Write the code which asks for a login with prompt.</a:t>
            </a:r>
          </a:p>
          <a:p>
            <a:pPr>
              <a:lnSpc>
                <a:spcPts val="4150"/>
              </a:lnSpc>
            </a:pPr>
            <a:r>
              <a:rPr lang="en-US" sz="2000" dirty="0">
                <a:latin typeface="Antique Olive" panose="020B0603020204030204"/>
                <a:ea typeface="Quicksand"/>
                <a:cs typeface="Quicksand"/>
                <a:sym typeface="Quicksand"/>
              </a:rPr>
              <a:t>If the visitor enters "Admin", then prompt for a password, if the input is an empty line or Esc – show “Canceled”, if it’s another string – then show “I don’t know you”.</a:t>
            </a:r>
          </a:p>
          <a:p>
            <a:pPr>
              <a:lnSpc>
                <a:spcPts val="4150"/>
              </a:lnSpc>
            </a:pPr>
            <a:r>
              <a:rPr lang="en-US" sz="2000" dirty="0">
                <a:latin typeface="Antique Olive" panose="020B0603020204030204"/>
                <a:ea typeface="Quicksand"/>
                <a:cs typeface="Quicksand"/>
                <a:sym typeface="Quicksand"/>
              </a:rPr>
              <a:t>The password is checked as follows:</a:t>
            </a:r>
          </a:p>
          <a:p>
            <a:pPr marL="527028" lvl="1" indent="-263514">
              <a:lnSpc>
                <a:spcPts val="4150"/>
              </a:lnSpc>
              <a:buFont typeface="Arial"/>
              <a:buChar char="•"/>
            </a:pPr>
            <a:r>
              <a:rPr lang="en-US" sz="2000" dirty="0">
                <a:latin typeface="Antique Olive" panose="020B0603020204030204"/>
                <a:ea typeface="Quicksand"/>
                <a:cs typeface="Quicksand"/>
                <a:sym typeface="Quicksand"/>
              </a:rPr>
              <a:t>If it equals “</a:t>
            </a:r>
            <a:r>
              <a:rPr lang="en-US" sz="2000" dirty="0" err="1">
                <a:latin typeface="Antique Olive" panose="020B0603020204030204"/>
                <a:ea typeface="Quicksand"/>
                <a:cs typeface="Quicksand"/>
                <a:sym typeface="Quicksand"/>
              </a:rPr>
              <a:t>TheMaster</a:t>
            </a:r>
            <a:r>
              <a:rPr lang="en-US" sz="2000" dirty="0">
                <a:latin typeface="Antique Olive" panose="020B0603020204030204"/>
                <a:ea typeface="Quicksand"/>
                <a:cs typeface="Quicksand"/>
                <a:sym typeface="Quicksand"/>
              </a:rPr>
              <a:t>”, then show “Welcome!”,</a:t>
            </a:r>
          </a:p>
          <a:p>
            <a:pPr marL="527028" lvl="1" indent="-263514">
              <a:lnSpc>
                <a:spcPts val="4150"/>
              </a:lnSpc>
              <a:buFont typeface="Arial"/>
              <a:buChar char="•"/>
            </a:pPr>
            <a:r>
              <a:rPr lang="en-US" sz="2000" dirty="0">
                <a:latin typeface="Antique Olive" panose="020B0603020204030204"/>
                <a:ea typeface="Quicksand"/>
                <a:cs typeface="Quicksand"/>
                <a:sym typeface="Quicksand"/>
              </a:rPr>
              <a:t>Another string – show “Wrong password”,</a:t>
            </a:r>
          </a:p>
          <a:p>
            <a:pPr marL="527028" lvl="1" indent="-263514">
              <a:lnSpc>
                <a:spcPts val="4150"/>
              </a:lnSpc>
              <a:buFont typeface="Arial"/>
              <a:buChar char="•"/>
            </a:pPr>
            <a:r>
              <a:rPr lang="en-US" sz="2000" dirty="0">
                <a:latin typeface="Antique Olive" panose="020B0603020204030204"/>
                <a:ea typeface="Quicksand"/>
                <a:cs typeface="Quicksand"/>
                <a:sym typeface="Quicksand"/>
              </a:rPr>
              <a:t>For an empty string or cancelled input, show </a:t>
            </a:r>
          </a:p>
          <a:p>
            <a:pPr>
              <a:lnSpc>
                <a:spcPts val="4150"/>
              </a:lnSpc>
            </a:pPr>
            <a:r>
              <a:rPr lang="en-US" sz="2000" dirty="0">
                <a:latin typeface="Antique Olive" panose="020B0603020204030204"/>
                <a:ea typeface="Quicksand"/>
                <a:cs typeface="Quicksand"/>
                <a:sym typeface="Quicksand"/>
              </a:rPr>
              <a:t>“Canceled”</a:t>
            </a:r>
            <a:endParaRPr lang="en-US" sz="2000" dirty="0">
              <a:latin typeface="Antique Olive" panose="020B0603020204030204"/>
              <a:ea typeface="Quicksand"/>
              <a:cs typeface="Quicksand"/>
              <a:sym typeface="Quicksand"/>
              <a:hlinkClick r:id="rId2" tooltip="https://javascript.info/logical-operators#not">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logical-operators#not">
                <a:extLst>
                  <a:ext uri="{A12FA001-AC4F-418D-AE19-62706E023703}">
                    <ahyp:hlinkClr xmlns:ahyp="http://schemas.microsoft.com/office/drawing/2018/hyperlinkcolor" val="tx"/>
                  </a:ext>
                </a:extLst>
              </a:hlinkClick>
            </a:endParaRPr>
          </a:p>
        </p:txBody>
      </p:sp>
      <p:sp>
        <p:nvSpPr>
          <p:cNvPr id="3" name="Freeform 3"/>
          <p:cNvSpPr/>
          <p:nvPr/>
        </p:nvSpPr>
        <p:spPr>
          <a:xfrm>
            <a:off x="7968372" y="3616318"/>
            <a:ext cx="4223629" cy="3241682"/>
          </a:xfrm>
          <a:custGeom>
            <a:avLst/>
            <a:gdLst/>
            <a:ahLst/>
            <a:cxnLst/>
            <a:rect l="l" t="t" r="r" b="b"/>
            <a:pathLst>
              <a:path w="6335443" h="4862523">
                <a:moveTo>
                  <a:pt x="0" y="0"/>
                </a:moveTo>
                <a:lnTo>
                  <a:pt x="6335443" y="0"/>
                </a:lnTo>
                <a:lnTo>
                  <a:pt x="6335443" y="4862523"/>
                </a:lnTo>
                <a:lnTo>
                  <a:pt x="0" y="4862523"/>
                </a:lnTo>
                <a:lnTo>
                  <a:pt x="0" y="0"/>
                </a:lnTo>
                <a:close/>
              </a:path>
            </a:pathLst>
          </a:custGeom>
          <a:blipFill>
            <a:blip r:embed="rId3"/>
            <a:stretch>
              <a:fillRect/>
            </a:stretch>
          </a:blipFill>
        </p:spPr>
      </p:sp>
      <p:sp>
        <p:nvSpPr>
          <p:cNvPr id="4" name="TextBox 4"/>
          <p:cNvSpPr txBox="1"/>
          <p:nvPr/>
        </p:nvSpPr>
        <p:spPr>
          <a:xfrm>
            <a:off x="4365215" y="285962"/>
            <a:ext cx="7532265" cy="721480"/>
          </a:xfrm>
          <a:prstGeom prst="rect">
            <a:avLst/>
          </a:prstGeom>
        </p:spPr>
        <p:txBody>
          <a:bodyPr lIns="0" tIns="0" rIns="0" bIns="0" rtlCol="0" anchor="t">
            <a:spAutoFit/>
          </a:bodyPr>
          <a:lstStyle/>
          <a:p>
            <a:pPr algn="just">
              <a:lnSpc>
                <a:spcPts val="5973"/>
              </a:lnSpc>
              <a:spcBef>
                <a:spcPct val="0"/>
              </a:spcBef>
            </a:pPr>
            <a:r>
              <a:rPr lang="en-US" sz="4000" b="1" dirty="0">
                <a:latin typeface="Antique Olive" panose="020B0603020204030204"/>
                <a:ea typeface="Cormorant Garamond"/>
                <a:cs typeface="Cormorant Garamond"/>
                <a:sym typeface="Cormorant Garamond"/>
              </a:rPr>
              <a:t>Task</a:t>
            </a:r>
          </a:p>
        </p:txBody>
      </p:sp>
    </p:spTree>
    <p:extLst>
      <p:ext uri="{BB962C8B-B14F-4D97-AF65-F5344CB8AC3E}">
        <p14:creationId xmlns:p14="http://schemas.microsoft.com/office/powerpoint/2010/main" val="224647034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414392" y="1286987"/>
            <a:ext cx="6263310" cy="5412393"/>
          </a:xfrm>
          <a:custGeom>
            <a:avLst/>
            <a:gdLst/>
            <a:ahLst/>
            <a:cxnLst/>
            <a:rect l="l" t="t" r="r" b="b"/>
            <a:pathLst>
              <a:path w="9394965" h="8118589">
                <a:moveTo>
                  <a:pt x="0" y="0"/>
                </a:moveTo>
                <a:lnTo>
                  <a:pt x="9394965" y="0"/>
                </a:lnTo>
                <a:lnTo>
                  <a:pt x="9394965" y="8118589"/>
                </a:lnTo>
                <a:lnTo>
                  <a:pt x="0" y="8118589"/>
                </a:lnTo>
                <a:lnTo>
                  <a:pt x="0" y="0"/>
                </a:lnTo>
                <a:close/>
              </a:path>
            </a:pathLst>
          </a:custGeom>
          <a:blipFill>
            <a:blip r:embed="rId2"/>
            <a:stretch>
              <a:fillRect/>
            </a:stretch>
          </a:blipFill>
        </p:spPr>
      </p:sp>
      <p:sp>
        <p:nvSpPr>
          <p:cNvPr id="3" name="TextBox 3"/>
          <p:cNvSpPr txBox="1"/>
          <p:nvPr/>
        </p:nvSpPr>
        <p:spPr>
          <a:xfrm>
            <a:off x="452261" y="895139"/>
            <a:ext cx="11287478" cy="1552476"/>
          </a:xfrm>
          <a:prstGeom prst="rect">
            <a:avLst/>
          </a:prstGeom>
        </p:spPr>
        <p:txBody>
          <a:bodyPr lIns="0" tIns="0" rIns="0" bIns="0" rtlCol="0" anchor="t">
            <a:spAutoFit/>
          </a:bodyPr>
          <a:lstStyle/>
          <a:p>
            <a:pPr>
              <a:lnSpc>
                <a:spcPts val="4150"/>
              </a:lnSpc>
            </a:pPr>
            <a:r>
              <a:rPr lang="en-US" sz="2441">
                <a:solidFill>
                  <a:srgbClr val="0F4662"/>
                </a:solidFill>
                <a:latin typeface="Quicksand"/>
                <a:ea typeface="Quicksand"/>
                <a:cs typeface="Quicksand"/>
                <a:sym typeface="Quicksand"/>
                <a:hlinkClick r:id="rId3" tooltip="https://javascript.info/logical-operators#check-the-login"/>
              </a:rPr>
              <a:t>Check the login</a:t>
            </a:r>
          </a:p>
          <a:p>
            <a:pPr>
              <a:lnSpc>
                <a:spcPts val="4150"/>
              </a:lnSpc>
            </a:pPr>
            <a:endParaRPr lang="en-US" sz="2441">
              <a:solidFill>
                <a:srgbClr val="0F4662"/>
              </a:solidFill>
              <a:latin typeface="Quicksand"/>
              <a:ea typeface="Quicksand"/>
              <a:cs typeface="Quicksand"/>
              <a:sym typeface="Quicksand"/>
              <a:hlinkClick r:id="rId3" tooltip="https://javascript.info/logical-operators#check-the-login"/>
            </a:endParaRPr>
          </a:p>
          <a:p>
            <a:pPr>
              <a:lnSpc>
                <a:spcPts val="4150"/>
              </a:lnSpc>
            </a:pPr>
            <a:endParaRPr lang="en-US" sz="2441">
              <a:solidFill>
                <a:srgbClr val="0F4662"/>
              </a:solidFill>
              <a:latin typeface="Quicksand"/>
              <a:ea typeface="Quicksand"/>
              <a:cs typeface="Quicksand"/>
              <a:sym typeface="Quicksand"/>
              <a:hlinkClick r:id="rId3" tooltip="https://javascript.info/logical-operators#check-the-login"/>
            </a:endParaRPr>
          </a:p>
        </p:txBody>
      </p:sp>
      <p:sp>
        <p:nvSpPr>
          <p:cNvPr id="4" name="TextBox 4"/>
          <p:cNvSpPr txBox="1"/>
          <p:nvPr/>
        </p:nvSpPr>
        <p:spPr>
          <a:xfrm>
            <a:off x="3973935" y="285962"/>
            <a:ext cx="7532265" cy="721480"/>
          </a:xfrm>
          <a:prstGeom prst="rect">
            <a:avLst/>
          </a:prstGeom>
        </p:spPr>
        <p:txBody>
          <a:bodyPr lIns="0" tIns="0" rIns="0" bIns="0" rtlCol="0" anchor="t">
            <a:spAutoFit/>
          </a:bodyPr>
          <a:lstStyle/>
          <a:p>
            <a:pPr algn="just">
              <a:lnSpc>
                <a:spcPts val="5973"/>
              </a:lnSpc>
              <a:spcBef>
                <a:spcPct val="0"/>
              </a:spcBef>
            </a:pPr>
            <a:r>
              <a:rPr lang="en-US" sz="4000" b="1" dirty="0">
                <a:latin typeface="Antique Olive" panose="020B0603020204030204"/>
                <a:ea typeface="Cormorant Garamond"/>
                <a:cs typeface="Cormorant Garamond"/>
                <a:sym typeface="Cormorant Garamond"/>
              </a:rPr>
              <a:t>Task solution</a:t>
            </a:r>
          </a:p>
        </p:txBody>
      </p:sp>
    </p:spTree>
    <p:extLst>
      <p:ext uri="{BB962C8B-B14F-4D97-AF65-F5344CB8AC3E}">
        <p14:creationId xmlns:p14="http://schemas.microsoft.com/office/powerpoint/2010/main" val="191272631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1210695"/>
            <a:ext cx="11287478" cy="6938566"/>
          </a:xfrm>
          <a:prstGeom prst="rect">
            <a:avLst/>
          </a:prstGeom>
        </p:spPr>
        <p:txBody>
          <a:bodyPr lIns="0" tIns="0" rIns="0" bIns="0" rtlCol="0" anchor="t">
            <a:spAutoFit/>
          </a:bodyPr>
          <a:lstStyle/>
          <a:p>
            <a:pPr>
              <a:lnSpc>
                <a:spcPts val="4150"/>
              </a:lnSpc>
            </a:pPr>
            <a:r>
              <a:rPr lang="en-US" sz="2000" dirty="0">
                <a:latin typeface="Antique Olive" panose="020B0603020204030204"/>
                <a:ea typeface="Quicksand"/>
                <a:cs typeface="Quicksand"/>
                <a:sym typeface="Quicksand"/>
              </a:rPr>
              <a:t>Loops are a way to repeat the same code multiple times.</a:t>
            </a:r>
          </a:p>
          <a:p>
            <a:pPr>
              <a:lnSpc>
                <a:spcPts val="4150"/>
              </a:lnSpc>
            </a:pPr>
            <a:r>
              <a:rPr lang="en-US" sz="2000" u="sng" dirty="0">
                <a:latin typeface="Antique Olive" panose="020B0603020204030204"/>
                <a:ea typeface="Quicksand"/>
                <a:cs typeface="Quicksand"/>
                <a:sym typeface="Quicksand"/>
                <a:hlinkClick r:id="rId2" tooltip="https://javascript.info/while-for#the-while-loop">
                  <a:extLst>
                    <a:ext uri="{A12FA001-AC4F-418D-AE19-62706E023703}">
                      <ahyp:hlinkClr xmlns:ahyp="http://schemas.microsoft.com/office/drawing/2018/hyperlinkcolor" val="tx"/>
                    </a:ext>
                  </a:extLst>
                </a:hlinkClick>
              </a:rPr>
              <a:t>The “while” loop</a:t>
            </a:r>
          </a:p>
          <a:p>
            <a:pPr>
              <a:lnSpc>
                <a:spcPts val="4150"/>
              </a:lnSpc>
            </a:pPr>
            <a:r>
              <a:rPr lang="en-US" sz="2000" dirty="0">
                <a:latin typeface="Antique Olive" panose="020B0603020204030204"/>
                <a:ea typeface="Quicksand"/>
                <a:cs typeface="Quicksand"/>
                <a:sym typeface="Quicksand"/>
              </a:rPr>
              <a:t>The while loop has the following syntax:</a:t>
            </a:r>
          </a:p>
          <a:p>
            <a:pPr algn="ctr">
              <a:lnSpc>
                <a:spcPts val="4150"/>
              </a:lnSpc>
            </a:pPr>
            <a:r>
              <a:rPr lang="en-US" sz="2000" dirty="0">
                <a:latin typeface="Antique Olive" panose="020B0603020204030204"/>
                <a:ea typeface="Quicksand"/>
                <a:cs typeface="Quicksand"/>
                <a:sym typeface="Quicksand"/>
              </a:rPr>
              <a:t>while (condition) {// code// so-called "loop body"}</a:t>
            </a:r>
          </a:p>
          <a:p>
            <a:pPr>
              <a:lnSpc>
                <a:spcPts val="4150"/>
              </a:lnSpc>
            </a:pPr>
            <a:r>
              <a:rPr lang="en-US" sz="2000" dirty="0">
                <a:latin typeface="Antique Olive" panose="020B0603020204030204"/>
                <a:ea typeface="Quicksand"/>
                <a:cs typeface="Quicksand"/>
                <a:sym typeface="Quicksand"/>
              </a:rPr>
              <a:t>While the condition is truthy, the code from the loop body is executed.</a:t>
            </a:r>
          </a:p>
          <a:p>
            <a:pPr>
              <a:lnSpc>
                <a:spcPts val="4150"/>
              </a:lnSpc>
            </a:pPr>
            <a:r>
              <a:rPr lang="en-US" sz="2000" dirty="0">
                <a:latin typeface="Antique Olive" panose="020B0603020204030204"/>
                <a:ea typeface="Quicksand"/>
                <a:cs typeface="Quicksand"/>
                <a:sym typeface="Quicksand"/>
              </a:rPr>
              <a:t>For instance, the loop below outputs </a:t>
            </a:r>
            <a:r>
              <a:rPr lang="en-US" sz="2000" dirty="0" err="1">
                <a:latin typeface="Antique Olive" panose="020B0603020204030204"/>
                <a:ea typeface="Quicksand"/>
                <a:cs typeface="Quicksand"/>
                <a:sym typeface="Quicksand"/>
              </a:rPr>
              <a:t>i</a:t>
            </a:r>
            <a:r>
              <a:rPr lang="en-US" sz="2000" dirty="0">
                <a:latin typeface="Antique Olive" panose="020B0603020204030204"/>
                <a:ea typeface="Quicksand"/>
                <a:cs typeface="Quicksand"/>
                <a:sym typeface="Quicksand"/>
              </a:rPr>
              <a:t> while </a:t>
            </a:r>
            <a:r>
              <a:rPr lang="en-US" sz="2000" dirty="0" err="1">
                <a:latin typeface="Antique Olive" panose="020B0603020204030204"/>
                <a:ea typeface="Quicksand"/>
                <a:cs typeface="Quicksand"/>
                <a:sym typeface="Quicksand"/>
              </a:rPr>
              <a:t>i</a:t>
            </a:r>
            <a:r>
              <a:rPr lang="en-US" sz="2000" dirty="0">
                <a:latin typeface="Antique Olive" panose="020B0603020204030204"/>
                <a:ea typeface="Quicksand"/>
                <a:cs typeface="Quicksand"/>
                <a:sym typeface="Quicksand"/>
              </a:rPr>
              <a:t> &lt; 3:</a:t>
            </a:r>
          </a:p>
          <a:p>
            <a:pPr>
              <a:lnSpc>
                <a:spcPts val="4150"/>
              </a:lnSpc>
            </a:pPr>
            <a:r>
              <a:rPr lang="en-US" sz="2000" dirty="0">
                <a:latin typeface="Antique Olive" panose="020B0603020204030204"/>
                <a:ea typeface="Quicksand"/>
                <a:cs typeface="Quicksand"/>
                <a:sym typeface="Quicksand"/>
              </a:rPr>
              <a:t>let </a:t>
            </a:r>
            <a:r>
              <a:rPr lang="en-US" sz="2000" dirty="0" err="1">
                <a:latin typeface="Antique Olive" panose="020B0603020204030204"/>
                <a:ea typeface="Quicksand"/>
                <a:cs typeface="Quicksand"/>
                <a:sym typeface="Quicksand"/>
              </a:rPr>
              <a:t>i</a:t>
            </a:r>
            <a:r>
              <a:rPr lang="en-US" sz="2000" dirty="0">
                <a:latin typeface="Antique Olive" panose="020B0603020204030204"/>
                <a:ea typeface="Quicksand"/>
                <a:cs typeface="Quicksand"/>
                <a:sym typeface="Quicksand"/>
              </a:rPr>
              <a:t> = 0;</a:t>
            </a:r>
          </a:p>
          <a:p>
            <a:pPr>
              <a:lnSpc>
                <a:spcPts val="4150"/>
              </a:lnSpc>
            </a:pPr>
            <a:r>
              <a:rPr lang="en-US" sz="2000" dirty="0">
                <a:latin typeface="Antique Olive" panose="020B0603020204030204"/>
                <a:ea typeface="Quicksand"/>
                <a:cs typeface="Quicksand"/>
                <a:sym typeface="Quicksand"/>
              </a:rPr>
              <a:t>while (</a:t>
            </a:r>
            <a:r>
              <a:rPr lang="en-US" sz="2000" dirty="0" err="1">
                <a:latin typeface="Antique Olive" panose="020B0603020204030204"/>
                <a:ea typeface="Quicksand"/>
                <a:cs typeface="Quicksand"/>
                <a:sym typeface="Quicksand"/>
              </a:rPr>
              <a:t>i</a:t>
            </a:r>
            <a:r>
              <a:rPr lang="en-US" sz="2000" dirty="0">
                <a:latin typeface="Antique Olive" panose="020B0603020204030204"/>
                <a:ea typeface="Quicksand"/>
                <a:cs typeface="Quicksand"/>
                <a:sym typeface="Quicksand"/>
              </a:rPr>
              <a:t> &lt; 3) { // shows 0, then 1, then 2</a:t>
            </a:r>
          </a:p>
          <a:p>
            <a:pPr>
              <a:lnSpc>
                <a:spcPts val="4150"/>
              </a:lnSpc>
            </a:pPr>
            <a:r>
              <a:rPr lang="en-US" sz="2000" dirty="0">
                <a:latin typeface="Antique Olive" panose="020B0603020204030204"/>
                <a:ea typeface="Quicksand"/>
                <a:cs typeface="Quicksand"/>
                <a:sym typeface="Quicksand"/>
              </a:rPr>
              <a:t>alert( </a:t>
            </a:r>
            <a:r>
              <a:rPr lang="en-US" sz="2000" dirty="0" err="1">
                <a:latin typeface="Antique Olive" panose="020B0603020204030204"/>
                <a:ea typeface="Quicksand"/>
                <a:cs typeface="Quicksand"/>
                <a:sym typeface="Quicksand"/>
              </a:rPr>
              <a:t>i</a:t>
            </a:r>
            <a:r>
              <a:rPr lang="en-US" sz="2000" dirty="0">
                <a:latin typeface="Antique Olive" panose="020B0603020204030204"/>
                <a:ea typeface="Quicksand"/>
                <a:cs typeface="Quicksand"/>
                <a:sym typeface="Quicksand"/>
              </a:rPr>
              <a:t> );</a:t>
            </a:r>
          </a:p>
          <a:p>
            <a:pPr>
              <a:lnSpc>
                <a:spcPts val="4150"/>
              </a:lnSpc>
            </a:pPr>
            <a:r>
              <a:rPr lang="en-US" sz="2000" dirty="0">
                <a:latin typeface="Antique Olive" panose="020B0603020204030204"/>
                <a:ea typeface="Quicksand"/>
                <a:cs typeface="Quicksand"/>
                <a:sym typeface="Quicksand"/>
              </a:rPr>
              <a:t>  </a:t>
            </a:r>
            <a:r>
              <a:rPr lang="en-US" sz="2000" dirty="0" err="1">
                <a:latin typeface="Antique Olive" panose="020B0603020204030204"/>
                <a:ea typeface="Quicksand"/>
                <a:cs typeface="Quicksand"/>
                <a:sym typeface="Quicksand"/>
              </a:rPr>
              <a:t>i</a:t>
            </a:r>
            <a:r>
              <a:rPr lang="en-US" sz="2000" dirty="0">
                <a:latin typeface="Antique Olive" panose="020B0603020204030204"/>
                <a:ea typeface="Quicksand"/>
                <a:cs typeface="Quicksand"/>
                <a:sym typeface="Quicksand"/>
              </a:rPr>
              <a:t>++;}</a:t>
            </a: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p:txBody>
      </p:sp>
      <p:sp>
        <p:nvSpPr>
          <p:cNvPr id="3" name="TextBox 3"/>
          <p:cNvSpPr txBox="1"/>
          <p:nvPr/>
        </p:nvSpPr>
        <p:spPr>
          <a:xfrm>
            <a:off x="4441014" y="264926"/>
            <a:ext cx="1569170" cy="3009991"/>
          </a:xfrm>
          <a:prstGeom prst="rect">
            <a:avLst/>
          </a:prstGeom>
        </p:spPr>
        <p:txBody>
          <a:bodyPr wrap="square" lIns="0" tIns="0" rIns="0" bIns="0" rtlCol="0" anchor="t">
            <a:spAutoFit/>
          </a:bodyPr>
          <a:lstStyle/>
          <a:p>
            <a:pPr algn="just">
              <a:lnSpc>
                <a:spcPts val="5973"/>
              </a:lnSpc>
            </a:pPr>
            <a:r>
              <a:rPr lang="en-US" sz="4000" b="1" dirty="0">
                <a:latin typeface="Antique Olive" panose="020B0603020204030204"/>
                <a:ea typeface="Cormorant Garamond"/>
                <a:cs typeface="Cormorant Garamond"/>
                <a:sym typeface="Cormorant Garamond"/>
              </a:rPr>
              <a:t>Loops</a:t>
            </a:r>
          </a:p>
          <a:p>
            <a:pPr algn="just">
              <a:lnSpc>
                <a:spcPts val="5973"/>
              </a:lnSpc>
            </a:pPr>
            <a:endParaRPr lang="en-US" sz="4266" dirty="0">
              <a:solidFill>
                <a:srgbClr val="0F4662"/>
              </a:solidFill>
              <a:latin typeface="Cormorant Garamond"/>
              <a:ea typeface="Cormorant Garamond"/>
              <a:cs typeface="Cormorant Garamond"/>
              <a:sym typeface="Cormorant Garamond"/>
            </a:endParaRPr>
          </a:p>
          <a:p>
            <a:pPr algn="just">
              <a:lnSpc>
                <a:spcPts val="5973"/>
              </a:lnSpc>
            </a:pPr>
            <a:endParaRPr lang="en-US" sz="4266" dirty="0">
              <a:solidFill>
                <a:srgbClr val="0F4662"/>
              </a:solidFill>
              <a:latin typeface="Cormorant Garamond"/>
              <a:ea typeface="Cormorant Garamond"/>
              <a:cs typeface="Cormorant Garamond"/>
              <a:sym typeface="Cormorant Garamond"/>
            </a:endParaRPr>
          </a:p>
          <a:p>
            <a:pPr algn="just">
              <a:lnSpc>
                <a:spcPts val="5973"/>
              </a:lnSpc>
              <a:spcBef>
                <a:spcPct val="0"/>
              </a:spcBef>
            </a:pPr>
            <a:endParaRPr lang="en-US" sz="4266" dirty="0">
              <a:solidFill>
                <a:srgbClr val="0F4662"/>
              </a:solidFill>
              <a:latin typeface="Cormorant Garamond"/>
              <a:ea typeface="Cormorant Garamond"/>
              <a:cs typeface="Cormorant Garamond"/>
              <a:sym typeface="Cormorant Garamond"/>
            </a:endParaRPr>
          </a:p>
        </p:txBody>
      </p:sp>
    </p:spTree>
    <p:extLst>
      <p:ext uri="{BB962C8B-B14F-4D97-AF65-F5344CB8AC3E}">
        <p14:creationId xmlns:p14="http://schemas.microsoft.com/office/powerpoint/2010/main" val="103718050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1210696"/>
            <a:ext cx="11287478" cy="5872698"/>
          </a:xfrm>
          <a:prstGeom prst="rect">
            <a:avLst/>
          </a:prstGeom>
        </p:spPr>
        <p:txBody>
          <a:bodyPr lIns="0" tIns="0" rIns="0" bIns="0" rtlCol="0" anchor="t">
            <a:spAutoFit/>
          </a:bodyPr>
          <a:lstStyle/>
          <a:p>
            <a:pPr>
              <a:lnSpc>
                <a:spcPts val="4150"/>
              </a:lnSpc>
            </a:pPr>
            <a:r>
              <a:rPr lang="en-US" sz="2441" u="sng" dirty="0">
                <a:latin typeface="Quicksand"/>
                <a:ea typeface="Quicksand"/>
                <a:cs typeface="Quicksand"/>
                <a:sym typeface="Quicksand"/>
                <a:hlinkClick r:id="rId2" tooltip="https://javascript.info/while-for#the-do-while-loop">
                  <a:extLst>
                    <a:ext uri="{A12FA001-AC4F-418D-AE19-62706E023703}">
                      <ahyp:hlinkClr xmlns:ahyp="http://schemas.microsoft.com/office/drawing/2018/hyperlinkcolor" val="tx"/>
                    </a:ext>
                  </a:extLst>
                </a:hlinkClick>
              </a:rPr>
              <a:t>The “do…while” loop</a:t>
            </a:r>
          </a:p>
          <a:p>
            <a:pPr>
              <a:lnSpc>
                <a:spcPts val="4150"/>
              </a:lnSpc>
            </a:pPr>
            <a:r>
              <a:rPr lang="en-US" sz="2441" dirty="0">
                <a:latin typeface="Quicksand"/>
                <a:ea typeface="Quicksand"/>
                <a:cs typeface="Quicksand"/>
                <a:sym typeface="Quicksand"/>
              </a:rPr>
              <a:t>The condition check can be moved below the loop body using the </a:t>
            </a:r>
            <a:r>
              <a:rPr lang="en-US" sz="2441" dirty="0" err="1">
                <a:latin typeface="Quicksand"/>
                <a:ea typeface="Quicksand"/>
                <a:cs typeface="Quicksand"/>
                <a:sym typeface="Quicksand"/>
              </a:rPr>
              <a:t>do..while</a:t>
            </a:r>
            <a:r>
              <a:rPr lang="en-US" sz="2441" dirty="0">
                <a:latin typeface="Quicksand"/>
                <a:ea typeface="Quicksand"/>
                <a:cs typeface="Quicksand"/>
                <a:sym typeface="Quicksand"/>
              </a:rPr>
              <a:t> syntax:</a:t>
            </a:r>
          </a:p>
          <a:p>
            <a:pPr algn="ctr">
              <a:lnSpc>
                <a:spcPts val="4150"/>
              </a:lnSpc>
            </a:pPr>
            <a:r>
              <a:rPr lang="en-US" sz="2441" dirty="0">
                <a:latin typeface="Quicksand"/>
                <a:ea typeface="Quicksand"/>
                <a:cs typeface="Quicksand"/>
                <a:sym typeface="Quicksand"/>
              </a:rPr>
              <a:t>do {// loop body} while (condition);</a:t>
            </a:r>
          </a:p>
          <a:p>
            <a:pPr>
              <a:lnSpc>
                <a:spcPts val="4150"/>
              </a:lnSpc>
            </a:pPr>
            <a:r>
              <a:rPr lang="en-US" sz="2441" dirty="0">
                <a:latin typeface="Quicksand"/>
                <a:ea typeface="Quicksand"/>
                <a:cs typeface="Quicksand"/>
                <a:sym typeface="Quicksand"/>
              </a:rPr>
              <a:t>The loop will first execute the body, then check the condition, and, while it’s truthy, execute it again and again.</a:t>
            </a:r>
          </a:p>
          <a:p>
            <a:pPr>
              <a:lnSpc>
                <a:spcPts val="4150"/>
              </a:lnSpc>
            </a:pPr>
            <a:r>
              <a:rPr lang="en-US" sz="2441" b="1" dirty="0">
                <a:latin typeface="Quicksand Bold"/>
                <a:ea typeface="Quicksand Bold"/>
                <a:cs typeface="Quicksand Bold"/>
                <a:sym typeface="Quicksand Bold"/>
              </a:rPr>
              <a:t>For example:</a:t>
            </a:r>
          </a:p>
          <a:p>
            <a:pPr>
              <a:lnSpc>
                <a:spcPts val="4150"/>
              </a:lnSpc>
            </a:pPr>
            <a:r>
              <a:rPr lang="en-US" sz="2441" dirty="0">
                <a:latin typeface="Quicksand"/>
                <a:ea typeface="Quicksand"/>
                <a:cs typeface="Quicksand"/>
                <a:sym typeface="Quicksand"/>
              </a:rPr>
              <a:t>let </a:t>
            </a:r>
            <a:r>
              <a:rPr lang="en-US" sz="2441" dirty="0" err="1">
                <a:latin typeface="Quicksand"/>
                <a:ea typeface="Quicksand"/>
                <a:cs typeface="Quicksand"/>
                <a:sym typeface="Quicksand"/>
              </a:rPr>
              <a:t>i</a:t>
            </a:r>
            <a:r>
              <a:rPr lang="en-US" sz="2441" dirty="0">
                <a:latin typeface="Quicksand"/>
                <a:ea typeface="Quicksand"/>
                <a:cs typeface="Quicksand"/>
                <a:sym typeface="Quicksand"/>
              </a:rPr>
              <a:t> = 0;</a:t>
            </a:r>
          </a:p>
          <a:p>
            <a:pPr>
              <a:lnSpc>
                <a:spcPts val="4150"/>
              </a:lnSpc>
            </a:pPr>
            <a:r>
              <a:rPr lang="en-US" sz="2441" dirty="0">
                <a:latin typeface="Quicksand"/>
                <a:ea typeface="Quicksand"/>
                <a:cs typeface="Quicksand"/>
                <a:sym typeface="Quicksand"/>
              </a:rPr>
              <a:t>do {</a:t>
            </a:r>
          </a:p>
          <a:p>
            <a:pPr>
              <a:lnSpc>
                <a:spcPts val="4150"/>
              </a:lnSpc>
            </a:pPr>
            <a:r>
              <a:rPr lang="en-US" sz="2441" dirty="0">
                <a:latin typeface="Quicksand"/>
                <a:ea typeface="Quicksand"/>
                <a:cs typeface="Quicksand"/>
                <a:sym typeface="Quicksand"/>
              </a:rPr>
              <a:t>alert( </a:t>
            </a:r>
            <a:r>
              <a:rPr lang="en-US" sz="2441" dirty="0" err="1">
                <a:latin typeface="Quicksand"/>
                <a:ea typeface="Quicksand"/>
                <a:cs typeface="Quicksand"/>
                <a:sym typeface="Quicksand"/>
              </a:rPr>
              <a:t>i</a:t>
            </a:r>
            <a:r>
              <a:rPr lang="en-US" sz="2441" dirty="0">
                <a:latin typeface="Quicksand"/>
                <a:ea typeface="Quicksand"/>
                <a:cs typeface="Quicksand"/>
                <a:sym typeface="Quicksand"/>
              </a:rPr>
              <a:t> );</a:t>
            </a:r>
          </a:p>
          <a:p>
            <a:pPr>
              <a:lnSpc>
                <a:spcPts val="4150"/>
              </a:lnSpc>
            </a:pPr>
            <a:r>
              <a:rPr lang="en-US" sz="2441" dirty="0">
                <a:latin typeface="Quicksand"/>
                <a:ea typeface="Quicksand"/>
                <a:cs typeface="Quicksand"/>
                <a:sym typeface="Quicksand"/>
              </a:rPr>
              <a:t>  </a:t>
            </a:r>
            <a:r>
              <a:rPr lang="en-US" sz="2441" dirty="0" err="1">
                <a:latin typeface="Quicksand"/>
                <a:ea typeface="Quicksand"/>
                <a:cs typeface="Quicksand"/>
                <a:sym typeface="Quicksand"/>
              </a:rPr>
              <a:t>i</a:t>
            </a:r>
            <a:r>
              <a:rPr lang="en-US" sz="2441" dirty="0">
                <a:latin typeface="Quicksand"/>
                <a:ea typeface="Quicksand"/>
                <a:cs typeface="Quicksand"/>
                <a:sym typeface="Quicksand"/>
              </a:rPr>
              <a:t>++;} while (</a:t>
            </a:r>
            <a:r>
              <a:rPr lang="en-US" sz="2441" dirty="0" err="1">
                <a:latin typeface="Quicksand"/>
                <a:ea typeface="Quicksand"/>
                <a:cs typeface="Quicksand"/>
                <a:sym typeface="Quicksand"/>
              </a:rPr>
              <a:t>i</a:t>
            </a:r>
            <a:r>
              <a:rPr lang="en-US" sz="2441" dirty="0">
                <a:latin typeface="Quicksand"/>
                <a:ea typeface="Quicksand"/>
                <a:cs typeface="Quicksand"/>
                <a:sym typeface="Quicksand"/>
              </a:rPr>
              <a:t> &lt; 3);</a:t>
            </a:r>
          </a:p>
          <a:p>
            <a:pPr>
              <a:lnSpc>
                <a:spcPts val="4150"/>
              </a:lnSpc>
            </a:pPr>
            <a:endParaRPr lang="en-US" sz="2441" dirty="0">
              <a:latin typeface="Quicksand"/>
              <a:ea typeface="Quicksand"/>
              <a:cs typeface="Quicksand"/>
              <a:sym typeface="Quicksand"/>
            </a:endParaRPr>
          </a:p>
        </p:txBody>
      </p:sp>
      <p:sp>
        <p:nvSpPr>
          <p:cNvPr id="3" name="TextBox 3"/>
          <p:cNvSpPr txBox="1"/>
          <p:nvPr/>
        </p:nvSpPr>
        <p:spPr>
          <a:xfrm>
            <a:off x="4441013" y="264925"/>
            <a:ext cx="7532265" cy="2240550"/>
          </a:xfrm>
          <a:prstGeom prst="rect">
            <a:avLst/>
          </a:prstGeom>
        </p:spPr>
        <p:txBody>
          <a:bodyPr lIns="0" tIns="0" rIns="0" bIns="0" rtlCol="0" anchor="t">
            <a:spAutoFit/>
          </a:bodyPr>
          <a:lstStyle/>
          <a:p>
            <a:pPr algn="just">
              <a:lnSpc>
                <a:spcPts val="5973"/>
              </a:lnSpc>
            </a:pPr>
            <a:r>
              <a:rPr lang="en-US" sz="4000" b="1" dirty="0">
                <a:latin typeface="Antique Olive" panose="020B0603020204030204"/>
                <a:ea typeface="Cormorant Garamond"/>
                <a:cs typeface="Cormorant Garamond"/>
                <a:sym typeface="Cormorant Garamond"/>
              </a:rPr>
              <a:t>Loops</a:t>
            </a:r>
            <a:endParaRPr lang="en-US" sz="4000" dirty="0">
              <a:solidFill>
                <a:srgbClr val="0F4662"/>
              </a:solidFill>
              <a:latin typeface="Cormorant Garamond"/>
              <a:ea typeface="Cormorant Garamond"/>
              <a:cs typeface="Cormorant Garamond"/>
              <a:sym typeface="Cormorant Garamond"/>
            </a:endParaRPr>
          </a:p>
          <a:p>
            <a:pPr algn="just">
              <a:lnSpc>
                <a:spcPts val="5973"/>
              </a:lnSpc>
            </a:pPr>
            <a:endParaRPr lang="en-US" sz="4266" dirty="0">
              <a:solidFill>
                <a:srgbClr val="0F4662"/>
              </a:solidFill>
              <a:latin typeface="Cormorant Garamond"/>
              <a:ea typeface="Cormorant Garamond"/>
              <a:cs typeface="Cormorant Garamond"/>
              <a:sym typeface="Cormorant Garamond"/>
            </a:endParaRPr>
          </a:p>
          <a:p>
            <a:pPr algn="just">
              <a:lnSpc>
                <a:spcPts val="5973"/>
              </a:lnSpc>
              <a:spcBef>
                <a:spcPct val="0"/>
              </a:spcBef>
            </a:pPr>
            <a:endParaRPr lang="en-US" sz="4266" dirty="0">
              <a:solidFill>
                <a:srgbClr val="0F4662"/>
              </a:solidFill>
              <a:latin typeface="Cormorant Garamond"/>
              <a:ea typeface="Cormorant Garamond"/>
              <a:cs typeface="Cormorant Garamond"/>
              <a:sym typeface="Cormorant Garamond"/>
            </a:endParaRPr>
          </a:p>
        </p:txBody>
      </p:sp>
    </p:spTree>
    <p:extLst>
      <p:ext uri="{BB962C8B-B14F-4D97-AF65-F5344CB8AC3E}">
        <p14:creationId xmlns:p14="http://schemas.microsoft.com/office/powerpoint/2010/main" val="1733627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1210695"/>
            <a:ext cx="8848817" cy="5322739"/>
          </a:xfrm>
          <a:prstGeom prst="rect">
            <a:avLst/>
          </a:prstGeom>
        </p:spPr>
        <p:txBody>
          <a:bodyPr wrap="square" lIns="0" tIns="0" rIns="0" bIns="0" rtlCol="0" anchor="t">
            <a:spAutoFit/>
          </a:bodyPr>
          <a:lstStyle/>
          <a:p>
            <a:pPr>
              <a:lnSpc>
                <a:spcPts val="4150"/>
              </a:lnSpc>
            </a:pPr>
            <a:r>
              <a:rPr lang="en-US" sz="2000" u="sng" dirty="0">
                <a:latin typeface="Antique Olive" panose="020B0603020204030204"/>
                <a:ea typeface="Quicksand"/>
                <a:cs typeface="Quicksand"/>
                <a:sym typeface="Quicksand"/>
              </a:rPr>
              <a:t>The “for” loop</a:t>
            </a:r>
          </a:p>
          <a:p>
            <a:pPr>
              <a:lnSpc>
                <a:spcPts val="4150"/>
              </a:lnSpc>
            </a:pPr>
            <a:r>
              <a:rPr lang="en-US" sz="2000" dirty="0">
                <a:latin typeface="Antique Olive" panose="020B0603020204030204"/>
                <a:ea typeface="Quicksand"/>
                <a:cs typeface="Quicksand"/>
                <a:sym typeface="Quicksand"/>
              </a:rPr>
              <a:t>The for loop is more complex, but it’s also the most commonly used loop.</a:t>
            </a:r>
          </a:p>
          <a:p>
            <a:pPr>
              <a:lnSpc>
                <a:spcPts val="4150"/>
              </a:lnSpc>
            </a:pPr>
            <a:r>
              <a:rPr lang="en-US" sz="2000" dirty="0">
                <a:latin typeface="Antique Olive" panose="020B0603020204030204"/>
                <a:ea typeface="Quicksand"/>
                <a:cs typeface="Quicksand"/>
                <a:sym typeface="Quicksand"/>
              </a:rPr>
              <a:t>It looks like this:</a:t>
            </a:r>
          </a:p>
          <a:p>
            <a:pPr algn="ctr">
              <a:lnSpc>
                <a:spcPts val="4150"/>
              </a:lnSpc>
            </a:pPr>
            <a:r>
              <a:rPr lang="en-US" sz="2000" dirty="0">
                <a:latin typeface="Antique Olive" panose="020B0603020204030204"/>
                <a:ea typeface="Quicksand"/>
                <a:cs typeface="Quicksand"/>
                <a:sym typeface="Quicksand"/>
              </a:rPr>
              <a:t>for (begin; condition; step) {// ... loop body ...}</a:t>
            </a:r>
          </a:p>
          <a:p>
            <a:pPr>
              <a:lnSpc>
                <a:spcPts val="4150"/>
              </a:lnSpc>
            </a:pPr>
            <a:r>
              <a:rPr lang="en-US" sz="2000" dirty="0">
                <a:latin typeface="Antique Olive" panose="020B0603020204030204"/>
                <a:ea typeface="Quicksand"/>
                <a:cs typeface="Quicksand"/>
                <a:sym typeface="Quicksand"/>
              </a:rPr>
              <a:t>Let’s learn t</a:t>
            </a:r>
            <a:r>
              <a:rPr lang="en-US" sz="2000" dirty="0">
                <a:solidFill>
                  <a:srgbClr val="000000"/>
                </a:solidFill>
                <a:latin typeface="Antique Olive" panose="020B0603020204030204"/>
                <a:ea typeface="Quicksand"/>
                <a:cs typeface="Quicksand"/>
                <a:sym typeface="Quicksand"/>
              </a:rPr>
              <a:t>he meaning of these parts by example. The loop below runs alert(</a:t>
            </a:r>
            <a:r>
              <a:rPr lang="en-US" sz="2000" dirty="0" err="1">
                <a:solidFill>
                  <a:srgbClr val="000000"/>
                </a:solidFill>
                <a:latin typeface="Antique Olive" panose="020B0603020204030204"/>
                <a:ea typeface="Quicksand"/>
                <a:cs typeface="Quicksand"/>
                <a:sym typeface="Quicksand"/>
              </a:rPr>
              <a:t>i</a:t>
            </a:r>
            <a:r>
              <a:rPr lang="en-US" sz="2000" dirty="0">
                <a:solidFill>
                  <a:srgbClr val="000000"/>
                </a:solidFill>
                <a:latin typeface="Antique Olive" panose="020B0603020204030204"/>
                <a:ea typeface="Quicksand"/>
                <a:cs typeface="Quicksand"/>
                <a:sym typeface="Quicksand"/>
              </a:rPr>
              <a:t>) for </a:t>
            </a:r>
            <a:r>
              <a:rPr lang="en-US" sz="2000" dirty="0" err="1">
                <a:solidFill>
                  <a:srgbClr val="000000"/>
                </a:solidFill>
                <a:latin typeface="Antique Olive" panose="020B0603020204030204"/>
                <a:ea typeface="Quicksand"/>
                <a:cs typeface="Quicksand"/>
                <a:sym typeface="Quicksand"/>
              </a:rPr>
              <a:t>i</a:t>
            </a:r>
            <a:r>
              <a:rPr lang="en-US" sz="2000" dirty="0">
                <a:latin typeface="Antique Olive" panose="020B0603020204030204"/>
                <a:ea typeface="Quicksand"/>
                <a:cs typeface="Quicksand"/>
                <a:sym typeface="Quicksand"/>
              </a:rPr>
              <a:t> from 0 up to (but not including) 3:</a:t>
            </a:r>
          </a:p>
          <a:p>
            <a:pPr>
              <a:lnSpc>
                <a:spcPts val="4150"/>
              </a:lnSpc>
            </a:pPr>
            <a:r>
              <a:rPr lang="en-US" sz="2000" dirty="0">
                <a:latin typeface="Antique Olive" panose="020B0603020204030204"/>
                <a:ea typeface="Quicksand"/>
                <a:cs typeface="Quicksand"/>
                <a:sym typeface="Quicksand"/>
              </a:rPr>
              <a:t>for </a:t>
            </a:r>
            <a:r>
              <a:rPr lang="en-US" sz="2000" dirty="0">
                <a:solidFill>
                  <a:srgbClr val="000000"/>
                </a:solidFill>
                <a:latin typeface="Antique Olive" panose="020B0603020204030204"/>
                <a:ea typeface="Quicksand"/>
                <a:cs typeface="Quicksand"/>
                <a:sym typeface="Quicksand"/>
              </a:rPr>
              <a:t>(let </a:t>
            </a:r>
            <a:r>
              <a:rPr lang="en-US" sz="2000" dirty="0" err="1">
                <a:solidFill>
                  <a:srgbClr val="000000"/>
                </a:solidFill>
                <a:latin typeface="Antique Olive" panose="020B0603020204030204"/>
                <a:ea typeface="Quicksand"/>
                <a:cs typeface="Quicksand"/>
                <a:sym typeface="Quicksand"/>
              </a:rPr>
              <a:t>i</a:t>
            </a:r>
            <a:r>
              <a:rPr lang="en-US" sz="2000" dirty="0">
                <a:solidFill>
                  <a:srgbClr val="000000"/>
                </a:solidFill>
                <a:latin typeface="Antique Olive" panose="020B0603020204030204"/>
                <a:ea typeface="Quicksand"/>
                <a:cs typeface="Quicksand"/>
                <a:sym typeface="Quicksand"/>
              </a:rPr>
              <a:t> = 0; </a:t>
            </a:r>
            <a:r>
              <a:rPr lang="en-US" sz="2000" dirty="0" err="1">
                <a:solidFill>
                  <a:srgbClr val="000000"/>
                </a:solidFill>
                <a:latin typeface="Antique Olive" panose="020B0603020204030204"/>
                <a:ea typeface="Quicksand"/>
                <a:cs typeface="Quicksand"/>
                <a:sym typeface="Quicksand"/>
              </a:rPr>
              <a:t>i</a:t>
            </a:r>
            <a:r>
              <a:rPr lang="en-US" sz="2000" dirty="0">
                <a:solidFill>
                  <a:srgbClr val="000000"/>
                </a:solidFill>
                <a:latin typeface="Antique Olive" panose="020B0603020204030204"/>
                <a:ea typeface="Quicksand"/>
                <a:cs typeface="Quicksand"/>
                <a:sym typeface="Quicksand"/>
              </a:rPr>
              <a:t> &lt; 3; </a:t>
            </a:r>
            <a:r>
              <a:rPr lang="en-US" sz="2000" dirty="0" err="1">
                <a:solidFill>
                  <a:srgbClr val="000000"/>
                </a:solidFill>
                <a:latin typeface="Antique Olive" panose="020B0603020204030204"/>
                <a:ea typeface="Quicksand"/>
                <a:cs typeface="Quicksand"/>
                <a:sym typeface="Quicksand"/>
              </a:rPr>
              <a:t>i</a:t>
            </a:r>
            <a:r>
              <a:rPr lang="en-US" sz="2000" dirty="0">
                <a:latin typeface="Antique Olive" panose="020B0603020204030204"/>
                <a:ea typeface="Quicksand"/>
                <a:cs typeface="Quicksand"/>
                <a:sym typeface="Quicksand"/>
              </a:rPr>
              <a:t>++) </a:t>
            </a:r>
          </a:p>
          <a:p>
            <a:pPr>
              <a:lnSpc>
                <a:spcPts val="4150"/>
              </a:lnSpc>
            </a:pPr>
            <a:r>
              <a:rPr lang="en-US" sz="2000" dirty="0">
                <a:latin typeface="Antique Olive" panose="020B0603020204030204"/>
                <a:ea typeface="Quicksand"/>
                <a:cs typeface="Quicksand"/>
                <a:sym typeface="Quicksand"/>
              </a:rPr>
              <a:t>{ // shows 0, then 1, then 2</a:t>
            </a:r>
          </a:p>
          <a:p>
            <a:pPr>
              <a:lnSpc>
                <a:spcPts val="4150"/>
              </a:lnSpc>
            </a:pPr>
            <a:r>
              <a:rPr lang="en-US" sz="2000" dirty="0">
                <a:solidFill>
                  <a:srgbClr val="000000"/>
                </a:solidFill>
                <a:latin typeface="Antique Olive" panose="020B0603020204030204"/>
                <a:ea typeface="Quicksand"/>
                <a:cs typeface="Quicksand"/>
                <a:sym typeface="Quicksand"/>
              </a:rPr>
              <a:t>alert(</a:t>
            </a:r>
            <a:r>
              <a:rPr lang="en-US" sz="2000" dirty="0" err="1">
                <a:solidFill>
                  <a:srgbClr val="000000"/>
                </a:solidFill>
                <a:latin typeface="Antique Olive" panose="020B0603020204030204"/>
                <a:ea typeface="Quicksand"/>
                <a:cs typeface="Quicksand"/>
                <a:sym typeface="Quicksand"/>
              </a:rPr>
              <a:t>i</a:t>
            </a:r>
            <a:r>
              <a:rPr lang="en-US" sz="2000" dirty="0">
                <a:latin typeface="Antique Olive" panose="020B0603020204030204"/>
                <a:ea typeface="Quicksand"/>
                <a:cs typeface="Quicksand"/>
                <a:sym typeface="Quicksand"/>
              </a:rPr>
              <a:t>);}</a:t>
            </a:r>
            <a:endParaRPr lang="en-US" sz="2000" dirty="0">
              <a:latin typeface="Antique Olive" panose="020B0603020204030204"/>
              <a:ea typeface="Quicksand"/>
              <a:cs typeface="Quicksand"/>
              <a:sym typeface="Quicksand"/>
              <a:hlinkClick r:id="rId2" tooltip="https://javascript.info/while-for#the-do-while-loop">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while-for#the-do-while-loop">
                <a:extLst>
                  <a:ext uri="{A12FA001-AC4F-418D-AE19-62706E023703}">
                    <ahyp:hlinkClr xmlns:ahyp="http://schemas.microsoft.com/office/drawing/2018/hyperlinkcolor" val="tx"/>
                  </a:ext>
                </a:extLst>
              </a:hlinkClick>
            </a:endParaRPr>
          </a:p>
        </p:txBody>
      </p:sp>
      <p:sp>
        <p:nvSpPr>
          <p:cNvPr id="3" name="TextBox 3"/>
          <p:cNvSpPr txBox="1"/>
          <p:nvPr/>
        </p:nvSpPr>
        <p:spPr>
          <a:xfrm>
            <a:off x="4441013" y="264925"/>
            <a:ext cx="7532265" cy="3009991"/>
          </a:xfrm>
          <a:prstGeom prst="rect">
            <a:avLst/>
          </a:prstGeom>
        </p:spPr>
        <p:txBody>
          <a:bodyPr lIns="0" tIns="0" rIns="0" bIns="0" rtlCol="0" anchor="t">
            <a:spAutoFit/>
          </a:bodyPr>
          <a:lstStyle/>
          <a:p>
            <a:pPr algn="just">
              <a:lnSpc>
                <a:spcPts val="5973"/>
              </a:lnSpc>
            </a:pPr>
            <a:r>
              <a:rPr lang="en-US" sz="4400" b="1" dirty="0">
                <a:latin typeface="Antique Olive" panose="020B0603020204030204"/>
                <a:ea typeface="Cormorant Garamond"/>
                <a:cs typeface="Cormorant Garamond"/>
                <a:sym typeface="Cormorant Garamond"/>
              </a:rPr>
              <a:t>Loops</a:t>
            </a:r>
            <a:endParaRPr lang="en-US" sz="4266" dirty="0">
              <a:solidFill>
                <a:srgbClr val="0F4662"/>
              </a:solidFill>
              <a:latin typeface="Cormorant Garamond"/>
              <a:ea typeface="Cormorant Garamond"/>
              <a:cs typeface="Cormorant Garamond"/>
              <a:sym typeface="Cormorant Garamond"/>
            </a:endParaRPr>
          </a:p>
          <a:p>
            <a:pPr algn="just">
              <a:lnSpc>
                <a:spcPts val="5973"/>
              </a:lnSpc>
            </a:pPr>
            <a:endParaRPr lang="en-US" sz="4266" dirty="0">
              <a:solidFill>
                <a:srgbClr val="0F4662"/>
              </a:solidFill>
              <a:latin typeface="Cormorant Garamond"/>
              <a:ea typeface="Cormorant Garamond"/>
              <a:cs typeface="Cormorant Garamond"/>
              <a:sym typeface="Cormorant Garamond"/>
            </a:endParaRPr>
          </a:p>
          <a:p>
            <a:pPr algn="just">
              <a:lnSpc>
                <a:spcPts val="5973"/>
              </a:lnSpc>
            </a:pPr>
            <a:endParaRPr lang="en-US" sz="4266" dirty="0">
              <a:solidFill>
                <a:srgbClr val="0F4662"/>
              </a:solidFill>
              <a:latin typeface="Cormorant Garamond"/>
              <a:ea typeface="Cormorant Garamond"/>
              <a:cs typeface="Cormorant Garamond"/>
              <a:sym typeface="Cormorant Garamond"/>
            </a:endParaRPr>
          </a:p>
          <a:p>
            <a:pPr algn="just">
              <a:lnSpc>
                <a:spcPts val="5973"/>
              </a:lnSpc>
              <a:spcBef>
                <a:spcPct val="0"/>
              </a:spcBef>
            </a:pPr>
            <a:endParaRPr lang="en-US" sz="4266" dirty="0">
              <a:solidFill>
                <a:srgbClr val="0F4662"/>
              </a:solidFill>
              <a:latin typeface="Cormorant Garamond"/>
              <a:ea typeface="Cormorant Garamond"/>
              <a:cs typeface="Cormorant Garamond"/>
              <a:sym typeface="Cormorant Garamond"/>
            </a:endParaRPr>
          </a:p>
        </p:txBody>
      </p:sp>
    </p:spTree>
    <p:extLst>
      <p:ext uri="{BB962C8B-B14F-4D97-AF65-F5344CB8AC3E}">
        <p14:creationId xmlns:p14="http://schemas.microsoft.com/office/powerpoint/2010/main" val="203583851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1210696"/>
            <a:ext cx="11287478" cy="3168303"/>
          </a:xfrm>
          <a:prstGeom prst="rect">
            <a:avLst/>
          </a:prstGeom>
        </p:spPr>
        <p:txBody>
          <a:bodyPr lIns="0" tIns="0" rIns="0" bIns="0" rtlCol="0" anchor="t">
            <a:spAutoFit/>
          </a:bodyPr>
          <a:lstStyle/>
          <a:p>
            <a:pPr>
              <a:lnSpc>
                <a:spcPts val="4150"/>
              </a:lnSpc>
            </a:pPr>
            <a:r>
              <a:rPr lang="en-US" sz="2000" u="sng" dirty="0">
                <a:latin typeface="Antique Olive" panose="020B0603020204030204"/>
                <a:ea typeface="Quicksand"/>
                <a:cs typeface="Quicksand"/>
                <a:sym typeface="Quicksand"/>
              </a:rPr>
              <a:t>The “for” loop</a:t>
            </a:r>
          </a:p>
          <a:p>
            <a:pPr>
              <a:lnSpc>
                <a:spcPts val="4150"/>
              </a:lnSpc>
            </a:pPr>
            <a:r>
              <a:rPr lang="en-US" sz="2000" dirty="0">
                <a:latin typeface="Antique Olive" panose="020B0603020204030204"/>
                <a:ea typeface="Quicksand"/>
                <a:cs typeface="Quicksand"/>
                <a:sym typeface="Quicksand"/>
              </a:rPr>
              <a:t>for (let </a:t>
            </a:r>
            <a:r>
              <a:rPr lang="en-US" sz="2000" dirty="0" err="1">
                <a:latin typeface="Antique Olive" panose="020B0603020204030204"/>
                <a:ea typeface="Quicksand"/>
                <a:cs typeface="Quicksand"/>
                <a:sym typeface="Quicksand"/>
              </a:rPr>
              <a:t>i</a:t>
            </a:r>
            <a:r>
              <a:rPr lang="en-US" sz="2000" dirty="0">
                <a:latin typeface="Antique Olive" panose="020B0603020204030204"/>
                <a:ea typeface="Quicksand"/>
                <a:cs typeface="Quicksand"/>
                <a:sym typeface="Quicksand"/>
              </a:rPr>
              <a:t> = 0; </a:t>
            </a:r>
            <a:r>
              <a:rPr lang="en-US" sz="2000" dirty="0" err="1">
                <a:latin typeface="Antique Olive" panose="020B0603020204030204"/>
                <a:ea typeface="Quicksand"/>
                <a:cs typeface="Quicksand"/>
                <a:sym typeface="Quicksand"/>
              </a:rPr>
              <a:t>i</a:t>
            </a:r>
            <a:r>
              <a:rPr lang="en-US" sz="2000" dirty="0">
                <a:latin typeface="Antique Olive" panose="020B0603020204030204"/>
                <a:ea typeface="Quicksand"/>
                <a:cs typeface="Quicksand"/>
                <a:sym typeface="Quicksand"/>
              </a:rPr>
              <a:t> &lt; 3; </a:t>
            </a:r>
            <a:r>
              <a:rPr lang="en-US" sz="2000" dirty="0" err="1">
                <a:latin typeface="Antique Olive" panose="020B0603020204030204"/>
                <a:ea typeface="Quicksand"/>
                <a:cs typeface="Quicksand"/>
                <a:sym typeface="Quicksand"/>
              </a:rPr>
              <a:t>i</a:t>
            </a:r>
            <a:r>
              <a:rPr lang="en-US" sz="2000" dirty="0">
                <a:latin typeface="Antique Olive" panose="020B0603020204030204"/>
                <a:ea typeface="Quicksand"/>
                <a:cs typeface="Quicksand"/>
                <a:sym typeface="Quicksand"/>
              </a:rPr>
              <a:t>++) </a:t>
            </a:r>
          </a:p>
          <a:p>
            <a:pPr>
              <a:lnSpc>
                <a:spcPts val="4150"/>
              </a:lnSpc>
            </a:pPr>
            <a:r>
              <a:rPr lang="en-US" sz="2000" dirty="0">
                <a:latin typeface="Antique Olive" panose="020B0603020204030204"/>
                <a:ea typeface="Quicksand"/>
                <a:cs typeface="Quicksand"/>
                <a:sym typeface="Quicksand"/>
              </a:rPr>
              <a:t>{ // shows 0, then 1, then 2</a:t>
            </a:r>
          </a:p>
          <a:p>
            <a:pPr>
              <a:lnSpc>
                <a:spcPts val="4150"/>
              </a:lnSpc>
            </a:pPr>
            <a:r>
              <a:rPr lang="en-US" sz="2000" dirty="0">
                <a:latin typeface="Antique Olive" panose="020B0603020204030204"/>
                <a:ea typeface="Quicksand"/>
                <a:cs typeface="Quicksand"/>
                <a:sym typeface="Quicksand"/>
              </a:rPr>
              <a:t>alert(</a:t>
            </a:r>
            <a:r>
              <a:rPr lang="en-US" sz="2000" dirty="0" err="1">
                <a:latin typeface="Antique Olive" panose="020B0603020204030204"/>
                <a:ea typeface="Quicksand"/>
                <a:cs typeface="Quicksand"/>
                <a:sym typeface="Quicksand"/>
              </a:rPr>
              <a:t>i</a:t>
            </a:r>
            <a:r>
              <a:rPr lang="en-US" sz="2000" dirty="0">
                <a:latin typeface="Antique Olive" panose="020B0603020204030204"/>
                <a:ea typeface="Quicksand"/>
                <a:cs typeface="Quicksand"/>
                <a:sym typeface="Quicksand"/>
              </a:rPr>
              <a:t>);}</a:t>
            </a:r>
          </a:p>
          <a:p>
            <a:pPr>
              <a:lnSpc>
                <a:spcPts val="4150"/>
              </a:lnSpc>
            </a:pPr>
            <a:r>
              <a:rPr lang="en-US" sz="2000" dirty="0">
                <a:latin typeface="Antique Olive" panose="020B0603020204030204"/>
                <a:ea typeface="Quicksand"/>
                <a:cs typeface="Quicksand"/>
                <a:sym typeface="Quicksand"/>
              </a:rPr>
              <a:t>Let’s examine the for statement part-by-part:</a:t>
            </a:r>
          </a:p>
          <a:p>
            <a:pPr>
              <a:lnSpc>
                <a:spcPts val="4150"/>
              </a:lnSpc>
            </a:pPr>
            <a:endParaRPr lang="en-US" sz="2441" dirty="0">
              <a:solidFill>
                <a:srgbClr val="0F4662"/>
              </a:solidFill>
              <a:latin typeface="Quicksand"/>
              <a:ea typeface="Quicksand"/>
              <a:cs typeface="Quicksand"/>
              <a:sym typeface="Quicksand"/>
            </a:endParaRPr>
          </a:p>
        </p:txBody>
      </p:sp>
      <p:sp>
        <p:nvSpPr>
          <p:cNvPr id="3" name="Freeform 3"/>
          <p:cNvSpPr/>
          <p:nvPr/>
        </p:nvSpPr>
        <p:spPr>
          <a:xfrm>
            <a:off x="1758406" y="3919931"/>
            <a:ext cx="8413969" cy="1922803"/>
          </a:xfrm>
          <a:custGeom>
            <a:avLst/>
            <a:gdLst/>
            <a:ahLst/>
            <a:cxnLst/>
            <a:rect l="l" t="t" r="r" b="b"/>
            <a:pathLst>
              <a:path w="12620954" h="2884205">
                <a:moveTo>
                  <a:pt x="0" y="0"/>
                </a:moveTo>
                <a:lnTo>
                  <a:pt x="12620953" y="0"/>
                </a:lnTo>
                <a:lnTo>
                  <a:pt x="12620953" y="2884205"/>
                </a:lnTo>
                <a:lnTo>
                  <a:pt x="0" y="2884205"/>
                </a:lnTo>
                <a:lnTo>
                  <a:pt x="0" y="0"/>
                </a:lnTo>
                <a:close/>
              </a:path>
            </a:pathLst>
          </a:custGeom>
          <a:blipFill>
            <a:blip r:embed="rId2"/>
            <a:stretch>
              <a:fillRect/>
            </a:stretch>
          </a:blipFill>
        </p:spPr>
      </p:sp>
      <p:sp>
        <p:nvSpPr>
          <p:cNvPr id="4" name="TextBox 4"/>
          <p:cNvSpPr txBox="1"/>
          <p:nvPr/>
        </p:nvSpPr>
        <p:spPr>
          <a:xfrm>
            <a:off x="4441013" y="419009"/>
            <a:ext cx="7532265" cy="3009991"/>
          </a:xfrm>
          <a:prstGeom prst="rect">
            <a:avLst/>
          </a:prstGeom>
        </p:spPr>
        <p:txBody>
          <a:bodyPr lIns="0" tIns="0" rIns="0" bIns="0" rtlCol="0" anchor="t">
            <a:spAutoFit/>
          </a:bodyPr>
          <a:lstStyle/>
          <a:p>
            <a:pPr algn="just">
              <a:lnSpc>
                <a:spcPts val="5973"/>
              </a:lnSpc>
            </a:pPr>
            <a:r>
              <a:rPr lang="en-US" sz="4400" b="1" dirty="0">
                <a:latin typeface="Antique Olive" panose="020B0603020204030204"/>
                <a:ea typeface="Cormorant Garamond"/>
                <a:cs typeface="Cormorant Garamond"/>
                <a:sym typeface="Cormorant Garamond"/>
              </a:rPr>
              <a:t>Loops</a:t>
            </a:r>
            <a:endParaRPr lang="en-US" sz="4266" dirty="0">
              <a:solidFill>
                <a:srgbClr val="0F4662"/>
              </a:solidFill>
              <a:latin typeface="Cormorant Garamond"/>
              <a:ea typeface="Cormorant Garamond"/>
              <a:cs typeface="Cormorant Garamond"/>
              <a:sym typeface="Cormorant Garamond"/>
            </a:endParaRPr>
          </a:p>
          <a:p>
            <a:pPr algn="just">
              <a:lnSpc>
                <a:spcPts val="5973"/>
              </a:lnSpc>
            </a:pPr>
            <a:endParaRPr lang="en-US" sz="4266" dirty="0">
              <a:solidFill>
                <a:srgbClr val="0F4662"/>
              </a:solidFill>
              <a:latin typeface="Cormorant Garamond"/>
              <a:ea typeface="Cormorant Garamond"/>
              <a:cs typeface="Cormorant Garamond"/>
              <a:sym typeface="Cormorant Garamond"/>
            </a:endParaRPr>
          </a:p>
          <a:p>
            <a:pPr algn="just">
              <a:lnSpc>
                <a:spcPts val="5973"/>
              </a:lnSpc>
            </a:pPr>
            <a:endParaRPr lang="en-US" sz="4266" dirty="0">
              <a:solidFill>
                <a:srgbClr val="0F4662"/>
              </a:solidFill>
              <a:latin typeface="Cormorant Garamond"/>
              <a:ea typeface="Cormorant Garamond"/>
              <a:cs typeface="Cormorant Garamond"/>
              <a:sym typeface="Cormorant Garamond"/>
            </a:endParaRPr>
          </a:p>
          <a:p>
            <a:pPr algn="just">
              <a:lnSpc>
                <a:spcPts val="5973"/>
              </a:lnSpc>
              <a:spcBef>
                <a:spcPct val="0"/>
              </a:spcBef>
            </a:pPr>
            <a:endParaRPr lang="en-US" sz="4266" dirty="0">
              <a:solidFill>
                <a:srgbClr val="0F4662"/>
              </a:solidFill>
              <a:latin typeface="Cormorant Garamond"/>
              <a:ea typeface="Cormorant Garamond"/>
              <a:cs typeface="Cormorant Garamond"/>
              <a:sym typeface="Cormorant Garamond"/>
            </a:endParaRPr>
          </a:p>
        </p:txBody>
      </p:sp>
    </p:spTree>
    <p:extLst>
      <p:ext uri="{BB962C8B-B14F-4D97-AF65-F5344CB8AC3E}">
        <p14:creationId xmlns:p14="http://schemas.microsoft.com/office/powerpoint/2010/main" val="36461717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1210696"/>
            <a:ext cx="11287478" cy="5861348"/>
          </a:xfrm>
          <a:prstGeom prst="rect">
            <a:avLst/>
          </a:prstGeom>
        </p:spPr>
        <p:txBody>
          <a:bodyPr lIns="0" tIns="0" rIns="0" bIns="0" rtlCol="0" anchor="t">
            <a:spAutoFit/>
          </a:bodyPr>
          <a:lstStyle/>
          <a:p>
            <a:pPr>
              <a:lnSpc>
                <a:spcPts val="4150"/>
              </a:lnSpc>
            </a:pPr>
            <a:r>
              <a:rPr lang="en-US" sz="2000" b="1" u="sng" dirty="0">
                <a:latin typeface="Antique Olive" panose="020B0603020204030204"/>
                <a:ea typeface="Quicksand"/>
                <a:cs typeface="Quicksand"/>
                <a:sym typeface="Quicksand"/>
              </a:rPr>
              <a:t>Breaking the loop</a:t>
            </a:r>
          </a:p>
          <a:p>
            <a:pPr>
              <a:lnSpc>
                <a:spcPts val="4150"/>
              </a:lnSpc>
            </a:pPr>
            <a:r>
              <a:rPr lang="en-US" sz="2000" dirty="0">
                <a:latin typeface="Antique Olive" panose="020B0603020204030204"/>
                <a:ea typeface="Quicksand"/>
                <a:cs typeface="Quicksand"/>
                <a:sym typeface="Quicksand"/>
              </a:rPr>
              <a:t>Normally, a loop exits when its condition becomes </a:t>
            </a:r>
            <a:r>
              <a:rPr lang="en-US" sz="2000" dirty="0" err="1">
                <a:latin typeface="Antique Olive" panose="020B0603020204030204"/>
                <a:ea typeface="Quicksand"/>
                <a:cs typeface="Quicksand"/>
                <a:sym typeface="Quicksand"/>
              </a:rPr>
              <a:t>falsy</a:t>
            </a:r>
            <a:r>
              <a:rPr lang="en-US" sz="2000" dirty="0">
                <a:latin typeface="Antique Olive" panose="020B0603020204030204"/>
                <a:ea typeface="Quicksand"/>
                <a:cs typeface="Quicksand"/>
                <a:sym typeface="Quicksand"/>
              </a:rPr>
              <a:t>.</a:t>
            </a:r>
          </a:p>
          <a:p>
            <a:pPr>
              <a:lnSpc>
                <a:spcPts val="4150"/>
              </a:lnSpc>
            </a:pPr>
            <a:r>
              <a:rPr lang="en-US" sz="2000" dirty="0">
                <a:latin typeface="Antique Olive" panose="020B0603020204030204"/>
                <a:ea typeface="Quicksand"/>
                <a:cs typeface="Quicksand"/>
                <a:sym typeface="Quicksand"/>
              </a:rPr>
              <a:t>But we can force the exit at any time using the special break directive.</a:t>
            </a:r>
          </a:p>
          <a:p>
            <a:pPr>
              <a:lnSpc>
                <a:spcPts val="4150"/>
              </a:lnSpc>
            </a:pPr>
            <a:r>
              <a:rPr lang="en-US" sz="2000" dirty="0">
                <a:latin typeface="Antique Olive" panose="020B0603020204030204"/>
                <a:ea typeface="Quicksand"/>
                <a:cs typeface="Quicksand"/>
                <a:sym typeface="Quicksand"/>
              </a:rPr>
              <a:t>For example, the loop below asks the user for a series of numbers, “breaking” when no number is entered:</a:t>
            </a:r>
          </a:p>
          <a:p>
            <a:pPr>
              <a:lnSpc>
                <a:spcPts val="4150"/>
              </a:lnSpc>
            </a:pPr>
            <a:r>
              <a:rPr lang="en-US" sz="2000" dirty="0">
                <a:latin typeface="Antique Olive" panose="020B0603020204030204"/>
                <a:ea typeface="Quicksand"/>
                <a:cs typeface="Quicksand"/>
                <a:sym typeface="Quicksand"/>
              </a:rPr>
              <a:t>let sum = 0;</a:t>
            </a:r>
          </a:p>
          <a:p>
            <a:pPr>
              <a:lnSpc>
                <a:spcPts val="4150"/>
              </a:lnSpc>
            </a:pPr>
            <a:r>
              <a:rPr lang="en-US" sz="2000" dirty="0">
                <a:latin typeface="Antique Olive" panose="020B0603020204030204"/>
                <a:ea typeface="Quicksand"/>
                <a:cs typeface="Quicksand"/>
                <a:sym typeface="Quicksand"/>
              </a:rPr>
              <a:t>while (true) {</a:t>
            </a:r>
          </a:p>
          <a:p>
            <a:pPr>
              <a:lnSpc>
                <a:spcPts val="4150"/>
              </a:lnSpc>
            </a:pPr>
            <a:r>
              <a:rPr lang="en-US" sz="2000" dirty="0">
                <a:latin typeface="Antique Olive" panose="020B0603020204030204"/>
                <a:ea typeface="Quicksand"/>
                <a:cs typeface="Quicksand"/>
                <a:sym typeface="Quicksand"/>
              </a:rPr>
              <a:t>let value = +prompt("Enter a number", '');</a:t>
            </a:r>
          </a:p>
          <a:p>
            <a:pPr>
              <a:lnSpc>
                <a:spcPts val="4150"/>
              </a:lnSpc>
            </a:pPr>
            <a:r>
              <a:rPr lang="en-US" sz="2000" dirty="0">
                <a:latin typeface="Antique Olive" panose="020B0603020204030204"/>
                <a:ea typeface="Quicksand"/>
                <a:cs typeface="Quicksand"/>
                <a:sym typeface="Quicksand"/>
              </a:rPr>
              <a:t>  if (!value) break; </a:t>
            </a:r>
          </a:p>
          <a:p>
            <a:pPr>
              <a:lnSpc>
                <a:spcPts val="4150"/>
              </a:lnSpc>
            </a:pPr>
            <a:r>
              <a:rPr lang="en-US" sz="2000" dirty="0">
                <a:latin typeface="Antique Olive" panose="020B0603020204030204"/>
                <a:ea typeface="Quicksand"/>
                <a:cs typeface="Quicksand"/>
                <a:sym typeface="Quicksand"/>
              </a:rPr>
              <a:t>  sum += value;}</a:t>
            </a:r>
          </a:p>
          <a:p>
            <a:pPr>
              <a:lnSpc>
                <a:spcPts val="4150"/>
              </a:lnSpc>
            </a:pPr>
            <a:r>
              <a:rPr lang="en-US" sz="2000" dirty="0">
                <a:latin typeface="Antique Olive" panose="020B0603020204030204"/>
                <a:ea typeface="Quicksand"/>
                <a:cs typeface="Quicksand"/>
                <a:sym typeface="Quicksand"/>
              </a:rPr>
              <a:t>alert( 'Sum: ' + sum );</a:t>
            </a:r>
            <a:endParaRPr lang="en-US" sz="2000" dirty="0">
              <a:latin typeface="Antique Olive" panose="020B0603020204030204"/>
              <a:ea typeface="Quicksand"/>
              <a:cs typeface="Quicksand"/>
              <a:sym typeface="Quicksand"/>
              <a:hlinkClick r:id="rId2" tooltip="https://javascript.info/while-for#the-for-loop">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while-for#the-for-loop">
                <a:extLst>
                  <a:ext uri="{A12FA001-AC4F-418D-AE19-62706E023703}">
                    <ahyp:hlinkClr xmlns:ahyp="http://schemas.microsoft.com/office/drawing/2018/hyperlinkcolor" val="tx"/>
                  </a:ext>
                </a:extLst>
              </a:hlinkClick>
            </a:endParaRPr>
          </a:p>
        </p:txBody>
      </p:sp>
      <p:sp>
        <p:nvSpPr>
          <p:cNvPr id="3" name="TextBox 3"/>
          <p:cNvSpPr txBox="1"/>
          <p:nvPr/>
        </p:nvSpPr>
        <p:spPr>
          <a:xfrm>
            <a:off x="4441013" y="264925"/>
            <a:ext cx="7532265" cy="3009991"/>
          </a:xfrm>
          <a:prstGeom prst="rect">
            <a:avLst/>
          </a:prstGeom>
        </p:spPr>
        <p:txBody>
          <a:bodyPr lIns="0" tIns="0" rIns="0" bIns="0" rtlCol="0" anchor="t">
            <a:spAutoFit/>
          </a:bodyPr>
          <a:lstStyle/>
          <a:p>
            <a:pPr algn="just">
              <a:lnSpc>
                <a:spcPts val="5973"/>
              </a:lnSpc>
            </a:pPr>
            <a:r>
              <a:rPr lang="en-US" sz="4000" b="1" dirty="0">
                <a:latin typeface="Antique Olive" panose="020B0603020204030204"/>
                <a:ea typeface="Cormorant Garamond"/>
                <a:cs typeface="Cormorant Garamond"/>
                <a:sym typeface="Cormorant Garamond"/>
              </a:rPr>
              <a:t>Loops</a:t>
            </a:r>
            <a:endParaRPr lang="en-US" sz="4266" dirty="0">
              <a:solidFill>
                <a:srgbClr val="0F4662"/>
              </a:solidFill>
              <a:latin typeface="Cormorant Garamond"/>
              <a:ea typeface="Cormorant Garamond"/>
              <a:cs typeface="Cormorant Garamond"/>
              <a:sym typeface="Cormorant Garamond"/>
            </a:endParaRPr>
          </a:p>
          <a:p>
            <a:pPr algn="just">
              <a:lnSpc>
                <a:spcPts val="5973"/>
              </a:lnSpc>
            </a:pPr>
            <a:endParaRPr lang="en-US" sz="4266" dirty="0">
              <a:solidFill>
                <a:srgbClr val="0F4662"/>
              </a:solidFill>
              <a:latin typeface="Cormorant Garamond"/>
              <a:ea typeface="Cormorant Garamond"/>
              <a:cs typeface="Cormorant Garamond"/>
              <a:sym typeface="Cormorant Garamond"/>
            </a:endParaRPr>
          </a:p>
          <a:p>
            <a:pPr algn="just">
              <a:lnSpc>
                <a:spcPts val="5973"/>
              </a:lnSpc>
            </a:pPr>
            <a:endParaRPr lang="en-US" sz="4266" dirty="0">
              <a:solidFill>
                <a:srgbClr val="0F4662"/>
              </a:solidFill>
              <a:latin typeface="Cormorant Garamond"/>
              <a:ea typeface="Cormorant Garamond"/>
              <a:cs typeface="Cormorant Garamond"/>
              <a:sym typeface="Cormorant Garamond"/>
            </a:endParaRPr>
          </a:p>
          <a:p>
            <a:pPr algn="just">
              <a:lnSpc>
                <a:spcPts val="5973"/>
              </a:lnSpc>
              <a:spcBef>
                <a:spcPct val="0"/>
              </a:spcBef>
            </a:pPr>
            <a:endParaRPr lang="en-US" sz="4266" dirty="0">
              <a:solidFill>
                <a:srgbClr val="0F4662"/>
              </a:solidFill>
              <a:latin typeface="Cormorant Garamond"/>
              <a:ea typeface="Cormorant Garamond"/>
              <a:cs typeface="Cormorant Garamond"/>
              <a:sym typeface="Cormorant Garamond"/>
            </a:endParaRPr>
          </a:p>
        </p:txBody>
      </p:sp>
    </p:spTree>
    <p:extLst>
      <p:ext uri="{BB962C8B-B14F-4D97-AF65-F5344CB8AC3E}">
        <p14:creationId xmlns:p14="http://schemas.microsoft.com/office/powerpoint/2010/main" val="270351265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1210696"/>
            <a:ext cx="11287478" cy="5322739"/>
          </a:xfrm>
          <a:prstGeom prst="rect">
            <a:avLst/>
          </a:prstGeom>
        </p:spPr>
        <p:txBody>
          <a:bodyPr lIns="0" tIns="0" rIns="0" bIns="0" rtlCol="0" anchor="t">
            <a:spAutoFit/>
          </a:bodyPr>
          <a:lstStyle/>
          <a:p>
            <a:pPr>
              <a:lnSpc>
                <a:spcPts val="4150"/>
              </a:lnSpc>
            </a:pPr>
            <a:r>
              <a:rPr lang="en-US" sz="2000" b="1" u="sng" dirty="0">
                <a:latin typeface="Antique Olive" panose="020B0603020204030204"/>
                <a:ea typeface="Quicksand Bold"/>
                <a:cs typeface="Quicksand Bold"/>
                <a:sym typeface="Quicksand Bold"/>
              </a:rPr>
              <a:t>Continue to the next iteration</a:t>
            </a:r>
          </a:p>
          <a:p>
            <a:pPr>
              <a:lnSpc>
                <a:spcPts val="4150"/>
              </a:lnSpc>
            </a:pPr>
            <a:r>
              <a:rPr lang="en-US" sz="2000" dirty="0">
                <a:latin typeface="Antique Olive" panose="020B0603020204030204"/>
                <a:ea typeface="Quicksand"/>
                <a:cs typeface="Quicksand"/>
                <a:sym typeface="Quicksand"/>
              </a:rPr>
              <a:t>The continue directive is a “lighter version” of break. It doesn’t stop the whole loop. Instead, it stops the current iteration and forces the loop to start a new one (if the condition allows).</a:t>
            </a:r>
          </a:p>
          <a:p>
            <a:pPr>
              <a:lnSpc>
                <a:spcPts val="4150"/>
              </a:lnSpc>
            </a:pPr>
            <a:r>
              <a:rPr lang="en-US" sz="2000" dirty="0">
                <a:latin typeface="Antique Olive" panose="020B0603020204030204"/>
                <a:ea typeface="Quicksand"/>
                <a:cs typeface="Quicksand"/>
                <a:sym typeface="Quicksand"/>
              </a:rPr>
              <a:t>We can use it if we’re done with the current iteration and would like to move on to the next one.</a:t>
            </a:r>
          </a:p>
          <a:p>
            <a:pPr>
              <a:lnSpc>
                <a:spcPts val="4150"/>
              </a:lnSpc>
            </a:pPr>
            <a:r>
              <a:rPr lang="en-US" sz="2000" dirty="0">
                <a:latin typeface="Antique Olive" panose="020B0603020204030204"/>
                <a:ea typeface="Quicksand"/>
                <a:cs typeface="Quicksand"/>
                <a:sym typeface="Quicksand"/>
              </a:rPr>
              <a:t>The loop below uses continue to output only odd values:</a:t>
            </a:r>
          </a:p>
          <a:p>
            <a:pPr>
              <a:lnSpc>
                <a:spcPts val="4150"/>
              </a:lnSpc>
            </a:pPr>
            <a:r>
              <a:rPr lang="en-US" sz="2000" dirty="0">
                <a:latin typeface="Antique Olive" panose="020B0603020204030204"/>
                <a:ea typeface="Quicksand"/>
                <a:cs typeface="Quicksand"/>
                <a:sym typeface="Quicksand"/>
              </a:rPr>
              <a:t>for (let </a:t>
            </a:r>
            <a:r>
              <a:rPr lang="en-US" sz="2000" dirty="0" err="1">
                <a:latin typeface="Antique Olive" panose="020B0603020204030204"/>
                <a:ea typeface="Quicksand"/>
                <a:cs typeface="Quicksand"/>
                <a:sym typeface="Quicksand"/>
              </a:rPr>
              <a:t>i</a:t>
            </a:r>
            <a:r>
              <a:rPr lang="en-US" sz="2000" dirty="0">
                <a:latin typeface="Antique Olive" panose="020B0603020204030204"/>
                <a:ea typeface="Quicksand"/>
                <a:cs typeface="Quicksand"/>
                <a:sym typeface="Quicksand"/>
              </a:rPr>
              <a:t> = 0; </a:t>
            </a:r>
            <a:r>
              <a:rPr lang="en-US" sz="2000" dirty="0" err="1">
                <a:latin typeface="Antique Olive" panose="020B0603020204030204"/>
                <a:ea typeface="Quicksand"/>
                <a:cs typeface="Quicksand"/>
                <a:sym typeface="Quicksand"/>
              </a:rPr>
              <a:t>i</a:t>
            </a:r>
            <a:r>
              <a:rPr lang="en-US" sz="2000" dirty="0">
                <a:latin typeface="Antique Olive" panose="020B0603020204030204"/>
                <a:ea typeface="Quicksand"/>
                <a:cs typeface="Quicksand"/>
                <a:sym typeface="Quicksand"/>
              </a:rPr>
              <a:t> &lt; 10; </a:t>
            </a:r>
            <a:r>
              <a:rPr lang="en-US" sz="2000" dirty="0" err="1">
                <a:latin typeface="Antique Olive" panose="020B0603020204030204"/>
                <a:ea typeface="Quicksand"/>
                <a:cs typeface="Quicksand"/>
                <a:sym typeface="Quicksand"/>
              </a:rPr>
              <a:t>i</a:t>
            </a:r>
            <a:r>
              <a:rPr lang="en-US" sz="2000" dirty="0">
                <a:latin typeface="Antique Olive" panose="020B0603020204030204"/>
                <a:ea typeface="Quicksand"/>
                <a:cs typeface="Quicksand"/>
                <a:sym typeface="Quicksand"/>
              </a:rPr>
              <a:t>++) {// if true, skip the remaining part of the body</a:t>
            </a:r>
          </a:p>
          <a:p>
            <a:pPr>
              <a:lnSpc>
                <a:spcPts val="4150"/>
              </a:lnSpc>
            </a:pPr>
            <a:r>
              <a:rPr lang="en-US" sz="2000" dirty="0">
                <a:latin typeface="Antique Olive" panose="020B0603020204030204"/>
                <a:ea typeface="Quicksand"/>
                <a:cs typeface="Quicksand"/>
                <a:sym typeface="Quicksand"/>
              </a:rPr>
              <a:t>if (</a:t>
            </a:r>
            <a:r>
              <a:rPr lang="en-US" sz="2000" dirty="0" err="1">
                <a:latin typeface="Antique Olive" panose="020B0603020204030204"/>
                <a:ea typeface="Quicksand"/>
                <a:cs typeface="Quicksand"/>
                <a:sym typeface="Quicksand"/>
              </a:rPr>
              <a:t>i</a:t>
            </a:r>
            <a:r>
              <a:rPr lang="en-US" sz="2000" dirty="0">
                <a:latin typeface="Antique Olive" panose="020B0603020204030204"/>
                <a:ea typeface="Quicksand"/>
                <a:cs typeface="Quicksand"/>
                <a:sym typeface="Quicksand"/>
              </a:rPr>
              <a:t> % 2 == 0) continue;</a:t>
            </a:r>
          </a:p>
          <a:p>
            <a:pPr>
              <a:lnSpc>
                <a:spcPts val="4150"/>
              </a:lnSpc>
            </a:pPr>
            <a:r>
              <a:rPr lang="en-US" sz="2000" dirty="0">
                <a:latin typeface="Antique Olive" panose="020B0603020204030204"/>
                <a:ea typeface="Quicksand"/>
                <a:cs typeface="Quicksand"/>
                <a:sym typeface="Quicksand"/>
              </a:rPr>
              <a:t>alert(</a:t>
            </a:r>
            <a:r>
              <a:rPr lang="en-US" sz="2000" dirty="0" err="1">
                <a:latin typeface="Antique Olive" panose="020B0603020204030204"/>
                <a:ea typeface="Quicksand"/>
                <a:cs typeface="Quicksand"/>
                <a:sym typeface="Quicksand"/>
              </a:rPr>
              <a:t>i</a:t>
            </a:r>
            <a:r>
              <a:rPr lang="en-US" sz="2000" dirty="0">
                <a:latin typeface="Antique Olive" panose="020B0603020204030204"/>
                <a:ea typeface="Quicksand"/>
                <a:cs typeface="Quicksand"/>
                <a:sym typeface="Quicksand"/>
              </a:rPr>
              <a:t>); // 1, then 3, 5, 7, 9</a:t>
            </a:r>
          </a:p>
          <a:p>
            <a:pPr>
              <a:lnSpc>
                <a:spcPts val="4150"/>
              </a:lnSpc>
            </a:pPr>
            <a:r>
              <a:rPr lang="en-US" sz="2000" dirty="0">
                <a:latin typeface="Antique Olive" panose="020B0603020204030204"/>
                <a:ea typeface="Quicksand"/>
                <a:cs typeface="Quicksand"/>
                <a:sym typeface="Quicksand"/>
              </a:rPr>
              <a:t>}</a:t>
            </a:r>
            <a:endParaRPr lang="en-US" sz="2000" dirty="0">
              <a:latin typeface="Antique Olive" panose="020B0603020204030204"/>
              <a:ea typeface="Quicksand"/>
              <a:cs typeface="Quicksand"/>
              <a:sym typeface="Quicksand"/>
              <a:hlinkClick r:id="rId2" tooltip="https://javascript.info/while-for#breaking-the-loop">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while-for#breaking-the-loop">
                <a:extLst>
                  <a:ext uri="{A12FA001-AC4F-418D-AE19-62706E023703}">
                    <ahyp:hlinkClr xmlns:ahyp="http://schemas.microsoft.com/office/drawing/2018/hyperlinkcolor" val="tx"/>
                  </a:ext>
                </a:extLst>
              </a:hlinkClick>
            </a:endParaRPr>
          </a:p>
        </p:txBody>
      </p:sp>
      <p:sp>
        <p:nvSpPr>
          <p:cNvPr id="3" name="TextBox 3"/>
          <p:cNvSpPr txBox="1"/>
          <p:nvPr/>
        </p:nvSpPr>
        <p:spPr>
          <a:xfrm>
            <a:off x="4441013" y="264925"/>
            <a:ext cx="7532265" cy="3009991"/>
          </a:xfrm>
          <a:prstGeom prst="rect">
            <a:avLst/>
          </a:prstGeom>
        </p:spPr>
        <p:txBody>
          <a:bodyPr lIns="0" tIns="0" rIns="0" bIns="0" rtlCol="0" anchor="t">
            <a:spAutoFit/>
          </a:bodyPr>
          <a:lstStyle/>
          <a:p>
            <a:pPr algn="just">
              <a:lnSpc>
                <a:spcPts val="5973"/>
              </a:lnSpc>
            </a:pPr>
            <a:r>
              <a:rPr lang="en-US" sz="4000" b="1" dirty="0">
                <a:latin typeface="Antique Olive" panose="020B0603020204030204"/>
                <a:ea typeface="Cormorant Garamond"/>
                <a:cs typeface="Cormorant Garamond"/>
                <a:sym typeface="Cormorant Garamond"/>
              </a:rPr>
              <a:t>Loops</a:t>
            </a:r>
            <a:endParaRPr lang="en-US" sz="4266" dirty="0">
              <a:solidFill>
                <a:srgbClr val="0F4662"/>
              </a:solidFill>
              <a:latin typeface="Cormorant Garamond"/>
              <a:ea typeface="Cormorant Garamond"/>
              <a:cs typeface="Cormorant Garamond"/>
              <a:sym typeface="Cormorant Garamond"/>
            </a:endParaRPr>
          </a:p>
          <a:p>
            <a:pPr algn="just">
              <a:lnSpc>
                <a:spcPts val="5973"/>
              </a:lnSpc>
            </a:pPr>
            <a:endParaRPr lang="en-US" sz="4266" dirty="0">
              <a:solidFill>
                <a:srgbClr val="0F4662"/>
              </a:solidFill>
              <a:latin typeface="Cormorant Garamond"/>
              <a:ea typeface="Cormorant Garamond"/>
              <a:cs typeface="Cormorant Garamond"/>
              <a:sym typeface="Cormorant Garamond"/>
            </a:endParaRPr>
          </a:p>
          <a:p>
            <a:pPr algn="just">
              <a:lnSpc>
                <a:spcPts val="5973"/>
              </a:lnSpc>
            </a:pPr>
            <a:endParaRPr lang="en-US" sz="4266" dirty="0">
              <a:solidFill>
                <a:srgbClr val="0F4662"/>
              </a:solidFill>
              <a:latin typeface="Cormorant Garamond"/>
              <a:ea typeface="Cormorant Garamond"/>
              <a:cs typeface="Cormorant Garamond"/>
              <a:sym typeface="Cormorant Garamond"/>
            </a:endParaRPr>
          </a:p>
          <a:p>
            <a:pPr algn="just">
              <a:lnSpc>
                <a:spcPts val="5973"/>
              </a:lnSpc>
              <a:spcBef>
                <a:spcPct val="0"/>
              </a:spcBef>
            </a:pPr>
            <a:endParaRPr lang="en-US" sz="4266" dirty="0">
              <a:solidFill>
                <a:srgbClr val="0F4662"/>
              </a:solidFill>
              <a:latin typeface="Cormorant Garamond"/>
              <a:ea typeface="Cormorant Garamond"/>
              <a:cs typeface="Cormorant Garamond"/>
              <a:sym typeface="Cormorant Garamond"/>
            </a:endParaRPr>
          </a:p>
        </p:txBody>
      </p:sp>
    </p:spTree>
    <p:extLst>
      <p:ext uri="{BB962C8B-B14F-4D97-AF65-F5344CB8AC3E}">
        <p14:creationId xmlns:p14="http://schemas.microsoft.com/office/powerpoint/2010/main" val="33543874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1210696"/>
            <a:ext cx="11287478" cy="3168303"/>
          </a:xfrm>
          <a:prstGeom prst="rect">
            <a:avLst/>
          </a:prstGeom>
        </p:spPr>
        <p:txBody>
          <a:bodyPr lIns="0" tIns="0" rIns="0" bIns="0" rtlCol="0" anchor="t">
            <a:spAutoFit/>
          </a:bodyPr>
          <a:lstStyle/>
          <a:p>
            <a:pPr>
              <a:lnSpc>
                <a:spcPts val="4150"/>
              </a:lnSpc>
            </a:pPr>
            <a:r>
              <a:rPr lang="en-US" sz="2000" b="1" dirty="0">
                <a:latin typeface="Antique Olive" panose="020B0603020204030204"/>
                <a:ea typeface="Quicksand Bold"/>
                <a:cs typeface="Quicksand Bold"/>
                <a:sym typeface="Quicksand Bold"/>
              </a:rPr>
              <a:t>Repeat until the input is correct</a:t>
            </a:r>
          </a:p>
          <a:p>
            <a:pPr>
              <a:lnSpc>
                <a:spcPts val="4150"/>
              </a:lnSpc>
            </a:pPr>
            <a:r>
              <a:rPr lang="en-US" sz="2000" b="1" dirty="0">
                <a:latin typeface="Antique Olive" panose="020B0603020204030204"/>
                <a:ea typeface="Quicksand Bold"/>
                <a:cs typeface="Quicksand Bold"/>
                <a:sym typeface="Quicksand Bold"/>
              </a:rPr>
              <a:t>Write a loop which prompts for a number greater than 100. If the visitor enters another number – ask them to input again.</a:t>
            </a:r>
          </a:p>
          <a:p>
            <a:pPr>
              <a:lnSpc>
                <a:spcPts val="4150"/>
              </a:lnSpc>
            </a:pPr>
            <a:r>
              <a:rPr lang="en-US" sz="2000" b="1" dirty="0">
                <a:latin typeface="Antique Olive" panose="020B0603020204030204"/>
                <a:ea typeface="Quicksand Bold"/>
                <a:cs typeface="Quicksand Bold"/>
                <a:sym typeface="Quicksand Bold"/>
              </a:rPr>
              <a:t>The loop must ask for a number until either the visitor enters a number greater than 100 or cancels the input/enters an empty line.</a:t>
            </a:r>
            <a:endParaRPr lang="en-US" sz="2000" b="1" dirty="0">
              <a:latin typeface="Antique Olive" panose="020B0603020204030204"/>
              <a:ea typeface="Quicksand Bold"/>
              <a:cs typeface="Quicksand Bold"/>
              <a:sym typeface="Quicksand Bold"/>
              <a:hlinkClick r:id="rId2" tooltip="https://javascript.info/while-for#continue">
                <a:extLst>
                  <a:ext uri="{A12FA001-AC4F-418D-AE19-62706E023703}">
                    <ahyp:hlinkClr xmlns:ahyp="http://schemas.microsoft.com/office/drawing/2018/hyperlinkcolor" val="tx"/>
                  </a:ext>
                </a:extLst>
              </a:hlinkClick>
            </a:endParaRPr>
          </a:p>
          <a:p>
            <a:pPr>
              <a:lnSpc>
                <a:spcPts val="4150"/>
              </a:lnSpc>
            </a:pPr>
            <a:endParaRPr lang="en-US" sz="2441" b="1" dirty="0">
              <a:solidFill>
                <a:srgbClr val="000000"/>
              </a:solidFill>
              <a:latin typeface="Quicksand Bold"/>
              <a:ea typeface="Quicksand Bold"/>
              <a:cs typeface="Quicksand Bold"/>
              <a:sym typeface="Quicksand Bold"/>
              <a:hlinkClick r:id="rId2" tooltip="https://javascript.info/while-for#continue">
                <a:extLst>
                  <a:ext uri="{A12FA001-AC4F-418D-AE19-62706E023703}">
                    <ahyp:hlinkClr xmlns:ahyp="http://schemas.microsoft.com/office/drawing/2018/hyperlinkcolor" val="tx"/>
                  </a:ext>
                </a:extLst>
              </a:hlinkClick>
            </a:endParaRPr>
          </a:p>
        </p:txBody>
      </p:sp>
      <p:sp>
        <p:nvSpPr>
          <p:cNvPr id="3" name="TextBox 3"/>
          <p:cNvSpPr txBox="1"/>
          <p:nvPr/>
        </p:nvSpPr>
        <p:spPr>
          <a:xfrm>
            <a:off x="4659735" y="220537"/>
            <a:ext cx="7532265" cy="3009991"/>
          </a:xfrm>
          <a:prstGeom prst="rect">
            <a:avLst/>
          </a:prstGeom>
        </p:spPr>
        <p:txBody>
          <a:bodyPr lIns="0" tIns="0" rIns="0" bIns="0" rtlCol="0" anchor="t">
            <a:spAutoFit/>
          </a:bodyPr>
          <a:lstStyle/>
          <a:p>
            <a:pPr algn="just">
              <a:lnSpc>
                <a:spcPts val="5973"/>
              </a:lnSpc>
            </a:pPr>
            <a:r>
              <a:rPr lang="en-US" sz="4000" b="1" dirty="0">
                <a:latin typeface="Antique Olive" panose="020B0603020204030204"/>
                <a:ea typeface="Cormorant Garamond"/>
                <a:cs typeface="Cormorant Garamond"/>
                <a:sym typeface="Cormorant Garamond"/>
              </a:rPr>
              <a:t>Task</a:t>
            </a:r>
          </a:p>
          <a:p>
            <a:pPr algn="just">
              <a:lnSpc>
                <a:spcPts val="5973"/>
              </a:lnSpc>
            </a:pPr>
            <a:endParaRPr lang="en-US" sz="4266" dirty="0">
              <a:solidFill>
                <a:srgbClr val="0F4662"/>
              </a:solidFill>
              <a:latin typeface="Cormorant Garamond"/>
              <a:ea typeface="Cormorant Garamond"/>
              <a:cs typeface="Cormorant Garamond"/>
              <a:sym typeface="Cormorant Garamond"/>
            </a:endParaRPr>
          </a:p>
          <a:p>
            <a:pPr algn="just">
              <a:lnSpc>
                <a:spcPts val="5973"/>
              </a:lnSpc>
            </a:pPr>
            <a:endParaRPr lang="en-US" sz="4266" dirty="0">
              <a:solidFill>
                <a:srgbClr val="0F4662"/>
              </a:solidFill>
              <a:latin typeface="Cormorant Garamond"/>
              <a:ea typeface="Cormorant Garamond"/>
              <a:cs typeface="Cormorant Garamond"/>
              <a:sym typeface="Cormorant Garamond"/>
            </a:endParaRPr>
          </a:p>
          <a:p>
            <a:pPr algn="just">
              <a:lnSpc>
                <a:spcPts val="5973"/>
              </a:lnSpc>
              <a:spcBef>
                <a:spcPct val="0"/>
              </a:spcBef>
            </a:pPr>
            <a:endParaRPr lang="en-US" sz="4266" dirty="0">
              <a:solidFill>
                <a:srgbClr val="0F4662"/>
              </a:solidFill>
              <a:latin typeface="Cormorant Garamond"/>
              <a:ea typeface="Cormorant Garamond"/>
              <a:cs typeface="Cormorant Garamond"/>
              <a:sym typeface="Cormorant Garamond"/>
            </a:endParaRPr>
          </a:p>
        </p:txBody>
      </p:sp>
    </p:spTree>
    <p:extLst>
      <p:ext uri="{BB962C8B-B14F-4D97-AF65-F5344CB8AC3E}">
        <p14:creationId xmlns:p14="http://schemas.microsoft.com/office/powerpoint/2010/main" val="35630946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1210696"/>
            <a:ext cx="11287478" cy="3168303"/>
          </a:xfrm>
          <a:prstGeom prst="rect">
            <a:avLst/>
          </a:prstGeom>
        </p:spPr>
        <p:txBody>
          <a:bodyPr lIns="0" tIns="0" rIns="0" bIns="0" rtlCol="0" anchor="t">
            <a:spAutoFit/>
          </a:bodyPr>
          <a:lstStyle/>
          <a:p>
            <a:pPr>
              <a:lnSpc>
                <a:spcPts val="4150"/>
              </a:lnSpc>
            </a:pPr>
            <a:r>
              <a:rPr lang="en-US" sz="2000" b="1" dirty="0">
                <a:latin typeface="Antique Olive" panose="020B0603020204030204"/>
                <a:ea typeface="Quicksand Bold"/>
                <a:cs typeface="Quicksand Bold"/>
                <a:sym typeface="Quicksand Bold"/>
              </a:rPr>
              <a:t>Repeat until the input is correct</a:t>
            </a:r>
          </a:p>
          <a:p>
            <a:pPr>
              <a:lnSpc>
                <a:spcPts val="4150"/>
              </a:lnSpc>
            </a:pPr>
            <a:r>
              <a:rPr lang="en-US" sz="2000" b="1" dirty="0">
                <a:latin typeface="Antique Olive" panose="020B0603020204030204"/>
                <a:ea typeface="Quicksand Bold"/>
                <a:cs typeface="Quicksand Bold"/>
                <a:sym typeface="Quicksand Bold"/>
              </a:rPr>
              <a:t>Write a loop which prompts for a number greater than 100. If the visitor enters another number – ask them to input again.</a:t>
            </a:r>
          </a:p>
          <a:p>
            <a:pPr>
              <a:lnSpc>
                <a:spcPts val="4150"/>
              </a:lnSpc>
            </a:pPr>
            <a:r>
              <a:rPr lang="en-US" sz="2000" b="1" dirty="0">
                <a:latin typeface="Antique Olive" panose="020B0603020204030204"/>
                <a:ea typeface="Quicksand Bold"/>
                <a:cs typeface="Quicksand Bold"/>
                <a:sym typeface="Quicksand Bold"/>
              </a:rPr>
              <a:t>The loop must ask for a number until either the visitor enters a number greater than 100 or cancels the input/enters an empty line.</a:t>
            </a:r>
            <a:endParaRPr lang="en-US" sz="2000" b="1" dirty="0">
              <a:latin typeface="Antique Olive" panose="020B0603020204030204"/>
              <a:ea typeface="Quicksand Bold"/>
              <a:cs typeface="Quicksand Bold"/>
              <a:sym typeface="Quicksand Bold"/>
              <a:hlinkClick r:id="rId2" tooltip="https://javascript.info/while-for#continue">
                <a:extLst>
                  <a:ext uri="{A12FA001-AC4F-418D-AE19-62706E023703}">
                    <ahyp:hlinkClr xmlns:ahyp="http://schemas.microsoft.com/office/drawing/2018/hyperlinkcolor" val="tx"/>
                  </a:ext>
                </a:extLst>
              </a:hlinkClick>
            </a:endParaRPr>
          </a:p>
          <a:p>
            <a:pPr>
              <a:lnSpc>
                <a:spcPts val="4150"/>
              </a:lnSpc>
            </a:pPr>
            <a:endParaRPr lang="en-US" sz="2441" b="1" dirty="0">
              <a:solidFill>
                <a:srgbClr val="000000"/>
              </a:solidFill>
              <a:latin typeface="Quicksand Bold"/>
              <a:ea typeface="Quicksand Bold"/>
              <a:cs typeface="Quicksand Bold"/>
              <a:sym typeface="Quicksand Bold"/>
              <a:hlinkClick r:id="rId2" tooltip="https://javascript.info/while-for#continue">
                <a:extLst>
                  <a:ext uri="{A12FA001-AC4F-418D-AE19-62706E023703}">
                    <ahyp:hlinkClr xmlns:ahyp="http://schemas.microsoft.com/office/drawing/2018/hyperlinkcolor" val="tx"/>
                  </a:ext>
                </a:extLst>
              </a:hlinkClick>
            </a:endParaRPr>
          </a:p>
        </p:txBody>
      </p:sp>
      <p:sp>
        <p:nvSpPr>
          <p:cNvPr id="3" name="Freeform 3"/>
          <p:cNvSpPr/>
          <p:nvPr/>
        </p:nvSpPr>
        <p:spPr>
          <a:xfrm>
            <a:off x="1881213" y="4042562"/>
            <a:ext cx="8572695" cy="2129638"/>
          </a:xfrm>
          <a:custGeom>
            <a:avLst/>
            <a:gdLst/>
            <a:ahLst/>
            <a:cxnLst/>
            <a:rect l="l" t="t" r="r" b="b"/>
            <a:pathLst>
              <a:path w="12859042" h="3194457">
                <a:moveTo>
                  <a:pt x="0" y="0"/>
                </a:moveTo>
                <a:lnTo>
                  <a:pt x="12859041" y="0"/>
                </a:lnTo>
                <a:lnTo>
                  <a:pt x="12859041" y="3194457"/>
                </a:lnTo>
                <a:lnTo>
                  <a:pt x="0" y="3194457"/>
                </a:lnTo>
                <a:lnTo>
                  <a:pt x="0" y="0"/>
                </a:lnTo>
                <a:close/>
              </a:path>
            </a:pathLst>
          </a:custGeom>
          <a:blipFill>
            <a:blip r:embed="rId3"/>
            <a:stretch>
              <a:fillRect/>
            </a:stretch>
          </a:blipFill>
        </p:spPr>
      </p:sp>
      <p:sp>
        <p:nvSpPr>
          <p:cNvPr id="4" name="TextBox 4"/>
          <p:cNvSpPr txBox="1"/>
          <p:nvPr/>
        </p:nvSpPr>
        <p:spPr>
          <a:xfrm>
            <a:off x="3973935" y="138702"/>
            <a:ext cx="7532265" cy="3009991"/>
          </a:xfrm>
          <a:prstGeom prst="rect">
            <a:avLst/>
          </a:prstGeom>
        </p:spPr>
        <p:txBody>
          <a:bodyPr lIns="0" tIns="0" rIns="0" bIns="0" rtlCol="0" anchor="t">
            <a:spAutoFit/>
          </a:bodyPr>
          <a:lstStyle/>
          <a:p>
            <a:pPr algn="just">
              <a:lnSpc>
                <a:spcPts val="5973"/>
              </a:lnSpc>
            </a:pPr>
            <a:r>
              <a:rPr lang="en-US" sz="4000" b="1" dirty="0">
                <a:latin typeface="Antique Olive" panose="020B0603020204030204"/>
                <a:ea typeface="Cormorant Garamond"/>
                <a:cs typeface="Cormorant Garamond"/>
                <a:sym typeface="Cormorant Garamond"/>
              </a:rPr>
              <a:t>Task Solution</a:t>
            </a:r>
          </a:p>
          <a:p>
            <a:pPr algn="just">
              <a:lnSpc>
                <a:spcPts val="5973"/>
              </a:lnSpc>
            </a:pPr>
            <a:endParaRPr lang="en-US" sz="4266" dirty="0">
              <a:solidFill>
                <a:srgbClr val="0F4662"/>
              </a:solidFill>
              <a:latin typeface="Cormorant Garamond"/>
              <a:ea typeface="Cormorant Garamond"/>
              <a:cs typeface="Cormorant Garamond"/>
              <a:sym typeface="Cormorant Garamond"/>
            </a:endParaRPr>
          </a:p>
          <a:p>
            <a:pPr algn="just">
              <a:lnSpc>
                <a:spcPts val="5973"/>
              </a:lnSpc>
            </a:pPr>
            <a:endParaRPr lang="en-US" sz="4266" dirty="0">
              <a:solidFill>
                <a:srgbClr val="0F4662"/>
              </a:solidFill>
              <a:latin typeface="Cormorant Garamond"/>
              <a:ea typeface="Cormorant Garamond"/>
              <a:cs typeface="Cormorant Garamond"/>
              <a:sym typeface="Cormorant Garamond"/>
            </a:endParaRPr>
          </a:p>
          <a:p>
            <a:pPr algn="just">
              <a:lnSpc>
                <a:spcPts val="5973"/>
              </a:lnSpc>
              <a:spcBef>
                <a:spcPct val="0"/>
              </a:spcBef>
            </a:pPr>
            <a:endParaRPr lang="en-US" sz="4266" dirty="0">
              <a:solidFill>
                <a:srgbClr val="0F4662"/>
              </a:solidFill>
              <a:latin typeface="Cormorant Garamond"/>
              <a:ea typeface="Cormorant Garamond"/>
              <a:cs typeface="Cormorant Garamond"/>
              <a:sym typeface="Cormorant Garamond"/>
            </a:endParaRPr>
          </a:p>
        </p:txBody>
      </p:sp>
    </p:spTree>
    <p:extLst>
      <p:ext uri="{BB962C8B-B14F-4D97-AF65-F5344CB8AC3E}">
        <p14:creationId xmlns:p14="http://schemas.microsoft.com/office/powerpoint/2010/main" val="190926643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1210695"/>
            <a:ext cx="11287478" cy="4771243"/>
          </a:xfrm>
          <a:prstGeom prst="rect">
            <a:avLst/>
          </a:prstGeom>
        </p:spPr>
        <p:txBody>
          <a:bodyPr lIns="0" tIns="0" rIns="0" bIns="0" rtlCol="0" anchor="t">
            <a:spAutoFit/>
          </a:bodyPr>
          <a:lstStyle/>
          <a:p>
            <a:pPr>
              <a:lnSpc>
                <a:spcPts val="4150"/>
              </a:lnSpc>
            </a:pPr>
            <a:r>
              <a:rPr lang="en-US" sz="2000" u="sng" dirty="0">
                <a:latin typeface="Antique Olive"/>
                <a:ea typeface="Quicksand Bold"/>
                <a:cs typeface="Quicksand Bold"/>
                <a:sym typeface="Quicksand Bold"/>
              </a:rPr>
              <a:t>Output prime numbers</a:t>
            </a:r>
          </a:p>
          <a:p>
            <a:pPr>
              <a:lnSpc>
                <a:spcPts val="4150"/>
              </a:lnSpc>
            </a:pPr>
            <a:r>
              <a:rPr lang="en-US" sz="2000" dirty="0">
                <a:latin typeface="Antique Olive"/>
                <a:ea typeface="Quicksand Bold"/>
                <a:cs typeface="Quicksand Bold"/>
                <a:sym typeface="Quicksand Bold"/>
              </a:rPr>
              <a:t>An integer number greater than 1 is called a </a:t>
            </a:r>
            <a:r>
              <a:rPr lang="en-US" sz="2000" u="sng" dirty="0">
                <a:latin typeface="Antique Olive"/>
                <a:ea typeface="Quicksand Bold"/>
                <a:cs typeface="Quicksand Bold"/>
                <a:sym typeface="Quicksand Bold"/>
              </a:rPr>
              <a:t>prime</a:t>
            </a:r>
            <a:r>
              <a:rPr lang="en-US" sz="2000" dirty="0">
                <a:latin typeface="Antique Olive"/>
                <a:ea typeface="Quicksand Bold"/>
                <a:cs typeface="Quicksand Bold"/>
                <a:sym typeface="Quicksand Bold"/>
              </a:rPr>
              <a:t> if it cannot be divided without a remainder by anything except 1 and itself.</a:t>
            </a:r>
          </a:p>
          <a:p>
            <a:pPr>
              <a:lnSpc>
                <a:spcPts val="4150"/>
              </a:lnSpc>
            </a:pPr>
            <a:r>
              <a:rPr lang="en-US" sz="2000" dirty="0">
                <a:latin typeface="Antique Olive"/>
                <a:ea typeface="Quicksand Bold"/>
                <a:cs typeface="Quicksand Bold"/>
                <a:sym typeface="Quicksand Bold"/>
              </a:rPr>
              <a:t>In other words, n &gt; 1 is a prime if it can’t be evenly divided by anything except 1 and n.</a:t>
            </a:r>
          </a:p>
          <a:p>
            <a:pPr>
              <a:lnSpc>
                <a:spcPts val="4150"/>
              </a:lnSpc>
            </a:pPr>
            <a:r>
              <a:rPr lang="en-US" sz="2000" dirty="0">
                <a:latin typeface="Antique Olive"/>
                <a:ea typeface="Quicksand Bold"/>
                <a:cs typeface="Quicksand Bold"/>
                <a:sym typeface="Quicksand Bold"/>
              </a:rPr>
              <a:t>For example, 5 is a prime, because it cannot be divided without a remainder by 2, 3 and 4.</a:t>
            </a:r>
          </a:p>
          <a:p>
            <a:pPr>
              <a:lnSpc>
                <a:spcPts val="4150"/>
              </a:lnSpc>
            </a:pPr>
            <a:r>
              <a:rPr lang="en-US" sz="2000" dirty="0">
                <a:latin typeface="Antique Olive"/>
                <a:ea typeface="Quicksand Bold"/>
                <a:cs typeface="Quicksand Bold"/>
                <a:sym typeface="Quicksand Bold"/>
              </a:rPr>
              <a:t>Write the code which outputs prime numbers in the interval from 2 to n.</a:t>
            </a:r>
          </a:p>
          <a:p>
            <a:pPr>
              <a:lnSpc>
                <a:spcPts val="4150"/>
              </a:lnSpc>
            </a:pPr>
            <a:r>
              <a:rPr lang="en-US" sz="2000" dirty="0">
                <a:latin typeface="Antique Olive"/>
                <a:ea typeface="Quicksand Bold"/>
                <a:cs typeface="Quicksand Bold"/>
                <a:sym typeface="Quicksand Bold"/>
              </a:rPr>
              <a:t>For n = 10 the result will be 2,3,5,7.</a:t>
            </a:r>
          </a:p>
          <a:p>
            <a:pPr>
              <a:lnSpc>
                <a:spcPts val="4150"/>
              </a:lnSpc>
            </a:pPr>
            <a:r>
              <a:rPr lang="en-US" sz="2000" dirty="0">
                <a:latin typeface="Antique Olive"/>
                <a:ea typeface="Quicksand Bold"/>
                <a:cs typeface="Quicksand Bold"/>
                <a:sym typeface="Quicksand Bold"/>
              </a:rPr>
              <a:t>P.S. The code should work for any n, not be hard-tuned for any fixed value.</a:t>
            </a:r>
          </a:p>
          <a:p>
            <a:pPr>
              <a:lnSpc>
                <a:spcPts val="4150"/>
              </a:lnSpc>
            </a:pPr>
            <a:endParaRPr lang="en-US" sz="2000" dirty="0">
              <a:latin typeface="Antique Olive"/>
              <a:ea typeface="Quicksand Bold"/>
              <a:cs typeface="Quicksand Bold"/>
              <a:sym typeface="Quicksand Bold"/>
              <a:hlinkClick r:id="rId2" tooltip="https://javascript.info/while-for#repeat-until-the-input-is-correct">
                <a:extLst>
                  <a:ext uri="{A12FA001-AC4F-418D-AE19-62706E023703}">
                    <ahyp:hlinkClr xmlns:ahyp="http://schemas.microsoft.com/office/drawing/2018/hyperlinkcolor" val="tx"/>
                  </a:ext>
                </a:extLst>
              </a:hlinkClick>
            </a:endParaRPr>
          </a:p>
        </p:txBody>
      </p:sp>
      <p:sp>
        <p:nvSpPr>
          <p:cNvPr id="3" name="TextBox 3"/>
          <p:cNvSpPr txBox="1"/>
          <p:nvPr/>
        </p:nvSpPr>
        <p:spPr>
          <a:xfrm>
            <a:off x="4441013" y="156457"/>
            <a:ext cx="7532265" cy="3009991"/>
          </a:xfrm>
          <a:prstGeom prst="rect">
            <a:avLst/>
          </a:prstGeom>
        </p:spPr>
        <p:txBody>
          <a:bodyPr lIns="0" tIns="0" rIns="0" bIns="0" rtlCol="0" anchor="t">
            <a:spAutoFit/>
          </a:bodyPr>
          <a:lstStyle/>
          <a:p>
            <a:pPr algn="just">
              <a:lnSpc>
                <a:spcPts val="5973"/>
              </a:lnSpc>
            </a:pPr>
            <a:r>
              <a:rPr lang="en-US" sz="4000" b="1" dirty="0">
                <a:latin typeface="Antique Olive"/>
                <a:ea typeface="Cormorant Garamond"/>
                <a:cs typeface="Cormorant Garamond"/>
                <a:sym typeface="Cormorant Garamond"/>
              </a:rPr>
              <a:t>Task</a:t>
            </a:r>
          </a:p>
          <a:p>
            <a:pPr algn="just">
              <a:lnSpc>
                <a:spcPts val="5973"/>
              </a:lnSpc>
            </a:pPr>
            <a:endParaRPr lang="en-US" sz="4266" dirty="0">
              <a:solidFill>
                <a:srgbClr val="0F4662"/>
              </a:solidFill>
              <a:latin typeface="Cormorant Garamond"/>
              <a:ea typeface="Cormorant Garamond"/>
              <a:cs typeface="Cormorant Garamond"/>
              <a:sym typeface="Cormorant Garamond"/>
            </a:endParaRPr>
          </a:p>
          <a:p>
            <a:pPr algn="just">
              <a:lnSpc>
                <a:spcPts val="5973"/>
              </a:lnSpc>
            </a:pPr>
            <a:endParaRPr lang="en-US" sz="4266" dirty="0">
              <a:solidFill>
                <a:srgbClr val="0F4662"/>
              </a:solidFill>
              <a:latin typeface="Cormorant Garamond"/>
              <a:ea typeface="Cormorant Garamond"/>
              <a:cs typeface="Cormorant Garamond"/>
              <a:sym typeface="Cormorant Garamond"/>
            </a:endParaRPr>
          </a:p>
          <a:p>
            <a:pPr algn="just">
              <a:lnSpc>
                <a:spcPts val="5973"/>
              </a:lnSpc>
              <a:spcBef>
                <a:spcPct val="0"/>
              </a:spcBef>
            </a:pPr>
            <a:endParaRPr lang="en-US" sz="4266" dirty="0">
              <a:solidFill>
                <a:srgbClr val="0F4662"/>
              </a:solidFill>
              <a:latin typeface="Cormorant Garamond"/>
              <a:ea typeface="Cormorant Garamond"/>
              <a:cs typeface="Cormorant Garamond"/>
              <a:sym typeface="Cormorant Garamond"/>
            </a:endParaRPr>
          </a:p>
        </p:txBody>
      </p:sp>
    </p:spTree>
    <p:extLst>
      <p:ext uri="{BB962C8B-B14F-4D97-AF65-F5344CB8AC3E}">
        <p14:creationId xmlns:p14="http://schemas.microsoft.com/office/powerpoint/2010/main" val="20310464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907714" y="2254253"/>
            <a:ext cx="8401973" cy="3310760"/>
          </a:xfrm>
          <a:custGeom>
            <a:avLst/>
            <a:gdLst/>
            <a:ahLst/>
            <a:cxnLst/>
            <a:rect l="l" t="t" r="r" b="b"/>
            <a:pathLst>
              <a:path w="12602959" h="4966140">
                <a:moveTo>
                  <a:pt x="0" y="0"/>
                </a:moveTo>
                <a:lnTo>
                  <a:pt x="12602958" y="0"/>
                </a:lnTo>
                <a:lnTo>
                  <a:pt x="12602958" y="4966139"/>
                </a:lnTo>
                <a:lnTo>
                  <a:pt x="0" y="4966139"/>
                </a:lnTo>
                <a:lnTo>
                  <a:pt x="0" y="0"/>
                </a:lnTo>
                <a:close/>
              </a:path>
            </a:pathLst>
          </a:custGeom>
          <a:blipFill>
            <a:blip r:embed="rId2"/>
            <a:stretch>
              <a:fillRect/>
            </a:stretch>
          </a:blipFill>
        </p:spPr>
      </p:sp>
      <p:sp>
        <p:nvSpPr>
          <p:cNvPr id="3" name="TextBox 3"/>
          <p:cNvSpPr txBox="1"/>
          <p:nvPr/>
        </p:nvSpPr>
        <p:spPr>
          <a:xfrm>
            <a:off x="685800" y="1210695"/>
            <a:ext cx="11287478" cy="1552476"/>
          </a:xfrm>
          <a:prstGeom prst="rect">
            <a:avLst/>
          </a:prstGeom>
        </p:spPr>
        <p:txBody>
          <a:bodyPr lIns="0" tIns="0" rIns="0" bIns="0" rtlCol="0" anchor="t">
            <a:spAutoFit/>
          </a:bodyPr>
          <a:lstStyle/>
          <a:p>
            <a:pPr>
              <a:lnSpc>
                <a:spcPts val="4150"/>
              </a:lnSpc>
            </a:pPr>
            <a:r>
              <a:rPr lang="en-US" sz="2441" b="1" u="sng">
                <a:solidFill>
                  <a:srgbClr val="0F4662"/>
                </a:solidFill>
                <a:latin typeface="Quicksand Bold"/>
                <a:ea typeface="Quicksand Bold"/>
                <a:cs typeface="Quicksand Bold"/>
                <a:sym typeface="Quicksand Bold"/>
                <a:hlinkClick r:id="rId3" tooltip="https://javascript.info/while-for#output-prime-numbers"/>
              </a:rPr>
              <a:t>Output prime numbers</a:t>
            </a:r>
          </a:p>
          <a:p>
            <a:pPr>
              <a:lnSpc>
                <a:spcPts val="4150"/>
              </a:lnSpc>
            </a:pPr>
            <a:endParaRPr lang="en-US" sz="2441" b="1" u="sng">
              <a:solidFill>
                <a:srgbClr val="0F4662"/>
              </a:solidFill>
              <a:latin typeface="Quicksand Bold"/>
              <a:ea typeface="Quicksand Bold"/>
              <a:cs typeface="Quicksand Bold"/>
              <a:sym typeface="Quicksand Bold"/>
              <a:hlinkClick r:id="rId3" tooltip="https://javascript.info/while-for#output-prime-numbers"/>
            </a:endParaRPr>
          </a:p>
          <a:p>
            <a:pPr>
              <a:lnSpc>
                <a:spcPts val="4150"/>
              </a:lnSpc>
            </a:pPr>
            <a:endParaRPr lang="en-US" sz="2441" b="1" u="sng">
              <a:solidFill>
                <a:srgbClr val="0F4662"/>
              </a:solidFill>
              <a:latin typeface="Quicksand Bold"/>
              <a:ea typeface="Quicksand Bold"/>
              <a:cs typeface="Quicksand Bold"/>
              <a:sym typeface="Quicksand Bold"/>
              <a:hlinkClick r:id="rId3" tooltip="https://javascript.info/while-for#output-prime-numbers"/>
            </a:endParaRPr>
          </a:p>
        </p:txBody>
      </p:sp>
      <p:sp>
        <p:nvSpPr>
          <p:cNvPr id="4" name="TextBox 4"/>
          <p:cNvSpPr txBox="1"/>
          <p:nvPr/>
        </p:nvSpPr>
        <p:spPr>
          <a:xfrm>
            <a:off x="3973935" y="138702"/>
            <a:ext cx="7532265" cy="3009991"/>
          </a:xfrm>
          <a:prstGeom prst="rect">
            <a:avLst/>
          </a:prstGeom>
        </p:spPr>
        <p:txBody>
          <a:bodyPr lIns="0" tIns="0" rIns="0" bIns="0" rtlCol="0" anchor="t">
            <a:spAutoFit/>
          </a:bodyPr>
          <a:lstStyle/>
          <a:p>
            <a:pPr algn="just">
              <a:lnSpc>
                <a:spcPts val="5973"/>
              </a:lnSpc>
            </a:pPr>
            <a:r>
              <a:rPr lang="en-US" sz="4400" b="1" dirty="0">
                <a:latin typeface="Antique Olive" panose="020B0603020204030204"/>
                <a:ea typeface="Cormorant Garamond"/>
                <a:cs typeface="Cormorant Garamond"/>
                <a:sym typeface="Cormorant Garamond"/>
              </a:rPr>
              <a:t>Task Solution</a:t>
            </a:r>
          </a:p>
          <a:p>
            <a:pPr algn="just">
              <a:lnSpc>
                <a:spcPts val="5973"/>
              </a:lnSpc>
            </a:pPr>
            <a:endParaRPr lang="en-US" sz="4266" dirty="0">
              <a:solidFill>
                <a:srgbClr val="0F4662"/>
              </a:solidFill>
              <a:latin typeface="Cormorant Garamond"/>
              <a:ea typeface="Cormorant Garamond"/>
              <a:cs typeface="Cormorant Garamond"/>
              <a:sym typeface="Cormorant Garamond"/>
            </a:endParaRPr>
          </a:p>
          <a:p>
            <a:pPr algn="just">
              <a:lnSpc>
                <a:spcPts val="5973"/>
              </a:lnSpc>
            </a:pPr>
            <a:endParaRPr lang="en-US" sz="4266" dirty="0">
              <a:solidFill>
                <a:srgbClr val="0F4662"/>
              </a:solidFill>
              <a:latin typeface="Cormorant Garamond"/>
              <a:ea typeface="Cormorant Garamond"/>
              <a:cs typeface="Cormorant Garamond"/>
              <a:sym typeface="Cormorant Garamond"/>
            </a:endParaRPr>
          </a:p>
          <a:p>
            <a:pPr algn="just">
              <a:lnSpc>
                <a:spcPts val="5973"/>
              </a:lnSpc>
              <a:spcBef>
                <a:spcPct val="0"/>
              </a:spcBef>
            </a:pPr>
            <a:endParaRPr lang="en-US" sz="4266" dirty="0">
              <a:solidFill>
                <a:srgbClr val="0F4662"/>
              </a:solidFill>
              <a:latin typeface="Cormorant Garamond"/>
              <a:ea typeface="Cormorant Garamond"/>
              <a:cs typeface="Cormorant Garamond"/>
              <a:sym typeface="Cormorant Garamond"/>
            </a:endParaRPr>
          </a:p>
        </p:txBody>
      </p:sp>
    </p:spTree>
    <p:extLst>
      <p:ext uri="{BB962C8B-B14F-4D97-AF65-F5344CB8AC3E}">
        <p14:creationId xmlns:p14="http://schemas.microsoft.com/office/powerpoint/2010/main" val="715249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9814C-4093-6175-246F-8CF0884FA100}"/>
            </a:ext>
          </a:extLst>
        </p:cNvPr>
        <p:cNvGrpSpPr/>
        <p:nvPr/>
      </p:nvGrpSpPr>
      <p:grpSpPr>
        <a:xfrm>
          <a:off x="0" y="0"/>
          <a:ext cx="0" cy="0"/>
          <a:chOff x="0" y="0"/>
          <a:chExt cx="0" cy="0"/>
        </a:xfrm>
      </p:grpSpPr>
      <p:sp>
        <p:nvSpPr>
          <p:cNvPr id="4" name="TextBox 4">
            <a:extLst>
              <a:ext uri="{FF2B5EF4-FFF2-40B4-BE49-F238E27FC236}">
                <a16:creationId xmlns:a16="http://schemas.microsoft.com/office/drawing/2014/main" id="{3EEC0D07-DABF-7544-9C55-BE78E8A80D06}"/>
              </a:ext>
            </a:extLst>
          </p:cNvPr>
          <p:cNvSpPr txBox="1"/>
          <p:nvPr/>
        </p:nvSpPr>
        <p:spPr>
          <a:xfrm>
            <a:off x="4473997" y="124415"/>
            <a:ext cx="7532265" cy="3009991"/>
          </a:xfrm>
          <a:prstGeom prst="rect">
            <a:avLst/>
          </a:prstGeom>
        </p:spPr>
        <p:txBody>
          <a:bodyPr lIns="0" tIns="0" rIns="0" bIns="0" rtlCol="0" anchor="t">
            <a:spAutoFit/>
          </a:bodyPr>
          <a:lstStyle/>
          <a:p>
            <a:pPr algn="just">
              <a:lnSpc>
                <a:spcPts val="5973"/>
              </a:lnSpc>
            </a:pPr>
            <a:r>
              <a:rPr lang="en-US" sz="4400" b="1" dirty="0">
                <a:latin typeface="Antique Olive" panose="020B0603020204030204"/>
                <a:ea typeface="Cormorant Garamond"/>
                <a:cs typeface="Cormorant Garamond"/>
                <a:sym typeface="Cormorant Garamond"/>
              </a:rPr>
              <a:t>Task</a:t>
            </a:r>
          </a:p>
          <a:p>
            <a:pPr algn="just">
              <a:lnSpc>
                <a:spcPts val="5973"/>
              </a:lnSpc>
            </a:pPr>
            <a:endParaRPr lang="en-US" sz="4266" dirty="0">
              <a:solidFill>
                <a:srgbClr val="0F4662"/>
              </a:solidFill>
              <a:latin typeface="Cormorant Garamond"/>
              <a:ea typeface="Cormorant Garamond"/>
              <a:cs typeface="Cormorant Garamond"/>
              <a:sym typeface="Cormorant Garamond"/>
            </a:endParaRPr>
          </a:p>
          <a:p>
            <a:pPr algn="just">
              <a:lnSpc>
                <a:spcPts val="5973"/>
              </a:lnSpc>
            </a:pPr>
            <a:endParaRPr lang="en-US" sz="4266" dirty="0">
              <a:solidFill>
                <a:srgbClr val="0F4662"/>
              </a:solidFill>
              <a:latin typeface="Cormorant Garamond"/>
              <a:ea typeface="Cormorant Garamond"/>
              <a:cs typeface="Cormorant Garamond"/>
              <a:sym typeface="Cormorant Garamond"/>
            </a:endParaRPr>
          </a:p>
          <a:p>
            <a:pPr algn="just">
              <a:lnSpc>
                <a:spcPts val="5973"/>
              </a:lnSpc>
              <a:spcBef>
                <a:spcPct val="0"/>
              </a:spcBef>
            </a:pPr>
            <a:endParaRPr lang="en-US" sz="4266" dirty="0">
              <a:solidFill>
                <a:srgbClr val="0F4662"/>
              </a:solidFill>
              <a:latin typeface="Cormorant Garamond"/>
              <a:ea typeface="Cormorant Garamond"/>
              <a:cs typeface="Cormorant Garamond"/>
              <a:sym typeface="Cormorant Garamond"/>
            </a:endParaRPr>
          </a:p>
        </p:txBody>
      </p:sp>
      <p:sp>
        <p:nvSpPr>
          <p:cNvPr id="6" name="TextBox 5">
            <a:extLst>
              <a:ext uri="{FF2B5EF4-FFF2-40B4-BE49-F238E27FC236}">
                <a16:creationId xmlns:a16="http://schemas.microsoft.com/office/drawing/2014/main" id="{2A88EF38-6E3D-E6AF-EB42-AA5DB1C11FBA}"/>
              </a:ext>
            </a:extLst>
          </p:cNvPr>
          <p:cNvSpPr txBox="1"/>
          <p:nvPr/>
        </p:nvSpPr>
        <p:spPr>
          <a:xfrm>
            <a:off x="827112" y="841203"/>
            <a:ext cx="9917087" cy="5909310"/>
          </a:xfrm>
          <a:prstGeom prst="rect">
            <a:avLst/>
          </a:prstGeom>
          <a:noFill/>
        </p:spPr>
        <p:txBody>
          <a:bodyPr wrap="square">
            <a:spAutoFit/>
          </a:bodyPr>
          <a:lstStyle/>
          <a:p>
            <a:pPr>
              <a:buNone/>
            </a:pPr>
            <a:r>
              <a:rPr lang="en-US" b="1" dirty="0"/>
              <a:t>Task Description</a:t>
            </a:r>
          </a:p>
          <a:p>
            <a:pPr>
              <a:buNone/>
            </a:pPr>
            <a:r>
              <a:rPr lang="en-US" dirty="0"/>
              <a:t>Create a simple </a:t>
            </a:r>
            <a:r>
              <a:rPr lang="en-US" b="1" dirty="0"/>
              <a:t>Student Management System</a:t>
            </a:r>
            <a:r>
              <a:rPr lang="en-US" dirty="0"/>
              <a:t> using JavaScript that allows the user to enter student information, store grades, and display a full report.</a:t>
            </a:r>
          </a:p>
          <a:p>
            <a:r>
              <a:rPr lang="en-US" b="1" dirty="0"/>
              <a:t>Main Requirements</a:t>
            </a:r>
            <a:endParaRPr lang="en-US" dirty="0"/>
          </a:p>
          <a:p>
            <a:r>
              <a:rPr lang="en-US" b="1" dirty="0"/>
              <a:t>1  Collect Student Information</a:t>
            </a:r>
          </a:p>
          <a:p>
            <a:r>
              <a:rPr lang="en-US" dirty="0"/>
              <a:t>Ask the user to enter:</a:t>
            </a:r>
          </a:p>
          <a:p>
            <a:r>
              <a:rPr lang="en-US" dirty="0"/>
              <a:t>Student Name</a:t>
            </a:r>
          </a:p>
          <a:p>
            <a:r>
              <a:rPr lang="en-US" dirty="0"/>
              <a:t>Student Age</a:t>
            </a:r>
          </a:p>
          <a:p>
            <a:r>
              <a:rPr lang="en-US" b="1" dirty="0"/>
              <a:t>2  Collect Student Grades</a:t>
            </a:r>
          </a:p>
          <a:p>
            <a:r>
              <a:rPr lang="en-US" dirty="0"/>
              <a:t>Ask the user to enter grades repeatedly</a:t>
            </a:r>
          </a:p>
          <a:p>
            <a:r>
              <a:rPr lang="en-US" dirty="0"/>
              <a:t>Stop asking when the user types </a:t>
            </a:r>
            <a:r>
              <a:rPr lang="en-US" b="1" dirty="0"/>
              <a:t>"stop"</a:t>
            </a:r>
            <a:endParaRPr lang="en-US" dirty="0"/>
          </a:p>
          <a:p>
            <a:r>
              <a:rPr lang="en-US" dirty="0"/>
              <a:t>Store all grades inside an </a:t>
            </a:r>
            <a:r>
              <a:rPr lang="en-US" b="1" dirty="0"/>
              <a:t>array</a:t>
            </a:r>
            <a:endParaRPr lang="en-US" dirty="0"/>
          </a:p>
          <a:p>
            <a:r>
              <a:rPr lang="en-US" b="1" dirty="0"/>
              <a:t>Validation:</a:t>
            </a:r>
          </a:p>
          <a:p>
            <a:r>
              <a:rPr lang="en-US" dirty="0"/>
              <a:t>Grade must be a number</a:t>
            </a:r>
          </a:p>
          <a:p>
            <a:r>
              <a:rPr lang="en-US" dirty="0"/>
              <a:t>Grade must be between 0 and 100</a:t>
            </a:r>
          </a:p>
          <a:p>
            <a:r>
              <a:rPr lang="en-US" b="1" dirty="0"/>
              <a:t>3 Store Data in Object</a:t>
            </a:r>
          </a:p>
          <a:p>
            <a:r>
              <a:rPr lang="en-US" dirty="0"/>
              <a:t>Create a student object that contains:</a:t>
            </a:r>
          </a:p>
          <a:p>
            <a:r>
              <a:rPr lang="en-US" dirty="0"/>
              <a:t>Name</a:t>
            </a:r>
          </a:p>
          <a:p>
            <a:r>
              <a:rPr lang="en-US" dirty="0"/>
              <a:t>Age</a:t>
            </a:r>
          </a:p>
          <a:p>
            <a:r>
              <a:rPr lang="en-US" dirty="0"/>
              <a:t>Grades Array</a:t>
            </a:r>
          </a:p>
          <a:p>
            <a:pPr>
              <a:buNone/>
            </a:pPr>
            <a:endParaRPr lang="en-US" dirty="0"/>
          </a:p>
        </p:txBody>
      </p:sp>
      <p:sp>
        <p:nvSpPr>
          <p:cNvPr id="8" name="TextBox 7">
            <a:extLst>
              <a:ext uri="{FF2B5EF4-FFF2-40B4-BE49-F238E27FC236}">
                <a16:creationId xmlns:a16="http://schemas.microsoft.com/office/drawing/2014/main" id="{33942296-B82E-3DC7-9E1D-50D98B2899AE}"/>
              </a:ext>
            </a:extLst>
          </p:cNvPr>
          <p:cNvSpPr txBox="1"/>
          <p:nvPr/>
        </p:nvSpPr>
        <p:spPr>
          <a:xfrm>
            <a:off x="6096000" y="2015435"/>
            <a:ext cx="6122194" cy="4524315"/>
          </a:xfrm>
          <a:prstGeom prst="rect">
            <a:avLst/>
          </a:prstGeom>
          <a:noFill/>
        </p:spPr>
        <p:txBody>
          <a:bodyPr wrap="square">
            <a:spAutoFit/>
          </a:bodyPr>
          <a:lstStyle/>
          <a:p>
            <a:r>
              <a:rPr lang="en-US" b="1" dirty="0"/>
              <a:t>4 Calculate Statistics</a:t>
            </a:r>
          </a:p>
          <a:p>
            <a:r>
              <a:rPr lang="en-US" dirty="0"/>
              <a:t>Calculate:</a:t>
            </a:r>
          </a:p>
          <a:p>
            <a:r>
              <a:rPr lang="en-US" dirty="0"/>
              <a:t>Average grade</a:t>
            </a:r>
          </a:p>
          <a:p>
            <a:r>
              <a:rPr lang="en-US" dirty="0"/>
              <a:t>Highest grade</a:t>
            </a:r>
          </a:p>
          <a:p>
            <a:r>
              <a:rPr lang="en-US" dirty="0"/>
              <a:t>Lowest grade</a:t>
            </a:r>
          </a:p>
          <a:p>
            <a:r>
              <a:rPr lang="en-US" b="1" dirty="0"/>
              <a:t>5 Display Student Report</a:t>
            </a:r>
          </a:p>
          <a:p>
            <a:r>
              <a:rPr lang="en-US" dirty="0"/>
              <a:t>Display a final report including:</a:t>
            </a:r>
          </a:p>
          <a:p>
            <a:r>
              <a:rPr lang="en-US" dirty="0"/>
              <a:t>Student Name</a:t>
            </a:r>
          </a:p>
          <a:p>
            <a:r>
              <a:rPr lang="en-US" dirty="0"/>
              <a:t>Student Age</a:t>
            </a:r>
          </a:p>
          <a:p>
            <a:r>
              <a:rPr lang="en-US" dirty="0"/>
              <a:t>All Grades</a:t>
            </a:r>
          </a:p>
          <a:p>
            <a:r>
              <a:rPr lang="en-US" dirty="0"/>
              <a:t>Average Grade</a:t>
            </a:r>
          </a:p>
          <a:p>
            <a:r>
              <a:rPr lang="en-US" dirty="0"/>
              <a:t>Student Status</a:t>
            </a:r>
          </a:p>
          <a:p>
            <a:r>
              <a:rPr lang="en-US" b="1" dirty="0"/>
              <a:t>Status Rules</a:t>
            </a:r>
          </a:p>
          <a:p>
            <a:r>
              <a:rPr lang="en-US" dirty="0"/>
              <a:t>Average &gt;= 60 → Passed</a:t>
            </a:r>
          </a:p>
          <a:p>
            <a:r>
              <a:rPr lang="en-US" dirty="0"/>
              <a:t>Average &lt; 60 → Failed</a:t>
            </a:r>
          </a:p>
          <a:p>
            <a:endParaRPr lang="en-US" dirty="0"/>
          </a:p>
        </p:txBody>
      </p:sp>
    </p:spTree>
    <p:extLst>
      <p:ext uri="{BB962C8B-B14F-4D97-AF65-F5344CB8AC3E}">
        <p14:creationId xmlns:p14="http://schemas.microsoft.com/office/powerpoint/2010/main" val="37250943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9A0BA-DD75-EA04-795A-8A4AABA8EB8A}"/>
            </a:ext>
          </a:extLst>
        </p:cNvPr>
        <p:cNvGrpSpPr/>
        <p:nvPr/>
      </p:nvGrpSpPr>
      <p:grpSpPr>
        <a:xfrm>
          <a:off x="0" y="0"/>
          <a:ext cx="0" cy="0"/>
          <a:chOff x="0" y="0"/>
          <a:chExt cx="0" cy="0"/>
        </a:xfrm>
      </p:grpSpPr>
      <p:sp>
        <p:nvSpPr>
          <p:cNvPr id="4" name="TextBox 4">
            <a:extLst>
              <a:ext uri="{FF2B5EF4-FFF2-40B4-BE49-F238E27FC236}">
                <a16:creationId xmlns:a16="http://schemas.microsoft.com/office/drawing/2014/main" id="{A13DD34E-C8A2-D4E5-D9F3-DE877260BB49}"/>
              </a:ext>
            </a:extLst>
          </p:cNvPr>
          <p:cNvSpPr txBox="1"/>
          <p:nvPr/>
        </p:nvSpPr>
        <p:spPr>
          <a:xfrm>
            <a:off x="4473997" y="124415"/>
            <a:ext cx="7532265" cy="3009991"/>
          </a:xfrm>
          <a:prstGeom prst="rect">
            <a:avLst/>
          </a:prstGeom>
        </p:spPr>
        <p:txBody>
          <a:bodyPr lIns="0" tIns="0" rIns="0" bIns="0" rtlCol="0" anchor="t">
            <a:spAutoFit/>
          </a:bodyPr>
          <a:lstStyle/>
          <a:p>
            <a:pPr algn="just">
              <a:lnSpc>
                <a:spcPts val="5973"/>
              </a:lnSpc>
            </a:pPr>
            <a:r>
              <a:rPr lang="en-US" sz="4400" b="1" dirty="0">
                <a:latin typeface="Antique Olive" panose="020B0603020204030204"/>
                <a:ea typeface="Cormorant Garamond"/>
                <a:cs typeface="Cormorant Garamond"/>
                <a:sym typeface="Cormorant Garamond"/>
              </a:rPr>
              <a:t>Bonus Task</a:t>
            </a:r>
          </a:p>
          <a:p>
            <a:pPr algn="just">
              <a:lnSpc>
                <a:spcPts val="5973"/>
              </a:lnSpc>
            </a:pPr>
            <a:endParaRPr lang="en-US" sz="4266" dirty="0">
              <a:solidFill>
                <a:srgbClr val="0F4662"/>
              </a:solidFill>
              <a:latin typeface="Cormorant Garamond"/>
              <a:ea typeface="Cormorant Garamond"/>
              <a:cs typeface="Cormorant Garamond"/>
              <a:sym typeface="Cormorant Garamond"/>
            </a:endParaRPr>
          </a:p>
          <a:p>
            <a:pPr algn="just">
              <a:lnSpc>
                <a:spcPts val="5973"/>
              </a:lnSpc>
            </a:pPr>
            <a:endParaRPr lang="en-US" sz="4266" dirty="0">
              <a:solidFill>
                <a:srgbClr val="0F4662"/>
              </a:solidFill>
              <a:latin typeface="Cormorant Garamond"/>
              <a:ea typeface="Cormorant Garamond"/>
              <a:cs typeface="Cormorant Garamond"/>
              <a:sym typeface="Cormorant Garamond"/>
            </a:endParaRPr>
          </a:p>
          <a:p>
            <a:pPr algn="just">
              <a:lnSpc>
                <a:spcPts val="5973"/>
              </a:lnSpc>
              <a:spcBef>
                <a:spcPct val="0"/>
              </a:spcBef>
            </a:pPr>
            <a:endParaRPr lang="en-US" sz="4266" dirty="0">
              <a:solidFill>
                <a:srgbClr val="0F4662"/>
              </a:solidFill>
              <a:latin typeface="Cormorant Garamond"/>
              <a:ea typeface="Cormorant Garamond"/>
              <a:cs typeface="Cormorant Garamond"/>
              <a:sym typeface="Cormorant Garamond"/>
            </a:endParaRPr>
          </a:p>
        </p:txBody>
      </p:sp>
      <p:sp>
        <p:nvSpPr>
          <p:cNvPr id="6" name="TextBox 5">
            <a:extLst>
              <a:ext uri="{FF2B5EF4-FFF2-40B4-BE49-F238E27FC236}">
                <a16:creationId xmlns:a16="http://schemas.microsoft.com/office/drawing/2014/main" id="{A748A5C0-4433-BE15-9AA3-23A15711FB0F}"/>
              </a:ext>
            </a:extLst>
          </p:cNvPr>
          <p:cNvSpPr txBox="1"/>
          <p:nvPr/>
        </p:nvSpPr>
        <p:spPr>
          <a:xfrm>
            <a:off x="827112" y="841203"/>
            <a:ext cx="9917087" cy="5632311"/>
          </a:xfrm>
          <a:prstGeom prst="rect">
            <a:avLst/>
          </a:prstGeom>
          <a:noFill/>
        </p:spPr>
        <p:txBody>
          <a:bodyPr wrap="square">
            <a:spAutoFit/>
          </a:bodyPr>
          <a:lstStyle/>
          <a:p>
            <a:r>
              <a:rPr lang="en-US" b="1" dirty="0"/>
              <a:t>Bonus 1 — Input Validation</a:t>
            </a:r>
          </a:p>
          <a:p>
            <a:r>
              <a:rPr lang="en-US" dirty="0"/>
              <a:t>If user enters:</a:t>
            </a:r>
          </a:p>
          <a:p>
            <a:r>
              <a:rPr lang="en-US" dirty="0"/>
              <a:t>Text instead of number</a:t>
            </a:r>
          </a:p>
          <a:p>
            <a:r>
              <a:rPr lang="en-US" dirty="0"/>
              <a:t>Number outside 0 → 100</a:t>
            </a:r>
          </a:p>
          <a:p>
            <a:r>
              <a:rPr lang="en-US" dirty="0"/>
              <a:t>Show error message</a:t>
            </a:r>
            <a:br>
              <a:rPr lang="en-US" dirty="0"/>
            </a:br>
            <a:r>
              <a:rPr lang="en-US" dirty="0"/>
              <a:t>Ask again</a:t>
            </a:r>
          </a:p>
          <a:p>
            <a:r>
              <a:rPr lang="en-US" b="1" dirty="0"/>
              <a:t>Bonus 2 — Minimum Grades Check</a:t>
            </a:r>
          </a:p>
          <a:p>
            <a:r>
              <a:rPr lang="en-US" dirty="0"/>
              <a:t>Do not allow finishing input unless:</a:t>
            </a:r>
          </a:p>
          <a:p>
            <a:r>
              <a:rPr lang="en-US" dirty="0"/>
              <a:t>User entered at least 3 grades</a:t>
            </a:r>
          </a:p>
          <a:p>
            <a:r>
              <a:rPr lang="en-US" b="1" dirty="0"/>
              <a:t>Bonus 3 — Grade Classification</a:t>
            </a:r>
          </a:p>
          <a:p>
            <a:r>
              <a:rPr lang="en-US" dirty="0"/>
              <a:t>Add grade level:</a:t>
            </a:r>
          </a:p>
          <a:p>
            <a:r>
              <a:rPr lang="en-US" dirty="0"/>
              <a:t>90+ → Excellent</a:t>
            </a:r>
          </a:p>
          <a:p>
            <a:r>
              <a:rPr lang="en-US" dirty="0"/>
              <a:t>80+ → Very Good</a:t>
            </a:r>
          </a:p>
          <a:p>
            <a:r>
              <a:rPr lang="en-US" dirty="0"/>
              <a:t>70+ → Good</a:t>
            </a:r>
          </a:p>
          <a:p>
            <a:r>
              <a:rPr lang="en-US" dirty="0"/>
              <a:t>60+ → Pass</a:t>
            </a:r>
          </a:p>
          <a:p>
            <a:r>
              <a:rPr lang="en-US" dirty="0"/>
              <a:t>Less than 60 → Fail</a:t>
            </a:r>
          </a:p>
          <a:p>
            <a:r>
              <a:rPr lang="en-US" b="1" dirty="0"/>
              <a:t>Bonus 4 — Continue System</a:t>
            </a:r>
          </a:p>
          <a:p>
            <a:r>
              <a:rPr lang="en-US" dirty="0"/>
              <a:t>After showing report:</a:t>
            </a:r>
            <a:br>
              <a:rPr lang="en-US" dirty="0"/>
            </a:br>
            <a:r>
              <a:rPr lang="en-US" dirty="0"/>
              <a:t>Ask user:</a:t>
            </a:r>
          </a:p>
          <a:p>
            <a:r>
              <a:rPr lang="en-US" dirty="0"/>
              <a:t>Do you want to enter another student?</a:t>
            </a:r>
          </a:p>
        </p:txBody>
      </p:sp>
      <p:sp>
        <p:nvSpPr>
          <p:cNvPr id="3" name="TextBox 2">
            <a:extLst>
              <a:ext uri="{FF2B5EF4-FFF2-40B4-BE49-F238E27FC236}">
                <a16:creationId xmlns:a16="http://schemas.microsoft.com/office/drawing/2014/main" id="{C92E5185-CAD8-EF20-4EC1-7C382945A8D9}"/>
              </a:ext>
            </a:extLst>
          </p:cNvPr>
          <p:cNvSpPr txBox="1"/>
          <p:nvPr/>
        </p:nvSpPr>
        <p:spPr>
          <a:xfrm>
            <a:off x="5179032" y="3429000"/>
            <a:ext cx="6122194" cy="2031325"/>
          </a:xfrm>
          <a:prstGeom prst="rect">
            <a:avLst/>
          </a:prstGeom>
          <a:noFill/>
        </p:spPr>
        <p:txBody>
          <a:bodyPr wrap="square">
            <a:spAutoFit/>
          </a:bodyPr>
          <a:lstStyle/>
          <a:p>
            <a:r>
              <a:rPr lang="en-US" b="1" dirty="0"/>
              <a:t>Bonus 5 — Show Total Number of Grades</a:t>
            </a:r>
          </a:p>
          <a:p>
            <a:r>
              <a:rPr lang="en-US" dirty="0"/>
              <a:t>Display:</a:t>
            </a:r>
          </a:p>
          <a:p>
            <a:r>
              <a:rPr lang="en-US" dirty="0"/>
              <a:t>Total Grades Entered: 5</a:t>
            </a:r>
          </a:p>
          <a:p>
            <a:r>
              <a:rPr lang="en-US" b="1" dirty="0"/>
              <a:t>Last Bonus </a:t>
            </a:r>
            <a:r>
              <a:rPr lang="en-US" dirty="0"/>
              <a:t>Store multiple students in an array and display:</a:t>
            </a:r>
          </a:p>
          <a:p>
            <a:r>
              <a:rPr lang="en-US" dirty="0"/>
              <a:t>All student names</a:t>
            </a:r>
          </a:p>
          <a:p>
            <a:r>
              <a:rPr lang="en-US" dirty="0"/>
              <a:t>Average for each student</a:t>
            </a:r>
          </a:p>
        </p:txBody>
      </p:sp>
    </p:spTree>
    <p:extLst>
      <p:ext uri="{BB962C8B-B14F-4D97-AF65-F5344CB8AC3E}">
        <p14:creationId xmlns:p14="http://schemas.microsoft.com/office/powerpoint/2010/main" val="377598607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1210695"/>
            <a:ext cx="11287478" cy="4784130"/>
          </a:xfrm>
          <a:prstGeom prst="rect">
            <a:avLst/>
          </a:prstGeom>
        </p:spPr>
        <p:txBody>
          <a:bodyPr lIns="0" tIns="0" rIns="0" bIns="0" rtlCol="0" anchor="t">
            <a:spAutoFit/>
          </a:bodyPr>
          <a:lstStyle/>
          <a:p>
            <a:pPr>
              <a:lnSpc>
                <a:spcPts val="4150"/>
              </a:lnSpc>
            </a:pPr>
            <a:r>
              <a:rPr lang="en-US" sz="2000" dirty="0">
                <a:latin typeface="Antique Olive" panose="020B0603020204030204"/>
                <a:ea typeface="Quicksand"/>
                <a:cs typeface="Quicksand"/>
                <a:sym typeface="Quicksand"/>
              </a:rPr>
              <a:t>Quite often we need to perform a similar action in many places of the script.</a:t>
            </a:r>
          </a:p>
          <a:p>
            <a:pPr>
              <a:lnSpc>
                <a:spcPts val="4150"/>
              </a:lnSpc>
            </a:pPr>
            <a:r>
              <a:rPr lang="en-US" sz="2000" dirty="0">
                <a:latin typeface="Antique Olive" panose="020B0603020204030204"/>
                <a:ea typeface="Quicksand"/>
                <a:cs typeface="Quicksand"/>
                <a:sym typeface="Quicksand"/>
              </a:rPr>
              <a:t>For example, we need to show a nice-looking message when a visitor logs in, logs out and maybe somewhere else.</a:t>
            </a:r>
          </a:p>
          <a:p>
            <a:pPr>
              <a:lnSpc>
                <a:spcPts val="4150"/>
              </a:lnSpc>
            </a:pPr>
            <a:r>
              <a:rPr lang="en-US" sz="2000" dirty="0">
                <a:latin typeface="Antique Olive" panose="020B0603020204030204"/>
                <a:ea typeface="Quicksand"/>
                <a:cs typeface="Quicksand"/>
                <a:sym typeface="Quicksand"/>
              </a:rPr>
              <a:t>Functions are the main “building blocks” of the program. They allow the code to be called many times without repetition.</a:t>
            </a:r>
          </a:p>
          <a:p>
            <a:pPr>
              <a:lnSpc>
                <a:spcPts val="4150"/>
              </a:lnSpc>
            </a:pPr>
            <a:r>
              <a:rPr lang="en-US" sz="2000" dirty="0">
                <a:latin typeface="Antique Olive" panose="020B0603020204030204"/>
                <a:ea typeface="Quicksand"/>
                <a:cs typeface="Quicksand"/>
                <a:sym typeface="Quicksand"/>
              </a:rPr>
              <a:t>We’ve already seen examples of built-in functions, like alert(message), prompt(message, default) and confirm(question). But we can create functions of our own as well.</a:t>
            </a:r>
            <a:endParaRPr lang="en-US" sz="2000" dirty="0">
              <a:latin typeface="Antique Olive" panose="020B0603020204030204"/>
              <a:ea typeface="Quicksand"/>
              <a:cs typeface="Quicksand"/>
              <a:sym typeface="Quicksand"/>
              <a:hlinkClick r:id="rId2" tooltip="https://javascript.info/while-for#output-prime-number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while-for#output-prime-number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while-for#output-prime-numbers">
                <a:extLst>
                  <a:ext uri="{A12FA001-AC4F-418D-AE19-62706E023703}">
                    <ahyp:hlinkClr xmlns:ahyp="http://schemas.microsoft.com/office/drawing/2018/hyperlinkcolor" val="tx"/>
                  </a:ext>
                </a:extLst>
              </a:hlinkClick>
            </a:endParaRPr>
          </a:p>
        </p:txBody>
      </p:sp>
      <p:sp>
        <p:nvSpPr>
          <p:cNvPr id="3" name="TextBox 3"/>
          <p:cNvSpPr txBox="1"/>
          <p:nvPr/>
        </p:nvSpPr>
        <p:spPr>
          <a:xfrm>
            <a:off x="3973935" y="138702"/>
            <a:ext cx="7532265" cy="2240550"/>
          </a:xfrm>
          <a:prstGeom prst="rect">
            <a:avLst/>
          </a:prstGeom>
        </p:spPr>
        <p:txBody>
          <a:bodyPr lIns="0" tIns="0" rIns="0" bIns="0" rtlCol="0" anchor="t">
            <a:spAutoFit/>
          </a:bodyPr>
          <a:lstStyle/>
          <a:p>
            <a:pPr algn="just">
              <a:lnSpc>
                <a:spcPts val="5973"/>
              </a:lnSpc>
            </a:pPr>
            <a:r>
              <a:rPr lang="en-US" sz="4000" b="1" dirty="0">
                <a:latin typeface="Antique Olive" panose="020B0603020204030204"/>
                <a:ea typeface="Cormorant Garamond"/>
                <a:cs typeface="Cormorant Garamond"/>
                <a:sym typeface="Cormorant Garamond"/>
              </a:rPr>
              <a:t>Functions</a:t>
            </a:r>
            <a:endParaRPr lang="en-US" sz="4000" b="1" dirty="0">
              <a:latin typeface="Antique Olive" panose="020B0603020204030204"/>
              <a:ea typeface="Cormorant Garamond"/>
              <a:cs typeface="Cormorant Garamond"/>
              <a:sym typeface="Cormorant Garamond"/>
              <a:hlinkClick r:id="rId2" tooltip="https://javascript.info/while-for#output-prime-numbers">
                <a:extLst>
                  <a:ext uri="{A12FA001-AC4F-418D-AE19-62706E023703}">
                    <ahyp:hlinkClr xmlns:ahyp="http://schemas.microsoft.com/office/drawing/2018/hyperlinkcolor" val="tx"/>
                  </a:ext>
                </a:extLst>
              </a:hlinkClick>
            </a:endParaRPr>
          </a:p>
          <a:p>
            <a:pPr algn="just">
              <a:lnSpc>
                <a:spcPts val="5973"/>
              </a:lnSpc>
            </a:pPr>
            <a:endParaRPr lang="en-US" sz="4266" dirty="0">
              <a:solidFill>
                <a:srgbClr val="000000"/>
              </a:solidFill>
              <a:latin typeface="Cormorant Garamond"/>
              <a:ea typeface="Cormorant Garamond"/>
              <a:cs typeface="Cormorant Garamond"/>
              <a:sym typeface="Cormorant Garamond"/>
              <a:hlinkClick r:id="rId2" tooltip="https://javascript.info/while-for#output-prime-numbers">
                <a:extLst>
                  <a:ext uri="{A12FA001-AC4F-418D-AE19-62706E023703}">
                    <ahyp:hlinkClr xmlns:ahyp="http://schemas.microsoft.com/office/drawing/2018/hyperlinkcolor" val="tx"/>
                  </a:ext>
                </a:extLst>
              </a:hlinkClick>
            </a:endParaRPr>
          </a:p>
          <a:p>
            <a:pPr algn="just">
              <a:lnSpc>
                <a:spcPts val="5973"/>
              </a:lnSpc>
              <a:spcBef>
                <a:spcPct val="0"/>
              </a:spcBef>
            </a:pPr>
            <a:endParaRPr lang="en-US" sz="4266" dirty="0">
              <a:solidFill>
                <a:srgbClr val="000000"/>
              </a:solidFill>
              <a:latin typeface="Cormorant Garamond"/>
              <a:ea typeface="Cormorant Garamond"/>
              <a:cs typeface="Cormorant Garamond"/>
              <a:sym typeface="Cormorant Garamond"/>
              <a:hlinkClick r:id="rId2" tooltip="https://javascript.info/while-for#output-prime-numbers">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32420889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874102"/>
            <a:ext cx="11287478" cy="5861348"/>
          </a:xfrm>
          <a:prstGeom prst="rect">
            <a:avLst/>
          </a:prstGeom>
        </p:spPr>
        <p:txBody>
          <a:bodyPr lIns="0" tIns="0" rIns="0" bIns="0" rtlCol="0" anchor="t">
            <a:spAutoFit/>
          </a:bodyPr>
          <a:lstStyle/>
          <a:p>
            <a:pPr>
              <a:lnSpc>
                <a:spcPts val="4150"/>
              </a:lnSpc>
            </a:pPr>
            <a:r>
              <a:rPr lang="en-US" sz="2000" u="sng" dirty="0">
                <a:latin typeface="Antique Olive" panose="020B0603020204030204"/>
                <a:ea typeface="Quicksand"/>
                <a:cs typeface="Quicksand"/>
                <a:sym typeface="Quicksand"/>
              </a:rPr>
              <a:t>Function Declaration</a:t>
            </a:r>
          </a:p>
          <a:p>
            <a:pPr>
              <a:lnSpc>
                <a:spcPts val="4150"/>
              </a:lnSpc>
            </a:pPr>
            <a:r>
              <a:rPr lang="en-US" sz="2000" dirty="0">
                <a:latin typeface="Antique Olive" panose="020B0603020204030204"/>
                <a:ea typeface="Quicksand"/>
                <a:cs typeface="Quicksand"/>
                <a:sym typeface="Quicksand"/>
              </a:rPr>
              <a:t>To create a function we can use a function declaration.</a:t>
            </a:r>
          </a:p>
          <a:p>
            <a:pPr>
              <a:lnSpc>
                <a:spcPts val="4150"/>
              </a:lnSpc>
            </a:pPr>
            <a:r>
              <a:rPr lang="en-US" sz="2000" dirty="0">
                <a:latin typeface="Antique Olive" panose="020B0603020204030204"/>
                <a:ea typeface="Quicksand"/>
                <a:cs typeface="Quicksand"/>
                <a:sym typeface="Quicksand"/>
              </a:rPr>
              <a:t>It looks like this:</a:t>
            </a:r>
          </a:p>
          <a:p>
            <a:pPr>
              <a:lnSpc>
                <a:spcPts val="4150"/>
              </a:lnSpc>
            </a:pPr>
            <a:r>
              <a:rPr lang="en-US" sz="2000" dirty="0">
                <a:latin typeface="Antique Olive" panose="020B0603020204030204"/>
                <a:ea typeface="Quicksand"/>
                <a:cs typeface="Quicksand"/>
                <a:sym typeface="Quicksand"/>
              </a:rPr>
              <a:t>function </a:t>
            </a:r>
            <a:r>
              <a:rPr lang="en-US" sz="2000" dirty="0" err="1">
                <a:latin typeface="Antique Olive" panose="020B0603020204030204"/>
                <a:ea typeface="Quicksand"/>
                <a:cs typeface="Quicksand"/>
                <a:sym typeface="Quicksand"/>
              </a:rPr>
              <a:t>showMessage</a:t>
            </a:r>
            <a:r>
              <a:rPr lang="en-US" sz="2000" dirty="0">
                <a:latin typeface="Antique Olive" panose="020B0603020204030204"/>
                <a:ea typeface="Quicksand"/>
                <a:cs typeface="Quicksand"/>
                <a:sym typeface="Quicksand"/>
              </a:rPr>
              <a:t>() </a:t>
            </a:r>
          </a:p>
          <a:p>
            <a:pPr>
              <a:lnSpc>
                <a:spcPts val="4150"/>
              </a:lnSpc>
            </a:pPr>
            <a:r>
              <a:rPr lang="en-US" sz="2000" dirty="0">
                <a:latin typeface="Antique Olive" panose="020B0603020204030204"/>
                <a:ea typeface="Quicksand"/>
                <a:cs typeface="Quicksand"/>
                <a:sym typeface="Quicksand"/>
              </a:rPr>
              <a:t>{alert( 'Hello everyone!' );}</a:t>
            </a:r>
          </a:p>
          <a:p>
            <a:pPr>
              <a:lnSpc>
                <a:spcPts val="4150"/>
              </a:lnSpc>
            </a:pPr>
            <a:r>
              <a:rPr lang="en-US" sz="2000" dirty="0" err="1">
                <a:latin typeface="Antique Olive" panose="020B0603020204030204"/>
                <a:ea typeface="Quicksand"/>
                <a:cs typeface="Quicksand"/>
                <a:sym typeface="Quicksand"/>
              </a:rPr>
              <a:t>showMessage</a:t>
            </a:r>
            <a:r>
              <a:rPr lang="en-US" sz="2000" dirty="0">
                <a:latin typeface="Antique Olive" panose="020B0603020204030204"/>
                <a:ea typeface="Quicksand"/>
                <a:cs typeface="Quicksand"/>
                <a:sym typeface="Quicksand"/>
              </a:rPr>
              <a:t>();  // and this is how call function</a:t>
            </a:r>
          </a:p>
          <a:p>
            <a:pPr>
              <a:lnSpc>
                <a:spcPts val="4150"/>
              </a:lnSpc>
            </a:pPr>
            <a:r>
              <a:rPr lang="en-US" sz="2000" dirty="0">
                <a:latin typeface="Antique Olive" panose="020B0603020204030204"/>
                <a:ea typeface="Quicksand"/>
                <a:cs typeface="Quicksand"/>
                <a:sym typeface="Quicksand"/>
              </a:rPr>
              <a:t>The function keyword goes first, then goes the name of the function, then a list of parameters between the parentheses (comma-separated, empty in the example above, we’ll see examples later) and finally the code of the function, also named “the function body”, between curly braces.</a:t>
            </a:r>
          </a:p>
          <a:p>
            <a:pPr>
              <a:lnSpc>
                <a:spcPts val="4150"/>
              </a:lnSpc>
            </a:pPr>
            <a:r>
              <a:rPr lang="en-US" sz="2000" dirty="0">
                <a:latin typeface="Antique Olive" panose="020B0603020204030204"/>
                <a:ea typeface="Quicksand"/>
                <a:cs typeface="Quicksand"/>
                <a:sym typeface="Quicksand"/>
              </a:rPr>
              <a:t>function name(parameter1, parameter2, ... </a:t>
            </a:r>
            <a:r>
              <a:rPr lang="en-US" sz="2000" dirty="0" err="1">
                <a:latin typeface="Antique Olive" panose="020B0603020204030204"/>
                <a:ea typeface="Quicksand"/>
                <a:cs typeface="Quicksand"/>
                <a:sym typeface="Quicksand"/>
              </a:rPr>
              <a:t>parameterN</a:t>
            </a:r>
            <a:r>
              <a:rPr lang="en-US" sz="2000" dirty="0">
                <a:latin typeface="Antique Olive" panose="020B0603020204030204"/>
                <a:ea typeface="Quicksand"/>
                <a:cs typeface="Quicksand"/>
                <a:sym typeface="Quicksand"/>
              </a:rPr>
              <a:t>) {// body}</a:t>
            </a:r>
            <a:endParaRPr lang="en-US" sz="2000" dirty="0">
              <a:latin typeface="Antique Olive" panose="020B0603020204030204"/>
              <a:ea typeface="Quicksand"/>
              <a:cs typeface="Quicksand"/>
              <a:sym typeface="Quicksand"/>
              <a:hlinkClick r:id="rId2" tooltip="https://javascript.info/while-for#output-prime-number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while-for#output-prime-numbers">
                <a:extLst>
                  <a:ext uri="{A12FA001-AC4F-418D-AE19-62706E023703}">
                    <ahyp:hlinkClr xmlns:ahyp="http://schemas.microsoft.com/office/drawing/2018/hyperlinkcolor" val="tx"/>
                  </a:ext>
                </a:extLst>
              </a:hlinkClick>
            </a:endParaRPr>
          </a:p>
        </p:txBody>
      </p:sp>
      <p:sp>
        <p:nvSpPr>
          <p:cNvPr id="3" name="TextBox 3"/>
          <p:cNvSpPr txBox="1"/>
          <p:nvPr/>
        </p:nvSpPr>
        <p:spPr>
          <a:xfrm>
            <a:off x="3973935" y="138702"/>
            <a:ext cx="7532265" cy="2240550"/>
          </a:xfrm>
          <a:prstGeom prst="rect">
            <a:avLst/>
          </a:prstGeom>
        </p:spPr>
        <p:txBody>
          <a:bodyPr lIns="0" tIns="0" rIns="0" bIns="0" rtlCol="0" anchor="t">
            <a:spAutoFit/>
          </a:bodyPr>
          <a:lstStyle/>
          <a:p>
            <a:pPr algn="just">
              <a:lnSpc>
                <a:spcPts val="5973"/>
              </a:lnSpc>
            </a:pPr>
            <a:r>
              <a:rPr lang="en-US" sz="4400" b="1" dirty="0">
                <a:latin typeface="Antique Olive" panose="020B0603020204030204"/>
                <a:ea typeface="Cormorant Garamond"/>
                <a:cs typeface="Cormorant Garamond"/>
                <a:sym typeface="Cormorant Garamond"/>
              </a:rPr>
              <a:t>Functions</a:t>
            </a:r>
            <a:endParaRPr lang="en-US" sz="4266" dirty="0">
              <a:solidFill>
                <a:srgbClr val="0F4662"/>
              </a:solidFill>
              <a:latin typeface="Cormorant Garamond"/>
              <a:ea typeface="Cormorant Garamond"/>
              <a:cs typeface="Cormorant Garamond"/>
              <a:sym typeface="Cormorant Garamond"/>
              <a:hlinkClick r:id="rId2" tooltip="https://javascript.info/while-for#output-prime-numbers"/>
            </a:endParaRPr>
          </a:p>
          <a:p>
            <a:pPr algn="just">
              <a:lnSpc>
                <a:spcPts val="5973"/>
              </a:lnSpc>
            </a:pPr>
            <a:endParaRPr lang="en-US" sz="4266" dirty="0">
              <a:solidFill>
                <a:srgbClr val="0F4662"/>
              </a:solidFill>
              <a:latin typeface="Cormorant Garamond"/>
              <a:ea typeface="Cormorant Garamond"/>
              <a:cs typeface="Cormorant Garamond"/>
              <a:sym typeface="Cormorant Garamond"/>
              <a:hlinkClick r:id="rId2" tooltip="https://javascript.info/while-for#output-prime-numbers"/>
            </a:endParaRPr>
          </a:p>
          <a:p>
            <a:pPr algn="just">
              <a:lnSpc>
                <a:spcPts val="5973"/>
              </a:lnSpc>
              <a:spcBef>
                <a:spcPct val="0"/>
              </a:spcBef>
            </a:pPr>
            <a:endParaRPr lang="en-US" sz="4266" dirty="0">
              <a:solidFill>
                <a:srgbClr val="0F4662"/>
              </a:solidFill>
              <a:latin typeface="Cormorant Garamond"/>
              <a:ea typeface="Cormorant Garamond"/>
              <a:cs typeface="Cormorant Garamond"/>
              <a:sym typeface="Cormorant Garamond"/>
              <a:hlinkClick r:id="rId2" tooltip="https://javascript.info/while-for#output-prime-numbers"/>
            </a:endParaRPr>
          </a:p>
        </p:txBody>
      </p:sp>
    </p:spTree>
    <p:extLst>
      <p:ext uri="{BB962C8B-B14F-4D97-AF65-F5344CB8AC3E}">
        <p14:creationId xmlns:p14="http://schemas.microsoft.com/office/powerpoint/2010/main" val="21330407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874102"/>
            <a:ext cx="11287478" cy="4795480"/>
          </a:xfrm>
          <a:prstGeom prst="rect">
            <a:avLst/>
          </a:prstGeom>
        </p:spPr>
        <p:txBody>
          <a:bodyPr lIns="0" tIns="0" rIns="0" bIns="0" rtlCol="0" anchor="t">
            <a:spAutoFit/>
          </a:bodyPr>
          <a:lstStyle/>
          <a:p>
            <a:pPr>
              <a:lnSpc>
                <a:spcPts val="4150"/>
              </a:lnSpc>
            </a:pPr>
            <a:r>
              <a:rPr lang="en-US" sz="2000" u="sng" dirty="0">
                <a:latin typeface="Antique Olive" panose="020B0603020204030204"/>
                <a:ea typeface="Quicksand"/>
                <a:cs typeface="Quicksand"/>
                <a:sym typeface="Quicksand"/>
              </a:rPr>
              <a:t>Local variables</a:t>
            </a:r>
          </a:p>
          <a:p>
            <a:pPr>
              <a:lnSpc>
                <a:spcPts val="4150"/>
              </a:lnSpc>
            </a:pPr>
            <a:r>
              <a:rPr lang="en-US" sz="2000" dirty="0">
                <a:latin typeface="Antique Olive" panose="020B0603020204030204"/>
                <a:ea typeface="Quicksand"/>
                <a:cs typeface="Quicksand"/>
                <a:sym typeface="Quicksand"/>
              </a:rPr>
              <a:t>A variable declared inside a function is only visible inside that function.</a:t>
            </a:r>
          </a:p>
          <a:p>
            <a:pPr>
              <a:lnSpc>
                <a:spcPts val="4150"/>
              </a:lnSpc>
            </a:pPr>
            <a:r>
              <a:rPr lang="en-US" sz="2000" b="1" dirty="0">
                <a:latin typeface="Antique Olive" panose="020B0603020204030204"/>
                <a:ea typeface="Quicksand Bold"/>
                <a:cs typeface="Quicksand Bold"/>
                <a:sym typeface="Quicksand Bold"/>
              </a:rPr>
              <a:t>For example:</a:t>
            </a:r>
          </a:p>
          <a:p>
            <a:pPr>
              <a:lnSpc>
                <a:spcPts val="4150"/>
              </a:lnSpc>
            </a:pPr>
            <a:r>
              <a:rPr lang="en-US" sz="2000" dirty="0">
                <a:latin typeface="Antique Olive" panose="020B0603020204030204"/>
                <a:ea typeface="Quicksand"/>
                <a:cs typeface="Quicksand"/>
                <a:sym typeface="Quicksand"/>
              </a:rPr>
              <a:t>function </a:t>
            </a:r>
            <a:r>
              <a:rPr lang="en-US" sz="2000" dirty="0" err="1">
                <a:latin typeface="Antique Olive" panose="020B0603020204030204"/>
                <a:ea typeface="Quicksand"/>
                <a:cs typeface="Quicksand"/>
                <a:sym typeface="Quicksand"/>
              </a:rPr>
              <a:t>showMessage</a:t>
            </a:r>
            <a:r>
              <a:rPr lang="en-US" sz="2000" dirty="0">
                <a:latin typeface="Antique Olive" panose="020B0603020204030204"/>
                <a:ea typeface="Quicksand"/>
                <a:cs typeface="Quicksand"/>
                <a:sym typeface="Quicksand"/>
              </a:rPr>
              <a:t>() {  </a:t>
            </a:r>
          </a:p>
          <a:p>
            <a:pPr>
              <a:lnSpc>
                <a:spcPts val="4150"/>
              </a:lnSpc>
            </a:pPr>
            <a:r>
              <a:rPr lang="en-US" sz="2000" dirty="0">
                <a:latin typeface="Antique Olive" panose="020B0603020204030204"/>
                <a:ea typeface="Quicksand"/>
                <a:cs typeface="Quicksand"/>
                <a:sym typeface="Quicksand"/>
              </a:rPr>
              <a:t>let message = "Hello, I'm JavaScript!"; // local variable</a:t>
            </a:r>
          </a:p>
          <a:p>
            <a:pPr>
              <a:lnSpc>
                <a:spcPts val="4150"/>
              </a:lnSpc>
            </a:pPr>
            <a:r>
              <a:rPr lang="en-US" sz="2000" dirty="0">
                <a:latin typeface="Antique Olive" panose="020B0603020204030204"/>
                <a:ea typeface="Quicksand"/>
                <a:cs typeface="Quicksand"/>
                <a:sym typeface="Quicksand"/>
              </a:rPr>
              <a:t>alert( message );}</a:t>
            </a:r>
          </a:p>
          <a:p>
            <a:pPr>
              <a:lnSpc>
                <a:spcPts val="4150"/>
              </a:lnSpc>
            </a:pPr>
            <a:r>
              <a:rPr lang="en-US" sz="2000" dirty="0" err="1">
                <a:latin typeface="Antique Olive" panose="020B0603020204030204"/>
                <a:ea typeface="Quicksand"/>
                <a:cs typeface="Quicksand"/>
                <a:sym typeface="Quicksand"/>
              </a:rPr>
              <a:t>showMessage</a:t>
            </a:r>
            <a:r>
              <a:rPr lang="en-US" sz="2000" dirty="0">
                <a:latin typeface="Antique Olive" panose="020B0603020204030204"/>
                <a:ea typeface="Quicksand"/>
                <a:cs typeface="Quicksand"/>
                <a:sym typeface="Quicksand"/>
              </a:rPr>
              <a:t>(); // Hello, I'm JavaScript!</a:t>
            </a:r>
          </a:p>
          <a:p>
            <a:pPr>
              <a:lnSpc>
                <a:spcPts val="4150"/>
              </a:lnSpc>
            </a:pPr>
            <a:r>
              <a:rPr lang="en-US" sz="2000" dirty="0">
                <a:latin typeface="Antique Olive" panose="020B0603020204030204"/>
                <a:ea typeface="Quicksand"/>
                <a:cs typeface="Quicksand"/>
                <a:sym typeface="Quicksand"/>
              </a:rPr>
              <a:t>alert( message ); // &lt;-- Error! The variable is local to the function</a:t>
            </a:r>
            <a:endParaRPr lang="en-US" sz="2000" dirty="0">
              <a:latin typeface="Antique Olive" panose="020B0603020204030204"/>
              <a:ea typeface="Quicksand"/>
              <a:cs typeface="Quicksand"/>
              <a:sym typeface="Quicksand"/>
              <a:hlinkClick r:id="rId2" tooltip="https://javascript.info/function-basics#function-declaration">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function-basics#function-declaration">
                <a:extLst>
                  <a:ext uri="{A12FA001-AC4F-418D-AE19-62706E023703}">
                    <ahyp:hlinkClr xmlns:ahyp="http://schemas.microsoft.com/office/drawing/2018/hyperlinkcolor" val="tx"/>
                  </a:ext>
                </a:extLst>
              </a:hlinkClick>
            </a:endParaRPr>
          </a:p>
        </p:txBody>
      </p:sp>
      <p:sp>
        <p:nvSpPr>
          <p:cNvPr id="3" name="TextBox 3"/>
          <p:cNvSpPr txBox="1"/>
          <p:nvPr/>
        </p:nvSpPr>
        <p:spPr>
          <a:xfrm>
            <a:off x="3973935" y="138702"/>
            <a:ext cx="7532265" cy="1471108"/>
          </a:xfrm>
          <a:prstGeom prst="rect">
            <a:avLst/>
          </a:prstGeom>
        </p:spPr>
        <p:txBody>
          <a:bodyPr lIns="0" tIns="0" rIns="0" bIns="0" rtlCol="0" anchor="t">
            <a:spAutoFit/>
          </a:bodyPr>
          <a:lstStyle/>
          <a:p>
            <a:pPr algn="just">
              <a:lnSpc>
                <a:spcPts val="5973"/>
              </a:lnSpc>
            </a:pPr>
            <a:r>
              <a:rPr lang="en-US" sz="4400" b="1" dirty="0">
                <a:latin typeface="Antique Olive" panose="020B0603020204030204"/>
                <a:ea typeface="Cormorant Garamond"/>
                <a:cs typeface="Cormorant Garamond"/>
                <a:sym typeface="Cormorant Garamond"/>
              </a:rPr>
              <a:t>Functions</a:t>
            </a:r>
            <a:endParaRPr lang="en-US" sz="4266" dirty="0">
              <a:solidFill>
                <a:srgbClr val="0F4662"/>
              </a:solidFill>
              <a:latin typeface="Cormorant Garamond"/>
              <a:ea typeface="Cormorant Garamond"/>
              <a:cs typeface="Cormorant Garamond"/>
              <a:sym typeface="Cormorant Garamond"/>
              <a:hlinkClick r:id="rId3" tooltip="https://javascript.info/while-for#output-prime-numbers"/>
            </a:endParaRPr>
          </a:p>
          <a:p>
            <a:pPr algn="just">
              <a:lnSpc>
                <a:spcPts val="5973"/>
              </a:lnSpc>
              <a:spcBef>
                <a:spcPct val="0"/>
              </a:spcBef>
            </a:pPr>
            <a:endParaRPr lang="en-US" sz="4266" dirty="0">
              <a:solidFill>
                <a:srgbClr val="0F4662"/>
              </a:solidFill>
              <a:latin typeface="Cormorant Garamond"/>
              <a:ea typeface="Cormorant Garamond"/>
              <a:cs typeface="Cormorant Garamond"/>
              <a:sym typeface="Cormorant Garamond"/>
              <a:hlinkClick r:id="rId3" tooltip="https://javascript.info/while-for#output-prime-numbers"/>
            </a:endParaRPr>
          </a:p>
        </p:txBody>
      </p:sp>
    </p:spTree>
    <p:extLst>
      <p:ext uri="{BB962C8B-B14F-4D97-AF65-F5344CB8AC3E}">
        <p14:creationId xmlns:p14="http://schemas.microsoft.com/office/powerpoint/2010/main" val="27637535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874102"/>
            <a:ext cx="11287478" cy="5319148"/>
          </a:xfrm>
          <a:prstGeom prst="rect">
            <a:avLst/>
          </a:prstGeom>
        </p:spPr>
        <p:txBody>
          <a:bodyPr lIns="0" tIns="0" rIns="0" bIns="0" rtlCol="0" anchor="t">
            <a:spAutoFit/>
          </a:bodyPr>
          <a:lstStyle/>
          <a:p>
            <a:pPr>
              <a:lnSpc>
                <a:spcPts val="4150"/>
              </a:lnSpc>
            </a:pPr>
            <a:r>
              <a:rPr lang="en-US" sz="2000" u="sng" dirty="0">
                <a:latin typeface="Antique Olive" panose="020B0603020204030204"/>
                <a:ea typeface="Quicksand"/>
                <a:cs typeface="Quicksand"/>
                <a:sym typeface="Quicksand"/>
                <a:hlinkClick r:id="rId2" tooltip="https://javascript.info/function-basics#outer-variables">
                  <a:extLst>
                    <a:ext uri="{A12FA001-AC4F-418D-AE19-62706E023703}">
                      <ahyp:hlinkClr xmlns:ahyp="http://schemas.microsoft.com/office/drawing/2018/hyperlinkcolor" val="tx"/>
                    </a:ext>
                  </a:extLst>
                </a:hlinkClick>
              </a:rPr>
              <a:t>Outer variables</a:t>
            </a:r>
          </a:p>
          <a:p>
            <a:pPr>
              <a:lnSpc>
                <a:spcPts val="4150"/>
              </a:lnSpc>
            </a:pPr>
            <a:r>
              <a:rPr lang="en-US" sz="2000" dirty="0">
                <a:latin typeface="Antique Olive" panose="020B0603020204030204"/>
                <a:ea typeface="Quicksand"/>
                <a:cs typeface="Quicksand"/>
                <a:sym typeface="Quicksand"/>
                <a:hlinkClick r:id="rId3" tooltip="https://javascript.info/function-basics#local-variables">
                  <a:extLst>
                    <a:ext uri="{A12FA001-AC4F-418D-AE19-62706E023703}">
                      <ahyp:hlinkClr xmlns:ahyp="http://schemas.microsoft.com/office/drawing/2018/hyperlinkcolor" val="tx"/>
                    </a:ext>
                  </a:extLst>
                </a:hlinkClick>
              </a:rPr>
              <a:t>A function can access an outer variable as well, for example:</a:t>
            </a:r>
          </a:p>
          <a:p>
            <a:pPr>
              <a:lnSpc>
                <a:spcPts val="4150"/>
              </a:lnSpc>
            </a:pPr>
            <a:r>
              <a:rPr lang="en-US" sz="2000" dirty="0">
                <a:latin typeface="Antique Olive" panose="020B0603020204030204"/>
                <a:ea typeface="Quicksand"/>
                <a:cs typeface="Quicksand"/>
                <a:sym typeface="Quicksand"/>
              </a:rPr>
              <a:t>let </a:t>
            </a:r>
            <a:r>
              <a:rPr lang="en-US" sz="2000" dirty="0" err="1">
                <a:latin typeface="Antique Olive" panose="020B0603020204030204"/>
                <a:ea typeface="Quicksand"/>
                <a:cs typeface="Quicksand"/>
                <a:sym typeface="Quicksand"/>
              </a:rPr>
              <a:t>userName</a:t>
            </a:r>
            <a:r>
              <a:rPr lang="en-US" sz="2000" dirty="0">
                <a:latin typeface="Antique Olive" panose="020B0603020204030204"/>
                <a:ea typeface="Quicksand"/>
                <a:cs typeface="Quicksand"/>
                <a:sym typeface="Quicksand"/>
              </a:rPr>
              <a:t> = 'John';</a:t>
            </a:r>
          </a:p>
          <a:p>
            <a:pPr>
              <a:lnSpc>
                <a:spcPts val="4150"/>
              </a:lnSpc>
            </a:pPr>
            <a:r>
              <a:rPr lang="en-US" sz="2000" dirty="0">
                <a:latin typeface="Antique Olive" panose="020B0603020204030204"/>
                <a:ea typeface="Quicksand"/>
                <a:cs typeface="Quicksand"/>
                <a:sym typeface="Quicksand"/>
              </a:rPr>
              <a:t>function </a:t>
            </a:r>
            <a:r>
              <a:rPr lang="en-US" sz="2000" dirty="0" err="1">
                <a:latin typeface="Antique Olive" panose="020B0603020204030204"/>
                <a:ea typeface="Quicksand"/>
                <a:cs typeface="Quicksand"/>
                <a:sym typeface="Quicksand"/>
              </a:rPr>
              <a:t>showMessage</a:t>
            </a:r>
            <a:r>
              <a:rPr lang="en-US" sz="2000" dirty="0">
                <a:latin typeface="Antique Olive" panose="020B0603020204030204"/>
                <a:ea typeface="Quicksand"/>
                <a:cs typeface="Quicksand"/>
                <a:sym typeface="Quicksand"/>
              </a:rPr>
              <a:t>() {</a:t>
            </a:r>
          </a:p>
          <a:p>
            <a:pPr>
              <a:lnSpc>
                <a:spcPts val="4150"/>
              </a:lnSpc>
            </a:pPr>
            <a:r>
              <a:rPr lang="en-US" sz="2000" dirty="0" err="1">
                <a:latin typeface="Antique Olive" panose="020B0603020204030204"/>
                <a:ea typeface="Quicksand"/>
                <a:cs typeface="Quicksand"/>
                <a:sym typeface="Quicksand"/>
              </a:rPr>
              <a:t>userName</a:t>
            </a:r>
            <a:r>
              <a:rPr lang="en-US" sz="2000" dirty="0">
                <a:latin typeface="Antique Olive" panose="020B0603020204030204"/>
                <a:ea typeface="Quicksand"/>
                <a:cs typeface="Quicksand"/>
                <a:sym typeface="Quicksand"/>
              </a:rPr>
              <a:t> = "Bob"; // (1) changed the outer variable</a:t>
            </a:r>
          </a:p>
          <a:p>
            <a:pPr>
              <a:lnSpc>
                <a:spcPts val="4150"/>
              </a:lnSpc>
            </a:pPr>
            <a:r>
              <a:rPr lang="en-US" sz="2000" dirty="0">
                <a:latin typeface="Antique Olive" panose="020B0603020204030204"/>
                <a:ea typeface="Quicksand"/>
                <a:cs typeface="Quicksand"/>
                <a:sym typeface="Quicksand"/>
              </a:rPr>
              <a:t>let message = 'Hello, ' + </a:t>
            </a:r>
            <a:r>
              <a:rPr lang="en-US" sz="2000" dirty="0" err="1">
                <a:latin typeface="Antique Olive" panose="020B0603020204030204"/>
                <a:ea typeface="Quicksand"/>
                <a:cs typeface="Quicksand"/>
                <a:sym typeface="Quicksand"/>
              </a:rPr>
              <a:t>userName</a:t>
            </a:r>
            <a:r>
              <a:rPr lang="en-US" sz="2000" dirty="0">
                <a:latin typeface="Antique Olive" panose="020B0603020204030204"/>
                <a:ea typeface="Quicksand"/>
                <a:cs typeface="Quicksand"/>
                <a:sym typeface="Quicksand"/>
              </a:rPr>
              <a:t>;</a:t>
            </a:r>
          </a:p>
          <a:p>
            <a:pPr>
              <a:lnSpc>
                <a:spcPts val="4150"/>
              </a:lnSpc>
            </a:pPr>
            <a:r>
              <a:rPr lang="en-US" sz="2000" dirty="0">
                <a:latin typeface="Antique Olive" panose="020B0603020204030204"/>
                <a:ea typeface="Quicksand"/>
                <a:cs typeface="Quicksand"/>
                <a:sym typeface="Quicksand"/>
              </a:rPr>
              <a:t>alert(message);}</a:t>
            </a:r>
          </a:p>
          <a:p>
            <a:pPr>
              <a:lnSpc>
                <a:spcPts val="4150"/>
              </a:lnSpc>
            </a:pPr>
            <a:r>
              <a:rPr lang="en-US" sz="2000" dirty="0">
                <a:latin typeface="Antique Olive" panose="020B0603020204030204"/>
                <a:ea typeface="Quicksand"/>
                <a:cs typeface="Quicksand"/>
                <a:sym typeface="Quicksand"/>
              </a:rPr>
              <a:t>alert( </a:t>
            </a:r>
            <a:r>
              <a:rPr lang="en-US" sz="2000" dirty="0" err="1">
                <a:latin typeface="Antique Olive" panose="020B0603020204030204"/>
                <a:ea typeface="Quicksand"/>
                <a:cs typeface="Quicksand"/>
                <a:sym typeface="Quicksand"/>
              </a:rPr>
              <a:t>userName</a:t>
            </a:r>
            <a:r>
              <a:rPr lang="en-US" sz="2000" dirty="0">
                <a:latin typeface="Antique Olive" panose="020B0603020204030204"/>
                <a:ea typeface="Quicksand"/>
                <a:cs typeface="Quicksand"/>
                <a:sym typeface="Quicksand"/>
              </a:rPr>
              <a:t> ); // John before the function call </a:t>
            </a:r>
          </a:p>
          <a:p>
            <a:pPr>
              <a:lnSpc>
                <a:spcPts val="4150"/>
              </a:lnSpc>
            </a:pPr>
            <a:r>
              <a:rPr lang="en-US" sz="2000" dirty="0" err="1">
                <a:latin typeface="Antique Olive" panose="020B0603020204030204"/>
                <a:ea typeface="Quicksand"/>
                <a:cs typeface="Quicksand"/>
                <a:sym typeface="Quicksand"/>
              </a:rPr>
              <a:t>showMessage</a:t>
            </a:r>
            <a:r>
              <a:rPr lang="en-US" sz="2000" dirty="0">
                <a:latin typeface="Antique Olive" panose="020B0603020204030204"/>
                <a:ea typeface="Quicksand"/>
                <a:cs typeface="Quicksand"/>
                <a:sym typeface="Quicksand"/>
              </a:rPr>
              <a:t>();</a:t>
            </a:r>
          </a:p>
          <a:p>
            <a:pPr>
              <a:lnSpc>
                <a:spcPts val="4150"/>
              </a:lnSpc>
            </a:pPr>
            <a:r>
              <a:rPr lang="en-US" sz="2000" dirty="0">
                <a:latin typeface="Antique Olive" panose="020B0603020204030204"/>
                <a:ea typeface="Quicksand"/>
                <a:cs typeface="Quicksand"/>
                <a:sym typeface="Quicksand"/>
              </a:rPr>
              <a:t>alert( </a:t>
            </a:r>
            <a:r>
              <a:rPr lang="en-US" sz="2000" dirty="0" err="1">
                <a:latin typeface="Antique Olive" panose="020B0603020204030204"/>
                <a:ea typeface="Quicksand"/>
                <a:cs typeface="Quicksand"/>
                <a:sym typeface="Quicksand"/>
              </a:rPr>
              <a:t>userName</a:t>
            </a:r>
            <a:r>
              <a:rPr lang="en-US" sz="2000" dirty="0">
                <a:latin typeface="Antique Olive" panose="020B0603020204030204"/>
                <a:ea typeface="Quicksand"/>
                <a:cs typeface="Quicksand"/>
                <a:sym typeface="Quicksand"/>
              </a:rPr>
              <a:t> ); // Bob, the value was modified by the function</a:t>
            </a:r>
          </a:p>
        </p:txBody>
      </p:sp>
      <p:sp>
        <p:nvSpPr>
          <p:cNvPr id="3" name="TextBox 3"/>
          <p:cNvSpPr txBox="1"/>
          <p:nvPr/>
        </p:nvSpPr>
        <p:spPr>
          <a:xfrm>
            <a:off x="3973935" y="138702"/>
            <a:ext cx="7532265" cy="2240550"/>
          </a:xfrm>
          <a:prstGeom prst="rect">
            <a:avLst/>
          </a:prstGeom>
        </p:spPr>
        <p:txBody>
          <a:bodyPr lIns="0" tIns="0" rIns="0" bIns="0" rtlCol="0" anchor="t">
            <a:spAutoFit/>
          </a:bodyPr>
          <a:lstStyle/>
          <a:p>
            <a:pPr algn="just">
              <a:lnSpc>
                <a:spcPts val="5973"/>
              </a:lnSpc>
            </a:pPr>
            <a:r>
              <a:rPr lang="en-US" sz="4400" b="1" dirty="0">
                <a:latin typeface="Antique Olive" panose="020B0603020204030204"/>
                <a:ea typeface="Cormorant Garamond"/>
                <a:cs typeface="Cormorant Garamond"/>
                <a:sym typeface="Cormorant Garamond"/>
              </a:rPr>
              <a:t>Functions</a:t>
            </a:r>
            <a:endParaRPr lang="en-US" sz="4266" dirty="0">
              <a:solidFill>
                <a:srgbClr val="0F4662"/>
              </a:solidFill>
              <a:latin typeface="Cormorant Garamond"/>
              <a:ea typeface="Cormorant Garamond"/>
              <a:cs typeface="Cormorant Garamond"/>
              <a:sym typeface="Cormorant Garamond"/>
              <a:hlinkClick r:id="rId4" tooltip="https://javascript.info/while-for#output-prime-numbers"/>
            </a:endParaRPr>
          </a:p>
          <a:p>
            <a:pPr algn="just">
              <a:lnSpc>
                <a:spcPts val="5973"/>
              </a:lnSpc>
            </a:pPr>
            <a:endParaRPr lang="en-US" sz="4266" dirty="0">
              <a:solidFill>
                <a:srgbClr val="0F4662"/>
              </a:solidFill>
              <a:latin typeface="Cormorant Garamond"/>
              <a:ea typeface="Cormorant Garamond"/>
              <a:cs typeface="Cormorant Garamond"/>
              <a:sym typeface="Cormorant Garamond"/>
              <a:hlinkClick r:id="rId4" tooltip="https://javascript.info/while-for#output-prime-numbers"/>
            </a:endParaRPr>
          </a:p>
          <a:p>
            <a:pPr algn="just">
              <a:lnSpc>
                <a:spcPts val="5973"/>
              </a:lnSpc>
              <a:spcBef>
                <a:spcPct val="0"/>
              </a:spcBef>
            </a:pPr>
            <a:endParaRPr lang="en-US" sz="4266" dirty="0">
              <a:solidFill>
                <a:srgbClr val="0F4662"/>
              </a:solidFill>
              <a:latin typeface="Cormorant Garamond"/>
              <a:ea typeface="Cormorant Garamond"/>
              <a:cs typeface="Cormorant Garamond"/>
              <a:sym typeface="Cormorant Garamond"/>
              <a:hlinkClick r:id="rId4" tooltip="https://javascript.info/while-for#output-prime-numbers"/>
            </a:endParaRPr>
          </a:p>
        </p:txBody>
      </p:sp>
    </p:spTree>
    <p:extLst>
      <p:ext uri="{BB962C8B-B14F-4D97-AF65-F5344CB8AC3E}">
        <p14:creationId xmlns:p14="http://schemas.microsoft.com/office/powerpoint/2010/main" val="88591322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874102"/>
            <a:ext cx="11287478" cy="4245521"/>
          </a:xfrm>
          <a:prstGeom prst="rect">
            <a:avLst/>
          </a:prstGeom>
        </p:spPr>
        <p:txBody>
          <a:bodyPr lIns="0" tIns="0" rIns="0" bIns="0" rtlCol="0" anchor="t">
            <a:spAutoFit/>
          </a:bodyPr>
          <a:lstStyle/>
          <a:p>
            <a:pPr>
              <a:lnSpc>
                <a:spcPts val="4150"/>
              </a:lnSpc>
            </a:pPr>
            <a:r>
              <a:rPr lang="en-US" sz="2000" u="sng" dirty="0">
                <a:latin typeface="Antique Olive" panose="020B0603020204030204"/>
                <a:ea typeface="Quicksand"/>
                <a:cs typeface="Quicksand"/>
                <a:sym typeface="Quicksand"/>
              </a:rPr>
              <a:t>Parameters</a:t>
            </a:r>
          </a:p>
          <a:p>
            <a:pPr>
              <a:lnSpc>
                <a:spcPts val="4150"/>
              </a:lnSpc>
            </a:pPr>
            <a:r>
              <a:rPr lang="en-US" sz="2000" dirty="0">
                <a:latin typeface="Antique Olive" panose="020B0603020204030204"/>
                <a:ea typeface="Quicksand"/>
                <a:cs typeface="Quicksand"/>
                <a:sym typeface="Quicksand"/>
              </a:rPr>
              <a:t>We can pass arbitrary data to functions using parameters.</a:t>
            </a:r>
          </a:p>
          <a:p>
            <a:pPr>
              <a:lnSpc>
                <a:spcPts val="4150"/>
              </a:lnSpc>
            </a:pPr>
            <a:r>
              <a:rPr lang="en-US" sz="2000" dirty="0">
                <a:latin typeface="Antique Olive" panose="020B0603020204030204"/>
                <a:ea typeface="Quicksand"/>
                <a:cs typeface="Quicksand"/>
                <a:sym typeface="Quicksand"/>
              </a:rPr>
              <a:t>In the example below, the function has two parameters: from and text</a:t>
            </a:r>
          </a:p>
          <a:p>
            <a:pPr>
              <a:lnSpc>
                <a:spcPts val="4150"/>
              </a:lnSpc>
            </a:pPr>
            <a:r>
              <a:rPr lang="en-US" sz="2000" dirty="0">
                <a:latin typeface="Antique Olive" panose="020B0603020204030204"/>
                <a:ea typeface="Quicksand"/>
                <a:cs typeface="Quicksand"/>
                <a:sym typeface="Quicksand"/>
              </a:rPr>
              <a:t>function </a:t>
            </a:r>
            <a:r>
              <a:rPr lang="en-US" sz="2000" dirty="0" err="1">
                <a:latin typeface="Antique Olive" panose="020B0603020204030204"/>
                <a:ea typeface="Quicksand"/>
                <a:cs typeface="Quicksand"/>
                <a:sym typeface="Quicksand"/>
              </a:rPr>
              <a:t>showMessage</a:t>
            </a:r>
            <a:r>
              <a:rPr lang="en-US" sz="2000" dirty="0">
                <a:latin typeface="Antique Olive" panose="020B0603020204030204"/>
                <a:ea typeface="Quicksand"/>
                <a:cs typeface="Quicksand"/>
                <a:sym typeface="Quicksand"/>
              </a:rPr>
              <a:t>(from, text) { // parameters: from, text</a:t>
            </a:r>
          </a:p>
          <a:p>
            <a:pPr>
              <a:lnSpc>
                <a:spcPts val="4150"/>
              </a:lnSpc>
            </a:pPr>
            <a:r>
              <a:rPr lang="en-US" sz="2000" dirty="0">
                <a:latin typeface="Antique Olive" panose="020B0603020204030204"/>
                <a:ea typeface="Quicksand"/>
                <a:cs typeface="Quicksand"/>
                <a:sym typeface="Quicksand"/>
              </a:rPr>
              <a:t>alert(from + ': ' + text);}</a:t>
            </a:r>
          </a:p>
          <a:p>
            <a:pPr>
              <a:lnSpc>
                <a:spcPts val="4150"/>
              </a:lnSpc>
            </a:pPr>
            <a:r>
              <a:rPr lang="en-US" sz="2000" dirty="0" err="1">
                <a:latin typeface="Antique Olive" panose="020B0603020204030204"/>
                <a:ea typeface="Quicksand"/>
                <a:cs typeface="Quicksand"/>
                <a:sym typeface="Quicksand"/>
              </a:rPr>
              <a:t>showMessage</a:t>
            </a:r>
            <a:r>
              <a:rPr lang="en-US" sz="2000" dirty="0">
                <a:latin typeface="Antique Olive" panose="020B0603020204030204"/>
                <a:ea typeface="Quicksand"/>
                <a:cs typeface="Quicksand"/>
                <a:sym typeface="Quicksand"/>
              </a:rPr>
              <a:t>('Ann', 'Hello!'); // Ann: Hello!</a:t>
            </a:r>
          </a:p>
          <a:p>
            <a:pPr>
              <a:lnSpc>
                <a:spcPts val="4150"/>
              </a:lnSpc>
            </a:pPr>
            <a:r>
              <a:rPr lang="en-US" sz="2000" dirty="0" err="1">
                <a:latin typeface="Antique Olive" panose="020B0603020204030204"/>
                <a:ea typeface="Quicksand"/>
                <a:cs typeface="Quicksand"/>
                <a:sym typeface="Quicksand"/>
              </a:rPr>
              <a:t>showMessage</a:t>
            </a:r>
            <a:r>
              <a:rPr lang="en-US" sz="2000" dirty="0">
                <a:latin typeface="Antique Olive" panose="020B0603020204030204"/>
                <a:ea typeface="Quicksand"/>
                <a:cs typeface="Quicksand"/>
                <a:sym typeface="Quicksand"/>
              </a:rPr>
              <a:t>('Ann', "What's up?"); // Ann: What's up? </a:t>
            </a:r>
            <a:endParaRPr lang="en-US" sz="2000" dirty="0">
              <a:latin typeface="Antique Olive" panose="020B0603020204030204"/>
              <a:ea typeface="Quicksand"/>
              <a:cs typeface="Quicksand"/>
              <a:sym typeface="Quicksand"/>
              <a:hlinkClick r:id="rId2" tooltip="https://javascript.info/function-basics#outer-variabl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function-basics#outer-variables">
                <a:extLst>
                  <a:ext uri="{A12FA001-AC4F-418D-AE19-62706E023703}">
                    <ahyp:hlinkClr xmlns:ahyp="http://schemas.microsoft.com/office/drawing/2018/hyperlinkcolor" val="tx"/>
                  </a:ext>
                </a:extLst>
              </a:hlinkClick>
            </a:endParaRPr>
          </a:p>
        </p:txBody>
      </p:sp>
      <p:sp>
        <p:nvSpPr>
          <p:cNvPr id="3" name="TextBox 3"/>
          <p:cNvSpPr txBox="1"/>
          <p:nvPr/>
        </p:nvSpPr>
        <p:spPr>
          <a:xfrm>
            <a:off x="3973935" y="138702"/>
            <a:ext cx="7532265" cy="2240550"/>
          </a:xfrm>
          <a:prstGeom prst="rect">
            <a:avLst/>
          </a:prstGeom>
        </p:spPr>
        <p:txBody>
          <a:bodyPr lIns="0" tIns="0" rIns="0" bIns="0" rtlCol="0" anchor="t">
            <a:spAutoFit/>
          </a:bodyPr>
          <a:lstStyle/>
          <a:p>
            <a:pPr algn="just">
              <a:lnSpc>
                <a:spcPts val="5973"/>
              </a:lnSpc>
            </a:pPr>
            <a:r>
              <a:rPr lang="en-US" sz="4400" b="1" dirty="0">
                <a:latin typeface="Antique Olive" panose="020B0603020204030204"/>
                <a:ea typeface="Cormorant Garamond"/>
                <a:cs typeface="Cormorant Garamond"/>
                <a:sym typeface="Cormorant Garamond"/>
              </a:rPr>
              <a:t>Functions</a:t>
            </a:r>
            <a:endParaRPr lang="en-US" sz="4266" dirty="0">
              <a:solidFill>
                <a:srgbClr val="0F4662"/>
              </a:solidFill>
              <a:latin typeface="Cormorant Garamond"/>
              <a:ea typeface="Cormorant Garamond"/>
              <a:cs typeface="Cormorant Garamond"/>
              <a:sym typeface="Cormorant Garamond"/>
              <a:hlinkClick r:id="rId3" tooltip="https://javascript.info/while-for#output-prime-numbers"/>
            </a:endParaRPr>
          </a:p>
          <a:p>
            <a:pPr algn="just">
              <a:lnSpc>
                <a:spcPts val="5973"/>
              </a:lnSpc>
            </a:pPr>
            <a:endParaRPr lang="en-US" sz="4266" dirty="0">
              <a:solidFill>
                <a:srgbClr val="0F4662"/>
              </a:solidFill>
              <a:latin typeface="Cormorant Garamond"/>
              <a:ea typeface="Cormorant Garamond"/>
              <a:cs typeface="Cormorant Garamond"/>
              <a:sym typeface="Cormorant Garamond"/>
              <a:hlinkClick r:id="rId3" tooltip="https://javascript.info/while-for#output-prime-numbers"/>
            </a:endParaRPr>
          </a:p>
          <a:p>
            <a:pPr algn="just">
              <a:lnSpc>
                <a:spcPts val="5973"/>
              </a:lnSpc>
              <a:spcBef>
                <a:spcPct val="0"/>
              </a:spcBef>
            </a:pPr>
            <a:endParaRPr lang="en-US" sz="4266" dirty="0">
              <a:solidFill>
                <a:srgbClr val="0F4662"/>
              </a:solidFill>
              <a:latin typeface="Cormorant Garamond"/>
              <a:ea typeface="Cormorant Garamond"/>
              <a:cs typeface="Cormorant Garamond"/>
              <a:sym typeface="Cormorant Garamond"/>
              <a:hlinkClick r:id="rId3" tooltip="https://javascript.info/while-for#output-prime-numbers"/>
            </a:endParaRPr>
          </a:p>
        </p:txBody>
      </p:sp>
    </p:spTree>
    <p:extLst>
      <p:ext uri="{BB962C8B-B14F-4D97-AF65-F5344CB8AC3E}">
        <p14:creationId xmlns:p14="http://schemas.microsoft.com/office/powerpoint/2010/main" val="253115090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874101"/>
            <a:ext cx="11287478" cy="4784130"/>
          </a:xfrm>
          <a:prstGeom prst="rect">
            <a:avLst/>
          </a:prstGeom>
        </p:spPr>
        <p:txBody>
          <a:bodyPr lIns="0" tIns="0" rIns="0" bIns="0" rtlCol="0" anchor="t">
            <a:spAutoFit/>
          </a:bodyPr>
          <a:lstStyle/>
          <a:p>
            <a:pPr>
              <a:lnSpc>
                <a:spcPts val="4150"/>
              </a:lnSpc>
            </a:pPr>
            <a:r>
              <a:rPr lang="en-US" sz="2000" u="sng" dirty="0">
                <a:latin typeface="Antique Olive" panose="020B0603020204030204"/>
                <a:ea typeface="Quicksand"/>
                <a:cs typeface="Quicksand"/>
                <a:sym typeface="Quicksand"/>
              </a:rPr>
              <a:t>Default values</a:t>
            </a:r>
          </a:p>
          <a:p>
            <a:pPr>
              <a:lnSpc>
                <a:spcPts val="4150"/>
              </a:lnSpc>
            </a:pPr>
            <a:r>
              <a:rPr lang="en-US" sz="2000" dirty="0">
                <a:latin typeface="Antique Olive" panose="020B0603020204030204"/>
                <a:ea typeface="Quicksand"/>
                <a:cs typeface="Quicksand"/>
                <a:sym typeface="Quicksand"/>
              </a:rPr>
              <a:t>If a function is called, but an argument is not provided, then the corresponding value becomes undefined.</a:t>
            </a:r>
          </a:p>
          <a:p>
            <a:pPr>
              <a:lnSpc>
                <a:spcPts val="4150"/>
              </a:lnSpc>
            </a:pPr>
            <a:r>
              <a:rPr lang="en-US" sz="2000" dirty="0">
                <a:solidFill>
                  <a:srgbClr val="000000"/>
                </a:solidFill>
                <a:latin typeface="Antique Olive" panose="020B0603020204030204"/>
                <a:ea typeface="Quicksand"/>
                <a:cs typeface="Quicksand"/>
                <a:sym typeface="Quicksand"/>
              </a:rPr>
              <a:t>For instance, the aforementioned function </a:t>
            </a:r>
            <a:r>
              <a:rPr lang="en-US" sz="2000" dirty="0" err="1">
                <a:solidFill>
                  <a:srgbClr val="000000"/>
                </a:solidFill>
                <a:latin typeface="Antique Olive" panose="020B0603020204030204"/>
                <a:ea typeface="Quicksand"/>
                <a:cs typeface="Quicksand"/>
                <a:sym typeface="Quicksand"/>
              </a:rPr>
              <a:t>showMessage</a:t>
            </a:r>
            <a:r>
              <a:rPr lang="en-US" sz="2000" dirty="0">
                <a:latin typeface="Antique Olive" panose="020B0603020204030204"/>
                <a:ea typeface="Quicksand"/>
                <a:cs typeface="Quicksand"/>
                <a:sym typeface="Quicksand"/>
              </a:rPr>
              <a:t>(from, text) can be called with a single argument:</a:t>
            </a:r>
          </a:p>
          <a:p>
            <a:pPr>
              <a:lnSpc>
                <a:spcPts val="4150"/>
              </a:lnSpc>
            </a:pPr>
            <a:r>
              <a:rPr lang="en-US" sz="2000" dirty="0">
                <a:latin typeface="Antique Olive" panose="020B0603020204030204"/>
                <a:ea typeface="Quicksand"/>
                <a:cs typeface="Quicksand"/>
                <a:sym typeface="Quicksand"/>
              </a:rPr>
              <a:t>function </a:t>
            </a:r>
            <a:r>
              <a:rPr lang="en-US" sz="2000" dirty="0" err="1">
                <a:latin typeface="Antique Olive" panose="020B0603020204030204"/>
                <a:ea typeface="Quicksand"/>
                <a:cs typeface="Quicksand"/>
                <a:sym typeface="Quicksand"/>
              </a:rPr>
              <a:t>showMessage</a:t>
            </a:r>
            <a:r>
              <a:rPr lang="en-US" sz="2000" dirty="0">
                <a:latin typeface="Antique Olive" panose="020B0603020204030204"/>
                <a:ea typeface="Quicksand"/>
                <a:cs typeface="Quicksand"/>
                <a:sym typeface="Quicksand"/>
              </a:rPr>
              <a:t>(from, text = "no text given") </a:t>
            </a:r>
          </a:p>
          <a:p>
            <a:pPr>
              <a:lnSpc>
                <a:spcPts val="4150"/>
              </a:lnSpc>
            </a:pPr>
            <a:r>
              <a:rPr lang="en-US" sz="2000" dirty="0">
                <a:latin typeface="Antique Olive" panose="020B0603020204030204"/>
                <a:ea typeface="Quicksand"/>
                <a:cs typeface="Quicksand"/>
                <a:sym typeface="Quicksand"/>
              </a:rPr>
              <a:t>{alert( from + ": " + text );}</a:t>
            </a:r>
          </a:p>
          <a:p>
            <a:pPr>
              <a:lnSpc>
                <a:spcPts val="4150"/>
              </a:lnSpc>
            </a:pPr>
            <a:r>
              <a:rPr lang="en-US" sz="2000" dirty="0" err="1">
                <a:latin typeface="Antique Olive" panose="020B0603020204030204"/>
                <a:ea typeface="Quicksand"/>
                <a:cs typeface="Quicksand"/>
                <a:sym typeface="Quicksand"/>
              </a:rPr>
              <a:t>showMessage</a:t>
            </a:r>
            <a:r>
              <a:rPr lang="en-US" sz="2000" dirty="0">
                <a:latin typeface="Antique Olive" panose="020B0603020204030204"/>
                <a:ea typeface="Quicksand"/>
                <a:cs typeface="Quicksand"/>
                <a:sym typeface="Quicksand"/>
              </a:rPr>
              <a:t>("Ann"); // Ann: no text given</a:t>
            </a:r>
          </a:p>
          <a:p>
            <a:pPr>
              <a:lnSpc>
                <a:spcPts val="4150"/>
              </a:lnSpc>
            </a:pPr>
            <a:r>
              <a:rPr lang="en-US" sz="2000" dirty="0" err="1">
                <a:latin typeface="Antique Olive" panose="020B0603020204030204"/>
                <a:ea typeface="Quicksand"/>
                <a:cs typeface="Quicksand"/>
                <a:sym typeface="Quicksand"/>
              </a:rPr>
              <a:t>showMessage</a:t>
            </a:r>
            <a:r>
              <a:rPr lang="en-US" sz="2000" dirty="0">
                <a:latin typeface="Antique Olive" panose="020B0603020204030204"/>
                <a:ea typeface="Quicksand"/>
                <a:cs typeface="Quicksand"/>
                <a:sym typeface="Quicksand"/>
              </a:rPr>
              <a:t>("Ann", undefined); // Ann: no text given</a:t>
            </a:r>
          </a:p>
          <a:p>
            <a:pPr>
              <a:lnSpc>
                <a:spcPts val="4150"/>
              </a:lnSpc>
            </a:pPr>
            <a:endParaRPr lang="en-US" sz="2441" dirty="0">
              <a:solidFill>
                <a:srgbClr val="0F4662"/>
              </a:solidFill>
              <a:latin typeface="Quicksand"/>
              <a:ea typeface="Quicksand"/>
              <a:cs typeface="Quicksand"/>
              <a:sym typeface="Quicksand"/>
            </a:endParaRPr>
          </a:p>
          <a:p>
            <a:pPr>
              <a:lnSpc>
                <a:spcPts val="4150"/>
              </a:lnSpc>
            </a:pPr>
            <a:endParaRPr lang="en-US" sz="2441" dirty="0">
              <a:solidFill>
                <a:srgbClr val="0F4662"/>
              </a:solidFill>
              <a:latin typeface="Quicksand"/>
              <a:ea typeface="Quicksand"/>
              <a:cs typeface="Quicksand"/>
              <a:sym typeface="Quicksand"/>
            </a:endParaRPr>
          </a:p>
        </p:txBody>
      </p:sp>
      <p:sp>
        <p:nvSpPr>
          <p:cNvPr id="3" name="TextBox 3"/>
          <p:cNvSpPr txBox="1"/>
          <p:nvPr/>
        </p:nvSpPr>
        <p:spPr>
          <a:xfrm>
            <a:off x="3973935" y="138702"/>
            <a:ext cx="7532265" cy="2240550"/>
          </a:xfrm>
          <a:prstGeom prst="rect">
            <a:avLst/>
          </a:prstGeom>
        </p:spPr>
        <p:txBody>
          <a:bodyPr lIns="0" tIns="0" rIns="0" bIns="0" rtlCol="0" anchor="t">
            <a:spAutoFit/>
          </a:bodyPr>
          <a:lstStyle/>
          <a:p>
            <a:pPr algn="just">
              <a:lnSpc>
                <a:spcPts val="5973"/>
              </a:lnSpc>
            </a:pPr>
            <a:r>
              <a:rPr lang="en-US" sz="4400" b="1" dirty="0">
                <a:latin typeface="Antique Olive" panose="020B0603020204030204"/>
                <a:ea typeface="Cormorant Garamond"/>
                <a:cs typeface="Cormorant Garamond"/>
                <a:sym typeface="Cormorant Garamond"/>
              </a:rPr>
              <a:t>Functions</a:t>
            </a:r>
            <a:endParaRPr lang="en-US" sz="4266" dirty="0">
              <a:solidFill>
                <a:srgbClr val="0F4662"/>
              </a:solidFill>
              <a:latin typeface="Cormorant Garamond"/>
              <a:ea typeface="Cormorant Garamond"/>
              <a:cs typeface="Cormorant Garamond"/>
              <a:sym typeface="Cormorant Garamond"/>
              <a:hlinkClick r:id="rId2" tooltip="https://javascript.info/while-for#output-prime-numbers"/>
            </a:endParaRPr>
          </a:p>
          <a:p>
            <a:pPr algn="just">
              <a:lnSpc>
                <a:spcPts val="5973"/>
              </a:lnSpc>
            </a:pPr>
            <a:endParaRPr lang="en-US" sz="4266" dirty="0">
              <a:solidFill>
                <a:srgbClr val="0F4662"/>
              </a:solidFill>
              <a:latin typeface="Cormorant Garamond"/>
              <a:ea typeface="Cormorant Garamond"/>
              <a:cs typeface="Cormorant Garamond"/>
              <a:sym typeface="Cormorant Garamond"/>
              <a:hlinkClick r:id="rId2" tooltip="https://javascript.info/while-for#output-prime-numbers"/>
            </a:endParaRPr>
          </a:p>
          <a:p>
            <a:pPr algn="just">
              <a:lnSpc>
                <a:spcPts val="5973"/>
              </a:lnSpc>
              <a:spcBef>
                <a:spcPct val="0"/>
              </a:spcBef>
            </a:pPr>
            <a:endParaRPr lang="en-US" sz="4266" dirty="0">
              <a:solidFill>
                <a:srgbClr val="0F4662"/>
              </a:solidFill>
              <a:latin typeface="Cormorant Garamond"/>
              <a:ea typeface="Cormorant Garamond"/>
              <a:cs typeface="Cormorant Garamond"/>
              <a:sym typeface="Cormorant Garamond"/>
              <a:hlinkClick r:id="rId2" tooltip="https://javascript.info/while-for#output-prime-numbers"/>
            </a:endParaRPr>
          </a:p>
        </p:txBody>
      </p:sp>
    </p:spTree>
    <p:extLst>
      <p:ext uri="{BB962C8B-B14F-4D97-AF65-F5344CB8AC3E}">
        <p14:creationId xmlns:p14="http://schemas.microsoft.com/office/powerpoint/2010/main" val="172224848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874102"/>
            <a:ext cx="11287478" cy="4245521"/>
          </a:xfrm>
          <a:prstGeom prst="rect">
            <a:avLst/>
          </a:prstGeom>
        </p:spPr>
        <p:txBody>
          <a:bodyPr lIns="0" tIns="0" rIns="0" bIns="0" rtlCol="0" anchor="t">
            <a:spAutoFit/>
          </a:bodyPr>
          <a:lstStyle/>
          <a:p>
            <a:pPr>
              <a:lnSpc>
                <a:spcPts val="4150"/>
              </a:lnSpc>
            </a:pPr>
            <a:r>
              <a:rPr lang="en-US" sz="2000" u="sng" dirty="0">
                <a:latin typeface="Antique Olive" panose="020B0603020204030204"/>
                <a:ea typeface="Quicksand"/>
                <a:cs typeface="Quicksand"/>
                <a:sym typeface="Quicksand"/>
              </a:rPr>
              <a:t>Returning a value</a:t>
            </a:r>
          </a:p>
          <a:p>
            <a:pPr>
              <a:lnSpc>
                <a:spcPts val="4150"/>
              </a:lnSpc>
            </a:pPr>
            <a:r>
              <a:rPr lang="en-US" sz="2000" dirty="0">
                <a:latin typeface="Antique Olive" panose="020B0603020204030204"/>
                <a:ea typeface="Quicksand"/>
                <a:cs typeface="Quicksand"/>
                <a:sym typeface="Quicksand"/>
              </a:rPr>
              <a:t>A function can return a value back into the calling code as the result.</a:t>
            </a:r>
          </a:p>
          <a:p>
            <a:pPr>
              <a:lnSpc>
                <a:spcPts val="4150"/>
              </a:lnSpc>
            </a:pPr>
            <a:r>
              <a:rPr lang="en-US" sz="2000" dirty="0">
                <a:latin typeface="Antique Olive" panose="020B0603020204030204"/>
                <a:ea typeface="Quicksand"/>
                <a:cs typeface="Quicksand"/>
                <a:sym typeface="Quicksand"/>
              </a:rPr>
              <a:t>The simplest example would be a function that sums two values:</a:t>
            </a:r>
          </a:p>
          <a:p>
            <a:pPr>
              <a:lnSpc>
                <a:spcPts val="4150"/>
              </a:lnSpc>
            </a:pPr>
            <a:r>
              <a:rPr lang="en-US" sz="2000" dirty="0">
                <a:latin typeface="Antique Olive" panose="020B0603020204030204"/>
                <a:ea typeface="Quicksand"/>
                <a:cs typeface="Quicksand"/>
                <a:sym typeface="Quicksand"/>
              </a:rPr>
              <a:t>function sum(a, b)</a:t>
            </a:r>
          </a:p>
          <a:p>
            <a:pPr>
              <a:lnSpc>
                <a:spcPts val="4150"/>
              </a:lnSpc>
            </a:pPr>
            <a:r>
              <a:rPr lang="en-US" sz="2000" dirty="0">
                <a:latin typeface="Antique Olive" panose="020B0603020204030204"/>
                <a:ea typeface="Quicksand"/>
                <a:cs typeface="Quicksand"/>
                <a:sym typeface="Quicksand"/>
              </a:rPr>
              <a:t> {return a + b;}</a:t>
            </a:r>
          </a:p>
          <a:p>
            <a:pPr>
              <a:lnSpc>
                <a:spcPts val="4150"/>
              </a:lnSpc>
            </a:pPr>
            <a:r>
              <a:rPr lang="en-US" sz="2000" dirty="0">
                <a:latin typeface="Antique Olive" panose="020B0603020204030204"/>
                <a:ea typeface="Quicksand"/>
                <a:cs typeface="Quicksand"/>
                <a:sym typeface="Quicksand"/>
              </a:rPr>
              <a:t>let result = sum(1, 2);</a:t>
            </a:r>
          </a:p>
          <a:p>
            <a:pPr>
              <a:lnSpc>
                <a:spcPts val="4150"/>
              </a:lnSpc>
            </a:pPr>
            <a:r>
              <a:rPr lang="en-US" sz="2000" dirty="0">
                <a:latin typeface="Antique Olive" panose="020B0603020204030204"/>
                <a:ea typeface="Quicksand"/>
                <a:cs typeface="Quicksand"/>
                <a:sym typeface="Quicksand"/>
              </a:rPr>
              <a:t>alert( result ); // 3</a:t>
            </a:r>
            <a:endParaRPr lang="en-US" sz="2000" dirty="0">
              <a:latin typeface="Antique Olive" panose="020B0603020204030204"/>
              <a:ea typeface="Quicksand"/>
              <a:cs typeface="Quicksand"/>
              <a:sym typeface="Quicksand"/>
              <a:hlinkClick r:id="rId2" tooltip="https://javascript.info/function-basics#default-values">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function-basics#default-values">
                <a:extLst>
                  <a:ext uri="{A12FA001-AC4F-418D-AE19-62706E023703}">
                    <ahyp:hlinkClr xmlns:ahyp="http://schemas.microsoft.com/office/drawing/2018/hyperlinkcolor" val="tx"/>
                  </a:ext>
                </a:extLst>
              </a:hlinkClick>
            </a:endParaRPr>
          </a:p>
        </p:txBody>
      </p:sp>
      <p:sp>
        <p:nvSpPr>
          <p:cNvPr id="3" name="TextBox 3"/>
          <p:cNvSpPr txBox="1"/>
          <p:nvPr/>
        </p:nvSpPr>
        <p:spPr>
          <a:xfrm>
            <a:off x="3973935" y="138702"/>
            <a:ext cx="7532265" cy="2240550"/>
          </a:xfrm>
          <a:prstGeom prst="rect">
            <a:avLst/>
          </a:prstGeom>
        </p:spPr>
        <p:txBody>
          <a:bodyPr lIns="0" tIns="0" rIns="0" bIns="0" rtlCol="0" anchor="t">
            <a:spAutoFit/>
          </a:bodyPr>
          <a:lstStyle/>
          <a:p>
            <a:pPr algn="just">
              <a:lnSpc>
                <a:spcPts val="5973"/>
              </a:lnSpc>
            </a:pPr>
            <a:r>
              <a:rPr lang="en-US" sz="4400" b="1" dirty="0">
                <a:latin typeface="Antique Olive" panose="020B0603020204030204"/>
                <a:ea typeface="Cormorant Garamond"/>
                <a:cs typeface="Cormorant Garamond"/>
                <a:sym typeface="Cormorant Garamond"/>
              </a:rPr>
              <a:t>Functions</a:t>
            </a:r>
            <a:endParaRPr lang="en-US" sz="4266" dirty="0">
              <a:solidFill>
                <a:srgbClr val="0F4662"/>
              </a:solidFill>
              <a:latin typeface="Cormorant Garamond"/>
              <a:ea typeface="Cormorant Garamond"/>
              <a:cs typeface="Cormorant Garamond"/>
              <a:sym typeface="Cormorant Garamond"/>
              <a:hlinkClick r:id="rId3" tooltip="https://javascript.info/while-for#output-prime-numbers"/>
            </a:endParaRPr>
          </a:p>
          <a:p>
            <a:pPr algn="just">
              <a:lnSpc>
                <a:spcPts val="5973"/>
              </a:lnSpc>
            </a:pPr>
            <a:endParaRPr lang="en-US" sz="4266" dirty="0">
              <a:solidFill>
                <a:srgbClr val="0F4662"/>
              </a:solidFill>
              <a:latin typeface="Cormorant Garamond"/>
              <a:ea typeface="Cormorant Garamond"/>
              <a:cs typeface="Cormorant Garamond"/>
              <a:sym typeface="Cormorant Garamond"/>
              <a:hlinkClick r:id="rId3" tooltip="https://javascript.info/while-for#output-prime-numbers"/>
            </a:endParaRPr>
          </a:p>
          <a:p>
            <a:pPr algn="just">
              <a:lnSpc>
                <a:spcPts val="5973"/>
              </a:lnSpc>
              <a:spcBef>
                <a:spcPct val="0"/>
              </a:spcBef>
            </a:pPr>
            <a:endParaRPr lang="en-US" sz="4266" dirty="0">
              <a:solidFill>
                <a:srgbClr val="0F4662"/>
              </a:solidFill>
              <a:latin typeface="Cormorant Garamond"/>
              <a:ea typeface="Cormorant Garamond"/>
              <a:cs typeface="Cormorant Garamond"/>
              <a:sym typeface="Cormorant Garamond"/>
              <a:hlinkClick r:id="rId3" tooltip="https://javascript.info/while-for#output-prime-numbers"/>
            </a:endParaRPr>
          </a:p>
        </p:txBody>
      </p:sp>
    </p:spTree>
    <p:extLst>
      <p:ext uri="{BB962C8B-B14F-4D97-AF65-F5344CB8AC3E}">
        <p14:creationId xmlns:p14="http://schemas.microsoft.com/office/powerpoint/2010/main" val="22665826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0" y="874102"/>
            <a:ext cx="11287478" cy="5872698"/>
          </a:xfrm>
          <a:prstGeom prst="rect">
            <a:avLst/>
          </a:prstGeom>
        </p:spPr>
        <p:txBody>
          <a:bodyPr lIns="0" tIns="0" rIns="0" bIns="0" rtlCol="0" anchor="t">
            <a:spAutoFit/>
          </a:bodyPr>
          <a:lstStyle/>
          <a:p>
            <a:pPr>
              <a:lnSpc>
                <a:spcPts val="4150"/>
              </a:lnSpc>
            </a:pPr>
            <a:r>
              <a:rPr lang="en-US" sz="2000" dirty="0">
                <a:latin typeface="Antique Olive" panose="020B0603020204030204"/>
                <a:ea typeface="Quicksand"/>
                <a:cs typeface="Quicksand"/>
                <a:sym typeface="Quicksand"/>
              </a:rPr>
              <a:t>The directive return can be in any place of the function. When the execution reaches it, the function stops, and the value is returned to the calling code (assigned to result above).</a:t>
            </a:r>
          </a:p>
          <a:p>
            <a:pPr>
              <a:lnSpc>
                <a:spcPts val="4150"/>
              </a:lnSpc>
            </a:pPr>
            <a:r>
              <a:rPr lang="en-US" sz="2000" dirty="0">
                <a:latin typeface="Antique Olive" panose="020B0603020204030204"/>
                <a:ea typeface="Quicksand"/>
                <a:cs typeface="Quicksand"/>
                <a:sym typeface="Quicksand"/>
              </a:rPr>
              <a:t>There may be many occurrences of return in a single function. For instance:</a:t>
            </a:r>
          </a:p>
          <a:p>
            <a:pPr>
              <a:lnSpc>
                <a:spcPts val="4150"/>
              </a:lnSpc>
            </a:pPr>
            <a:r>
              <a:rPr lang="en-US" sz="2000" dirty="0">
                <a:solidFill>
                  <a:srgbClr val="000000"/>
                </a:solidFill>
                <a:latin typeface="Antique Olive" panose="020B0603020204030204"/>
                <a:ea typeface="Quicksand"/>
                <a:cs typeface="Quicksand"/>
                <a:sym typeface="Quicksand"/>
              </a:rPr>
              <a:t>function </a:t>
            </a:r>
            <a:r>
              <a:rPr lang="en-US" sz="2000" dirty="0" err="1">
                <a:solidFill>
                  <a:srgbClr val="000000"/>
                </a:solidFill>
                <a:latin typeface="Antique Olive" panose="020B0603020204030204"/>
                <a:ea typeface="Quicksand"/>
                <a:cs typeface="Quicksand"/>
                <a:sym typeface="Quicksand"/>
              </a:rPr>
              <a:t>checkAge</a:t>
            </a:r>
            <a:r>
              <a:rPr lang="en-US" sz="2000" dirty="0">
                <a:latin typeface="Antique Olive" panose="020B0603020204030204"/>
                <a:ea typeface="Quicksand"/>
                <a:cs typeface="Quicksand"/>
                <a:sym typeface="Quicksand"/>
              </a:rPr>
              <a:t>(age) {</a:t>
            </a:r>
          </a:p>
          <a:p>
            <a:pPr>
              <a:lnSpc>
                <a:spcPts val="4150"/>
              </a:lnSpc>
            </a:pPr>
            <a:r>
              <a:rPr lang="en-US" sz="2000" dirty="0">
                <a:latin typeface="Antique Olive" panose="020B0603020204030204"/>
                <a:ea typeface="Quicksand"/>
                <a:cs typeface="Quicksand"/>
                <a:sym typeface="Quicksand"/>
              </a:rPr>
              <a:t>if (age &gt;= 18) {    return true;} </a:t>
            </a:r>
          </a:p>
          <a:p>
            <a:pPr>
              <a:lnSpc>
                <a:spcPts val="4150"/>
              </a:lnSpc>
            </a:pPr>
            <a:r>
              <a:rPr lang="en-US" sz="2000" dirty="0">
                <a:latin typeface="Antique Olive" panose="020B0603020204030204"/>
                <a:ea typeface="Quicksand"/>
                <a:cs typeface="Quicksand"/>
                <a:sym typeface="Quicksand"/>
              </a:rPr>
              <a:t>else {    return confirm('Do you have permission from your parents?’);}</a:t>
            </a:r>
          </a:p>
          <a:p>
            <a:pPr>
              <a:lnSpc>
                <a:spcPts val="4150"/>
              </a:lnSpc>
            </a:pPr>
            <a:r>
              <a:rPr lang="en-US" sz="2000" dirty="0">
                <a:latin typeface="Antique Olive" panose="020B0603020204030204"/>
                <a:ea typeface="Quicksand"/>
                <a:cs typeface="Quicksand"/>
                <a:sym typeface="Quicksand"/>
              </a:rPr>
              <a:t>}</a:t>
            </a:r>
          </a:p>
          <a:p>
            <a:pPr>
              <a:lnSpc>
                <a:spcPts val="4150"/>
              </a:lnSpc>
            </a:pPr>
            <a:r>
              <a:rPr lang="en-US" sz="2000" dirty="0">
                <a:latin typeface="Antique Olive" panose="020B0603020204030204"/>
                <a:ea typeface="Quicksand"/>
                <a:cs typeface="Quicksand"/>
                <a:sym typeface="Quicksand"/>
              </a:rPr>
              <a:t>let age = prompt('How old are you?', 18);</a:t>
            </a:r>
          </a:p>
          <a:p>
            <a:pPr>
              <a:lnSpc>
                <a:spcPts val="4150"/>
              </a:lnSpc>
            </a:pPr>
            <a:r>
              <a:rPr lang="en-US" sz="2000" dirty="0">
                <a:solidFill>
                  <a:srgbClr val="000000"/>
                </a:solidFill>
                <a:latin typeface="Antique Olive" panose="020B0603020204030204"/>
                <a:ea typeface="Quicksand"/>
                <a:cs typeface="Quicksand"/>
                <a:sym typeface="Quicksand"/>
              </a:rPr>
              <a:t>if ( </a:t>
            </a:r>
            <a:r>
              <a:rPr lang="en-US" sz="2000" dirty="0" err="1">
                <a:solidFill>
                  <a:srgbClr val="000000"/>
                </a:solidFill>
                <a:latin typeface="Antique Olive" panose="020B0603020204030204"/>
                <a:ea typeface="Quicksand"/>
                <a:cs typeface="Quicksand"/>
                <a:sym typeface="Quicksand"/>
              </a:rPr>
              <a:t>checkAge</a:t>
            </a:r>
            <a:r>
              <a:rPr lang="en-US" sz="2000" dirty="0">
                <a:latin typeface="Antique Olive" panose="020B0603020204030204"/>
                <a:ea typeface="Quicksand"/>
                <a:cs typeface="Quicksand"/>
                <a:sym typeface="Quicksand"/>
              </a:rPr>
              <a:t>(age) ) {alert( 'Access granted' );}</a:t>
            </a:r>
          </a:p>
          <a:p>
            <a:pPr>
              <a:lnSpc>
                <a:spcPts val="4150"/>
              </a:lnSpc>
            </a:pPr>
            <a:r>
              <a:rPr lang="en-US" sz="2000" dirty="0">
                <a:latin typeface="Antique Olive" panose="020B0603020204030204"/>
                <a:ea typeface="Quicksand"/>
                <a:cs typeface="Quicksand"/>
                <a:sym typeface="Quicksand"/>
              </a:rPr>
              <a:t> else {alert( 'Access denied' );}</a:t>
            </a:r>
            <a:endParaRPr lang="en-US" sz="2000" dirty="0">
              <a:latin typeface="Antique Olive" panose="020B0603020204030204"/>
              <a:ea typeface="Quicksand"/>
              <a:cs typeface="Quicksand"/>
              <a:sym typeface="Quicksand"/>
              <a:hlinkClick r:id="rId2" tooltip="https://javascript.info/function-basics#returning-a-value">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function-basics#returning-a-value">
                <a:extLst>
                  <a:ext uri="{A12FA001-AC4F-418D-AE19-62706E023703}">
                    <ahyp:hlinkClr xmlns:ahyp="http://schemas.microsoft.com/office/drawing/2018/hyperlinkcolor" val="tx"/>
                  </a:ext>
                </a:extLst>
              </a:hlinkClick>
            </a:endParaRPr>
          </a:p>
        </p:txBody>
      </p:sp>
      <p:sp>
        <p:nvSpPr>
          <p:cNvPr id="3" name="TextBox 3"/>
          <p:cNvSpPr txBox="1"/>
          <p:nvPr/>
        </p:nvSpPr>
        <p:spPr>
          <a:xfrm>
            <a:off x="3973935" y="138702"/>
            <a:ext cx="7532265" cy="2240550"/>
          </a:xfrm>
          <a:prstGeom prst="rect">
            <a:avLst/>
          </a:prstGeom>
        </p:spPr>
        <p:txBody>
          <a:bodyPr lIns="0" tIns="0" rIns="0" bIns="0" rtlCol="0" anchor="t">
            <a:spAutoFit/>
          </a:bodyPr>
          <a:lstStyle/>
          <a:p>
            <a:pPr algn="just">
              <a:lnSpc>
                <a:spcPts val="5973"/>
              </a:lnSpc>
            </a:pPr>
            <a:r>
              <a:rPr lang="en-US" sz="4400" b="1" dirty="0">
                <a:latin typeface="Antique Olive" panose="020B0603020204030204"/>
                <a:ea typeface="Cormorant Garamond"/>
                <a:cs typeface="Cormorant Garamond"/>
                <a:sym typeface="Cormorant Garamond"/>
              </a:rPr>
              <a:t>Functions</a:t>
            </a:r>
            <a:endParaRPr lang="en-US" sz="4266" dirty="0">
              <a:solidFill>
                <a:srgbClr val="0F4662"/>
              </a:solidFill>
              <a:latin typeface="Cormorant Garamond"/>
              <a:ea typeface="Cormorant Garamond"/>
              <a:cs typeface="Cormorant Garamond"/>
              <a:sym typeface="Cormorant Garamond"/>
              <a:hlinkClick r:id="rId3" tooltip="https://javascript.info/while-for#output-prime-numbers"/>
            </a:endParaRPr>
          </a:p>
          <a:p>
            <a:pPr algn="just">
              <a:lnSpc>
                <a:spcPts val="5973"/>
              </a:lnSpc>
            </a:pPr>
            <a:endParaRPr lang="en-US" sz="4266" dirty="0">
              <a:solidFill>
                <a:srgbClr val="0F4662"/>
              </a:solidFill>
              <a:latin typeface="Cormorant Garamond"/>
              <a:ea typeface="Cormorant Garamond"/>
              <a:cs typeface="Cormorant Garamond"/>
              <a:sym typeface="Cormorant Garamond"/>
              <a:hlinkClick r:id="rId3" tooltip="https://javascript.info/while-for#output-prime-numbers"/>
            </a:endParaRPr>
          </a:p>
          <a:p>
            <a:pPr algn="just">
              <a:lnSpc>
                <a:spcPts val="5973"/>
              </a:lnSpc>
              <a:spcBef>
                <a:spcPct val="0"/>
              </a:spcBef>
            </a:pPr>
            <a:endParaRPr lang="en-US" sz="4266" dirty="0">
              <a:solidFill>
                <a:srgbClr val="0F4662"/>
              </a:solidFill>
              <a:latin typeface="Cormorant Garamond"/>
              <a:ea typeface="Cormorant Garamond"/>
              <a:cs typeface="Cormorant Garamond"/>
              <a:sym typeface="Cormorant Garamond"/>
              <a:hlinkClick r:id="rId3" tooltip="https://javascript.info/while-for#output-prime-numbers"/>
            </a:endParaRPr>
          </a:p>
        </p:txBody>
      </p:sp>
    </p:spTree>
    <p:extLst>
      <p:ext uri="{BB962C8B-B14F-4D97-AF65-F5344CB8AC3E}">
        <p14:creationId xmlns:p14="http://schemas.microsoft.com/office/powerpoint/2010/main" val="372852729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18722" y="571500"/>
            <a:ext cx="11287478" cy="5319148"/>
          </a:xfrm>
          <a:prstGeom prst="rect">
            <a:avLst/>
          </a:prstGeom>
        </p:spPr>
        <p:txBody>
          <a:bodyPr lIns="0" tIns="0" rIns="0" bIns="0" rtlCol="0" anchor="t">
            <a:spAutoFit/>
          </a:bodyPr>
          <a:lstStyle/>
          <a:p>
            <a:pPr>
              <a:lnSpc>
                <a:spcPts val="4150"/>
              </a:lnSpc>
            </a:pPr>
            <a:r>
              <a:rPr lang="en-US" sz="2000" u="sng" dirty="0">
                <a:latin typeface="Antique Olive" panose="020B0603020204030204"/>
                <a:ea typeface="Quicksand"/>
                <a:cs typeface="Quicksand"/>
                <a:sym typeface="Quicksand"/>
              </a:rPr>
              <a:t>Naming a function</a:t>
            </a:r>
          </a:p>
          <a:p>
            <a:pPr>
              <a:lnSpc>
                <a:spcPts val="4150"/>
              </a:lnSpc>
            </a:pPr>
            <a:r>
              <a:rPr lang="en-US" sz="2000" dirty="0">
                <a:latin typeface="Antique Olive" panose="020B0603020204030204"/>
                <a:ea typeface="Quicksand"/>
                <a:cs typeface="Quicksand"/>
                <a:sym typeface="Quicksand"/>
              </a:rPr>
              <a:t>Functions are actions. So their name is usually a verb. It should be brief, as accurate as possible and describe what the function does, so that someone reading the code gets an indication of what the function does.</a:t>
            </a:r>
          </a:p>
          <a:p>
            <a:pPr>
              <a:lnSpc>
                <a:spcPts val="4150"/>
              </a:lnSpc>
            </a:pPr>
            <a:r>
              <a:rPr lang="en-US" sz="2000" dirty="0">
                <a:latin typeface="Antique Olive" panose="020B0603020204030204"/>
                <a:ea typeface="Quicksand"/>
                <a:cs typeface="Quicksand"/>
                <a:sym typeface="Quicksand"/>
              </a:rPr>
              <a:t>It is a widespread practice to start a function with a verbal prefix which vaguely describes the action.</a:t>
            </a:r>
          </a:p>
          <a:p>
            <a:pPr>
              <a:lnSpc>
                <a:spcPts val="4150"/>
              </a:lnSpc>
            </a:pPr>
            <a:r>
              <a:rPr lang="en-US" sz="2000" dirty="0">
                <a:latin typeface="Antique Olive" panose="020B0603020204030204"/>
                <a:ea typeface="Quicksand"/>
                <a:cs typeface="Quicksand"/>
                <a:sym typeface="Quicksand"/>
              </a:rPr>
              <a:t>For instance, functions that start with "show" usually show something.</a:t>
            </a:r>
          </a:p>
          <a:p>
            <a:pPr>
              <a:lnSpc>
                <a:spcPts val="4150"/>
              </a:lnSpc>
            </a:pPr>
            <a:r>
              <a:rPr lang="en-US" sz="2000" dirty="0">
                <a:latin typeface="Antique Olive" panose="020B0603020204030204"/>
                <a:ea typeface="Quicksand"/>
                <a:cs typeface="Quicksand"/>
                <a:sym typeface="Quicksand"/>
              </a:rPr>
              <a:t>Function starting with…</a:t>
            </a:r>
          </a:p>
          <a:p>
            <a:pPr marL="527028" lvl="1" indent="-263514">
              <a:lnSpc>
                <a:spcPts val="4150"/>
              </a:lnSpc>
              <a:buFont typeface="Arial"/>
              <a:buChar char="•"/>
            </a:pPr>
            <a:r>
              <a:rPr lang="en-US" sz="2000" dirty="0">
                <a:latin typeface="Antique Olive" panose="020B0603020204030204"/>
                <a:ea typeface="Quicksand"/>
                <a:cs typeface="Quicksand"/>
                <a:sym typeface="Quicksand"/>
              </a:rPr>
              <a:t>"get…" – return a value,</a:t>
            </a:r>
          </a:p>
          <a:p>
            <a:pPr marL="527028" lvl="1" indent="-263514">
              <a:lnSpc>
                <a:spcPts val="4150"/>
              </a:lnSpc>
              <a:buFont typeface="Arial"/>
              <a:buChar char="•"/>
            </a:pPr>
            <a:r>
              <a:rPr lang="en-US" sz="2000" dirty="0">
                <a:latin typeface="Antique Olive" panose="020B0603020204030204"/>
                <a:ea typeface="Quicksand"/>
                <a:cs typeface="Quicksand"/>
                <a:sym typeface="Quicksand"/>
              </a:rPr>
              <a:t>"calc…" – calculate something,</a:t>
            </a:r>
          </a:p>
          <a:p>
            <a:pPr marL="527028" lvl="1" indent="-263514">
              <a:lnSpc>
                <a:spcPts val="4150"/>
              </a:lnSpc>
              <a:buFont typeface="Arial"/>
              <a:buChar char="•"/>
            </a:pPr>
            <a:r>
              <a:rPr lang="en-US" sz="2000" dirty="0">
                <a:latin typeface="Antique Olive" panose="020B0603020204030204"/>
                <a:ea typeface="Quicksand"/>
                <a:cs typeface="Quicksand"/>
                <a:sym typeface="Quicksand"/>
              </a:rPr>
              <a:t>"create…" – create something,</a:t>
            </a:r>
          </a:p>
          <a:p>
            <a:pPr marL="527028" lvl="1" indent="-263514">
              <a:lnSpc>
                <a:spcPts val="4150"/>
              </a:lnSpc>
              <a:buFont typeface="Arial"/>
              <a:buChar char="•"/>
            </a:pPr>
            <a:r>
              <a:rPr lang="en-US" sz="2000" dirty="0">
                <a:latin typeface="Antique Olive" panose="020B0603020204030204"/>
                <a:ea typeface="Quicksand"/>
                <a:cs typeface="Quicksand"/>
                <a:sym typeface="Quicksand"/>
              </a:rPr>
              <a:t>"check…" – check something and return a </a:t>
            </a:r>
            <a:r>
              <a:rPr lang="en-US" sz="2000" dirty="0" err="1">
                <a:latin typeface="Antique Olive" panose="020B0603020204030204"/>
                <a:ea typeface="Quicksand"/>
                <a:cs typeface="Quicksand"/>
                <a:sym typeface="Quicksand"/>
              </a:rPr>
              <a:t>boolean</a:t>
            </a:r>
            <a:endParaRPr lang="en-US" sz="2000" dirty="0">
              <a:latin typeface="Antique Olive" panose="020B0603020204030204"/>
              <a:ea typeface="Quicksand"/>
              <a:cs typeface="Quicksand"/>
              <a:sym typeface="Quicksand"/>
              <a:hlinkClick r:id="rId2" tooltip="https://javascript.info/function-basics#returning-a-value">
                <a:extLst>
                  <a:ext uri="{A12FA001-AC4F-418D-AE19-62706E023703}">
                    <ahyp:hlinkClr xmlns:ahyp="http://schemas.microsoft.com/office/drawing/2018/hyperlinkcolor" val="tx"/>
                  </a:ext>
                </a:extLst>
              </a:hlinkClick>
            </a:endParaRPr>
          </a:p>
        </p:txBody>
      </p:sp>
      <p:sp>
        <p:nvSpPr>
          <p:cNvPr id="3" name="TextBox 3"/>
          <p:cNvSpPr txBox="1"/>
          <p:nvPr/>
        </p:nvSpPr>
        <p:spPr>
          <a:xfrm>
            <a:off x="3973935" y="138702"/>
            <a:ext cx="7532265" cy="1471108"/>
          </a:xfrm>
          <a:prstGeom prst="rect">
            <a:avLst/>
          </a:prstGeom>
        </p:spPr>
        <p:txBody>
          <a:bodyPr lIns="0" tIns="0" rIns="0" bIns="0" rtlCol="0" anchor="t">
            <a:spAutoFit/>
          </a:bodyPr>
          <a:lstStyle/>
          <a:p>
            <a:pPr algn="just">
              <a:lnSpc>
                <a:spcPts val="5973"/>
              </a:lnSpc>
            </a:pPr>
            <a:r>
              <a:rPr lang="en-US" sz="4400" b="1" dirty="0">
                <a:latin typeface="Antique Olive" panose="020B0603020204030204"/>
                <a:ea typeface="Cormorant Garamond"/>
                <a:cs typeface="Cormorant Garamond"/>
                <a:sym typeface="Cormorant Garamond"/>
              </a:rPr>
              <a:t>Functions</a:t>
            </a:r>
            <a:endParaRPr lang="en-US" sz="4266" dirty="0">
              <a:solidFill>
                <a:srgbClr val="0F4662"/>
              </a:solidFill>
              <a:latin typeface="Cormorant Garamond"/>
              <a:ea typeface="Cormorant Garamond"/>
              <a:cs typeface="Cormorant Garamond"/>
              <a:sym typeface="Cormorant Garamond"/>
              <a:hlinkClick r:id="rId3" tooltip="https://javascript.info/while-for#output-prime-numbers"/>
            </a:endParaRPr>
          </a:p>
          <a:p>
            <a:pPr algn="just">
              <a:lnSpc>
                <a:spcPts val="5973"/>
              </a:lnSpc>
              <a:spcBef>
                <a:spcPct val="0"/>
              </a:spcBef>
            </a:pPr>
            <a:endParaRPr lang="en-US" sz="4266" dirty="0">
              <a:solidFill>
                <a:srgbClr val="0F4662"/>
              </a:solidFill>
              <a:latin typeface="Cormorant Garamond"/>
              <a:ea typeface="Cormorant Garamond"/>
              <a:cs typeface="Cormorant Garamond"/>
              <a:sym typeface="Cormorant Garamond"/>
              <a:hlinkClick r:id="rId3" tooltip="https://javascript.info/while-for#output-prime-numbers"/>
            </a:endParaRPr>
          </a:p>
        </p:txBody>
      </p:sp>
    </p:spTree>
    <p:extLst>
      <p:ext uri="{BB962C8B-B14F-4D97-AF65-F5344CB8AC3E}">
        <p14:creationId xmlns:p14="http://schemas.microsoft.com/office/powerpoint/2010/main" val="296963804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63480" y="1179890"/>
            <a:ext cx="9161755" cy="3718262"/>
          </a:xfrm>
          <a:prstGeom prst="rect">
            <a:avLst/>
          </a:prstGeom>
        </p:spPr>
        <p:txBody>
          <a:bodyPr wrap="square" lIns="0" tIns="0" rIns="0" bIns="0" rtlCol="0" anchor="t">
            <a:spAutoFit/>
          </a:bodyPr>
          <a:lstStyle/>
          <a:p>
            <a:pPr>
              <a:lnSpc>
                <a:spcPts val="4150"/>
              </a:lnSpc>
            </a:pPr>
            <a:r>
              <a:rPr lang="en-US" sz="2000" dirty="0">
                <a:latin typeface="Antique Olive" panose="020B0603020204030204"/>
                <a:ea typeface="Quicksand"/>
                <a:cs typeface="Quicksand"/>
                <a:sym typeface="Quicksand"/>
              </a:rPr>
              <a:t>Function pow(</a:t>
            </a:r>
            <a:r>
              <a:rPr lang="en-US" sz="2000" dirty="0" err="1">
                <a:latin typeface="Antique Olive" panose="020B0603020204030204"/>
                <a:ea typeface="Quicksand"/>
                <a:cs typeface="Quicksand"/>
                <a:sym typeface="Quicksand"/>
              </a:rPr>
              <a:t>x,n</a:t>
            </a:r>
            <a:r>
              <a:rPr lang="en-US" sz="2000" dirty="0">
                <a:latin typeface="Antique Olive" panose="020B0603020204030204"/>
                <a:ea typeface="Quicksand"/>
                <a:cs typeface="Quicksand"/>
                <a:sym typeface="Quicksand"/>
              </a:rPr>
              <a:t>)</a:t>
            </a:r>
          </a:p>
          <a:p>
            <a:pPr>
              <a:lnSpc>
                <a:spcPts val="4150"/>
              </a:lnSpc>
            </a:pPr>
            <a:r>
              <a:rPr lang="en-US" sz="2000" dirty="0">
                <a:latin typeface="Antique Olive" panose="020B0603020204030204"/>
                <a:ea typeface="Quicksand"/>
                <a:cs typeface="Quicksand"/>
                <a:sym typeface="Quicksand"/>
              </a:rPr>
              <a:t>Write a function pow(</a:t>
            </a:r>
            <a:r>
              <a:rPr lang="en-US" sz="2000" dirty="0" err="1">
                <a:latin typeface="Antique Olive" panose="020B0603020204030204"/>
                <a:ea typeface="Quicksand"/>
                <a:cs typeface="Quicksand"/>
                <a:sym typeface="Quicksand"/>
              </a:rPr>
              <a:t>x,n</a:t>
            </a:r>
            <a:r>
              <a:rPr lang="en-US" sz="2000" dirty="0">
                <a:latin typeface="Antique Olive" panose="020B0603020204030204"/>
                <a:ea typeface="Quicksand"/>
                <a:cs typeface="Quicksand"/>
                <a:sym typeface="Quicksand"/>
              </a:rPr>
              <a:t>) that returns x in power n. Or, in other words, multiplies x by itself n times and returns the result.</a:t>
            </a:r>
          </a:p>
          <a:p>
            <a:pPr>
              <a:lnSpc>
                <a:spcPts val="4150"/>
              </a:lnSpc>
            </a:pPr>
            <a:r>
              <a:rPr lang="en-US" sz="2000" dirty="0">
                <a:latin typeface="Antique Olive" panose="020B0603020204030204"/>
                <a:ea typeface="Quicksand"/>
                <a:cs typeface="Quicksand"/>
                <a:sym typeface="Quicksand"/>
              </a:rPr>
              <a:t>pow(3, 2) = 3 * 3 = 9</a:t>
            </a:r>
          </a:p>
          <a:p>
            <a:pPr>
              <a:lnSpc>
                <a:spcPts val="4150"/>
              </a:lnSpc>
            </a:pPr>
            <a:r>
              <a:rPr lang="en-US" sz="2000" dirty="0">
                <a:latin typeface="Antique Olive" panose="020B0603020204030204"/>
                <a:ea typeface="Quicksand"/>
                <a:cs typeface="Quicksand"/>
                <a:sym typeface="Quicksand"/>
              </a:rPr>
              <a:t>pow(3, 3) = 3 * 3 * 3 = 27</a:t>
            </a:r>
          </a:p>
          <a:p>
            <a:pPr>
              <a:lnSpc>
                <a:spcPts val="4150"/>
              </a:lnSpc>
            </a:pPr>
            <a:r>
              <a:rPr lang="en-US" sz="2000" dirty="0">
                <a:latin typeface="Antique Olive" panose="020B0603020204030204"/>
                <a:ea typeface="Quicksand"/>
                <a:cs typeface="Quicksand"/>
                <a:sym typeface="Quicksand"/>
              </a:rPr>
              <a:t>pow(1, 100) = 1 * 1 * ...* 1 = 1</a:t>
            </a:r>
            <a:endParaRPr lang="en-US" sz="2000" dirty="0">
              <a:latin typeface="Antique Olive" panose="020B0603020204030204"/>
              <a:ea typeface="Quicksand"/>
              <a:cs typeface="Quicksand"/>
              <a:sym typeface="Quicksand"/>
              <a:hlinkClick r:id="rId2" tooltip="https://javascript.info/function-basics#function-naming">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function-basics#function-naming">
                <a:extLst>
                  <a:ext uri="{A12FA001-AC4F-418D-AE19-62706E023703}">
                    <ahyp:hlinkClr xmlns:ahyp="http://schemas.microsoft.com/office/drawing/2018/hyperlinkcolor" val="tx"/>
                  </a:ext>
                </a:extLst>
              </a:hlinkClick>
            </a:endParaRPr>
          </a:p>
        </p:txBody>
      </p:sp>
      <p:sp>
        <p:nvSpPr>
          <p:cNvPr id="3" name="TextBox 3"/>
          <p:cNvSpPr txBox="1"/>
          <p:nvPr/>
        </p:nvSpPr>
        <p:spPr>
          <a:xfrm>
            <a:off x="3973935" y="138702"/>
            <a:ext cx="7532265" cy="721480"/>
          </a:xfrm>
          <a:prstGeom prst="rect">
            <a:avLst/>
          </a:prstGeom>
        </p:spPr>
        <p:txBody>
          <a:bodyPr lIns="0" tIns="0" rIns="0" bIns="0" rtlCol="0" anchor="t">
            <a:spAutoFit/>
          </a:bodyPr>
          <a:lstStyle/>
          <a:p>
            <a:pPr algn="just">
              <a:lnSpc>
                <a:spcPts val="5973"/>
              </a:lnSpc>
              <a:spcBef>
                <a:spcPct val="0"/>
              </a:spcBef>
            </a:pPr>
            <a:r>
              <a:rPr lang="en-US" sz="4000" b="1" dirty="0">
                <a:latin typeface="Antique Olive" panose="020B0603020204030204"/>
                <a:ea typeface="Cormorant Garamond"/>
                <a:cs typeface="Cormorant Garamond"/>
                <a:sym typeface="Cormorant Garamond"/>
              </a:rPr>
              <a:t>Task</a:t>
            </a:r>
          </a:p>
        </p:txBody>
      </p:sp>
    </p:spTree>
    <p:extLst>
      <p:ext uri="{BB962C8B-B14F-4D97-AF65-F5344CB8AC3E}">
        <p14:creationId xmlns:p14="http://schemas.microsoft.com/office/powerpoint/2010/main" val="181693302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431721" y="2180590"/>
            <a:ext cx="6563575" cy="4465685"/>
          </a:xfrm>
          <a:custGeom>
            <a:avLst/>
            <a:gdLst/>
            <a:ahLst/>
            <a:cxnLst/>
            <a:rect l="l" t="t" r="r" b="b"/>
            <a:pathLst>
              <a:path w="9845363" h="6698528">
                <a:moveTo>
                  <a:pt x="0" y="0"/>
                </a:moveTo>
                <a:lnTo>
                  <a:pt x="9845363" y="0"/>
                </a:lnTo>
                <a:lnTo>
                  <a:pt x="9845363" y="6698527"/>
                </a:lnTo>
                <a:lnTo>
                  <a:pt x="0" y="6698527"/>
                </a:lnTo>
                <a:lnTo>
                  <a:pt x="0" y="0"/>
                </a:lnTo>
                <a:close/>
              </a:path>
            </a:pathLst>
          </a:custGeom>
          <a:blipFill>
            <a:blip r:embed="rId2"/>
            <a:stretch>
              <a:fillRect/>
            </a:stretch>
          </a:blipFill>
        </p:spPr>
      </p:sp>
      <p:sp>
        <p:nvSpPr>
          <p:cNvPr id="3" name="TextBox 3"/>
          <p:cNvSpPr txBox="1"/>
          <p:nvPr/>
        </p:nvSpPr>
        <p:spPr>
          <a:xfrm>
            <a:off x="218722" y="1179891"/>
            <a:ext cx="11287478" cy="1013867"/>
          </a:xfrm>
          <a:prstGeom prst="rect">
            <a:avLst/>
          </a:prstGeom>
        </p:spPr>
        <p:txBody>
          <a:bodyPr lIns="0" tIns="0" rIns="0" bIns="0" rtlCol="0" anchor="t">
            <a:spAutoFit/>
          </a:bodyPr>
          <a:lstStyle/>
          <a:p>
            <a:pPr>
              <a:lnSpc>
                <a:spcPts val="4150"/>
              </a:lnSpc>
            </a:pPr>
            <a:r>
              <a:rPr lang="en-US" sz="2441">
                <a:solidFill>
                  <a:srgbClr val="0F4662"/>
                </a:solidFill>
                <a:latin typeface="Quicksand"/>
                <a:ea typeface="Quicksand"/>
                <a:cs typeface="Quicksand"/>
                <a:sym typeface="Quicksand"/>
                <a:hlinkClick r:id="rId3" tooltip="https://javascript.info/function-basics#function-pow-x-n"/>
              </a:rPr>
              <a:t>Function pow(x,n)</a:t>
            </a:r>
          </a:p>
          <a:p>
            <a:pPr>
              <a:lnSpc>
                <a:spcPts val="4150"/>
              </a:lnSpc>
            </a:pPr>
            <a:endParaRPr lang="en-US" sz="2441">
              <a:solidFill>
                <a:srgbClr val="0F4662"/>
              </a:solidFill>
              <a:latin typeface="Quicksand"/>
              <a:ea typeface="Quicksand"/>
              <a:cs typeface="Quicksand"/>
              <a:sym typeface="Quicksand"/>
              <a:hlinkClick r:id="rId3" tooltip="https://javascript.info/function-basics#function-pow-x-n"/>
            </a:endParaRPr>
          </a:p>
        </p:txBody>
      </p:sp>
      <p:sp>
        <p:nvSpPr>
          <p:cNvPr id="4" name="TextBox 4"/>
          <p:cNvSpPr txBox="1"/>
          <p:nvPr/>
        </p:nvSpPr>
        <p:spPr>
          <a:xfrm>
            <a:off x="3700452" y="285962"/>
            <a:ext cx="7532265" cy="712503"/>
          </a:xfrm>
          <a:prstGeom prst="rect">
            <a:avLst/>
          </a:prstGeom>
        </p:spPr>
        <p:txBody>
          <a:bodyPr lIns="0" tIns="0" rIns="0" bIns="0" rtlCol="0" anchor="t">
            <a:spAutoFit/>
          </a:bodyPr>
          <a:lstStyle/>
          <a:p>
            <a:pPr algn="just">
              <a:lnSpc>
                <a:spcPts val="5973"/>
              </a:lnSpc>
              <a:spcBef>
                <a:spcPct val="0"/>
              </a:spcBef>
            </a:pPr>
            <a:r>
              <a:rPr lang="en-US" sz="4000" b="1" dirty="0">
                <a:latin typeface="Antique Olive" panose="020B0603020204030204"/>
                <a:ea typeface="Cormorant Garamond"/>
                <a:cs typeface="Cormorant Garamond"/>
                <a:sym typeface="Cormorant Garamond"/>
              </a:rPr>
              <a:t>Task Solution</a:t>
            </a:r>
          </a:p>
        </p:txBody>
      </p:sp>
    </p:spTree>
    <p:extLst>
      <p:ext uri="{BB962C8B-B14F-4D97-AF65-F5344CB8AC3E}">
        <p14:creationId xmlns:p14="http://schemas.microsoft.com/office/powerpoint/2010/main" val="55727363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03682" y="895139"/>
            <a:ext cx="11588318" cy="5334089"/>
          </a:xfrm>
          <a:prstGeom prst="rect">
            <a:avLst/>
          </a:prstGeom>
        </p:spPr>
        <p:txBody>
          <a:bodyPr wrap="square" lIns="0" tIns="0" rIns="0" bIns="0" rtlCol="0" anchor="t">
            <a:spAutoFit/>
          </a:bodyPr>
          <a:lstStyle/>
          <a:p>
            <a:pPr>
              <a:lnSpc>
                <a:spcPts val="4150"/>
              </a:lnSpc>
            </a:pPr>
            <a:r>
              <a:rPr lang="en-US" sz="2000" b="1" dirty="0">
                <a:latin typeface="Antique Olive" panose="020B0603020204030204"/>
                <a:ea typeface="Quicksand Bold"/>
                <a:cs typeface="Quicksand Bold"/>
                <a:sym typeface="Quicksand Bold"/>
              </a:rPr>
              <a:t>Function expressions</a:t>
            </a:r>
          </a:p>
          <a:p>
            <a:pPr>
              <a:lnSpc>
                <a:spcPts val="4150"/>
              </a:lnSpc>
            </a:pPr>
            <a:r>
              <a:rPr lang="en-US" sz="2000" dirty="0">
                <a:latin typeface="Antique Olive" panose="020B0603020204030204"/>
                <a:ea typeface="Quicksand"/>
                <a:cs typeface="Quicksand"/>
                <a:sym typeface="Quicksand"/>
              </a:rPr>
              <a:t>In JavaScript, a function is not a “magical language structure”, but a special kind of value.</a:t>
            </a:r>
          </a:p>
          <a:p>
            <a:pPr>
              <a:lnSpc>
                <a:spcPts val="4150"/>
              </a:lnSpc>
            </a:pPr>
            <a:r>
              <a:rPr lang="en-US" sz="2000" dirty="0">
                <a:latin typeface="Antique Olive" panose="020B0603020204030204"/>
                <a:ea typeface="Quicksand"/>
                <a:cs typeface="Quicksand"/>
                <a:sym typeface="Quicksand"/>
              </a:rPr>
              <a:t>The syntax that we used before is called a Function Declaration:</a:t>
            </a:r>
          </a:p>
          <a:p>
            <a:pPr>
              <a:lnSpc>
                <a:spcPts val="4150"/>
              </a:lnSpc>
            </a:pPr>
            <a:r>
              <a:rPr lang="en-US" sz="2000" dirty="0">
                <a:latin typeface="Antique Olive" panose="020B0603020204030204"/>
                <a:ea typeface="Quicksand"/>
                <a:cs typeface="Quicksand"/>
                <a:sym typeface="Quicksand"/>
              </a:rPr>
              <a:t>function </a:t>
            </a:r>
            <a:r>
              <a:rPr lang="en-US" sz="2000" dirty="0" err="1">
                <a:latin typeface="Antique Olive" panose="020B0603020204030204"/>
                <a:ea typeface="Quicksand"/>
                <a:cs typeface="Quicksand"/>
                <a:sym typeface="Quicksand"/>
              </a:rPr>
              <a:t>sayHi</a:t>
            </a:r>
            <a:r>
              <a:rPr lang="en-US" sz="2000" dirty="0">
                <a:latin typeface="Antique Olive" panose="020B0603020204030204"/>
                <a:ea typeface="Quicksand"/>
                <a:cs typeface="Quicksand"/>
                <a:sym typeface="Quicksand"/>
              </a:rPr>
              <a:t>() </a:t>
            </a:r>
          </a:p>
          <a:p>
            <a:pPr>
              <a:lnSpc>
                <a:spcPts val="4150"/>
              </a:lnSpc>
            </a:pPr>
            <a:r>
              <a:rPr lang="en-US" sz="2000" dirty="0">
                <a:latin typeface="Antique Olive" panose="020B0603020204030204"/>
                <a:ea typeface="Quicksand"/>
                <a:cs typeface="Quicksand"/>
                <a:sym typeface="Quicksand"/>
              </a:rPr>
              <a:t>{alert( "Hello" );}</a:t>
            </a:r>
          </a:p>
          <a:p>
            <a:pPr>
              <a:lnSpc>
                <a:spcPts val="4150"/>
              </a:lnSpc>
            </a:pPr>
            <a:r>
              <a:rPr lang="en-US" sz="2000" dirty="0">
                <a:latin typeface="Antique Olive" panose="020B0603020204030204"/>
                <a:ea typeface="Quicksand"/>
                <a:cs typeface="Quicksand"/>
                <a:sym typeface="Quicksand"/>
              </a:rPr>
              <a:t>There is another syntax for creating a function that is called a Function Expression.</a:t>
            </a:r>
          </a:p>
          <a:p>
            <a:pPr>
              <a:lnSpc>
                <a:spcPts val="4150"/>
              </a:lnSpc>
            </a:pPr>
            <a:r>
              <a:rPr lang="en-US" sz="2000" dirty="0">
                <a:latin typeface="Antique Olive" panose="020B0603020204030204"/>
                <a:ea typeface="Quicksand"/>
                <a:cs typeface="Quicksand"/>
                <a:sym typeface="Quicksand"/>
              </a:rPr>
              <a:t>It allows us to create a new function in the middle of any expression.</a:t>
            </a:r>
          </a:p>
          <a:p>
            <a:pPr>
              <a:lnSpc>
                <a:spcPts val="4150"/>
              </a:lnSpc>
            </a:pPr>
            <a:r>
              <a:rPr lang="en-US" sz="2000" b="1" dirty="0">
                <a:latin typeface="Antique Olive" panose="020B0603020204030204"/>
                <a:ea typeface="Quicksand Bold"/>
                <a:cs typeface="Quicksand Bold"/>
                <a:sym typeface="Quicksand Bold"/>
              </a:rPr>
              <a:t>For example:</a:t>
            </a:r>
          </a:p>
          <a:p>
            <a:pPr>
              <a:lnSpc>
                <a:spcPts val="4150"/>
              </a:lnSpc>
            </a:pPr>
            <a:r>
              <a:rPr lang="en-US" sz="2000" dirty="0">
                <a:latin typeface="Antique Olive" panose="020B0603020204030204"/>
                <a:ea typeface="Quicksand"/>
                <a:cs typeface="Quicksand"/>
                <a:sym typeface="Quicksand"/>
              </a:rPr>
              <a:t>let </a:t>
            </a:r>
            <a:r>
              <a:rPr lang="en-US" sz="2000" dirty="0" err="1">
                <a:latin typeface="Antique Olive" panose="020B0603020204030204"/>
                <a:ea typeface="Quicksand"/>
                <a:cs typeface="Quicksand"/>
                <a:sym typeface="Quicksand"/>
              </a:rPr>
              <a:t>sayHi</a:t>
            </a:r>
            <a:r>
              <a:rPr lang="en-US" sz="2000" dirty="0">
                <a:latin typeface="Antique Olive" panose="020B0603020204030204"/>
                <a:ea typeface="Quicksand"/>
                <a:cs typeface="Quicksand"/>
                <a:sym typeface="Quicksand"/>
              </a:rPr>
              <a:t> = function() {alert( "Hello" );};</a:t>
            </a:r>
            <a:endParaRPr lang="en-US" sz="2000" dirty="0">
              <a:latin typeface="Antique Olive" panose="020B0603020204030204"/>
              <a:ea typeface="Quicksand"/>
              <a:cs typeface="Quicksand"/>
              <a:sym typeface="Quicksand"/>
              <a:hlinkClick r:id="rId2" tooltip="https://javascript.info/function-basics#function-pow-x-n">
                <a:extLst>
                  <a:ext uri="{A12FA001-AC4F-418D-AE19-62706E023703}">
                    <ahyp:hlinkClr xmlns:ahyp="http://schemas.microsoft.com/office/drawing/2018/hyperlinkcolor" val="tx"/>
                  </a:ext>
                </a:extLst>
              </a:hlinkClick>
            </a:endParaRPr>
          </a:p>
          <a:p>
            <a:pPr>
              <a:lnSpc>
                <a:spcPts val="4150"/>
              </a:lnSpc>
            </a:pPr>
            <a:endParaRPr lang="en-US" sz="2441" dirty="0">
              <a:solidFill>
                <a:srgbClr val="000000"/>
              </a:solidFill>
              <a:latin typeface="Quicksand"/>
              <a:ea typeface="Quicksand"/>
              <a:cs typeface="Quicksand"/>
              <a:sym typeface="Quicksand"/>
              <a:hlinkClick r:id="rId2" tooltip="https://javascript.info/function-basics#function-pow-x-n">
                <a:extLst>
                  <a:ext uri="{A12FA001-AC4F-418D-AE19-62706E023703}">
                    <ahyp:hlinkClr xmlns:ahyp="http://schemas.microsoft.com/office/drawing/2018/hyperlinkcolor" val="tx"/>
                  </a:ext>
                </a:extLst>
              </a:hlinkClick>
            </a:endParaRPr>
          </a:p>
        </p:txBody>
      </p:sp>
      <p:sp>
        <p:nvSpPr>
          <p:cNvPr id="3" name="TextBox 3"/>
          <p:cNvSpPr txBox="1"/>
          <p:nvPr/>
        </p:nvSpPr>
        <p:spPr>
          <a:xfrm>
            <a:off x="3700452" y="285962"/>
            <a:ext cx="7532265" cy="721672"/>
          </a:xfrm>
          <a:prstGeom prst="rect">
            <a:avLst/>
          </a:prstGeom>
        </p:spPr>
        <p:txBody>
          <a:bodyPr lIns="0" tIns="0" rIns="0" bIns="0" rtlCol="0" anchor="t">
            <a:spAutoFit/>
          </a:bodyPr>
          <a:lstStyle/>
          <a:p>
            <a:pPr algn="just">
              <a:lnSpc>
                <a:spcPts val="5973"/>
              </a:lnSpc>
              <a:spcBef>
                <a:spcPct val="0"/>
              </a:spcBef>
            </a:pPr>
            <a:r>
              <a:rPr lang="en-US" sz="4000" b="1" dirty="0">
                <a:latin typeface="Antique Olive" panose="020B0603020204030204"/>
                <a:ea typeface="Cormorant Garamond"/>
                <a:cs typeface="Cormorant Garamond"/>
                <a:sym typeface="Cormorant Garamond"/>
              </a:rPr>
              <a:t>Functions</a:t>
            </a:r>
            <a:endParaRPr lang="en-US" sz="4266" dirty="0">
              <a:solidFill>
                <a:srgbClr val="0F4662"/>
              </a:solidFill>
              <a:latin typeface="Cormorant Garamond"/>
              <a:ea typeface="Cormorant Garamond"/>
              <a:cs typeface="Cormorant Garamond"/>
              <a:sym typeface="Cormorant Garamond"/>
            </a:endParaRPr>
          </a:p>
        </p:txBody>
      </p:sp>
    </p:spTree>
    <p:extLst>
      <p:ext uri="{BB962C8B-B14F-4D97-AF65-F5344CB8AC3E}">
        <p14:creationId xmlns:p14="http://schemas.microsoft.com/office/powerpoint/2010/main" val="69993513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03682" y="1052104"/>
            <a:ext cx="12785380" cy="4816768"/>
          </a:xfrm>
          <a:prstGeom prst="rect">
            <a:avLst/>
          </a:prstGeom>
        </p:spPr>
        <p:txBody>
          <a:bodyPr wrap="square" lIns="0" tIns="0" rIns="0" bIns="0" rtlCol="0" anchor="t">
            <a:spAutoFit/>
          </a:bodyPr>
          <a:lstStyle/>
          <a:p>
            <a:pPr>
              <a:lnSpc>
                <a:spcPts val="3810"/>
              </a:lnSpc>
            </a:pPr>
            <a:r>
              <a:rPr lang="en-US" sz="2000" u="sng" dirty="0">
                <a:latin typeface="Antique Olive" panose="020B0603020204030204"/>
                <a:ea typeface="Quicksand"/>
                <a:cs typeface="Quicksand"/>
                <a:sym typeface="Quicksand"/>
              </a:rPr>
              <a:t>Callback functions</a:t>
            </a:r>
          </a:p>
          <a:p>
            <a:pPr>
              <a:lnSpc>
                <a:spcPts val="3810"/>
              </a:lnSpc>
            </a:pPr>
            <a:r>
              <a:rPr lang="en-US" sz="2000" dirty="0">
                <a:latin typeface="Antique Olive" panose="020B0603020204030204"/>
                <a:ea typeface="Quicksand"/>
                <a:cs typeface="Quicksand"/>
                <a:sym typeface="Quicksand"/>
              </a:rPr>
              <a:t>Let’s look at more examples of passing functions as values and using function expressions.</a:t>
            </a:r>
          </a:p>
          <a:p>
            <a:pPr>
              <a:lnSpc>
                <a:spcPts val="3810"/>
              </a:lnSpc>
            </a:pPr>
            <a:r>
              <a:rPr lang="en-US" sz="2000" dirty="0">
                <a:latin typeface="Antique Olive" panose="020B0603020204030204"/>
                <a:ea typeface="Quicksand"/>
                <a:cs typeface="Quicksand"/>
                <a:sym typeface="Quicksand"/>
              </a:rPr>
              <a:t>We’ll write a function ask(question, yes, no) with three parameters:</a:t>
            </a:r>
          </a:p>
          <a:p>
            <a:pPr>
              <a:lnSpc>
                <a:spcPts val="3810"/>
              </a:lnSpc>
            </a:pPr>
            <a:r>
              <a:rPr lang="en-US" sz="2000" b="1" dirty="0">
                <a:latin typeface="Antique Olive" panose="020B0603020204030204"/>
                <a:ea typeface="Quicksand Bold"/>
                <a:cs typeface="Quicksand Bold"/>
                <a:sym typeface="Quicksand Bold"/>
              </a:rPr>
              <a:t>question</a:t>
            </a:r>
          </a:p>
          <a:p>
            <a:pPr>
              <a:lnSpc>
                <a:spcPts val="3810"/>
              </a:lnSpc>
            </a:pPr>
            <a:r>
              <a:rPr lang="en-US" sz="2000" dirty="0">
                <a:latin typeface="Antique Olive" panose="020B0603020204030204"/>
                <a:ea typeface="Quicksand"/>
                <a:cs typeface="Quicksand"/>
                <a:sym typeface="Quicksand"/>
              </a:rPr>
              <a:t>Text of the question</a:t>
            </a:r>
          </a:p>
          <a:p>
            <a:pPr>
              <a:lnSpc>
                <a:spcPts val="3810"/>
              </a:lnSpc>
            </a:pPr>
            <a:r>
              <a:rPr lang="en-US" sz="2000" b="1" dirty="0">
                <a:latin typeface="Antique Olive" panose="020B0603020204030204"/>
                <a:ea typeface="Quicksand Bold"/>
                <a:cs typeface="Quicksand Bold"/>
                <a:sym typeface="Quicksand Bold"/>
              </a:rPr>
              <a:t>yes</a:t>
            </a:r>
          </a:p>
          <a:p>
            <a:pPr>
              <a:lnSpc>
                <a:spcPts val="3810"/>
              </a:lnSpc>
            </a:pPr>
            <a:r>
              <a:rPr lang="en-US" sz="2000" dirty="0">
                <a:latin typeface="Antique Olive" panose="020B0603020204030204"/>
                <a:ea typeface="Quicksand"/>
                <a:cs typeface="Quicksand"/>
                <a:sym typeface="Quicksand"/>
              </a:rPr>
              <a:t>Function to run if the answer is “Yes”</a:t>
            </a:r>
          </a:p>
          <a:p>
            <a:pPr>
              <a:lnSpc>
                <a:spcPts val="3810"/>
              </a:lnSpc>
            </a:pPr>
            <a:r>
              <a:rPr lang="en-US" sz="2000" b="1" dirty="0">
                <a:latin typeface="Antique Olive" panose="020B0603020204030204"/>
                <a:ea typeface="Quicksand Bold"/>
                <a:cs typeface="Quicksand Bold"/>
                <a:sym typeface="Quicksand Bold"/>
              </a:rPr>
              <a:t>no</a:t>
            </a:r>
          </a:p>
          <a:p>
            <a:pPr>
              <a:lnSpc>
                <a:spcPts val="3810"/>
              </a:lnSpc>
            </a:pPr>
            <a:r>
              <a:rPr lang="en-US" sz="2000" dirty="0">
                <a:latin typeface="Antique Olive" panose="020B0603020204030204"/>
                <a:ea typeface="Quicksand"/>
                <a:cs typeface="Quicksand"/>
                <a:sym typeface="Quicksand"/>
              </a:rPr>
              <a:t>Function to run if the answer is “No”</a:t>
            </a:r>
            <a:endParaRPr lang="en-US" sz="2000" dirty="0">
              <a:latin typeface="Antique Olive" panose="020B0603020204030204"/>
              <a:ea typeface="Quicksand"/>
              <a:cs typeface="Quicksand"/>
              <a:sym typeface="Quicksand"/>
              <a:hlinkClick r:id="rId2" tooltip="https://javascript.info/function-basics#function-pow-x-n">
                <a:extLst>
                  <a:ext uri="{A12FA001-AC4F-418D-AE19-62706E023703}">
                    <ahyp:hlinkClr xmlns:ahyp="http://schemas.microsoft.com/office/drawing/2018/hyperlinkcolor" val="tx"/>
                  </a:ext>
                </a:extLst>
              </a:hlinkClick>
            </a:endParaRPr>
          </a:p>
          <a:p>
            <a:pPr>
              <a:lnSpc>
                <a:spcPts val="3810"/>
              </a:lnSpc>
            </a:pPr>
            <a:endParaRPr lang="en-US" sz="2241" dirty="0">
              <a:solidFill>
                <a:srgbClr val="000000"/>
              </a:solidFill>
              <a:latin typeface="Quicksand"/>
              <a:ea typeface="Quicksand"/>
              <a:cs typeface="Quicksand"/>
              <a:sym typeface="Quicksand"/>
              <a:hlinkClick r:id="rId2" tooltip="https://javascript.info/function-basics#function-pow-x-n">
                <a:extLst>
                  <a:ext uri="{A12FA001-AC4F-418D-AE19-62706E023703}">
                    <ahyp:hlinkClr xmlns:ahyp="http://schemas.microsoft.com/office/drawing/2018/hyperlinkcolor" val="tx"/>
                  </a:ext>
                </a:extLst>
              </a:hlinkClick>
            </a:endParaRPr>
          </a:p>
        </p:txBody>
      </p:sp>
      <p:sp>
        <p:nvSpPr>
          <p:cNvPr id="3" name="TextBox 3"/>
          <p:cNvSpPr txBox="1"/>
          <p:nvPr/>
        </p:nvSpPr>
        <p:spPr>
          <a:xfrm>
            <a:off x="3700452" y="285962"/>
            <a:ext cx="7532265" cy="721672"/>
          </a:xfrm>
          <a:prstGeom prst="rect">
            <a:avLst/>
          </a:prstGeom>
        </p:spPr>
        <p:txBody>
          <a:bodyPr lIns="0" tIns="0" rIns="0" bIns="0" rtlCol="0" anchor="t">
            <a:spAutoFit/>
          </a:bodyPr>
          <a:lstStyle/>
          <a:p>
            <a:pPr algn="just">
              <a:lnSpc>
                <a:spcPts val="5973"/>
              </a:lnSpc>
              <a:spcBef>
                <a:spcPct val="0"/>
              </a:spcBef>
            </a:pPr>
            <a:r>
              <a:rPr lang="en-US" sz="4000" b="1" dirty="0">
                <a:latin typeface="Antique Olive" panose="020B0603020204030204"/>
                <a:ea typeface="Cormorant Garamond"/>
                <a:cs typeface="Cormorant Garamond"/>
                <a:sym typeface="Cormorant Garamond"/>
              </a:rPr>
              <a:t>Functions</a:t>
            </a:r>
            <a:endParaRPr lang="en-US" sz="4266" dirty="0">
              <a:solidFill>
                <a:srgbClr val="0F4662"/>
              </a:solidFill>
              <a:latin typeface="Cormorant Garamond"/>
              <a:ea typeface="Cormorant Garamond"/>
              <a:cs typeface="Cormorant Garamond"/>
              <a:sym typeface="Cormorant Garamond"/>
            </a:endParaRPr>
          </a:p>
        </p:txBody>
      </p:sp>
    </p:spTree>
    <p:extLst>
      <p:ext uri="{BB962C8B-B14F-4D97-AF65-F5344CB8AC3E}">
        <p14:creationId xmlns:p14="http://schemas.microsoft.com/office/powerpoint/2010/main" val="165773789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81235" y="1042063"/>
            <a:ext cx="11410765" cy="6289094"/>
          </a:xfrm>
          <a:prstGeom prst="rect">
            <a:avLst/>
          </a:prstGeom>
        </p:spPr>
        <p:txBody>
          <a:bodyPr wrap="square" lIns="0" tIns="0" rIns="0" bIns="0" rtlCol="0" anchor="t">
            <a:spAutoFit/>
          </a:bodyPr>
          <a:lstStyle/>
          <a:p>
            <a:pPr>
              <a:lnSpc>
                <a:spcPts val="3810"/>
              </a:lnSpc>
            </a:pPr>
            <a:r>
              <a:rPr lang="en-US" sz="2000" u="sng" dirty="0">
                <a:latin typeface="Antique Olive" panose="020B0603020204030204"/>
                <a:ea typeface="Quicksand"/>
                <a:cs typeface="Quicksand"/>
                <a:sym typeface="Quicksand"/>
                <a:hlinkClick r:id="rId2" tooltip="https://javascript.info/function-expressions#callback-functions">
                  <a:extLst>
                    <a:ext uri="{A12FA001-AC4F-418D-AE19-62706E023703}">
                      <ahyp:hlinkClr xmlns:ahyp="http://schemas.microsoft.com/office/drawing/2018/hyperlinkcolor" val="tx"/>
                    </a:ext>
                  </a:extLst>
                </a:hlinkClick>
              </a:rPr>
              <a:t>Callback functions</a:t>
            </a:r>
          </a:p>
          <a:p>
            <a:pPr>
              <a:lnSpc>
                <a:spcPts val="3810"/>
              </a:lnSpc>
            </a:pPr>
            <a:r>
              <a:rPr lang="en-US" sz="2000" dirty="0">
                <a:latin typeface="Antique Olive" panose="020B0603020204030204"/>
                <a:ea typeface="Quicksand"/>
                <a:cs typeface="Quicksand"/>
                <a:sym typeface="Quicksand"/>
              </a:rPr>
              <a:t>The function should ask the question and, depending on the user’s answer, call yes() or no():</a:t>
            </a:r>
            <a:endParaRPr lang="en-US" sz="2000" dirty="0">
              <a:latin typeface="Antique Olive" panose="020B0603020204030204"/>
              <a:ea typeface="Quicksand"/>
              <a:cs typeface="Quicksand"/>
              <a:sym typeface="Quicksand"/>
              <a:hlinkClick r:id="rId3" tooltip="https://javascript.info/function-basics#function-pow-x-n">
                <a:extLst>
                  <a:ext uri="{A12FA001-AC4F-418D-AE19-62706E023703}">
                    <ahyp:hlinkClr xmlns:ahyp="http://schemas.microsoft.com/office/drawing/2018/hyperlinkcolor" val="tx"/>
                  </a:ext>
                </a:extLst>
              </a:hlinkClick>
            </a:endParaRPr>
          </a:p>
          <a:p>
            <a:pPr>
              <a:lnSpc>
                <a:spcPts val="3810"/>
              </a:lnSpc>
            </a:pPr>
            <a:r>
              <a:rPr lang="en-US" sz="2000" dirty="0">
                <a:latin typeface="Antique Olive" panose="020B0603020204030204"/>
                <a:ea typeface="Quicksand"/>
                <a:cs typeface="Quicksand"/>
                <a:sym typeface="Quicksand"/>
              </a:rPr>
              <a:t>function ask(question, yes, no) </a:t>
            </a:r>
          </a:p>
          <a:p>
            <a:pPr>
              <a:lnSpc>
                <a:spcPts val="3810"/>
              </a:lnSpc>
            </a:pPr>
            <a:r>
              <a:rPr lang="en-US" sz="2000" dirty="0">
                <a:latin typeface="Antique Olive" panose="020B0603020204030204"/>
                <a:ea typeface="Quicksand"/>
                <a:cs typeface="Quicksand"/>
                <a:sym typeface="Quicksand"/>
              </a:rPr>
              <a:t>{if (confirm(question)) yes()</a:t>
            </a:r>
          </a:p>
          <a:p>
            <a:pPr>
              <a:lnSpc>
                <a:spcPts val="3810"/>
              </a:lnSpc>
            </a:pPr>
            <a:r>
              <a:rPr lang="en-US" sz="2000" dirty="0">
                <a:latin typeface="Antique Olive" panose="020B0603020204030204"/>
                <a:ea typeface="Quicksand"/>
                <a:cs typeface="Quicksand"/>
                <a:sym typeface="Quicksand"/>
              </a:rPr>
              <a:t>else no();}</a:t>
            </a:r>
          </a:p>
          <a:p>
            <a:pPr>
              <a:lnSpc>
                <a:spcPts val="3810"/>
              </a:lnSpc>
            </a:pPr>
            <a:r>
              <a:rPr lang="en-US" sz="2000" dirty="0">
                <a:latin typeface="Antique Olive" panose="020B0603020204030204"/>
                <a:ea typeface="Quicksand"/>
                <a:cs typeface="Quicksand"/>
                <a:sym typeface="Quicksand"/>
              </a:rPr>
              <a:t>function </a:t>
            </a:r>
            <a:r>
              <a:rPr lang="en-US" sz="2000" dirty="0" err="1">
                <a:latin typeface="Antique Olive" panose="020B0603020204030204"/>
                <a:ea typeface="Quicksand"/>
                <a:cs typeface="Quicksand"/>
                <a:sym typeface="Quicksand"/>
              </a:rPr>
              <a:t>showOk</a:t>
            </a:r>
            <a:r>
              <a:rPr lang="en-US" sz="2000" dirty="0">
                <a:latin typeface="Antique Olive" panose="020B0603020204030204"/>
                <a:ea typeface="Quicksand"/>
                <a:cs typeface="Quicksand"/>
                <a:sym typeface="Quicksand"/>
              </a:rPr>
              <a:t>()</a:t>
            </a:r>
          </a:p>
          <a:p>
            <a:pPr>
              <a:lnSpc>
                <a:spcPts val="3810"/>
              </a:lnSpc>
            </a:pPr>
            <a:r>
              <a:rPr lang="en-US" sz="2000" dirty="0">
                <a:latin typeface="Antique Olive" panose="020B0603020204030204"/>
                <a:ea typeface="Quicksand"/>
                <a:cs typeface="Quicksand"/>
                <a:sym typeface="Quicksand"/>
              </a:rPr>
              <a:t> {alert( "You agreed." );}</a:t>
            </a:r>
          </a:p>
          <a:p>
            <a:pPr>
              <a:lnSpc>
                <a:spcPts val="3810"/>
              </a:lnSpc>
            </a:pPr>
            <a:r>
              <a:rPr lang="en-US" sz="2000" dirty="0">
                <a:latin typeface="Antique Olive" panose="020B0603020204030204"/>
                <a:ea typeface="Quicksand"/>
                <a:cs typeface="Quicksand"/>
                <a:sym typeface="Quicksand"/>
              </a:rPr>
              <a:t>function </a:t>
            </a:r>
            <a:r>
              <a:rPr lang="en-US" sz="2000" dirty="0" err="1">
                <a:latin typeface="Antique Olive" panose="020B0603020204030204"/>
                <a:ea typeface="Quicksand"/>
                <a:cs typeface="Quicksand"/>
                <a:sym typeface="Quicksand"/>
              </a:rPr>
              <a:t>showCancel</a:t>
            </a:r>
            <a:r>
              <a:rPr lang="en-US" sz="2000" dirty="0">
                <a:latin typeface="Antique Olive" panose="020B0603020204030204"/>
                <a:ea typeface="Quicksand"/>
                <a:cs typeface="Quicksand"/>
                <a:sym typeface="Quicksand"/>
              </a:rPr>
              <a:t>() </a:t>
            </a:r>
          </a:p>
          <a:p>
            <a:pPr>
              <a:lnSpc>
                <a:spcPts val="3810"/>
              </a:lnSpc>
            </a:pPr>
            <a:r>
              <a:rPr lang="en-US" sz="2000" dirty="0">
                <a:latin typeface="Antique Olive" panose="020B0603020204030204"/>
                <a:ea typeface="Quicksand"/>
                <a:cs typeface="Quicksand"/>
                <a:sym typeface="Quicksand"/>
              </a:rPr>
              <a:t>{alert( "You canceled the execution." );}</a:t>
            </a:r>
          </a:p>
          <a:p>
            <a:pPr>
              <a:lnSpc>
                <a:spcPts val="3810"/>
              </a:lnSpc>
            </a:pPr>
            <a:r>
              <a:rPr lang="en-US" sz="2000" dirty="0">
                <a:latin typeface="Antique Olive" panose="020B0603020204030204"/>
                <a:ea typeface="Quicksand"/>
                <a:cs typeface="Quicksand"/>
                <a:sym typeface="Quicksand"/>
              </a:rPr>
              <a:t>// usage: functions </a:t>
            </a:r>
            <a:r>
              <a:rPr lang="en-US" sz="2000" dirty="0" err="1">
                <a:latin typeface="Antique Olive" panose="020B0603020204030204"/>
                <a:ea typeface="Quicksand"/>
                <a:cs typeface="Quicksand"/>
                <a:sym typeface="Quicksand"/>
              </a:rPr>
              <a:t>showOk</a:t>
            </a:r>
            <a:r>
              <a:rPr lang="en-US" sz="2000" dirty="0">
                <a:latin typeface="Antique Olive" panose="020B0603020204030204"/>
                <a:ea typeface="Quicksand"/>
                <a:cs typeface="Quicksand"/>
                <a:sym typeface="Quicksand"/>
              </a:rPr>
              <a:t>, </a:t>
            </a:r>
            <a:r>
              <a:rPr lang="en-US" sz="2000" dirty="0" err="1">
                <a:latin typeface="Antique Olive" panose="020B0603020204030204"/>
                <a:ea typeface="Quicksand"/>
                <a:cs typeface="Quicksand"/>
                <a:sym typeface="Quicksand"/>
              </a:rPr>
              <a:t>showCancel</a:t>
            </a:r>
            <a:r>
              <a:rPr lang="en-US" sz="2000" dirty="0">
                <a:latin typeface="Antique Olive" panose="020B0603020204030204"/>
                <a:ea typeface="Quicksand"/>
                <a:cs typeface="Quicksand"/>
                <a:sym typeface="Quicksand"/>
              </a:rPr>
              <a:t> are passed as arguments to ask</a:t>
            </a:r>
          </a:p>
          <a:p>
            <a:pPr>
              <a:lnSpc>
                <a:spcPts val="3810"/>
              </a:lnSpc>
            </a:pPr>
            <a:r>
              <a:rPr lang="en-US" sz="2000" dirty="0">
                <a:latin typeface="Antique Olive" panose="020B0603020204030204"/>
                <a:ea typeface="Quicksand"/>
                <a:cs typeface="Quicksand"/>
                <a:sym typeface="Quicksand"/>
              </a:rPr>
              <a:t>ask("Do you agree?", </a:t>
            </a:r>
            <a:r>
              <a:rPr lang="en-US" sz="2000" dirty="0" err="1">
                <a:latin typeface="Antique Olive" panose="020B0603020204030204"/>
                <a:ea typeface="Quicksand"/>
                <a:cs typeface="Quicksand"/>
                <a:sym typeface="Quicksand"/>
              </a:rPr>
              <a:t>showOk</a:t>
            </a:r>
            <a:r>
              <a:rPr lang="en-US" sz="2000" dirty="0">
                <a:latin typeface="Antique Olive" panose="020B0603020204030204"/>
                <a:ea typeface="Quicksand"/>
                <a:cs typeface="Quicksand"/>
                <a:sym typeface="Quicksand"/>
              </a:rPr>
              <a:t>, </a:t>
            </a:r>
            <a:r>
              <a:rPr lang="en-US" sz="2000" dirty="0" err="1">
                <a:latin typeface="Antique Olive" panose="020B0603020204030204"/>
                <a:ea typeface="Quicksand"/>
                <a:cs typeface="Quicksand"/>
                <a:sym typeface="Quicksand"/>
              </a:rPr>
              <a:t>showCancel</a:t>
            </a:r>
            <a:r>
              <a:rPr lang="en-US" sz="2000" dirty="0">
                <a:latin typeface="Antique Olive" panose="020B0603020204030204"/>
                <a:ea typeface="Quicksand"/>
                <a:cs typeface="Quicksand"/>
                <a:sym typeface="Quicksand"/>
              </a:rPr>
              <a:t>);</a:t>
            </a:r>
          </a:p>
          <a:p>
            <a:pPr>
              <a:lnSpc>
                <a:spcPts val="3810"/>
              </a:lnSpc>
            </a:pPr>
            <a:endParaRPr lang="en-US" sz="2241" dirty="0">
              <a:solidFill>
                <a:srgbClr val="0F4662"/>
              </a:solidFill>
              <a:latin typeface="Quicksand"/>
              <a:ea typeface="Quicksand"/>
              <a:cs typeface="Quicksand"/>
              <a:sym typeface="Quicksand"/>
            </a:endParaRPr>
          </a:p>
          <a:p>
            <a:pPr>
              <a:lnSpc>
                <a:spcPts val="3810"/>
              </a:lnSpc>
            </a:pPr>
            <a:endParaRPr lang="en-US" sz="2241" dirty="0">
              <a:solidFill>
                <a:srgbClr val="0F4662"/>
              </a:solidFill>
              <a:latin typeface="Quicksand"/>
              <a:ea typeface="Quicksand"/>
              <a:cs typeface="Quicksand"/>
              <a:sym typeface="Quicksand"/>
            </a:endParaRPr>
          </a:p>
        </p:txBody>
      </p:sp>
      <p:sp>
        <p:nvSpPr>
          <p:cNvPr id="3" name="TextBox 3"/>
          <p:cNvSpPr txBox="1"/>
          <p:nvPr/>
        </p:nvSpPr>
        <p:spPr>
          <a:xfrm>
            <a:off x="3700452" y="285962"/>
            <a:ext cx="7532265" cy="721672"/>
          </a:xfrm>
          <a:prstGeom prst="rect">
            <a:avLst/>
          </a:prstGeom>
        </p:spPr>
        <p:txBody>
          <a:bodyPr lIns="0" tIns="0" rIns="0" bIns="0" rtlCol="0" anchor="t">
            <a:spAutoFit/>
          </a:bodyPr>
          <a:lstStyle/>
          <a:p>
            <a:pPr algn="just">
              <a:lnSpc>
                <a:spcPts val="5973"/>
              </a:lnSpc>
              <a:spcBef>
                <a:spcPct val="0"/>
              </a:spcBef>
            </a:pPr>
            <a:r>
              <a:rPr lang="en-US" sz="4000" b="1" dirty="0">
                <a:latin typeface="Antique Olive" panose="020B0603020204030204"/>
                <a:ea typeface="Cormorant Garamond"/>
                <a:cs typeface="Cormorant Garamond"/>
                <a:sym typeface="Cormorant Garamond"/>
              </a:rPr>
              <a:t>Functions</a:t>
            </a:r>
            <a:endParaRPr lang="en-US" sz="4266" dirty="0">
              <a:solidFill>
                <a:srgbClr val="0F4662"/>
              </a:solidFill>
              <a:latin typeface="Cormorant Garamond"/>
              <a:ea typeface="Cormorant Garamond"/>
              <a:cs typeface="Cormorant Garamond"/>
              <a:sym typeface="Cormorant Garamond"/>
            </a:endParaRPr>
          </a:p>
        </p:txBody>
      </p:sp>
    </p:spTree>
    <p:extLst>
      <p:ext uri="{BB962C8B-B14F-4D97-AF65-F5344CB8AC3E}">
        <p14:creationId xmlns:p14="http://schemas.microsoft.com/office/powerpoint/2010/main" val="25197043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23783" y="901489"/>
            <a:ext cx="9259409" cy="6278707"/>
          </a:xfrm>
          <a:prstGeom prst="rect">
            <a:avLst/>
          </a:prstGeom>
        </p:spPr>
        <p:txBody>
          <a:bodyPr wrap="square" lIns="0" tIns="0" rIns="0" bIns="0" rtlCol="0" anchor="t">
            <a:spAutoFit/>
          </a:bodyPr>
          <a:lstStyle/>
          <a:p>
            <a:pPr>
              <a:lnSpc>
                <a:spcPts val="3810"/>
              </a:lnSpc>
            </a:pPr>
            <a:r>
              <a:rPr lang="en-US" sz="2000" b="1" dirty="0">
                <a:latin typeface="Antique Olive" panose="020B0603020204030204"/>
                <a:ea typeface="Quicksand Bold"/>
                <a:cs typeface="Quicksand Bold"/>
                <a:sym typeface="Quicksand Bold"/>
              </a:rPr>
              <a:t>Function Expression vs Function Declaration</a:t>
            </a:r>
          </a:p>
          <a:p>
            <a:pPr>
              <a:lnSpc>
                <a:spcPts val="3810"/>
              </a:lnSpc>
            </a:pPr>
            <a:r>
              <a:rPr lang="en-US" sz="2000" dirty="0">
                <a:latin typeface="Antique Olive" panose="020B0603020204030204"/>
                <a:ea typeface="Quicksand"/>
                <a:cs typeface="Quicksand"/>
                <a:sym typeface="Quicksand"/>
              </a:rPr>
              <a:t>Let’s formulate the key differences between Function Declarations and Expressions.</a:t>
            </a:r>
          </a:p>
          <a:p>
            <a:pPr>
              <a:lnSpc>
                <a:spcPts val="3810"/>
              </a:lnSpc>
            </a:pPr>
            <a:r>
              <a:rPr lang="en-US" sz="2000" dirty="0">
                <a:latin typeface="Antique Olive" panose="020B0603020204030204"/>
                <a:ea typeface="Quicksand"/>
                <a:cs typeface="Quicksand"/>
                <a:sym typeface="Quicksand"/>
              </a:rPr>
              <a:t>First, the syntax: how to differentiate between them in the code.</a:t>
            </a:r>
          </a:p>
          <a:p>
            <a:pPr marL="483846" lvl="1" indent="-241923">
              <a:lnSpc>
                <a:spcPts val="3810"/>
              </a:lnSpc>
              <a:buFont typeface="Arial"/>
              <a:buChar char="•"/>
            </a:pPr>
            <a:r>
              <a:rPr lang="en-US" sz="2000" dirty="0">
                <a:latin typeface="Antique Olive" panose="020B0603020204030204"/>
                <a:ea typeface="Quicksand"/>
                <a:cs typeface="Quicksand"/>
                <a:sym typeface="Quicksand"/>
              </a:rPr>
              <a:t>Function Declaration: a function, declared as a separate statement, in the main code flow:</a:t>
            </a:r>
          </a:p>
          <a:p>
            <a:pPr>
              <a:lnSpc>
                <a:spcPts val="3810"/>
              </a:lnSpc>
            </a:pPr>
            <a:r>
              <a:rPr lang="en-US" sz="2000" dirty="0">
                <a:latin typeface="Antique Olive" panose="020B0603020204030204"/>
                <a:ea typeface="Quicksand"/>
                <a:cs typeface="Quicksand"/>
                <a:sym typeface="Quicksand"/>
              </a:rPr>
              <a:t>// Function Declaration</a:t>
            </a:r>
          </a:p>
          <a:p>
            <a:pPr>
              <a:lnSpc>
                <a:spcPts val="3810"/>
              </a:lnSpc>
            </a:pPr>
            <a:r>
              <a:rPr lang="en-US" sz="2000" dirty="0">
                <a:latin typeface="Antique Olive" panose="020B0603020204030204"/>
                <a:ea typeface="Quicksand"/>
                <a:cs typeface="Quicksand"/>
                <a:sym typeface="Quicksand"/>
              </a:rPr>
              <a:t>function sum(a, b) {return a + b;}</a:t>
            </a:r>
          </a:p>
          <a:p>
            <a:pPr marL="483846" lvl="1" indent="-241923">
              <a:lnSpc>
                <a:spcPts val="3810"/>
              </a:lnSpc>
              <a:buFont typeface="Arial"/>
              <a:buChar char="•"/>
            </a:pPr>
            <a:r>
              <a:rPr lang="en-US" sz="2000" dirty="0">
                <a:latin typeface="Antique Olive" panose="020B0603020204030204"/>
                <a:ea typeface="Quicksand"/>
                <a:cs typeface="Quicksand"/>
                <a:sym typeface="Quicksand"/>
              </a:rPr>
              <a:t>Function Expression: a function, created inside an expression or inside another syntax construct. Here, the function is created on the right side of the “assignment expression” =:</a:t>
            </a:r>
          </a:p>
          <a:p>
            <a:pPr>
              <a:lnSpc>
                <a:spcPts val="3810"/>
              </a:lnSpc>
            </a:pPr>
            <a:r>
              <a:rPr lang="en-US" sz="2000" dirty="0">
                <a:latin typeface="Antique Olive" panose="020B0603020204030204"/>
                <a:ea typeface="Quicksand"/>
                <a:cs typeface="Quicksand"/>
                <a:sym typeface="Quicksand"/>
              </a:rPr>
              <a:t>// Function Expression</a:t>
            </a:r>
          </a:p>
          <a:p>
            <a:pPr>
              <a:lnSpc>
                <a:spcPts val="3810"/>
              </a:lnSpc>
            </a:pPr>
            <a:r>
              <a:rPr lang="en-US" sz="2000" dirty="0">
                <a:latin typeface="Antique Olive" panose="020B0603020204030204"/>
                <a:ea typeface="Quicksand"/>
                <a:cs typeface="Quicksand"/>
                <a:sym typeface="Quicksand"/>
              </a:rPr>
              <a:t>let sum = function(a, b) {return a + b;};</a:t>
            </a:r>
            <a:endParaRPr lang="en-US" sz="2000" dirty="0">
              <a:latin typeface="Antique Olive" panose="020B0603020204030204"/>
              <a:ea typeface="Quicksand"/>
              <a:cs typeface="Quicksand"/>
              <a:sym typeface="Quicksand"/>
              <a:hlinkClick r:id="rId2" tooltip="https://javascript.info/function-expressions#callback-functions">
                <a:extLst>
                  <a:ext uri="{A12FA001-AC4F-418D-AE19-62706E023703}">
                    <ahyp:hlinkClr xmlns:ahyp="http://schemas.microsoft.com/office/drawing/2018/hyperlinkcolor" val="tx"/>
                  </a:ext>
                </a:extLst>
              </a:hlinkClick>
            </a:endParaRPr>
          </a:p>
          <a:p>
            <a:pPr>
              <a:lnSpc>
                <a:spcPts val="3810"/>
              </a:lnSpc>
            </a:pPr>
            <a:endParaRPr lang="en-US" sz="2241" dirty="0">
              <a:solidFill>
                <a:srgbClr val="000000"/>
              </a:solidFill>
              <a:latin typeface="Quicksand"/>
              <a:ea typeface="Quicksand"/>
              <a:cs typeface="Quicksand"/>
              <a:sym typeface="Quicksand"/>
              <a:hlinkClick r:id="rId2" tooltip="https://javascript.info/function-expressions#callback-functions">
                <a:extLst>
                  <a:ext uri="{A12FA001-AC4F-418D-AE19-62706E023703}">
                    <ahyp:hlinkClr xmlns:ahyp="http://schemas.microsoft.com/office/drawing/2018/hyperlinkcolor" val="tx"/>
                  </a:ext>
                </a:extLst>
              </a:hlinkClick>
            </a:endParaRPr>
          </a:p>
        </p:txBody>
      </p:sp>
      <p:sp>
        <p:nvSpPr>
          <p:cNvPr id="3" name="TextBox 3"/>
          <p:cNvSpPr txBox="1"/>
          <p:nvPr/>
        </p:nvSpPr>
        <p:spPr>
          <a:xfrm>
            <a:off x="3700452" y="285962"/>
            <a:ext cx="7532265" cy="721672"/>
          </a:xfrm>
          <a:prstGeom prst="rect">
            <a:avLst/>
          </a:prstGeom>
        </p:spPr>
        <p:txBody>
          <a:bodyPr lIns="0" tIns="0" rIns="0" bIns="0" rtlCol="0" anchor="t">
            <a:spAutoFit/>
          </a:bodyPr>
          <a:lstStyle/>
          <a:p>
            <a:pPr algn="just">
              <a:lnSpc>
                <a:spcPts val="5973"/>
              </a:lnSpc>
              <a:spcBef>
                <a:spcPct val="0"/>
              </a:spcBef>
            </a:pPr>
            <a:r>
              <a:rPr lang="en-US" sz="4000" b="1" dirty="0">
                <a:latin typeface="Antique Olive" panose="020B0603020204030204"/>
                <a:ea typeface="Cormorant Garamond"/>
                <a:cs typeface="Cormorant Garamond"/>
                <a:sym typeface="Cormorant Garamond"/>
              </a:rPr>
              <a:t>Functions</a:t>
            </a:r>
            <a:endParaRPr lang="en-US" sz="4266" dirty="0">
              <a:solidFill>
                <a:srgbClr val="0F4662"/>
              </a:solidFill>
              <a:latin typeface="Cormorant Garamond"/>
              <a:ea typeface="Cormorant Garamond"/>
              <a:cs typeface="Cormorant Garamond"/>
              <a:sym typeface="Cormorant Garamond"/>
            </a:endParaRPr>
          </a:p>
        </p:txBody>
      </p:sp>
    </p:spTree>
    <p:extLst>
      <p:ext uri="{BB962C8B-B14F-4D97-AF65-F5344CB8AC3E}">
        <p14:creationId xmlns:p14="http://schemas.microsoft.com/office/powerpoint/2010/main" val="33767163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77048" y="901489"/>
            <a:ext cx="10111667" cy="6766019"/>
          </a:xfrm>
          <a:prstGeom prst="rect">
            <a:avLst/>
          </a:prstGeom>
        </p:spPr>
        <p:txBody>
          <a:bodyPr wrap="square" lIns="0" tIns="0" rIns="0" bIns="0" rtlCol="0" anchor="t">
            <a:spAutoFit/>
          </a:bodyPr>
          <a:lstStyle/>
          <a:p>
            <a:pPr>
              <a:lnSpc>
                <a:spcPts val="3810"/>
              </a:lnSpc>
            </a:pPr>
            <a:r>
              <a:rPr lang="en-US" sz="2000" b="1" dirty="0">
                <a:latin typeface="Antique Olive" panose="020B0603020204030204"/>
                <a:ea typeface="Quicksand Bold"/>
                <a:cs typeface="Quicksand Bold"/>
                <a:sym typeface="Quicksand Bold"/>
              </a:rPr>
              <a:t>A Function Declaration can be called earlier than it is defined.</a:t>
            </a:r>
          </a:p>
          <a:p>
            <a:pPr>
              <a:lnSpc>
                <a:spcPts val="3810"/>
              </a:lnSpc>
            </a:pPr>
            <a:r>
              <a:rPr lang="en-US" sz="2000" dirty="0">
                <a:latin typeface="Antique Olive" panose="020B0603020204030204"/>
                <a:ea typeface="Quicksand"/>
                <a:cs typeface="Quicksand"/>
                <a:sym typeface="Quicksand"/>
              </a:rPr>
              <a:t>For example, a global Function Declaration is visible in the whole script, no matter where it is.</a:t>
            </a:r>
          </a:p>
          <a:p>
            <a:pPr>
              <a:lnSpc>
                <a:spcPts val="3810"/>
              </a:lnSpc>
            </a:pPr>
            <a:r>
              <a:rPr lang="en-US" sz="2000" dirty="0">
                <a:latin typeface="Antique Olive" panose="020B0603020204030204"/>
                <a:ea typeface="Quicksand"/>
                <a:cs typeface="Quicksand"/>
                <a:sym typeface="Quicksand"/>
              </a:rPr>
              <a:t>That’s due to internal algorithms. When JavaScript prepares to run the script, it first looks for global Function Declarations in it and creates the functions. We can think of it as an “initialization stage”.</a:t>
            </a:r>
          </a:p>
          <a:p>
            <a:pPr>
              <a:lnSpc>
                <a:spcPts val="3810"/>
              </a:lnSpc>
            </a:pPr>
            <a:r>
              <a:rPr lang="en-US" sz="2000" dirty="0">
                <a:latin typeface="Antique Olive" panose="020B0603020204030204"/>
                <a:ea typeface="Quicksand"/>
                <a:cs typeface="Quicksand"/>
                <a:sym typeface="Quicksand"/>
              </a:rPr>
              <a:t>And after all Function Declarations are processed, the code is executed. So it has access to these functions.</a:t>
            </a:r>
          </a:p>
          <a:p>
            <a:pPr>
              <a:lnSpc>
                <a:spcPts val="3810"/>
              </a:lnSpc>
            </a:pPr>
            <a:r>
              <a:rPr lang="en-US" sz="2000" b="1" dirty="0">
                <a:latin typeface="Antique Olive" panose="020B0603020204030204"/>
                <a:ea typeface="Quicksand Bold"/>
                <a:cs typeface="Quicksand Bold"/>
                <a:sym typeface="Quicksand Bold"/>
              </a:rPr>
              <a:t>For example, this works:</a:t>
            </a:r>
          </a:p>
          <a:p>
            <a:pPr>
              <a:lnSpc>
                <a:spcPts val="3810"/>
              </a:lnSpc>
            </a:pPr>
            <a:r>
              <a:rPr lang="en-US" sz="2000" dirty="0" err="1">
                <a:latin typeface="Antique Olive" panose="020B0603020204030204"/>
                <a:ea typeface="Quicksand"/>
                <a:cs typeface="Quicksand"/>
                <a:sym typeface="Quicksand"/>
              </a:rPr>
              <a:t>sayHi</a:t>
            </a:r>
            <a:r>
              <a:rPr lang="en-US" sz="2000" dirty="0">
                <a:latin typeface="Antique Olive" panose="020B0603020204030204"/>
                <a:ea typeface="Quicksand"/>
                <a:cs typeface="Quicksand"/>
                <a:sym typeface="Quicksand"/>
              </a:rPr>
              <a:t>("John"); // Hello, John</a:t>
            </a:r>
          </a:p>
          <a:p>
            <a:pPr>
              <a:lnSpc>
                <a:spcPts val="3810"/>
              </a:lnSpc>
            </a:pPr>
            <a:r>
              <a:rPr lang="en-US" sz="2000" dirty="0">
                <a:latin typeface="Antique Olive" panose="020B0603020204030204"/>
                <a:ea typeface="Quicksand"/>
                <a:cs typeface="Quicksand"/>
                <a:sym typeface="Quicksand"/>
              </a:rPr>
              <a:t>function </a:t>
            </a:r>
            <a:r>
              <a:rPr lang="en-US" sz="2000" dirty="0" err="1">
                <a:latin typeface="Antique Olive" panose="020B0603020204030204"/>
                <a:ea typeface="Quicksand"/>
                <a:cs typeface="Quicksand"/>
                <a:sym typeface="Quicksand"/>
              </a:rPr>
              <a:t>sayHi</a:t>
            </a:r>
            <a:r>
              <a:rPr lang="en-US" sz="2000" dirty="0">
                <a:latin typeface="Antique Olive" panose="020B0603020204030204"/>
                <a:ea typeface="Quicksand"/>
                <a:cs typeface="Quicksand"/>
                <a:sym typeface="Quicksand"/>
              </a:rPr>
              <a:t>(name) {alert( `Hello, ${name}` );}</a:t>
            </a:r>
          </a:p>
          <a:p>
            <a:pPr>
              <a:lnSpc>
                <a:spcPts val="3810"/>
              </a:lnSpc>
            </a:pPr>
            <a:r>
              <a:rPr lang="en-US" sz="2000" dirty="0">
                <a:latin typeface="Antique Olive" panose="020B0603020204030204"/>
                <a:ea typeface="Quicksand"/>
                <a:cs typeface="Quicksand"/>
                <a:sym typeface="Quicksand"/>
              </a:rPr>
              <a:t>The Function Declaration </a:t>
            </a:r>
            <a:r>
              <a:rPr lang="en-US" sz="2000" dirty="0" err="1">
                <a:latin typeface="Antique Olive" panose="020B0603020204030204"/>
                <a:ea typeface="Quicksand"/>
                <a:cs typeface="Quicksand"/>
                <a:sym typeface="Quicksand"/>
              </a:rPr>
              <a:t>sayHi</a:t>
            </a:r>
            <a:r>
              <a:rPr lang="en-US" sz="2000" dirty="0">
                <a:latin typeface="Antique Olive" panose="020B0603020204030204"/>
                <a:ea typeface="Quicksand"/>
                <a:cs typeface="Quicksand"/>
                <a:sym typeface="Quicksand"/>
              </a:rPr>
              <a:t> is created when JavaScript is preparing to start the script and is visible everywhere in it.</a:t>
            </a:r>
            <a:endParaRPr lang="en-US" sz="2000" dirty="0">
              <a:latin typeface="Antique Olive" panose="020B0603020204030204"/>
              <a:ea typeface="Quicksand"/>
              <a:cs typeface="Quicksand"/>
              <a:sym typeface="Quicksand"/>
              <a:hlinkClick r:id="rId2" tooltip="https://javascript.info/function-expressions#function-expression-vs-function-declaration">
                <a:extLst>
                  <a:ext uri="{A12FA001-AC4F-418D-AE19-62706E023703}">
                    <ahyp:hlinkClr xmlns:ahyp="http://schemas.microsoft.com/office/drawing/2018/hyperlinkcolor" val="tx"/>
                  </a:ext>
                </a:extLst>
              </a:hlinkClick>
            </a:endParaRPr>
          </a:p>
          <a:p>
            <a:pPr>
              <a:lnSpc>
                <a:spcPts val="3810"/>
              </a:lnSpc>
            </a:pPr>
            <a:endParaRPr lang="en-US" sz="2241" dirty="0">
              <a:solidFill>
                <a:srgbClr val="000000"/>
              </a:solidFill>
              <a:latin typeface="Quicksand"/>
              <a:ea typeface="Quicksand"/>
              <a:cs typeface="Quicksand"/>
              <a:sym typeface="Quicksand"/>
              <a:hlinkClick r:id="rId2" tooltip="https://javascript.info/function-expressions#function-expression-vs-function-declaration">
                <a:extLst>
                  <a:ext uri="{A12FA001-AC4F-418D-AE19-62706E023703}">
                    <ahyp:hlinkClr xmlns:ahyp="http://schemas.microsoft.com/office/drawing/2018/hyperlinkcolor" val="tx"/>
                  </a:ext>
                </a:extLst>
              </a:hlinkClick>
            </a:endParaRPr>
          </a:p>
          <a:p>
            <a:pPr>
              <a:lnSpc>
                <a:spcPts val="3810"/>
              </a:lnSpc>
            </a:pPr>
            <a:endParaRPr lang="en-US" sz="2241" dirty="0">
              <a:solidFill>
                <a:srgbClr val="000000"/>
              </a:solidFill>
              <a:latin typeface="Quicksand"/>
              <a:ea typeface="Quicksand"/>
              <a:cs typeface="Quicksand"/>
              <a:sym typeface="Quicksand"/>
              <a:hlinkClick r:id="rId2" tooltip="https://javascript.info/function-expressions#function-expression-vs-function-declaration">
                <a:extLst>
                  <a:ext uri="{A12FA001-AC4F-418D-AE19-62706E023703}">
                    <ahyp:hlinkClr xmlns:ahyp="http://schemas.microsoft.com/office/drawing/2018/hyperlinkcolor" val="tx"/>
                  </a:ext>
                </a:extLst>
              </a:hlinkClick>
            </a:endParaRPr>
          </a:p>
        </p:txBody>
      </p:sp>
      <p:sp>
        <p:nvSpPr>
          <p:cNvPr id="3" name="TextBox 3"/>
          <p:cNvSpPr txBox="1"/>
          <p:nvPr/>
        </p:nvSpPr>
        <p:spPr>
          <a:xfrm>
            <a:off x="3931271" y="179817"/>
            <a:ext cx="7532265" cy="721672"/>
          </a:xfrm>
          <a:prstGeom prst="rect">
            <a:avLst/>
          </a:prstGeom>
        </p:spPr>
        <p:txBody>
          <a:bodyPr lIns="0" tIns="0" rIns="0" bIns="0" rtlCol="0" anchor="t">
            <a:spAutoFit/>
          </a:bodyPr>
          <a:lstStyle/>
          <a:p>
            <a:pPr algn="just">
              <a:lnSpc>
                <a:spcPts val="5973"/>
              </a:lnSpc>
              <a:spcBef>
                <a:spcPct val="0"/>
              </a:spcBef>
            </a:pPr>
            <a:r>
              <a:rPr lang="en-US" sz="4000" b="1" dirty="0">
                <a:latin typeface="Antique Olive" panose="020B0603020204030204"/>
                <a:ea typeface="Cormorant Garamond"/>
                <a:cs typeface="Cormorant Garamond"/>
                <a:sym typeface="Cormorant Garamond"/>
              </a:rPr>
              <a:t>Functions</a:t>
            </a:r>
            <a:endParaRPr lang="en-US" sz="4266" dirty="0">
              <a:solidFill>
                <a:srgbClr val="0F4662"/>
              </a:solidFill>
              <a:latin typeface="Cormorant Garamond"/>
              <a:ea typeface="Cormorant Garamond"/>
              <a:cs typeface="Cormorant Garamond"/>
              <a:sym typeface="Cormorant Garamond"/>
            </a:endParaRPr>
          </a:p>
        </p:txBody>
      </p:sp>
    </p:spTree>
    <p:extLst>
      <p:ext uri="{BB962C8B-B14F-4D97-AF65-F5344CB8AC3E}">
        <p14:creationId xmlns:p14="http://schemas.microsoft.com/office/powerpoint/2010/main" val="300789410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22133" y="1062145"/>
            <a:ext cx="12192000" cy="2867516"/>
          </a:xfrm>
          <a:prstGeom prst="rect">
            <a:avLst/>
          </a:prstGeom>
        </p:spPr>
        <p:txBody>
          <a:bodyPr lIns="0" tIns="0" rIns="0" bIns="0" rtlCol="0" anchor="t">
            <a:spAutoFit/>
          </a:bodyPr>
          <a:lstStyle/>
          <a:p>
            <a:pPr>
              <a:lnSpc>
                <a:spcPts val="3810"/>
              </a:lnSpc>
            </a:pPr>
            <a:r>
              <a:rPr lang="en-US" sz="2000" b="1" dirty="0">
                <a:latin typeface="Antique Olive" panose="020B0603020204030204"/>
                <a:ea typeface="Quicksand Bold"/>
                <a:cs typeface="Quicksand Bold"/>
                <a:sym typeface="Quicksand Bold"/>
              </a:rPr>
              <a:t>…If it were a Function Expression, then it wouldn’t work:</a:t>
            </a:r>
          </a:p>
          <a:p>
            <a:pPr>
              <a:lnSpc>
                <a:spcPts val="3810"/>
              </a:lnSpc>
            </a:pPr>
            <a:r>
              <a:rPr lang="en-US" sz="2000" dirty="0" err="1">
                <a:latin typeface="Antique Olive" panose="020B0603020204030204"/>
                <a:ea typeface="Quicksand"/>
                <a:cs typeface="Quicksand"/>
                <a:sym typeface="Quicksand"/>
              </a:rPr>
              <a:t>sayHi</a:t>
            </a:r>
            <a:r>
              <a:rPr lang="en-US" sz="2000" dirty="0">
                <a:latin typeface="Antique Olive" panose="020B0603020204030204"/>
                <a:ea typeface="Quicksand"/>
                <a:cs typeface="Quicksand"/>
                <a:sym typeface="Quicksand"/>
              </a:rPr>
              <a:t>("John"); // error!</a:t>
            </a:r>
          </a:p>
          <a:p>
            <a:pPr>
              <a:lnSpc>
                <a:spcPts val="3810"/>
              </a:lnSpc>
            </a:pPr>
            <a:r>
              <a:rPr lang="en-US" sz="2000" dirty="0">
                <a:latin typeface="Antique Olive" panose="020B0603020204030204"/>
                <a:ea typeface="Quicksand"/>
                <a:cs typeface="Quicksand"/>
                <a:sym typeface="Quicksand"/>
              </a:rPr>
              <a:t>let </a:t>
            </a:r>
            <a:r>
              <a:rPr lang="en-US" sz="2000" dirty="0" err="1">
                <a:latin typeface="Antique Olive" panose="020B0603020204030204"/>
                <a:ea typeface="Quicksand"/>
                <a:cs typeface="Quicksand"/>
                <a:sym typeface="Quicksand"/>
              </a:rPr>
              <a:t>sayHi</a:t>
            </a:r>
            <a:r>
              <a:rPr lang="en-US" sz="2000" dirty="0">
                <a:latin typeface="Antique Olive" panose="020B0603020204030204"/>
                <a:ea typeface="Quicksand"/>
                <a:cs typeface="Quicksand"/>
                <a:sym typeface="Quicksand"/>
              </a:rPr>
              <a:t> = function(name)</a:t>
            </a:r>
          </a:p>
          <a:p>
            <a:pPr>
              <a:lnSpc>
                <a:spcPts val="3810"/>
              </a:lnSpc>
            </a:pPr>
            <a:r>
              <a:rPr lang="en-US" sz="2000" dirty="0">
                <a:latin typeface="Antique Olive" panose="020B0603020204030204"/>
                <a:ea typeface="Quicksand"/>
                <a:cs typeface="Quicksand"/>
                <a:sym typeface="Quicksand"/>
              </a:rPr>
              <a:t> {</a:t>
            </a:r>
            <a:r>
              <a:rPr lang="en-US" sz="2000" b="1" dirty="0">
                <a:latin typeface="Antique Olive" panose="020B0603020204030204"/>
                <a:ea typeface="Quicksand Bold"/>
                <a:cs typeface="Quicksand Bold"/>
                <a:sym typeface="Quicksand Bold"/>
              </a:rPr>
              <a:t> </a:t>
            </a:r>
            <a:r>
              <a:rPr lang="en-US" sz="2000" dirty="0">
                <a:latin typeface="Antique Olive" panose="020B0603020204030204"/>
                <a:ea typeface="Quicksand"/>
                <a:cs typeface="Quicksand"/>
                <a:sym typeface="Quicksand"/>
              </a:rPr>
              <a:t>// (*) no magic any more</a:t>
            </a:r>
          </a:p>
          <a:p>
            <a:pPr>
              <a:lnSpc>
                <a:spcPts val="3810"/>
              </a:lnSpc>
            </a:pPr>
            <a:r>
              <a:rPr lang="en-US" sz="2000" dirty="0">
                <a:latin typeface="Antique Olive" panose="020B0603020204030204"/>
                <a:ea typeface="Quicksand"/>
                <a:cs typeface="Quicksand"/>
                <a:sym typeface="Quicksand"/>
              </a:rPr>
              <a:t>alert( `Hello, ${name}` );};</a:t>
            </a:r>
            <a:endParaRPr lang="en-US" sz="2000" dirty="0">
              <a:latin typeface="Antique Olive" panose="020B0603020204030204"/>
              <a:ea typeface="Quicksand"/>
              <a:cs typeface="Quicksand"/>
              <a:sym typeface="Quicksand"/>
              <a:hlinkClick r:id="rId2" tooltip="https://javascript.info/function-expressions#function-expression-vs-function-declaration">
                <a:extLst>
                  <a:ext uri="{A12FA001-AC4F-418D-AE19-62706E023703}">
                    <ahyp:hlinkClr xmlns:ahyp="http://schemas.microsoft.com/office/drawing/2018/hyperlinkcolor" val="tx"/>
                  </a:ext>
                </a:extLst>
              </a:hlinkClick>
            </a:endParaRPr>
          </a:p>
          <a:p>
            <a:pPr>
              <a:lnSpc>
                <a:spcPts val="3810"/>
              </a:lnSpc>
            </a:pPr>
            <a:endParaRPr lang="en-US" sz="2241" dirty="0">
              <a:solidFill>
                <a:srgbClr val="000000"/>
              </a:solidFill>
              <a:latin typeface="Quicksand"/>
              <a:ea typeface="Quicksand"/>
              <a:cs typeface="Quicksand"/>
              <a:sym typeface="Quicksand"/>
              <a:hlinkClick r:id="rId2" tooltip="https://javascript.info/function-expressions#function-expression-vs-function-declaration">
                <a:extLst>
                  <a:ext uri="{A12FA001-AC4F-418D-AE19-62706E023703}">
                    <ahyp:hlinkClr xmlns:ahyp="http://schemas.microsoft.com/office/drawing/2018/hyperlinkcolor" val="tx"/>
                  </a:ext>
                </a:extLst>
              </a:hlinkClick>
            </a:endParaRPr>
          </a:p>
        </p:txBody>
      </p:sp>
      <p:sp>
        <p:nvSpPr>
          <p:cNvPr id="3" name="TextBox 3"/>
          <p:cNvSpPr txBox="1"/>
          <p:nvPr/>
        </p:nvSpPr>
        <p:spPr>
          <a:xfrm>
            <a:off x="3700452" y="285962"/>
            <a:ext cx="7532265" cy="721672"/>
          </a:xfrm>
          <a:prstGeom prst="rect">
            <a:avLst/>
          </a:prstGeom>
        </p:spPr>
        <p:txBody>
          <a:bodyPr lIns="0" tIns="0" rIns="0" bIns="0" rtlCol="0" anchor="t">
            <a:spAutoFit/>
          </a:bodyPr>
          <a:lstStyle/>
          <a:p>
            <a:pPr algn="just">
              <a:lnSpc>
                <a:spcPts val="5973"/>
              </a:lnSpc>
              <a:spcBef>
                <a:spcPct val="0"/>
              </a:spcBef>
            </a:pPr>
            <a:r>
              <a:rPr lang="en-US" sz="4000" b="1" dirty="0">
                <a:latin typeface="Antique Olive" panose="020B0603020204030204"/>
                <a:ea typeface="Cormorant Garamond"/>
                <a:cs typeface="Cormorant Garamond"/>
                <a:sym typeface="Cormorant Garamond"/>
              </a:rPr>
              <a:t>Functions</a:t>
            </a:r>
            <a:endParaRPr lang="en-US" sz="4266" dirty="0">
              <a:solidFill>
                <a:srgbClr val="0F4662"/>
              </a:solidFill>
              <a:latin typeface="Cormorant Garamond"/>
              <a:ea typeface="Cormorant Garamond"/>
              <a:cs typeface="Cormorant Garamond"/>
              <a:sym typeface="Cormorant Garamond"/>
            </a:endParaRPr>
          </a:p>
        </p:txBody>
      </p:sp>
    </p:spTree>
    <p:extLst>
      <p:ext uri="{BB962C8B-B14F-4D97-AF65-F5344CB8AC3E}">
        <p14:creationId xmlns:p14="http://schemas.microsoft.com/office/powerpoint/2010/main" val="359616474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14904" y="901489"/>
            <a:ext cx="11677095" cy="6766019"/>
          </a:xfrm>
          <a:prstGeom prst="rect">
            <a:avLst/>
          </a:prstGeom>
        </p:spPr>
        <p:txBody>
          <a:bodyPr wrap="square" lIns="0" tIns="0" rIns="0" bIns="0" rtlCol="0" anchor="t">
            <a:spAutoFit/>
          </a:bodyPr>
          <a:lstStyle/>
          <a:p>
            <a:pPr>
              <a:lnSpc>
                <a:spcPts val="3810"/>
              </a:lnSpc>
            </a:pPr>
            <a:r>
              <a:rPr lang="en-US" sz="2000" b="1" dirty="0">
                <a:latin typeface="Antique Olive" panose="020B0603020204030204"/>
                <a:ea typeface="Quicksand Bold"/>
                <a:cs typeface="Quicksand Bold"/>
                <a:sym typeface="Quicksand Bold"/>
              </a:rPr>
              <a:t>Arrow functions, the basics</a:t>
            </a:r>
          </a:p>
          <a:p>
            <a:pPr>
              <a:lnSpc>
                <a:spcPts val="3810"/>
              </a:lnSpc>
            </a:pPr>
            <a:r>
              <a:rPr lang="en-US" sz="2000" dirty="0">
                <a:latin typeface="Antique Olive" panose="020B0603020204030204"/>
                <a:ea typeface="Quicksand"/>
                <a:cs typeface="Quicksand"/>
                <a:sym typeface="Quicksand"/>
              </a:rPr>
              <a:t>There’s another very simple and concise syntax for creating functions, that’s often better than Function Expressions.</a:t>
            </a:r>
          </a:p>
          <a:p>
            <a:pPr>
              <a:lnSpc>
                <a:spcPts val="3810"/>
              </a:lnSpc>
            </a:pPr>
            <a:r>
              <a:rPr lang="en-US" sz="2000" dirty="0">
                <a:latin typeface="Antique Olive" panose="020B0603020204030204"/>
                <a:ea typeface="Quicksand"/>
                <a:cs typeface="Quicksand"/>
                <a:sym typeface="Quicksand"/>
              </a:rPr>
              <a:t>It’s called “arrow functions”, because it looks like this:</a:t>
            </a:r>
          </a:p>
          <a:p>
            <a:pPr algn="ctr">
              <a:lnSpc>
                <a:spcPts val="3810"/>
              </a:lnSpc>
            </a:pPr>
            <a:r>
              <a:rPr lang="en-US" sz="2000" dirty="0">
                <a:solidFill>
                  <a:srgbClr val="000000"/>
                </a:solidFill>
                <a:latin typeface="Antique Olive" panose="020B0603020204030204"/>
                <a:ea typeface="Quicksand"/>
                <a:cs typeface="Quicksand"/>
                <a:sym typeface="Quicksand"/>
              </a:rPr>
              <a:t>let </a:t>
            </a:r>
            <a:r>
              <a:rPr lang="en-US" sz="2000" dirty="0" err="1">
                <a:solidFill>
                  <a:srgbClr val="000000"/>
                </a:solidFill>
                <a:latin typeface="Antique Olive" panose="020B0603020204030204"/>
                <a:ea typeface="Quicksand"/>
                <a:cs typeface="Quicksand"/>
                <a:sym typeface="Quicksand"/>
              </a:rPr>
              <a:t>func</a:t>
            </a:r>
            <a:r>
              <a:rPr lang="en-US" sz="2000" dirty="0">
                <a:solidFill>
                  <a:srgbClr val="000000"/>
                </a:solidFill>
                <a:latin typeface="Antique Olive" panose="020B0603020204030204"/>
                <a:ea typeface="Quicksand"/>
                <a:cs typeface="Quicksand"/>
                <a:sym typeface="Quicksand"/>
              </a:rPr>
              <a:t> = (arg1, arg2, ..., </a:t>
            </a:r>
            <a:r>
              <a:rPr lang="en-US" sz="2000" dirty="0" err="1">
                <a:solidFill>
                  <a:srgbClr val="000000"/>
                </a:solidFill>
                <a:latin typeface="Antique Olive" panose="020B0603020204030204"/>
                <a:ea typeface="Quicksand"/>
                <a:cs typeface="Quicksand"/>
                <a:sym typeface="Quicksand"/>
              </a:rPr>
              <a:t>argN</a:t>
            </a:r>
            <a:r>
              <a:rPr lang="en-US" sz="2000" dirty="0">
                <a:latin typeface="Antique Olive" panose="020B0603020204030204"/>
                <a:ea typeface="Quicksand"/>
                <a:cs typeface="Quicksand"/>
                <a:sym typeface="Quicksand"/>
              </a:rPr>
              <a:t>) =&gt; expression;</a:t>
            </a:r>
          </a:p>
          <a:p>
            <a:pPr>
              <a:lnSpc>
                <a:spcPts val="3810"/>
              </a:lnSpc>
            </a:pPr>
            <a:r>
              <a:rPr lang="en-US" sz="2000" b="1" dirty="0">
                <a:latin typeface="Antique Olive" panose="020B0603020204030204"/>
                <a:ea typeface="Quicksand Bold"/>
                <a:cs typeface="Quicksand Bold"/>
                <a:sym typeface="Quicksand Bold"/>
              </a:rPr>
              <a:t>example:</a:t>
            </a:r>
          </a:p>
          <a:p>
            <a:pPr>
              <a:lnSpc>
                <a:spcPts val="3810"/>
              </a:lnSpc>
            </a:pPr>
            <a:r>
              <a:rPr lang="en-US" sz="2000" dirty="0">
                <a:latin typeface="Antique Olive" panose="020B0603020204030204"/>
                <a:ea typeface="Quicksand"/>
                <a:cs typeface="Quicksand"/>
                <a:sym typeface="Quicksand"/>
              </a:rPr>
              <a:t>let sum = (a, b) =&gt; a + b;</a:t>
            </a:r>
          </a:p>
          <a:p>
            <a:pPr>
              <a:lnSpc>
                <a:spcPts val="3810"/>
              </a:lnSpc>
            </a:pPr>
            <a:r>
              <a:rPr lang="en-US" sz="2000" dirty="0">
                <a:latin typeface="Antique Olive" panose="020B0603020204030204"/>
                <a:ea typeface="Quicksand"/>
                <a:cs typeface="Quicksand"/>
                <a:sym typeface="Quicksand"/>
              </a:rPr>
              <a:t>/* This arrow function is a shorter form of:</a:t>
            </a:r>
          </a:p>
          <a:p>
            <a:pPr>
              <a:lnSpc>
                <a:spcPts val="3810"/>
              </a:lnSpc>
            </a:pPr>
            <a:r>
              <a:rPr lang="en-US" sz="2000" dirty="0">
                <a:latin typeface="Antique Olive" panose="020B0603020204030204"/>
                <a:ea typeface="Quicksand"/>
                <a:cs typeface="Quicksand"/>
                <a:sym typeface="Quicksand"/>
              </a:rPr>
              <a:t>let sum = function(a, b) {</a:t>
            </a:r>
          </a:p>
          <a:p>
            <a:pPr>
              <a:lnSpc>
                <a:spcPts val="3810"/>
              </a:lnSpc>
            </a:pPr>
            <a:r>
              <a:rPr lang="en-US" sz="2000" dirty="0">
                <a:latin typeface="Antique Olive" panose="020B0603020204030204"/>
                <a:ea typeface="Quicksand"/>
                <a:cs typeface="Quicksand"/>
                <a:sym typeface="Quicksand"/>
              </a:rPr>
              <a:t>  return a + b;</a:t>
            </a:r>
          </a:p>
          <a:p>
            <a:pPr>
              <a:lnSpc>
                <a:spcPts val="3810"/>
              </a:lnSpc>
            </a:pPr>
            <a:r>
              <a:rPr lang="en-US" sz="2000" dirty="0">
                <a:latin typeface="Antique Olive" panose="020B0603020204030204"/>
                <a:ea typeface="Quicksand"/>
                <a:cs typeface="Quicksand"/>
                <a:sym typeface="Quicksand"/>
              </a:rPr>
              <a:t>};</a:t>
            </a:r>
          </a:p>
          <a:p>
            <a:pPr>
              <a:lnSpc>
                <a:spcPts val="3810"/>
              </a:lnSpc>
            </a:pPr>
            <a:r>
              <a:rPr lang="en-US" sz="2000" dirty="0">
                <a:latin typeface="Antique Olive" panose="020B0603020204030204"/>
                <a:ea typeface="Quicksand"/>
                <a:cs typeface="Quicksand"/>
                <a:sym typeface="Quicksand"/>
              </a:rPr>
              <a:t>*/alert( sum(1, 2) ); // 3</a:t>
            </a:r>
          </a:p>
          <a:p>
            <a:pPr>
              <a:lnSpc>
                <a:spcPts val="3810"/>
              </a:lnSpc>
            </a:pPr>
            <a:endParaRPr lang="en-US" sz="2241" dirty="0">
              <a:solidFill>
                <a:srgbClr val="0F4662"/>
              </a:solidFill>
              <a:latin typeface="Quicksand"/>
              <a:ea typeface="Quicksand"/>
              <a:cs typeface="Quicksand"/>
              <a:sym typeface="Quicksand"/>
            </a:endParaRPr>
          </a:p>
          <a:p>
            <a:pPr algn="ctr">
              <a:lnSpc>
                <a:spcPts val="3810"/>
              </a:lnSpc>
            </a:pPr>
            <a:endParaRPr lang="en-US" sz="2241" dirty="0">
              <a:solidFill>
                <a:srgbClr val="0F4662"/>
              </a:solidFill>
              <a:latin typeface="Quicksand"/>
              <a:ea typeface="Quicksand"/>
              <a:cs typeface="Quicksand"/>
              <a:sym typeface="Quicksand"/>
            </a:endParaRPr>
          </a:p>
        </p:txBody>
      </p:sp>
      <p:sp>
        <p:nvSpPr>
          <p:cNvPr id="3" name="TextBox 3"/>
          <p:cNvSpPr txBox="1"/>
          <p:nvPr/>
        </p:nvSpPr>
        <p:spPr>
          <a:xfrm>
            <a:off x="4011170" y="259329"/>
            <a:ext cx="7532265" cy="721672"/>
          </a:xfrm>
          <a:prstGeom prst="rect">
            <a:avLst/>
          </a:prstGeom>
        </p:spPr>
        <p:txBody>
          <a:bodyPr lIns="0" tIns="0" rIns="0" bIns="0" rtlCol="0" anchor="t">
            <a:spAutoFit/>
          </a:bodyPr>
          <a:lstStyle/>
          <a:p>
            <a:pPr algn="just">
              <a:lnSpc>
                <a:spcPts val="5973"/>
              </a:lnSpc>
              <a:spcBef>
                <a:spcPct val="0"/>
              </a:spcBef>
            </a:pPr>
            <a:r>
              <a:rPr lang="en-US" sz="4000" b="1" dirty="0">
                <a:latin typeface="Antique Olive" panose="020B0603020204030204"/>
                <a:ea typeface="Cormorant Garamond"/>
                <a:cs typeface="Cormorant Garamond"/>
                <a:sym typeface="Cormorant Garamond"/>
              </a:rPr>
              <a:t>Functions</a:t>
            </a:r>
            <a:endParaRPr lang="en-US" sz="4266" dirty="0">
              <a:solidFill>
                <a:srgbClr val="0F4662"/>
              </a:solidFill>
              <a:latin typeface="Cormorant Garamond"/>
              <a:ea typeface="Cormorant Garamond"/>
              <a:cs typeface="Cormorant Garamond"/>
              <a:sym typeface="Cormorant Garamond"/>
            </a:endParaRPr>
          </a:p>
        </p:txBody>
      </p:sp>
    </p:spTree>
    <p:extLst>
      <p:ext uri="{BB962C8B-B14F-4D97-AF65-F5344CB8AC3E}">
        <p14:creationId xmlns:p14="http://schemas.microsoft.com/office/powerpoint/2010/main" val="23572647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118586" y="901489"/>
            <a:ext cx="9472474" cy="5791394"/>
          </a:xfrm>
          <a:prstGeom prst="rect">
            <a:avLst/>
          </a:prstGeom>
        </p:spPr>
        <p:txBody>
          <a:bodyPr wrap="square" lIns="0" tIns="0" rIns="0" bIns="0" rtlCol="0" anchor="t">
            <a:spAutoFit/>
          </a:bodyPr>
          <a:lstStyle/>
          <a:p>
            <a:pPr>
              <a:lnSpc>
                <a:spcPts val="3810"/>
              </a:lnSpc>
            </a:pPr>
            <a:r>
              <a:rPr lang="en-US" sz="2000" u="sng" dirty="0">
                <a:latin typeface="Antique Olive" panose="020B0603020204030204"/>
                <a:ea typeface="Quicksand"/>
                <a:cs typeface="Quicksand"/>
                <a:sym typeface="Quicksand"/>
              </a:rPr>
              <a:t>Multiline arrow functions</a:t>
            </a:r>
          </a:p>
          <a:p>
            <a:pPr>
              <a:lnSpc>
                <a:spcPts val="3810"/>
              </a:lnSpc>
            </a:pPr>
            <a:r>
              <a:rPr lang="en-US" sz="2000" dirty="0">
                <a:latin typeface="Antique Olive" panose="020B0603020204030204"/>
                <a:ea typeface="Quicksand"/>
                <a:cs typeface="Quicksand"/>
                <a:sym typeface="Quicksand"/>
              </a:rPr>
              <a:t>The arrow functions that we’ve seen so far were very simple. They took arguments from the left of =&gt;, evaluated and returned the right-side expression with them.</a:t>
            </a:r>
          </a:p>
          <a:p>
            <a:pPr>
              <a:lnSpc>
                <a:spcPts val="3810"/>
              </a:lnSpc>
            </a:pPr>
            <a:r>
              <a:rPr lang="en-US" sz="2000" dirty="0">
                <a:latin typeface="Antique Olive" panose="020B0603020204030204"/>
                <a:ea typeface="Quicksand"/>
                <a:cs typeface="Quicksand"/>
                <a:sym typeface="Quicksand"/>
              </a:rPr>
              <a:t>Sometimes we need a more complex function, with multiple expressions and statements. In that case, we can enclose them in curly braces. The major difference is that curly braces require a return within them to return a value (just like a regular function does).</a:t>
            </a:r>
          </a:p>
          <a:p>
            <a:pPr>
              <a:lnSpc>
                <a:spcPts val="3810"/>
              </a:lnSpc>
            </a:pPr>
            <a:r>
              <a:rPr lang="en-US" sz="2000" dirty="0">
                <a:latin typeface="Antique Olive" panose="020B0603020204030204"/>
                <a:ea typeface="Quicksand"/>
                <a:cs typeface="Quicksand"/>
                <a:sym typeface="Quicksand"/>
              </a:rPr>
              <a:t>Like this:</a:t>
            </a:r>
          </a:p>
          <a:p>
            <a:pPr>
              <a:lnSpc>
                <a:spcPts val="3810"/>
              </a:lnSpc>
            </a:pPr>
            <a:r>
              <a:rPr lang="en-US" sz="2000" dirty="0">
                <a:latin typeface="Antique Olive" panose="020B0603020204030204"/>
                <a:ea typeface="Quicksand"/>
                <a:cs typeface="Quicksand"/>
                <a:sym typeface="Quicksand"/>
              </a:rPr>
              <a:t>let sum = (a, b) =&gt; {  </a:t>
            </a:r>
          </a:p>
          <a:p>
            <a:pPr>
              <a:lnSpc>
                <a:spcPts val="3810"/>
              </a:lnSpc>
            </a:pPr>
            <a:r>
              <a:rPr lang="en-US" sz="2000" dirty="0">
                <a:latin typeface="Antique Olive" panose="020B0603020204030204"/>
                <a:ea typeface="Quicksand"/>
                <a:cs typeface="Quicksand"/>
                <a:sym typeface="Quicksand"/>
              </a:rPr>
              <a:t>let result = a + b; </a:t>
            </a:r>
          </a:p>
          <a:p>
            <a:pPr>
              <a:lnSpc>
                <a:spcPts val="3810"/>
              </a:lnSpc>
            </a:pPr>
            <a:r>
              <a:rPr lang="en-US" sz="2000" dirty="0">
                <a:latin typeface="Antique Olive" panose="020B0603020204030204"/>
                <a:ea typeface="Quicksand"/>
                <a:cs typeface="Quicksand"/>
                <a:sym typeface="Quicksand"/>
              </a:rPr>
              <a:t> return result; </a:t>
            </a:r>
          </a:p>
          <a:p>
            <a:pPr>
              <a:lnSpc>
                <a:spcPts val="3810"/>
              </a:lnSpc>
            </a:pPr>
            <a:r>
              <a:rPr lang="en-US" sz="2000" dirty="0">
                <a:latin typeface="Antique Olive" panose="020B0603020204030204"/>
                <a:ea typeface="Quicksand"/>
                <a:cs typeface="Quicksand"/>
                <a:sym typeface="Quicksand"/>
              </a:rPr>
              <a:t>};</a:t>
            </a:r>
          </a:p>
          <a:p>
            <a:pPr>
              <a:lnSpc>
                <a:spcPts val="3810"/>
              </a:lnSpc>
            </a:pPr>
            <a:r>
              <a:rPr lang="en-US" sz="2000" dirty="0">
                <a:latin typeface="Antique Olive" panose="020B0603020204030204"/>
                <a:ea typeface="Quicksand"/>
                <a:cs typeface="Quicksand"/>
                <a:sym typeface="Quicksand"/>
              </a:rPr>
              <a:t>alert( sum(1, 2) ); // 3</a:t>
            </a:r>
            <a:endParaRPr lang="en-US" sz="2000" dirty="0">
              <a:latin typeface="Antique Olive" panose="020B0603020204030204"/>
              <a:ea typeface="Quicksand"/>
              <a:cs typeface="Quicksand"/>
              <a:sym typeface="Quicksand"/>
              <a:hlinkClick r:id="rId2" tooltip="https://javascript.info/function-expressions#function-expression-vs-function-declaration">
                <a:extLst>
                  <a:ext uri="{A12FA001-AC4F-418D-AE19-62706E023703}">
                    <ahyp:hlinkClr xmlns:ahyp="http://schemas.microsoft.com/office/drawing/2018/hyperlinkcolor" val="tx"/>
                  </a:ext>
                </a:extLst>
              </a:hlinkClick>
            </a:endParaRPr>
          </a:p>
        </p:txBody>
      </p:sp>
      <p:sp>
        <p:nvSpPr>
          <p:cNvPr id="3" name="TextBox 3"/>
          <p:cNvSpPr txBox="1"/>
          <p:nvPr/>
        </p:nvSpPr>
        <p:spPr>
          <a:xfrm>
            <a:off x="3700452" y="285962"/>
            <a:ext cx="7532265" cy="721672"/>
          </a:xfrm>
          <a:prstGeom prst="rect">
            <a:avLst/>
          </a:prstGeom>
        </p:spPr>
        <p:txBody>
          <a:bodyPr lIns="0" tIns="0" rIns="0" bIns="0" rtlCol="0" anchor="t">
            <a:spAutoFit/>
          </a:bodyPr>
          <a:lstStyle/>
          <a:p>
            <a:pPr algn="just">
              <a:lnSpc>
                <a:spcPts val="5973"/>
              </a:lnSpc>
              <a:spcBef>
                <a:spcPct val="0"/>
              </a:spcBef>
            </a:pPr>
            <a:r>
              <a:rPr lang="en-US" sz="4000" b="1" dirty="0">
                <a:latin typeface="Antique Olive" panose="020B0603020204030204"/>
                <a:ea typeface="Cormorant Garamond"/>
                <a:cs typeface="Cormorant Garamond"/>
                <a:sym typeface="Cormorant Garamond"/>
              </a:rPr>
              <a:t>Functions</a:t>
            </a:r>
            <a:endParaRPr lang="en-US" sz="4266" dirty="0">
              <a:solidFill>
                <a:srgbClr val="0F4662"/>
              </a:solidFill>
              <a:latin typeface="Cormorant Garamond"/>
              <a:ea typeface="Cormorant Garamond"/>
              <a:cs typeface="Cormorant Garamond"/>
              <a:sym typeface="Cormorant Garamond"/>
            </a:endParaRPr>
          </a:p>
        </p:txBody>
      </p:sp>
    </p:spTree>
    <p:extLst>
      <p:ext uri="{BB962C8B-B14F-4D97-AF65-F5344CB8AC3E}">
        <p14:creationId xmlns:p14="http://schemas.microsoft.com/office/powerpoint/2010/main" val="30580849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117587" y="1873581"/>
            <a:ext cx="7601720" cy="1792478"/>
          </a:xfrm>
          <a:prstGeom prst="rect">
            <a:avLst/>
          </a:prstGeom>
        </p:spPr>
        <p:txBody>
          <a:bodyPr lIns="0" tIns="0" rIns="0" bIns="0" rtlCol="0" anchor="t">
            <a:spAutoFit/>
          </a:bodyPr>
          <a:lstStyle/>
          <a:p>
            <a:pPr algn="ctr">
              <a:lnSpc>
                <a:spcPts val="17340"/>
              </a:lnSpc>
              <a:spcBef>
                <a:spcPct val="0"/>
              </a:spcBef>
            </a:pPr>
            <a:r>
              <a:rPr lang="en-US" sz="4400" b="1" i="1" dirty="0">
                <a:latin typeface="Cormorant Garamond Bold Italics"/>
                <a:ea typeface="Cormorant Garamond Bold Italics"/>
                <a:cs typeface="Cormorant Garamond Bold Italics"/>
                <a:sym typeface="Cormorant Garamond Bold Italics"/>
              </a:rPr>
              <a:t>Thank you</a:t>
            </a:r>
          </a:p>
        </p:txBody>
      </p:sp>
    </p:spTree>
    <p:extLst>
      <p:ext uri="{BB962C8B-B14F-4D97-AF65-F5344CB8AC3E}">
        <p14:creationId xmlns:p14="http://schemas.microsoft.com/office/powerpoint/2010/main" val="125978357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theme/theme1.xml><?xml version="1.0" encoding="utf-8"?>
<a:theme xmlns:a="http://schemas.openxmlformats.org/drawingml/2006/main" name="Facet">
  <a:themeElements>
    <a:clrScheme name="Custom 1">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000000"/>
      </a:hlink>
      <a:folHlink>
        <a:srgbClr val="B26B0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1">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000000"/>
    </a:hlink>
    <a:folHlink>
      <a:srgbClr val="B26B02"/>
    </a:folHlink>
  </a:clrScheme>
</a:themeOverride>
</file>

<file path=ppt/theme/themeOverride2.xml><?xml version="1.0" encoding="utf-8"?>
<a:themeOverride xmlns:a="http://schemas.openxmlformats.org/drawingml/2006/main">
  <a:clrScheme name="Custom 1">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000000"/>
    </a:hlink>
    <a:folHlink>
      <a:srgbClr val="B26B02"/>
    </a:folHlink>
  </a:clrScheme>
</a:themeOverride>
</file>

<file path=docProps/app.xml><?xml version="1.0" encoding="utf-8"?>
<Properties xmlns="http://schemas.openxmlformats.org/officeDocument/2006/extended-properties" xmlns:vt="http://schemas.openxmlformats.org/officeDocument/2006/docPropsVTypes">
  <Template>Facet</Template>
  <TotalTime>4921</TotalTime>
  <Words>11176</Words>
  <Application>Microsoft Office PowerPoint</Application>
  <PresentationFormat>Widescreen</PresentationFormat>
  <Paragraphs>1320</Paragraphs>
  <Slides>136</Slides>
  <Notes>1</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136</vt:i4>
      </vt:variant>
    </vt:vector>
  </HeadingPairs>
  <TitlesOfParts>
    <vt:vector size="147" baseType="lpstr">
      <vt:lpstr>Antique Olive</vt:lpstr>
      <vt:lpstr>Arial</vt:lpstr>
      <vt:lpstr>Calibri</vt:lpstr>
      <vt:lpstr>Calibri Light</vt:lpstr>
      <vt:lpstr>Cormorant Garamond</vt:lpstr>
      <vt:lpstr>Cormorant Garamond Bold Italics</vt:lpstr>
      <vt:lpstr>Quicksand</vt:lpstr>
      <vt:lpstr>Quicksand Bold</vt:lpstr>
      <vt:lpstr>Wingdings 3</vt:lpstr>
      <vt:lpstr>Facet</vt:lpstr>
      <vt:lpstr>Custom Design</vt:lpstr>
      <vt:lpstr> JavaScript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Petra</dc:creator>
  <cp:lastModifiedBy>dell</cp:lastModifiedBy>
  <cp:revision>38</cp:revision>
  <dcterms:created xsi:type="dcterms:W3CDTF">2026-01-26T08:52:25Z</dcterms:created>
  <dcterms:modified xsi:type="dcterms:W3CDTF">2026-02-12T07:05:45Z</dcterms:modified>
</cp:coreProperties>
</file>