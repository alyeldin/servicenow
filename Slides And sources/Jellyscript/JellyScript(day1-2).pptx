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1" r:id="rId1"/>
    <p:sldMasterId id="2147483748" r:id="rId2"/>
  </p:sldMasterIdLst>
  <p:notesMasterIdLst>
    <p:notesMasterId r:id="rId45"/>
  </p:notesMasterIdLst>
  <p:sldIdLst>
    <p:sldId id="256" r:id="rId3"/>
    <p:sldId id="305" r:id="rId4"/>
    <p:sldId id="306" r:id="rId5"/>
    <p:sldId id="307" r:id="rId6"/>
    <p:sldId id="308" r:id="rId7"/>
    <p:sldId id="309" r:id="rId8"/>
    <p:sldId id="330" r:id="rId9"/>
    <p:sldId id="338" r:id="rId10"/>
    <p:sldId id="331" r:id="rId11"/>
    <p:sldId id="332" r:id="rId12"/>
    <p:sldId id="333" r:id="rId13"/>
    <p:sldId id="334" r:id="rId14"/>
    <p:sldId id="335" r:id="rId15"/>
    <p:sldId id="353" r:id="rId16"/>
    <p:sldId id="355" r:id="rId17"/>
    <p:sldId id="337" r:id="rId18"/>
    <p:sldId id="387" r:id="rId19"/>
    <p:sldId id="388" r:id="rId20"/>
    <p:sldId id="336" r:id="rId21"/>
    <p:sldId id="317" r:id="rId22"/>
    <p:sldId id="350" r:id="rId23"/>
    <p:sldId id="318" r:id="rId24"/>
    <p:sldId id="340" r:id="rId25"/>
    <p:sldId id="341" r:id="rId26"/>
    <p:sldId id="344" r:id="rId27"/>
    <p:sldId id="346" r:id="rId28"/>
    <p:sldId id="348" r:id="rId29"/>
    <p:sldId id="351" r:id="rId30"/>
    <p:sldId id="361" r:id="rId31"/>
    <p:sldId id="362" r:id="rId32"/>
    <p:sldId id="363" r:id="rId33"/>
    <p:sldId id="364" r:id="rId34"/>
    <p:sldId id="365" r:id="rId35"/>
    <p:sldId id="367" r:id="rId36"/>
    <p:sldId id="366" r:id="rId37"/>
    <p:sldId id="368" r:id="rId38"/>
    <p:sldId id="389" r:id="rId39"/>
    <p:sldId id="369" r:id="rId40"/>
    <p:sldId id="371" r:id="rId41"/>
    <p:sldId id="373" r:id="rId42"/>
    <p:sldId id="374" r:id="rId43"/>
    <p:sldId id="376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0" autoAdjust="0"/>
    <p:restoredTop sz="93861" autoAdjust="0"/>
  </p:normalViewPr>
  <p:slideViewPr>
    <p:cSldViewPr snapToGrid="0">
      <p:cViewPr varScale="1">
        <p:scale>
          <a:sx n="67" d="100"/>
          <a:sy n="67" d="100"/>
        </p:scale>
        <p:origin x="85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0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3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896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BEF1-DC2C-2ACB-B25E-59E9148E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24158-7981-964C-EAD3-84C449D48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73F0A-BC67-C854-21F5-4112D576F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1B89C-9481-62B6-05D3-3173F032E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788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6FFA-D7CA-AD55-662D-9C82A265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B3845-EEC5-88C2-3E93-B81A7BA3A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5E591-A877-F108-D469-107CC24D5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E1E70-C2A4-1A34-59A8-3A94D4118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150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E892-F95C-AD97-FC77-518F57CB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52D73-FE5D-7B00-9288-C67A56F08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FA746-04F6-A476-E5E1-DAC1C8CA1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DB446-4463-7D78-CA2F-3CE430263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862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AA40-70B0-2764-CF19-543F139C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A17CB-D9F8-40E3-5118-B1DEF319C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03B27-8FA4-0066-FC86-332A0D656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66E0C-271E-D9F8-159F-B27762D33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742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FA4DF-AB8D-6CFD-1F79-9A528EEF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8D823-D413-DC96-E91D-F37D0C90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FEE01-ED03-110C-46FA-226E36AD8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4B10A-E22D-946F-9D0B-B4AC6E48D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140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F6BD-86DF-BE14-83A8-0C0AA28D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CB2C1-1BF6-5D0E-A92B-30E5E4C22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DB935-F713-029A-6865-2A38F34C5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157F1-6CDB-50EF-0211-F84B25664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214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4B94-4A21-65AC-E93C-54D9E61B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7B784-C84E-328E-3F4E-F0B48620B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50A3A-9531-EFB8-BD76-644E61F72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7691B-0B93-E816-292B-056DF4CD5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44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E5B5-1359-47A4-64E1-ABA632694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36137-B512-0D58-059D-21C8E6407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1E780-0975-D8CA-4D0D-4D5EE046B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088B8-A260-9DCE-C035-D8360ACF3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915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0BF9-9AE5-6AA8-0324-6ECEA401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19431-C3A0-6EBA-1EF9-6AE5C05E8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EF4C5-F1C1-B4BA-AF97-376954B26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B381B-F1D0-3312-B67B-805A5EF5F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840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81401-CE77-9E37-963C-11A3EE83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D53C0-8A11-B5DB-50C0-0346C748B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4282F-A3D7-9DC3-DFEC-5FEE2BB3D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A0D1F-968B-601F-9338-C0692497A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622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665A-1C33-EE4E-F501-ACB51740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0DFF1-55E0-2936-96F4-6601E0B6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0B01E-FA2D-4AEF-C3CA-B3268983C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DF91B-98C5-68C8-FE72-0A63BEC67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596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F2ECA-5842-EA30-2937-F32D71DD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C7C6C-0583-1710-4382-AFB613DE1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C4BE2-BDA8-A71C-4801-965619E47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BB664-FEC1-F12E-7CC7-EE71309CF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887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AC9D-C709-33B4-E7E7-6834F9E3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F9281-3288-1DEE-5E28-129B57021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E97A0-71C9-DEEC-DE6D-7A5EB35F1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BB11A-7790-90B4-C3E3-2D9F255FF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52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346D-5ED3-3A15-4205-F7C32B1B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B8824-92FC-D171-18CC-79EB0AF17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1DB86-2950-7A75-F922-9140E1CD3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DE004-1DA6-C498-BE55-9902A892C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2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2D62-94B9-15D7-B1D2-B072163F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A5728-3F37-10EF-86C3-F0402D35E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00258-12FE-4998-D983-262412543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42A42-42A8-20DC-C025-62BB8F5F9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844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B83E-1B18-A38C-D5FE-7DDC70F7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E496F-53C8-1777-5FA9-7E0228EDA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552F0-43A7-1B54-409B-CE628C8AA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AC996-C040-568E-79B2-182A8211D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351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0323-B51C-C919-8FCB-97698449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B7A72-83AF-E4D7-146B-CF27FA072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CA816-D756-EFB8-2D63-C137F7890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6A588-AB23-F9D3-1BAA-2F3670273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870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5F85F-CC19-976E-3481-1BC68C18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F99C3-012C-2D72-BC53-E64910833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59460-3DD3-1088-4653-E7EA949C2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3FB62-35B2-4906-5700-FCF7BDD7A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1886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E66E-691B-B336-67FB-6D9FFF0F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0DD06-7E63-4BBF-BAB7-F909DB7F9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D3D1D-C58D-4368-F2DD-768A2DF5B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1233B-D1F6-715D-30C7-18F33BCE2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0498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3A29-907C-E485-21B9-F6964212D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0AFD9-67E5-F305-33C9-5AA20C049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FF394-B7C2-044C-39BB-28EBF90BD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744B9-BCAF-296E-5934-10ECC88A8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2653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8768-E0D0-EA3C-20DD-54D6DE1B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65330-884E-A8F6-99C9-95B857D40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41E54-CDED-9078-6B3E-E99D5F064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43AE4-FD68-E5E8-8DA0-12E59EF4A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12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C61D-25E7-4809-4EFB-5EB66BD4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AD997-C2FB-BD7A-8B08-7282D870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BEB91-F767-B7AB-9790-44607DE82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C0D08-C166-D724-9DDA-F44AF2BB2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4650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9E3B-B26A-3447-DCCC-DE4D5C6DD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423DC-867B-08D9-092D-47C020FEF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3D658-85EE-DBE7-2723-14FC14105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B1175-A9AE-351F-C54E-97FE3A732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0047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345C-6F3B-3581-5F0A-C07367F0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3E87F-C491-C948-EDC3-CC69B0886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980F4-8812-AB79-D2D1-790888E2C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9AD65-D938-FA38-9E77-844BFBE62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0683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57CC-473D-7319-05D9-877BE692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F0470-F07B-F9BC-FBDD-5D15CA7E0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BEDE6-B3CD-C0AC-9F2E-055F07FC9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9970F-2ED0-3D3E-4426-C494316EE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0306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289A-AC69-CD46-1550-A75625DAA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2A4C6-CB2E-677B-F2FE-4EE7BA8AD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047D8-4F76-8FB0-E05F-043FEA567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A53B8-BA70-99A0-FD66-B9711A73E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629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6960-728B-467E-E8CE-055752E3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A7D1D-B1FE-F843-554C-CFFCA5A5F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7D0D8-6195-C6C4-05EF-6C5FB293C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D5A12-C0D9-9E30-3047-5FA0F9A4A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6653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73525-843B-0C01-EBB7-F7DD3C2D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47FF6-231F-966C-392F-C5F760B0B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48720-13E5-548F-DF09-D1A973733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7CF98-F261-B7B3-E2A5-9810AF08D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0055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E629-6B8E-5A28-2CA8-69D1A5D8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70DD1-1374-0B97-309F-6F305449D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147E8-2833-FE8D-AE87-8FCE15DEA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9B010-7569-94FB-3C7F-EDE0A6EBE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9815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594F-410E-9105-D887-24A4FE68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1E472-EA97-1654-9980-24AEAB800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F5661-26E8-3E87-7949-B0ACC1B38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4F22-CB21-9094-9F9D-EE298E180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2145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E8115-5477-E0C5-8198-FE2D5491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1C9C5-E81D-DC6E-BFED-26ABD8083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9B7F1-2D38-F2C2-8681-266E2F8BC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76632-9994-FE97-A7D0-40CA0DF0B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0237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D6134-42E6-968B-FF98-1F37DCE8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682FD-2989-E934-8842-12E83ADF2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EB0A9-EDB6-CA75-91C8-4CB3FAF4B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EF1A8-7A3D-5008-CA78-B7159DB32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7957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73BCF-8BA0-E65E-473B-F39B7A9E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B6024-4B4A-3942-8BDD-1FFC2F28B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E16EF-54E4-7765-CF2C-6B43EDFDE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37575-C497-A396-81E7-2E1D9BFB3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2354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06D1-D5A3-47D1-A968-5AA442ED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1DCAA-0A2A-B21D-8E5E-74C3D5099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24F04-AF7C-50D2-19A7-75F46BD5D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E1331-B65F-4DA5-B02B-73DA585C6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4879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3AD5-5938-7CD6-8350-B4D53292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F2B91-FDFD-CDAE-4AE4-0B032F077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B2E1D-746C-46C7-867B-7ABD5837E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B4420-73CC-017A-FFC3-4BF01480E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112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6A66B-0CFC-9001-9152-E7553428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1DA8F-11C1-C9CF-B057-B2F7455A1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15A07-92F2-4FA2-3170-2EEC2347A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A503D-A444-9A16-E462-F73D17E38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8466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B763-2212-630A-D989-BDB3E12C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9FE56-5570-3B94-3D8D-F51131F1C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FB2D3-29D8-F6E8-BE64-ACAB8466E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44A94-F4E2-7C09-C76B-653DADCC5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9359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695E4-4EC6-75D8-9A74-FD7B765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3E7D4-6D38-5164-C682-25995632B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C7709-8914-C013-86BE-A0F92965B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168C0-B8E3-39F7-7994-796F90345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1474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E034-4845-3852-6993-8D6BC2643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240D3-ACCB-1ABC-0101-BFD62B4A4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1B297-ABCE-5FEC-51BF-7FC020477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33373-2BBE-E655-704E-AD551A582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2853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5702-90ED-5B28-3619-B1B6E30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48B6E-2C52-C763-F44A-088CB1447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E6B7A-4EF1-A0A8-AC98-556D33E31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20B1-3475-1114-4C69-81BE35977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084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3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5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9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3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1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7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1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79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1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7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1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6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4C05-9696-BEBD-7362-5C88FF3B6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093AE-3464-57D7-9AC8-8F6D5485A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3810A-7863-2CAE-A291-9C3FEE18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3BAD-98FC-16EF-B78A-9E15DA1F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FECF4-2B3C-EBF0-7FA7-D5A6371E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1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C052-8807-FB2B-F760-A6C34285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0031-2C25-A794-9BCB-F84AE6BFB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A0056-6F21-78BC-CD0C-D3AE8AB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762E-1E65-B2E2-5A48-74889369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8A673-FC5C-5DA3-4D90-22D4C6F2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0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A849-60EF-B006-2F22-3985ACD0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AAD3-850E-5052-F25E-95A8A67AB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23601-2075-6ACA-DFCA-5C5BCBAB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3FB7F-AF21-00E7-279A-CA1AEFA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AF13D-2C0E-64B5-E7A9-6BEF035F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4482-9AF1-3A73-6298-00EF41CD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6968-9CB3-813E-2692-BA801CEF8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A5136-2B4D-73C2-22BD-BB455001F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755A-30CE-7F1C-4683-F507EA77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55C21-5BF2-105C-2FEA-07E3F2B8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09443-C309-26E2-C471-5E437CE9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74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ADD4-18F9-9597-EECE-98C21AB2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96A9-65E4-AD8D-EADC-A65B65001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FC373-4D6F-68D4-0C12-06CE51E8A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735FA-F7D6-278E-9780-8E91FDBB2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BC14D-D3FD-1773-5B62-08DF280E9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BAD2E-E2EE-ECCE-8BA9-92686782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9E8F1-D316-889F-F7FF-B3041B16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B5863-AA6C-54CA-2ED7-2827A37D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58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DE7E-CAAE-46DC-EBA7-D376525D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FC342-6B1E-A899-0AC0-7179CBF1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CE001-2DAE-92B0-6625-1190253B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CDCE7-1FEA-AE1D-5A86-3AADEEB9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74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038C8-D53B-A186-1A3B-68343A4D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37522-AF1A-36A1-CDBC-F6CD468A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45AA9-91CE-DAD3-1468-1B4D6990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2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D843-EC0F-70ED-0C7F-EA16DB3A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3193-D853-04FA-7829-607C85F5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CC16-0CEC-C434-BB6F-37998454E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8119-876E-0597-A150-EBFEDCBF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432E6-8E71-952C-5BD2-A544097F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7DBFA-6354-65D6-057D-E4934DBD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36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7C2D-2AC8-F729-E57E-74AFCC4C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F5E9-6925-635A-B995-13375BD1E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E4612-ECC5-387D-290F-B204253EA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A5D-A4D7-D0A4-36C4-B6B68D32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A99D9-F393-52B2-AB41-48305F3B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6B71-A785-4927-BC42-CB3A9329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74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A1A9-CF48-3810-4950-16842703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C0171-9295-C4A0-3C54-2231615E0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8C2C7-AD69-814F-1B16-FE4C09F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A943-52B4-2D49-FBA2-91C0098E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C9569-50F4-4F62-A4D4-980C227E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1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A05D2-C145-3A7C-947C-A4F5C91E6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3354D-E4E5-A40F-5A6F-8C847C31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0079-5E12-3CB4-DF15-D1B15821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0D9D9-0089-238F-F78A-6FED727C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65DB6-AF59-30F2-25FF-1534DAFC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18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D2985-A48A-4FCE-5D51-E8E176F2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C2E1-540F-5A5B-8259-B51FB6F86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4273-7860-81C7-8174-DE3F24445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18E7-D115-4B1D-1330-0731ABB73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B25B6-B513-E9E3-6780-9126B4B0C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81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.com/en/download/manual.js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adoptium.net/temurin/releases/?version=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.com/en/download/manual.jsp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adoptium.net/temurin/releases/?version=8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.apache.org/download.cgi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apache.org/proper/commons-jelly/tags.html#jelly:cor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apache.org/proper/commons-jelly/tags.html?utm_source=chatgpt.com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68C8-67C4-8011-F335-527CB36AE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239" y="98066"/>
            <a:ext cx="9279144" cy="3330934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tx2">
                    <a:lumMod val="75000"/>
                  </a:schemeClr>
                </a:solidFill>
                <a:latin typeface="Antique Olive" panose="020B0603020204030204" pitchFamily="34" charset="0"/>
              </a:rPr>
              <a:t>Jelly Script</a:t>
            </a:r>
          </a:p>
        </p:txBody>
      </p:sp>
    </p:spTree>
    <p:extLst>
      <p:ext uri="{BB962C8B-B14F-4D97-AF65-F5344CB8AC3E}">
        <p14:creationId xmlns:p14="http://schemas.microsoft.com/office/powerpoint/2010/main" val="89226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8C43-24DB-D916-3E96-278106F9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68B0-1CE7-D42A-4885-E8406A84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1. What is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E73FC-9075-DDAF-7D89-336039526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i="1" dirty="0"/>
              <a:t>Jelly</a:t>
            </a:r>
            <a:r>
              <a:rPr lang="en-US" i="1" dirty="0"/>
              <a:t> is nothing but the </a:t>
            </a:r>
            <a:r>
              <a:rPr lang="en-US" b="1" i="1" dirty="0"/>
              <a:t>Java Elements</a:t>
            </a:r>
            <a:r>
              <a:rPr lang="en-US" i="1" dirty="0"/>
              <a:t> comprised of Java and XML-based scripting that originates from Apache Foundation.</a:t>
            </a:r>
            <a:endParaRPr lang="en-US" dirty="0"/>
          </a:p>
          <a:p>
            <a:r>
              <a:rPr lang="en-US" b="1" i="1" dirty="0"/>
              <a:t>ServiceNow</a:t>
            </a:r>
            <a:r>
              <a:rPr lang="en-US" i="1" dirty="0"/>
              <a:t> uses Jelly Scripting to process XML-based documents containing static and dynamic HTML content and special Jelly Tags and the output is HTML.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1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5F7B5-D60D-7F20-CF9D-E42EA0EB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F3AF-5A0D-765D-D5E9-C5A6FEFE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1. What is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545CB-1618-B1FC-2720-401C47520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dirty="0"/>
              <a:t>There are 2 kinds of tags in Jelly Scripting</a:t>
            </a:r>
          </a:p>
          <a:p>
            <a:r>
              <a:rPr lang="en-US" b="1" i="1" dirty="0"/>
              <a:t>Core Tags</a:t>
            </a:r>
            <a:r>
              <a:rPr lang="en-US" i="1" dirty="0"/>
              <a:t> — known as Jelly Core.</a:t>
            </a:r>
            <a:endParaRPr lang="en-US" dirty="0"/>
          </a:p>
          <a:p>
            <a:pPr lvl="1"/>
            <a:r>
              <a:rPr lang="en-US" b="1" i="1" dirty="0"/>
              <a:t>Example:-</a:t>
            </a:r>
            <a:r>
              <a:rPr lang="en-US" i="1" dirty="0"/>
              <a:t> &lt;</a:t>
            </a:r>
            <a:r>
              <a:rPr lang="en-US" i="1" dirty="0" err="1"/>
              <a:t>j:set</a:t>
            </a:r>
            <a:r>
              <a:rPr lang="en-US" i="1" dirty="0"/>
              <a:t>&gt;, &lt;</a:t>
            </a:r>
            <a:r>
              <a:rPr lang="en-US" i="1" dirty="0" err="1"/>
              <a:t>j:choose</a:t>
            </a:r>
            <a:r>
              <a:rPr lang="en-US" i="1" dirty="0"/>
              <a:t>&gt;, &lt;</a:t>
            </a:r>
            <a:r>
              <a:rPr lang="en-US" i="1" dirty="0" err="1"/>
              <a:t>j:if</a:t>
            </a:r>
            <a:r>
              <a:rPr lang="en-US" i="1" dirty="0"/>
              <a:t>&gt;, &lt;</a:t>
            </a:r>
            <a:r>
              <a:rPr lang="en-US" i="1" dirty="0" err="1"/>
              <a:t>j:forEach</a:t>
            </a:r>
            <a:r>
              <a:rPr lang="en-US" i="1" dirty="0"/>
              <a:t>&gt;, &lt;</a:t>
            </a:r>
            <a:r>
              <a:rPr lang="en-US" i="1" dirty="0" err="1"/>
              <a:t>j:otherwise</a:t>
            </a:r>
            <a:r>
              <a:rPr lang="en-US" i="1" dirty="0"/>
              <a:t>&gt;</a:t>
            </a:r>
            <a:endParaRPr lang="en-US" dirty="0"/>
          </a:p>
          <a:p>
            <a:r>
              <a:rPr lang="en-US" b="1" i="1" dirty="0"/>
              <a:t>ServiceNow Custom Tags</a:t>
            </a:r>
            <a:r>
              <a:rPr lang="en-US" i="1" dirty="0"/>
              <a:t> — known as Glide Core.</a:t>
            </a:r>
            <a:endParaRPr lang="en-US" dirty="0"/>
          </a:p>
          <a:p>
            <a:pPr lvl="1"/>
            <a:r>
              <a:rPr lang="en-US" b="1" i="1" dirty="0"/>
              <a:t>Example:-</a:t>
            </a:r>
            <a:r>
              <a:rPr lang="en-US" i="1" dirty="0"/>
              <a:t> &lt;</a:t>
            </a:r>
            <a:r>
              <a:rPr lang="en-US" i="1" dirty="0" err="1"/>
              <a:t>g:ui_form</a:t>
            </a:r>
            <a:r>
              <a:rPr lang="en-US" i="1" dirty="0"/>
              <a:t>&gt;, &lt;</a:t>
            </a:r>
            <a:r>
              <a:rPr lang="en-US" i="1" dirty="0" err="1"/>
              <a:t>g:evaluate</a:t>
            </a:r>
            <a:r>
              <a:rPr lang="en-US" i="1" dirty="0"/>
              <a:t>&gt;, &lt;</a:t>
            </a:r>
            <a:r>
              <a:rPr lang="en-US" i="1" dirty="0" err="1"/>
              <a:t>g:ui_reference</a:t>
            </a:r>
            <a:r>
              <a:rPr lang="en-US" i="1" dirty="0"/>
              <a:t>&gt;</a:t>
            </a:r>
            <a:endParaRPr lang="en-US" dirty="0"/>
          </a:p>
          <a:p>
            <a:r>
              <a:rPr lang="en-US" i="1" dirty="0"/>
              <a:t>However, you will find practical examples using both tags in this blog that help you to get started with Jelly Scripting. So, </a:t>
            </a:r>
            <a:r>
              <a:rPr lang="en-US" b="1" i="1" dirty="0"/>
              <a:t>Stay Tuned!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247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757A-0C17-EA0F-0F7E-1E658FB3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D40E1-0D9E-7862-B814-E65348A3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BF42-021E-CE32-F3E9-81151C65A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i="1" dirty="0"/>
              <a:t>ServiceNow</a:t>
            </a:r>
            <a:r>
              <a:rPr lang="en-US" i="1" dirty="0"/>
              <a:t> uses Jelly Scripting a lot. There are 2 prominent places where ServiceNow uses Jelly Scripting.</a:t>
            </a:r>
            <a:endParaRPr lang="en-US" dirty="0"/>
          </a:p>
          <a:p>
            <a:r>
              <a:rPr lang="en-US" b="1" i="1" dirty="0"/>
              <a:t>UI Macros.</a:t>
            </a:r>
            <a:endParaRPr lang="en-US" dirty="0"/>
          </a:p>
          <a:p>
            <a:r>
              <a:rPr lang="en-US" b="1" i="1" dirty="0"/>
              <a:t>UI Pages.</a:t>
            </a:r>
            <a:endParaRPr lang="en-US" dirty="0"/>
          </a:p>
          <a:p>
            <a:r>
              <a:rPr lang="en-US" b="1" i="1" dirty="0"/>
              <a:t>UI Macros</a:t>
            </a:r>
            <a:r>
              <a:rPr lang="en-US" i="1" dirty="0"/>
              <a:t> consist of Jelly Scripting only. However, we can induce Client Script in Jelly Script as well.</a:t>
            </a:r>
            <a:endParaRPr lang="en-US" dirty="0"/>
          </a:p>
          <a:p>
            <a:r>
              <a:rPr lang="en-US" b="1" i="1" dirty="0"/>
              <a:t>UI Pages</a:t>
            </a:r>
            <a:r>
              <a:rPr lang="en-US" i="1" dirty="0"/>
              <a:t> consist of Jelly Script, Client Script, and Processing Script.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90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ACDC-5F27-CCB8-3AE5-BD5881BC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806B-6626-6CE2-CC4B-6E868AA4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5A86A-CFAF-B18F-BFBE-BE4F8E7B2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dirty="0"/>
              <a:t>How to use it?</a:t>
            </a:r>
          </a:p>
          <a:p>
            <a:r>
              <a:rPr lang="en-US" b="1" i="1" dirty="0"/>
              <a:t>ServiceNow</a:t>
            </a:r>
            <a:r>
              <a:rPr lang="en-US" i="1" dirty="0"/>
              <a:t> uses </a:t>
            </a:r>
            <a:r>
              <a:rPr lang="en-US" b="1" i="1" dirty="0"/>
              <a:t>Formatters</a:t>
            </a:r>
            <a:r>
              <a:rPr lang="en-US" i="1" dirty="0"/>
              <a:t> to place </a:t>
            </a:r>
            <a:r>
              <a:rPr lang="en-US" b="1" i="1" dirty="0"/>
              <a:t>UI Macros</a:t>
            </a:r>
            <a:r>
              <a:rPr lang="en-US" i="1" dirty="0"/>
              <a:t> (consisting of Jelly Scripting) in Forms.</a:t>
            </a:r>
            <a:endParaRPr lang="en-US" dirty="0"/>
          </a:p>
          <a:p>
            <a:r>
              <a:rPr lang="en-US" b="1" i="1" dirty="0"/>
              <a:t>To access or use UI Pages, There are 2 ways:-</a:t>
            </a:r>
            <a:endParaRPr lang="en-US" dirty="0"/>
          </a:p>
          <a:p>
            <a:r>
              <a:rPr lang="en-US" i="1" dirty="0"/>
              <a:t>Open UI Page directly using URI — </a:t>
            </a:r>
            <a:r>
              <a:rPr lang="en-US" b="1" i="1" dirty="0"/>
              <a:t>https:&lt;instance_name.service-now.com/&lt;</a:t>
            </a:r>
            <a:r>
              <a:rPr lang="en-US" b="1" i="1" dirty="0" err="1"/>
              <a:t>ui_page_name</a:t>
            </a:r>
            <a:r>
              <a:rPr lang="en-US" b="1" i="1" dirty="0"/>
              <a:t>&gt;.do</a:t>
            </a:r>
            <a:endParaRPr lang="en-US" dirty="0"/>
          </a:p>
          <a:p>
            <a:r>
              <a:rPr lang="en-US" i="1" dirty="0"/>
              <a:t>Open UI Page as a modal on the Client Side [using Client Script, UI Actions, etc.]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9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E016-FE1A-5DDA-1A43-FD2C5ECE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67F7-556B-A095-33E8-302BBDAC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C62A2-0B34-C2C8-05F9-5265E2D0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dirty="0"/>
              <a:t>How to use it?</a:t>
            </a:r>
          </a:p>
          <a:p>
            <a:r>
              <a:rPr lang="en-US" b="1" i="1" dirty="0"/>
              <a:t>ServiceNow</a:t>
            </a:r>
            <a:r>
              <a:rPr lang="en-US" i="1" dirty="0"/>
              <a:t> uses </a:t>
            </a:r>
            <a:r>
              <a:rPr lang="en-US" b="1" i="1" dirty="0"/>
              <a:t>Formatters</a:t>
            </a:r>
            <a:r>
              <a:rPr lang="en-US" i="1" dirty="0"/>
              <a:t> to place </a:t>
            </a:r>
            <a:r>
              <a:rPr lang="en-US" b="1" i="1" dirty="0"/>
              <a:t>UI Macros</a:t>
            </a:r>
            <a:r>
              <a:rPr lang="en-US" i="1" dirty="0"/>
              <a:t> (consisting of Jelly Scripting) in Forms.</a:t>
            </a:r>
            <a:endParaRPr lang="en-US" dirty="0"/>
          </a:p>
          <a:p>
            <a:r>
              <a:rPr lang="en-US" b="1" i="1" dirty="0"/>
              <a:t>To access or use UI Pages, There are 2 ways:-</a:t>
            </a:r>
            <a:endParaRPr lang="en-US" dirty="0"/>
          </a:p>
          <a:p>
            <a:r>
              <a:rPr lang="en-US" i="1" dirty="0"/>
              <a:t>Open UI Page directly using URI — </a:t>
            </a:r>
            <a:r>
              <a:rPr lang="en-US" b="1" i="1" dirty="0"/>
              <a:t>https:&lt;instance_name.service-now.com/&lt;</a:t>
            </a:r>
            <a:r>
              <a:rPr lang="en-US" b="1" i="1" dirty="0" err="1"/>
              <a:t>ui_page_name</a:t>
            </a:r>
            <a:r>
              <a:rPr lang="en-US" b="1" i="1" dirty="0"/>
              <a:t>&gt;.do</a:t>
            </a:r>
            <a:endParaRPr lang="en-US" dirty="0"/>
          </a:p>
          <a:p>
            <a:r>
              <a:rPr lang="en-US" i="1" dirty="0"/>
              <a:t>Open UI Page as a modal on the Client Side [using Client Script, UI Actions, etc.]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F3E8-9FF3-A5A8-4BF9-6FFD9CE1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4939-D0B5-7D6A-083A-0A5BC3AB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A9FF1E-B75A-4423-783C-E14E162D6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616732"/>
            <a:ext cx="8954346" cy="1432386"/>
          </a:xfrm>
        </p:spPr>
        <p:txBody>
          <a:bodyPr>
            <a:noAutofit/>
          </a:bodyPr>
          <a:lstStyle/>
          <a:p>
            <a:r>
              <a:rPr lang="en-US" dirty="0"/>
              <a:t>First we need to install java from oracle </a:t>
            </a:r>
          </a:p>
          <a:p>
            <a:r>
              <a:rPr lang="en-US" dirty="0"/>
              <a:t>I will use java 8 </a:t>
            </a:r>
          </a:p>
          <a:p>
            <a:r>
              <a:rPr lang="en-US" dirty="0">
                <a:hlinkClick r:id="rId3"/>
              </a:rPr>
              <a:t>https://www.java.com/en/download/manual.jsp</a:t>
            </a:r>
            <a:endParaRPr lang="en-US" dirty="0"/>
          </a:p>
          <a:p>
            <a:r>
              <a:rPr lang="en-US" dirty="0">
                <a:hlinkClick r:id="rId4"/>
              </a:rPr>
              <a:t>https://adoptium.net/temurin/releases/?version=8</a:t>
            </a:r>
            <a:endParaRPr lang="en-US" dirty="0"/>
          </a:p>
          <a:p>
            <a:r>
              <a:rPr lang="en-US" dirty="0"/>
              <a:t>Then in environment system variable we will add JAVA_HOME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86D522-EB55-BD41-EFD1-6A71E3C1C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079" y="4167837"/>
            <a:ext cx="5074921" cy="2690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5B811B-0A55-EA75-2118-EC030D660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4" y="4509867"/>
            <a:ext cx="5309115" cy="173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6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0458-99CB-22C5-51D4-EEF46B0A8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97FC-196E-0D9D-C14C-FEDD8990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03E786-D20A-DCDA-0C93-D222081BF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Autofit/>
          </a:bodyPr>
          <a:lstStyle/>
          <a:p>
            <a:r>
              <a:rPr lang="en-US" dirty="0"/>
              <a:t>First we need to install java from oracle </a:t>
            </a:r>
          </a:p>
          <a:p>
            <a:r>
              <a:rPr lang="en-US" dirty="0"/>
              <a:t>I will use java 8 </a:t>
            </a:r>
          </a:p>
          <a:p>
            <a:r>
              <a:rPr lang="en-US" dirty="0">
                <a:hlinkClick r:id="rId3"/>
              </a:rPr>
              <a:t>https://www.java.com/en/download/manual.jsp</a:t>
            </a:r>
            <a:endParaRPr lang="en-US" dirty="0"/>
          </a:p>
          <a:p>
            <a:r>
              <a:rPr lang="en-US" dirty="0">
                <a:hlinkClick r:id="rId4"/>
              </a:rPr>
              <a:t>https://adoptium.net/temurin/releases/?version=8</a:t>
            </a:r>
            <a:endParaRPr lang="en-US" dirty="0"/>
          </a:p>
          <a:p>
            <a:r>
              <a:rPr lang="en-US" dirty="0"/>
              <a:t>Then in environment system variable we will add JAVA_HOME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F7299-6AC5-D33F-077F-8D59F1FBF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079" y="4167837"/>
            <a:ext cx="5074921" cy="2690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5C48C1-D70D-8024-28C2-ACCDB8AB4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4" y="4509867"/>
            <a:ext cx="5309115" cy="1738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2EEFAA-C757-E3B5-7DB3-857169F4D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2093" y="0"/>
            <a:ext cx="5772573" cy="235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3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98F1-215D-C7D1-B6B5-05C20E596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719B-401E-BB06-1D39-137E818C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F0363E-A61A-9B67-885F-CDB459FC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To make sure that java is running</a:t>
            </a:r>
          </a:p>
          <a:p>
            <a:r>
              <a:rPr lang="en-US" dirty="0"/>
              <a:t>Open </a:t>
            </a:r>
            <a:r>
              <a:rPr lang="en-US" dirty="0" err="1"/>
              <a:t>cmd</a:t>
            </a:r>
            <a:r>
              <a:rPr lang="en-US" dirty="0"/>
              <a:t> and run java --version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C1ABD9-A759-9E8A-465C-74592B399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301" y="3059462"/>
            <a:ext cx="7373379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5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384F-3A89-4B5B-044E-CEEDE158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C65B-AE05-28C9-299A-42145B4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3CFE5-0A7D-5122-A7B0-03D2A4911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Then we will download maven to can run any jelly script </a:t>
            </a:r>
          </a:p>
          <a:p>
            <a:r>
              <a:rPr lang="en-US" dirty="0">
                <a:hlinkClick r:id="rId3"/>
              </a:rPr>
              <a:t>https://maven.apache.org/download.cgi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EE1DD-F15B-501F-59BF-6628B012C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55" y="3059462"/>
            <a:ext cx="10693586" cy="208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4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984DE-A72E-791B-C8D5-3C5C813F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60C8-F776-6A08-339C-3A53D1AC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2B2095-EFD1-0352-C50D-1A7CEAD9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Then create folder in </a:t>
            </a:r>
            <a:r>
              <a:rPr lang="de-DE" b="1" dirty="0"/>
              <a:t>C:\Program Files</a:t>
            </a:r>
            <a:r>
              <a:rPr lang="en-US" b="1" dirty="0"/>
              <a:t> </a:t>
            </a:r>
            <a:r>
              <a:rPr lang="de-DE" dirty="0"/>
              <a:t>called </a:t>
            </a:r>
            <a:r>
              <a:rPr lang="de-DE" b="1" dirty="0"/>
              <a:t>maven and copy the extracted from zip</a:t>
            </a:r>
          </a:p>
          <a:p>
            <a:r>
              <a:rPr lang="de-DE" b="1" dirty="0"/>
              <a:t>Add in enviroment system the path of maven to make run mvn command</a:t>
            </a:r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74738-19A6-9BEC-4A70-4EF312987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15" y="3136651"/>
            <a:ext cx="6284186" cy="289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5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E002-96B0-D736-F025-30DA829A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21B0-1C12-E463-92B0-910CDC5F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788D08-78A9-924A-D6E7-5E56A05BB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Then create folder in </a:t>
            </a:r>
            <a:r>
              <a:rPr lang="de-DE" b="1" dirty="0"/>
              <a:t>C:\Program Files</a:t>
            </a:r>
            <a:r>
              <a:rPr lang="en-US" b="1" dirty="0"/>
              <a:t> </a:t>
            </a:r>
            <a:r>
              <a:rPr lang="de-DE" dirty="0"/>
              <a:t>called </a:t>
            </a:r>
            <a:r>
              <a:rPr lang="de-DE" b="1" dirty="0"/>
              <a:t>maven and copy the extracted from zip</a:t>
            </a:r>
          </a:p>
          <a:p>
            <a:r>
              <a:rPr lang="de-DE" b="1" dirty="0"/>
              <a:t>Add in enviroment system the path of maven to make run mvn command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25751-DFB1-E572-5AC9-CD16F7A34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458" y="3686953"/>
            <a:ext cx="5001323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3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8854-4440-2EF9-BC6C-AB8B59C1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EB87-BFE9-18C9-C9EF-4E60B935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EE8CCE-7A80-E1E3-1B1E-62AEBFAD0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make sure that is maven is running open CMD</a:t>
            </a:r>
          </a:p>
          <a:p>
            <a:r>
              <a:rPr lang="en-US" b="1" dirty="0" err="1"/>
              <a:t>Mvn</a:t>
            </a:r>
            <a:r>
              <a:rPr lang="en-US" b="1" dirty="0"/>
              <a:t> –version</a:t>
            </a:r>
          </a:p>
          <a:p>
            <a:r>
              <a:rPr lang="en-US" b="1" dirty="0"/>
              <a:t>Also that show the java is running in Maven</a:t>
            </a:r>
          </a:p>
          <a:p>
            <a:r>
              <a:rPr lang="en-US" b="1" dirty="0"/>
              <a:t>May be need to restart your PC to make sure everything is running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1B12D-6DCD-C052-B298-C856CF9C7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557350"/>
            <a:ext cx="5001323" cy="1057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7FB05E-ACC5-BAFA-9AC5-00EF93EDB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678" y="4614773"/>
            <a:ext cx="8916644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8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287C-BB5F-D4EE-CBCD-0F1C8F2F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B0A5-3956-0580-4101-C44C0906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POM FILE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088218-DF09-110C-6CB8-68DC9E805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Autofit/>
          </a:bodyPr>
          <a:lstStyle/>
          <a:p>
            <a:r>
              <a:rPr lang="en-US" dirty="0"/>
              <a:t>In the context of </a:t>
            </a:r>
            <a:r>
              <a:rPr lang="en-US" b="1" dirty="0" err="1"/>
              <a:t>JellyScript</a:t>
            </a:r>
            <a:r>
              <a:rPr lang="en-US" dirty="0"/>
              <a:t>, a </a:t>
            </a:r>
            <a:r>
              <a:rPr lang="en-US" b="1" dirty="0"/>
              <a:t>POM file</a:t>
            </a:r>
            <a:r>
              <a:rPr lang="en-US" dirty="0"/>
              <a:t> usually refers to the same concept used in the Java ecosystem: a </a:t>
            </a:r>
            <a:r>
              <a:rPr lang="en-US" b="1" dirty="0"/>
              <a:t>Project Object Model (POM)</a:t>
            </a:r>
            <a:r>
              <a:rPr lang="en-US" dirty="0"/>
              <a:t> file used by </a:t>
            </a:r>
            <a:r>
              <a:rPr lang="en-US" b="1" dirty="0"/>
              <a:t>Apache Maven</a:t>
            </a:r>
            <a:r>
              <a:rPr lang="en-US" dirty="0"/>
              <a:t>.</a:t>
            </a:r>
          </a:p>
          <a:p>
            <a:r>
              <a:rPr lang="en-US" b="1" dirty="0"/>
              <a:t>What is a POM file?</a:t>
            </a:r>
          </a:p>
          <a:p>
            <a:r>
              <a:rPr lang="en-US" dirty="0"/>
              <a:t>A </a:t>
            </a:r>
            <a:r>
              <a:rPr lang="en-US" b="1" dirty="0"/>
              <a:t>POM file</a:t>
            </a:r>
            <a:r>
              <a:rPr lang="en-US" dirty="0"/>
              <a:t> is an XML file named:</a:t>
            </a:r>
          </a:p>
          <a:p>
            <a:r>
              <a:rPr lang="en-US" dirty="0"/>
              <a:t>It defines:</a:t>
            </a:r>
          </a:p>
          <a:p>
            <a:pPr lvl="1"/>
            <a:r>
              <a:rPr lang="en-US" dirty="0"/>
              <a:t>Project metadata (name, version, description)</a:t>
            </a:r>
          </a:p>
          <a:p>
            <a:pPr lvl="1"/>
            <a:r>
              <a:rPr lang="en-US" dirty="0"/>
              <a:t>Dependencies (external libraries your project needs)</a:t>
            </a:r>
          </a:p>
          <a:p>
            <a:pPr lvl="1"/>
            <a:r>
              <a:rPr lang="en-US" dirty="0"/>
              <a:t>Build configuration</a:t>
            </a:r>
          </a:p>
          <a:p>
            <a:pPr lvl="1"/>
            <a:r>
              <a:rPr lang="en-US" dirty="0"/>
              <a:t>Plugins</a:t>
            </a:r>
          </a:p>
          <a:p>
            <a:pPr lvl="1"/>
            <a:r>
              <a:rPr lang="en-US" dirty="0"/>
              <a:t>Packaging type</a:t>
            </a:r>
          </a:p>
          <a:p>
            <a:pPr lvl="1"/>
            <a:r>
              <a:rPr lang="en-US" dirty="0"/>
              <a:t>Repository information</a:t>
            </a:r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4184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C7DF-FDC0-2C22-40DC-B7AB424F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63F1-83DF-7769-01AE-803C16CB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POM FILE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9B7FE2-00EA-5FC1-1750-716ABFDC7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5825" y="1311593"/>
            <a:ext cx="5144346" cy="2589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EB715-4048-EBB5-52C0-E9306FA1C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27" y="657829"/>
            <a:ext cx="5144346" cy="2857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121467-A6D2-AFD6-DDD0-EA26D94FA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871" y="4057259"/>
            <a:ext cx="5582429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8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09F9-DC8C-BA5E-EA09-5B267382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90D8-75E2-131F-7642-508B57D89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C21535-FA95-5529-451D-90566108B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To make build for all .jelly file</a:t>
            </a:r>
          </a:p>
          <a:p>
            <a:r>
              <a:rPr lang="en-US" b="1" dirty="0"/>
              <a:t>Create file Main.java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DFF60-82AE-5681-DF58-256AA4474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56" y="3171048"/>
            <a:ext cx="5934903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0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C7B42-80AC-84BE-9F68-EB6C2739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3CDE-684C-BE00-C45C-A240E8D5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D2D978-38A7-4C3D-F4B9-40EE5B80F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10082106" cy="2818098"/>
          </a:xfrm>
        </p:spPr>
        <p:txBody>
          <a:bodyPr>
            <a:normAutofit/>
          </a:bodyPr>
          <a:lstStyle/>
          <a:p>
            <a:r>
              <a:rPr lang="en-US" sz="1600" dirty="0"/>
              <a:t>Main.java File</a:t>
            </a:r>
            <a:endParaRPr lang="en-US" sz="23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79A13-D790-315A-B45F-30ACED771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795" y="208304"/>
            <a:ext cx="4505731" cy="2123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3FDF45-54A3-44C3-DCD8-030796E41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48" y="2323946"/>
            <a:ext cx="5260958" cy="1949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FA4C12-ED5C-143C-49E5-661A59CB9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036" y="2402093"/>
            <a:ext cx="4762947" cy="21546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239749-7A1D-59BF-D675-AF44E851B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248" y="4484370"/>
            <a:ext cx="3962829" cy="19844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B032D3-87C2-3A66-4650-E8E5DCE640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9532" y="4578426"/>
            <a:ext cx="4346128" cy="22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5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5B46-86D0-89D4-615C-24F1D707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1E9F-D998-5BE6-6B0A-110A049C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032547-6B22-71C4-F655-425A98AE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10082106" cy="2818098"/>
          </a:xfrm>
        </p:spPr>
        <p:txBody>
          <a:bodyPr>
            <a:normAutofit/>
          </a:bodyPr>
          <a:lstStyle/>
          <a:p>
            <a:r>
              <a:rPr lang="en-US" sz="1600" dirty="0"/>
              <a:t>Main.java File</a:t>
            </a:r>
            <a:endParaRPr lang="en-US" sz="23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743B61-5830-4EBE-4758-1B68036D8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1" y="2313501"/>
            <a:ext cx="5582429" cy="3372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3F09A8-BF6E-6BE7-FA7E-BC63263D9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763" y="2323374"/>
            <a:ext cx="5735940" cy="336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8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29AE-4D9D-62C5-34B5-17932643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DDBB-7AE7-B563-7BE3-9AE25368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33EEC3-72D4-3E87-69B5-E0C2E2AE5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10082106" cy="28180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Some Command may you will need it in </a:t>
            </a:r>
            <a:r>
              <a:rPr lang="en-US" sz="2800" b="1" dirty="0" err="1"/>
              <a:t>mvn</a:t>
            </a:r>
            <a:endParaRPr lang="en-US" sz="2800" b="1" dirty="0"/>
          </a:p>
          <a:p>
            <a:r>
              <a:rPr lang="en-US" sz="2300" dirty="0" err="1"/>
              <a:t>Mvn</a:t>
            </a:r>
            <a:r>
              <a:rPr lang="en-US" sz="2300" dirty="0"/>
              <a:t> clean</a:t>
            </a:r>
          </a:p>
          <a:p>
            <a:r>
              <a:rPr lang="en-US" sz="2300" dirty="0" err="1"/>
              <a:t>mvn</a:t>
            </a:r>
            <a:r>
              <a:rPr lang="en-US" sz="2300" dirty="0"/>
              <a:t> </a:t>
            </a:r>
            <a:r>
              <a:rPr lang="en-US" sz="2300" dirty="0" err="1"/>
              <a:t>exec:java</a:t>
            </a:r>
            <a:r>
              <a:rPr lang="en-US" sz="2300" dirty="0"/>
              <a:t> -</a:t>
            </a:r>
            <a:r>
              <a:rPr lang="en-US" sz="2300" dirty="0" err="1"/>
              <a:t>Dexec.mainClass</a:t>
            </a:r>
            <a:r>
              <a:rPr lang="en-US" sz="2300" dirty="0"/>
              <a:t>=</a:t>
            </a:r>
            <a:r>
              <a:rPr lang="en-US" sz="2300" dirty="0" err="1"/>
              <a:t>org.apache.commons.jelly.Jelly</a:t>
            </a:r>
            <a:r>
              <a:rPr lang="en-US" sz="2300" dirty="0"/>
              <a:t> -</a:t>
            </a:r>
            <a:r>
              <a:rPr lang="en-US" sz="2300" dirty="0" err="1"/>
              <a:t>Dexec.args</a:t>
            </a:r>
            <a:r>
              <a:rPr lang="en-US" sz="2300" dirty="0"/>
              <a:t>=“</a:t>
            </a:r>
            <a:r>
              <a:rPr lang="en-US" sz="2300" dirty="0" err="1"/>
              <a:t>your_script.jelly</a:t>
            </a:r>
            <a:r>
              <a:rPr lang="en-US" sz="2300" dirty="0"/>
              <a:t> -o target/page.html“ </a:t>
            </a:r>
            <a:r>
              <a:rPr lang="en-US" sz="2300" dirty="0">
                <a:highlight>
                  <a:srgbClr val="FFFF00"/>
                </a:highlight>
              </a:rPr>
              <a:t>to make it out as html file</a:t>
            </a:r>
          </a:p>
          <a:p>
            <a:r>
              <a:rPr lang="en-US" sz="2300" dirty="0" err="1"/>
              <a:t>mvn</a:t>
            </a:r>
            <a:r>
              <a:rPr lang="en-US" sz="2300" dirty="0"/>
              <a:t> clean compile </a:t>
            </a:r>
            <a:r>
              <a:rPr lang="en-US" sz="2300" dirty="0" err="1"/>
              <a:t>exec:java</a:t>
            </a:r>
            <a:r>
              <a:rPr lang="en-US" sz="2300" dirty="0"/>
              <a:t> "-</a:t>
            </a:r>
            <a:r>
              <a:rPr lang="en-US" sz="2300" dirty="0" err="1"/>
              <a:t>Dexec.mainClass</a:t>
            </a:r>
            <a:r>
              <a:rPr lang="en-US" sz="2300" dirty="0"/>
              <a:t>=Main“  </a:t>
            </a:r>
            <a:r>
              <a:rPr lang="en-US" sz="2300" dirty="0">
                <a:sym typeface="Wingdings" panose="05000000000000000000" pitchFamily="2" charset="2"/>
              </a:rPr>
              <a:t> </a:t>
            </a:r>
            <a:r>
              <a:rPr lang="en-US" sz="2300" dirty="0">
                <a:highlight>
                  <a:srgbClr val="FFFF00"/>
                </a:highlight>
                <a:sym typeface="Wingdings" panose="05000000000000000000" pitchFamily="2" charset="2"/>
              </a:rPr>
              <a:t>To build many files .jelly</a:t>
            </a:r>
            <a:endParaRPr lang="en-US" sz="2300" dirty="0">
              <a:highlight>
                <a:srgbClr val="FFFF00"/>
              </a:highlight>
            </a:endParaRPr>
          </a:p>
          <a:p>
            <a:endParaRPr 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392440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EDD9EE-B729-BF19-782C-A8EF28D7A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6C5C-70CA-2386-2A28-F56EE7A3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JellyScript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8C90E-18A1-4A88-9A03-AF2748588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dirty="0"/>
              <a:t>How to define variable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j:set</a:t>
            </a:r>
            <a:r>
              <a:rPr lang="en-US" dirty="0"/>
              <a:t> var="</a:t>
            </a:r>
            <a:r>
              <a:rPr lang="en-US" dirty="0" err="1"/>
              <a:t>jvar_sys_id</a:t>
            </a:r>
            <a:r>
              <a:rPr lang="en-US" dirty="0"/>
              <a:t>" value="${</a:t>
            </a:r>
            <a:r>
              <a:rPr lang="en-US" dirty="0" err="1"/>
              <a:t>sysparm_sysid</a:t>
            </a:r>
            <a:r>
              <a:rPr lang="en-US" dirty="0"/>
              <a:t>}"&gt;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j:set</a:t>
            </a:r>
            <a:r>
              <a:rPr lang="en-US" dirty="0"/>
              <a:t>&gt;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&lt;h1&gt;${</a:t>
            </a:r>
            <a:r>
              <a:rPr lang="en-US" dirty="0" err="1"/>
              <a:t>jvar_sys_id</a:t>
            </a:r>
            <a:r>
              <a:rPr lang="en-US" dirty="0"/>
              <a:t>}&lt;/h1&gt;</a:t>
            </a:r>
          </a:p>
        </p:txBody>
      </p:sp>
    </p:spTree>
    <p:extLst>
      <p:ext uri="{BB962C8B-B14F-4D97-AF65-F5344CB8AC3E}">
        <p14:creationId xmlns:p14="http://schemas.microsoft.com/office/powerpoint/2010/main" val="381605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C99A-200D-7713-D40F-7D9A2C39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EC94-B263-8965-ED1D-BF796476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JellyScript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9C4C-53FC-90CA-E9E0-C8D1010F3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dirty="0" err="1">
                <a:hlinkClick r:id="rId3"/>
              </a:rPr>
              <a:t>jelly:core</a:t>
            </a:r>
            <a:r>
              <a:rPr lang="ar-EG" dirty="0"/>
              <a:t> : </a:t>
            </a:r>
            <a:r>
              <a:rPr lang="en-US" dirty="0"/>
              <a:t>The core Tags from the JSTL plus Jelly extensions.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2D907D-A6AD-F25D-E54D-C468FBC6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959742"/>
              </p:ext>
            </p:extLst>
          </p:nvPr>
        </p:nvGraphicFramePr>
        <p:xfrm>
          <a:off x="441960" y="2160588"/>
          <a:ext cx="10424160" cy="422554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765044333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126275417"/>
                    </a:ext>
                  </a:extLst>
                </a:gridCol>
              </a:tblGrid>
              <a:tr h="32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Tag</a:t>
                      </a:r>
                      <a:endParaRPr lang="en-US" sz="1400" b="1" dirty="0"/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Purpose</a:t>
                      </a:r>
                      <a:endParaRPr lang="en-US" sz="1400" b="1" dirty="0"/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4052600349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choose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Conditional block to choose among multiple conditions.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51866876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when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Used inside choose to test a condition.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24107830"/>
                  </a:ext>
                </a:extLst>
              </a:tr>
              <a:tr h="469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otherwise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Fallback inside choose if no when matches.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447019363"/>
                  </a:ext>
                </a:extLst>
              </a:tr>
              <a:tr h="469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if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Conditional evaluation of body when test is true.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414838093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switch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Switch/Case control structure.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428256946"/>
                  </a:ext>
                </a:extLst>
              </a:tr>
              <a:tr h="26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case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 switch case.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08583984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default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Default section of a switch.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197274708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break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Breaks out of a loop.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36834209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while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Loop while condition is true. (</a:t>
                      </a:r>
                      <a:r>
                        <a:rPr lang="en-US" sz="1400" dirty="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1445596927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forEach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Loop over items like arrays or lists. (</a:t>
                      </a:r>
                      <a:r>
                        <a:rPr lang="en-US" sz="1400" dirty="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314846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59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8891-E0BD-9B14-F43D-D826A54B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D2AF-340B-6ED2-E667-BE536572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JellyScript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846F-99FD-AA3A-E983-D59E5C02C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1-Print Hello World.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678A4-2687-AF75-80F6-55637877966F}"/>
              </a:ext>
            </a:extLst>
          </p:cNvPr>
          <p:cNvSpPr txBox="1"/>
          <p:nvPr/>
        </p:nvSpPr>
        <p:spPr>
          <a:xfrm>
            <a:off x="677334" y="2342278"/>
            <a:ext cx="92354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&lt;?xml version="1.0" encoding="utf-8" ?&gt;</a:t>
            </a:r>
          </a:p>
          <a:p>
            <a:r>
              <a:rPr lang="en-US" dirty="0"/>
              <a:t>&lt;jelly&gt;</a:t>
            </a:r>
          </a:p>
          <a:p>
            <a:r>
              <a:rPr lang="en-US" dirty="0"/>
              <a:t>  &lt;html&gt;</a:t>
            </a:r>
          </a:p>
          <a:p>
            <a:r>
              <a:rPr lang="en-US" dirty="0"/>
              <a:t>    &lt;body&gt;</a:t>
            </a:r>
          </a:p>
          <a:p>
            <a:r>
              <a:rPr lang="en-US" dirty="0"/>
              <a:t>      &lt;h1&gt;Hello World from Jelly!&lt;/h1&gt;</a:t>
            </a:r>
          </a:p>
          <a:p>
            <a:r>
              <a:rPr lang="en-US" dirty="0"/>
              <a:t>      &lt;p&gt;This page was generated locally.&lt;/p&gt;</a:t>
            </a:r>
          </a:p>
          <a:p>
            <a:r>
              <a:rPr lang="en-US" dirty="0"/>
              <a:t>    &lt;/body&gt;</a:t>
            </a:r>
          </a:p>
          <a:p>
            <a:r>
              <a:rPr lang="en-US" dirty="0"/>
              <a:t>  &lt;/html&gt;</a:t>
            </a:r>
          </a:p>
          <a:p>
            <a:r>
              <a:rPr lang="en-US" dirty="0"/>
              <a:t>&lt;/jelly&gt;</a:t>
            </a:r>
          </a:p>
        </p:txBody>
      </p:sp>
    </p:spTree>
    <p:extLst>
      <p:ext uri="{BB962C8B-B14F-4D97-AF65-F5344CB8AC3E}">
        <p14:creationId xmlns:p14="http://schemas.microsoft.com/office/powerpoint/2010/main" val="230885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C258-25D1-3B18-8824-AD99C527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E73C-E36A-4083-2E04-DE6697C9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JellyScript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0EA15-9A2C-E72C-0EBF-8AD4F3782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sz="2000" b="1" dirty="0"/>
              <a:t>To </a:t>
            </a:r>
            <a:r>
              <a:rPr lang="en-US" sz="2000" b="1" dirty="0" err="1"/>
              <a:t>genenarte</a:t>
            </a:r>
            <a:r>
              <a:rPr lang="en-US" sz="2000" b="1" dirty="0"/>
              <a:t> as html 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mvn</a:t>
            </a:r>
            <a:r>
              <a:rPr lang="en-US" sz="2000" dirty="0"/>
              <a:t> </a:t>
            </a:r>
            <a:r>
              <a:rPr lang="en-US" sz="2000" dirty="0" err="1"/>
              <a:t>exec:java</a:t>
            </a:r>
            <a:r>
              <a:rPr lang="en-US" sz="2000" dirty="0"/>
              <a:t> "-</a:t>
            </a:r>
            <a:r>
              <a:rPr lang="en-US" sz="2000" dirty="0" err="1"/>
              <a:t>Dexec.mainClass</a:t>
            </a:r>
            <a:r>
              <a:rPr lang="en-US" sz="2000" dirty="0"/>
              <a:t>=</a:t>
            </a:r>
            <a:r>
              <a:rPr lang="en-US" sz="2000" dirty="0" err="1"/>
              <a:t>org.apache.commons.jelly.Jelly</a:t>
            </a:r>
            <a:r>
              <a:rPr lang="en-US" sz="2000" dirty="0"/>
              <a:t>" "-</a:t>
            </a:r>
            <a:r>
              <a:rPr lang="en-US" sz="2000" dirty="0" err="1"/>
              <a:t>Dexec.args</a:t>
            </a:r>
            <a:r>
              <a:rPr lang="en-US" sz="2000" dirty="0"/>
              <a:t>=</a:t>
            </a:r>
            <a:r>
              <a:rPr lang="en-US" sz="2000" dirty="0" err="1"/>
              <a:t>your_script.jelly</a:t>
            </a:r>
            <a:r>
              <a:rPr lang="en-US" sz="2000" dirty="0"/>
              <a:t> -o target/page.html"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B89BB-F73D-FC36-12C2-D025889339BE}"/>
              </a:ext>
            </a:extLst>
          </p:cNvPr>
          <p:cNvSpPr txBox="1"/>
          <p:nvPr/>
        </p:nvSpPr>
        <p:spPr>
          <a:xfrm>
            <a:off x="677334" y="3420997"/>
            <a:ext cx="9235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060A4-4AA1-0148-4962-2C3911651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770" y="3057525"/>
            <a:ext cx="6899670" cy="216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8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1A9E-D732-9509-3B37-4F168D33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10A9-E816-DA2C-CA96-D4E60081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JellyScript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32013-1D4B-C0DB-6B02-DEE983A7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Print an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875DD-8CAF-D8D9-BD03-577065EACF23}"/>
              </a:ext>
            </a:extLst>
          </p:cNvPr>
          <p:cNvSpPr txBox="1"/>
          <p:nvPr/>
        </p:nvSpPr>
        <p:spPr>
          <a:xfrm>
            <a:off x="1019743" y="1595021"/>
            <a:ext cx="82600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var words = ["Welcome", "To", "Jello", "World"]</a:t>
            </a:r>
          </a:p>
          <a:p>
            <a:r>
              <a:rPr lang="en-US" sz="1400" dirty="0"/>
              <a:t>&lt;?xml version="1.0" encoding="utf-8" ?&gt;</a:t>
            </a:r>
          </a:p>
          <a:p>
            <a:r>
              <a:rPr lang="en-US" sz="1400" dirty="0"/>
              <a:t>&lt;</a:t>
            </a:r>
            <a:r>
              <a:rPr lang="en-US" sz="1400" dirty="0" err="1"/>
              <a:t>j:jelly</a:t>
            </a:r>
            <a:r>
              <a:rPr lang="en-US" sz="1400" dirty="0"/>
              <a:t> </a:t>
            </a:r>
            <a:r>
              <a:rPr lang="en-US" sz="1400" dirty="0" err="1"/>
              <a:t>xmlns:j</a:t>
            </a:r>
            <a:r>
              <a:rPr lang="en-US" sz="1400" dirty="0"/>
              <a:t>="</a:t>
            </a:r>
            <a:r>
              <a:rPr lang="en-US" sz="1400" dirty="0" err="1"/>
              <a:t>jelly:core</a:t>
            </a:r>
            <a:r>
              <a:rPr lang="en-US" sz="1400" dirty="0"/>
              <a:t>" </a:t>
            </a:r>
            <a:r>
              <a:rPr lang="en-US" sz="1400" dirty="0" err="1"/>
              <a:t>xmlns:g</a:t>
            </a:r>
            <a:r>
              <a:rPr lang="en-US" sz="1400" dirty="0"/>
              <a:t>="glide"&gt;</a:t>
            </a:r>
          </a:p>
          <a:p>
            <a:r>
              <a:rPr lang="en-US" sz="1400" dirty="0"/>
              <a:t>        &lt;!-- In </a:t>
            </a:r>
            <a:r>
              <a:rPr lang="en-US" sz="1400" dirty="0" err="1"/>
              <a:t>servicenow</a:t>
            </a:r>
            <a:r>
              <a:rPr lang="en-US" sz="1400" dirty="0"/>
              <a:t> --&gt;</a:t>
            </a:r>
          </a:p>
          <a:p>
            <a:r>
              <a:rPr lang="en-US" sz="1400" dirty="0"/>
              <a:t>    &lt;!-- &lt;</a:t>
            </a:r>
            <a:r>
              <a:rPr lang="en-US" sz="1400" dirty="0" err="1"/>
              <a:t>g:evaluate</a:t>
            </a:r>
            <a:r>
              <a:rPr lang="en-US" sz="1400" dirty="0"/>
              <a:t>&gt;</a:t>
            </a:r>
          </a:p>
          <a:p>
            <a:r>
              <a:rPr lang="en-US" sz="1400" dirty="0"/>
              <a:t>        var words = ["Welcome", "To", "Jello", "World"];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g:evaluate</a:t>
            </a:r>
            <a:r>
              <a:rPr lang="en-US" sz="1400" dirty="0"/>
              <a:t>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j:forEach</a:t>
            </a:r>
            <a:r>
              <a:rPr lang="en-US" sz="1400" dirty="0"/>
              <a:t> var="</a:t>
            </a:r>
            <a:r>
              <a:rPr lang="en-US" sz="1400" dirty="0" err="1"/>
              <a:t>jvar_msg</a:t>
            </a:r>
            <a:r>
              <a:rPr lang="en-US" sz="1400" dirty="0"/>
              <a:t>" items="${words}"&gt;</a:t>
            </a:r>
          </a:p>
          <a:p>
            <a:r>
              <a:rPr lang="en-US" sz="1400" dirty="0"/>
              <a:t>        &lt;p&gt;${</a:t>
            </a:r>
            <a:r>
              <a:rPr lang="en-US" sz="1400" dirty="0" err="1"/>
              <a:t>jvar_msg</a:t>
            </a:r>
            <a:r>
              <a:rPr lang="en-US" sz="1400" dirty="0"/>
              <a:t>}&lt;/p&gt;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j:forEach</a:t>
            </a:r>
            <a:r>
              <a:rPr lang="en-US" sz="1400" dirty="0"/>
              <a:t>&gt; --&gt;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     &lt;!-- In standard Jelly, you can define an array using a comma-separated string </a:t>
            </a:r>
          </a:p>
          <a:p>
            <a:r>
              <a:rPr lang="en-US" sz="1400" dirty="0"/>
              <a:t>         or by passing a Java object from your Maven 'exec' context --&gt;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j:set</a:t>
            </a:r>
            <a:r>
              <a:rPr lang="en-US" sz="1400" dirty="0"/>
              <a:t> var="words" value="</a:t>
            </a:r>
            <a:r>
              <a:rPr lang="en-US" sz="1400" dirty="0" err="1"/>
              <a:t>Welcome,To,Jello,World</a:t>
            </a:r>
            <a:r>
              <a:rPr lang="en-US" sz="1400" dirty="0"/>
              <a:t>"/&gt;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    &lt;!-- Use tokenize to split the string into a list for the loop --&gt;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j:forEach</a:t>
            </a:r>
            <a:r>
              <a:rPr lang="en-US" sz="1400" dirty="0"/>
              <a:t> var="</a:t>
            </a:r>
            <a:r>
              <a:rPr lang="en-US" sz="1400" dirty="0" err="1"/>
              <a:t>jvar_msg</a:t>
            </a:r>
            <a:r>
              <a:rPr lang="en-US" sz="1400" dirty="0"/>
              <a:t>" items="${</a:t>
            </a:r>
            <a:r>
              <a:rPr lang="en-US" sz="1400" dirty="0" err="1"/>
              <a:t>words.split</a:t>
            </a:r>
            <a:r>
              <a:rPr lang="en-US" sz="1400" dirty="0"/>
              <a:t>(',')}"&gt;</a:t>
            </a:r>
          </a:p>
          <a:p>
            <a:r>
              <a:rPr lang="en-US" sz="1400" dirty="0"/>
              <a:t>        &lt;p&gt;${</a:t>
            </a:r>
            <a:r>
              <a:rPr lang="en-US" sz="1400" dirty="0" err="1"/>
              <a:t>jvar_msg</a:t>
            </a:r>
            <a:r>
              <a:rPr lang="en-US" sz="1400" dirty="0"/>
              <a:t>}&lt;/p&gt;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j:forEach</a:t>
            </a:r>
            <a:r>
              <a:rPr lang="en-US" sz="1400" dirty="0"/>
              <a:t>&gt;</a:t>
            </a:r>
          </a:p>
          <a:p>
            <a:r>
              <a:rPr lang="en-US" sz="1400" dirty="0"/>
              <a:t>&lt;/</a:t>
            </a:r>
            <a:r>
              <a:rPr lang="en-US" sz="1400" dirty="0" err="1"/>
              <a:t>j:jelly</a:t>
            </a:r>
            <a:r>
              <a:rPr lang="en-US" sz="1400" dirty="0"/>
              <a:t>&gt;</a:t>
            </a:r>
          </a:p>
          <a:p>
            <a:br>
              <a:rPr lang="en-US" sz="1400" dirty="0"/>
            </a:b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9A2385-527A-8255-4E92-9EE69F41B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180" y="3120374"/>
            <a:ext cx="5144218" cy="8192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9094C0D-E7D0-F5D3-CCE1-1FA1F21848CE}"/>
              </a:ext>
            </a:extLst>
          </p:cNvPr>
          <p:cNvSpPr txBox="1">
            <a:spLocks/>
          </p:cNvSpPr>
          <p:nvPr/>
        </p:nvSpPr>
        <p:spPr>
          <a:xfrm>
            <a:off x="5631180" y="2618838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Output: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88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3DD0-9037-D0C2-BA28-BCBE7586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C2B6-82ED-4E44-99F4-2DE5928E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BC82A-7650-9CB9-7945-F9F1B7AAD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3. Variable and with condition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8FF6E-0D5C-2415-E926-9A690B6378AD}"/>
              </a:ext>
            </a:extLst>
          </p:cNvPr>
          <p:cNvSpPr txBox="1"/>
          <p:nvPr/>
        </p:nvSpPr>
        <p:spPr>
          <a:xfrm>
            <a:off x="845628" y="1724085"/>
            <a:ext cx="8260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&lt;?xml version="1.0" encoding="utf-8" ?&gt;</a:t>
            </a:r>
          </a:p>
          <a:p>
            <a:r>
              <a:rPr lang="en-US" dirty="0"/>
              <a:t>&lt;</a:t>
            </a:r>
            <a:r>
              <a:rPr lang="en-US" dirty="0" err="1"/>
              <a:t>j:jelly</a:t>
            </a:r>
            <a:r>
              <a:rPr lang="en-US" dirty="0"/>
              <a:t> trim="false" </a:t>
            </a:r>
            <a:r>
              <a:rPr lang="en-US" dirty="0" err="1"/>
              <a:t>xmlns:j</a:t>
            </a:r>
            <a:r>
              <a:rPr lang="en-US" dirty="0"/>
              <a:t>="</a:t>
            </a:r>
            <a:r>
              <a:rPr lang="en-US" dirty="0" err="1"/>
              <a:t>jelly:core</a:t>
            </a:r>
            <a:r>
              <a:rPr lang="en-US" dirty="0"/>
              <a:t>" </a:t>
            </a:r>
            <a:r>
              <a:rPr lang="en-US" dirty="0" err="1"/>
              <a:t>xmlns:g</a:t>
            </a:r>
            <a:r>
              <a:rPr lang="en-US" dirty="0"/>
              <a:t>="glide" xmlns:j2="null" xmlns:g2="null"&gt;</a:t>
            </a:r>
          </a:p>
          <a:p>
            <a:r>
              <a:rPr lang="en-US" dirty="0"/>
              <a:t> &lt;</a:t>
            </a:r>
            <a:r>
              <a:rPr lang="en-US" dirty="0" err="1"/>
              <a:t>j:set</a:t>
            </a:r>
            <a:r>
              <a:rPr lang="en-US" dirty="0"/>
              <a:t> var="</a:t>
            </a:r>
            <a:r>
              <a:rPr lang="en-US" dirty="0" err="1"/>
              <a:t>jvar_age</a:t>
            </a:r>
            <a:r>
              <a:rPr lang="en-US" dirty="0"/>
              <a:t>" value="16"&gt;</a:t>
            </a:r>
          </a:p>
          <a:p>
            <a:r>
              <a:rPr lang="en-US" dirty="0"/>
              <a:t> &lt;/</a:t>
            </a:r>
            <a:r>
              <a:rPr lang="en-US" dirty="0" err="1"/>
              <a:t>j:set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 &lt;</a:t>
            </a:r>
            <a:r>
              <a:rPr lang="en-US" dirty="0" err="1"/>
              <a:t>j:if</a:t>
            </a:r>
            <a:r>
              <a:rPr lang="en-US" dirty="0"/>
              <a:t> test="${</a:t>
            </a:r>
            <a:r>
              <a:rPr lang="en-US" dirty="0" err="1"/>
              <a:t>jvar_age</a:t>
            </a:r>
            <a:r>
              <a:rPr lang="en-US" dirty="0"/>
              <a:t> </a:t>
            </a:r>
            <a:r>
              <a:rPr lang="en-US" dirty="0" err="1"/>
              <a:t>lt</a:t>
            </a:r>
            <a:r>
              <a:rPr lang="en-US" dirty="0"/>
              <a:t> 18}"&gt;</a:t>
            </a:r>
          </a:p>
          <a:p>
            <a:r>
              <a:rPr lang="en-US" dirty="0"/>
              <a:t>  &lt;p&gt;Sorry, You are not eligible for driving </a:t>
            </a:r>
            <a:r>
              <a:rPr lang="en-US" dirty="0" err="1"/>
              <a:t>licence</a:t>
            </a:r>
            <a:r>
              <a:rPr lang="en-US" dirty="0"/>
              <a:t>. As we got your age is ${</a:t>
            </a:r>
            <a:r>
              <a:rPr lang="en-US" dirty="0" err="1"/>
              <a:t>jvar_age</a:t>
            </a:r>
            <a:r>
              <a:rPr lang="en-US" dirty="0"/>
              <a:t>}.&lt;/p&gt;</a:t>
            </a:r>
          </a:p>
          <a:p>
            <a:r>
              <a:rPr lang="en-US" dirty="0"/>
              <a:t> &lt;/</a:t>
            </a:r>
            <a:r>
              <a:rPr lang="en-US" dirty="0" err="1"/>
              <a:t>j:if</a:t>
            </a:r>
            <a:r>
              <a:rPr lang="en-US" dirty="0"/>
              <a:t>&gt;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 &lt;</a:t>
            </a:r>
            <a:r>
              <a:rPr lang="en-US" dirty="0" err="1"/>
              <a:t>j:if</a:t>
            </a:r>
            <a:r>
              <a:rPr lang="en-US" dirty="0"/>
              <a:t> test="${</a:t>
            </a:r>
            <a:r>
              <a:rPr lang="en-US" dirty="0" err="1"/>
              <a:t>jvar_age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18}"&gt;</a:t>
            </a:r>
          </a:p>
          <a:p>
            <a:r>
              <a:rPr lang="en-US" dirty="0"/>
              <a:t>  &lt;p&gt;Hey, You are eligible for driving </a:t>
            </a:r>
            <a:r>
              <a:rPr lang="en-US" dirty="0" err="1"/>
              <a:t>licence</a:t>
            </a:r>
            <a:r>
              <a:rPr lang="en-US" dirty="0"/>
              <a:t>. As we got your age is ${</a:t>
            </a:r>
            <a:r>
              <a:rPr lang="en-US" dirty="0" err="1"/>
              <a:t>jvar_age</a:t>
            </a:r>
            <a:r>
              <a:rPr lang="en-US" dirty="0"/>
              <a:t>}.&lt;/p&gt;</a:t>
            </a:r>
          </a:p>
          <a:p>
            <a:r>
              <a:rPr lang="en-US" dirty="0"/>
              <a:t> &lt;/</a:t>
            </a:r>
            <a:r>
              <a:rPr lang="en-US" dirty="0" err="1"/>
              <a:t>j:if</a:t>
            </a:r>
            <a:r>
              <a:rPr lang="en-US" dirty="0"/>
              <a:t>&gt;</a:t>
            </a:r>
          </a:p>
          <a:p>
            <a:r>
              <a:rPr lang="en-US" dirty="0"/>
              <a:t>&lt;/</a:t>
            </a:r>
            <a:r>
              <a:rPr lang="en-US" dirty="0" err="1"/>
              <a:t>j:jelly</a:t>
            </a:r>
            <a:r>
              <a:rPr lang="en-US" dirty="0"/>
              <a:t>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8F5591-C56D-75B3-84BE-9F97B79B9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17" y="5588000"/>
            <a:ext cx="5596569" cy="97377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7D89FE5-0178-7EC1-2033-23894DED38CF}"/>
              </a:ext>
            </a:extLst>
          </p:cNvPr>
          <p:cNvSpPr txBox="1">
            <a:spLocks/>
          </p:cNvSpPr>
          <p:nvPr/>
        </p:nvSpPr>
        <p:spPr>
          <a:xfrm>
            <a:off x="5173981" y="5901375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Output: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88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FFCF-8CB7-B060-DF3F-F358B0F6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A9AC-7D6B-5985-7E3D-A8BDAB34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FF114-AF32-54D3-92B3-063AC3716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4. Variable and with condition as choose and when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6970D-4257-CACF-CA34-E90B3EB419D2}"/>
              </a:ext>
            </a:extLst>
          </p:cNvPr>
          <p:cNvSpPr txBox="1"/>
          <p:nvPr/>
        </p:nvSpPr>
        <p:spPr>
          <a:xfrm>
            <a:off x="1133514" y="1673380"/>
            <a:ext cx="7684308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&lt;?xml version="1.0" encoding="utf-8" ?&gt;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 trim="false"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b="0" dirty="0">
                <a:effectLst/>
                <a:latin typeface="Consolas" panose="020B0609020204030204" pitchFamily="49" charset="0"/>
              </a:rPr>
              <a:t>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xmlns:g</a:t>
            </a:r>
            <a:r>
              <a:rPr lang="en-US" b="0" dirty="0">
                <a:effectLst/>
                <a:latin typeface="Consolas" panose="020B0609020204030204" pitchFamily="49" charset="0"/>
              </a:rPr>
              <a:t>="glide" xmlns:j2="null" xmlns:g2="null"&gt;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" value="Aakash"&gt;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j:choose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j:when</a:t>
            </a:r>
            <a:r>
              <a:rPr lang="en-US" b="0" dirty="0">
                <a:effectLst/>
                <a:latin typeface="Consolas" panose="020B0609020204030204" pitchFamily="49" charset="0"/>
              </a:rPr>
              <a:t> test="${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 eq 'Richa'}"&gt;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Richa!&lt;/p&gt;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j:when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j:when</a:t>
            </a:r>
            <a:r>
              <a:rPr lang="en-US" b="0" dirty="0">
                <a:effectLst/>
                <a:latin typeface="Consolas" panose="020B0609020204030204" pitchFamily="49" charset="0"/>
              </a:rPr>
              <a:t> test="${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 eq 'Atul'}"&gt;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Atul!&lt;/p&gt;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j:when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j:otherwise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}!&lt;/p&gt;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j:otherwise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j:choose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1E670-38C7-D537-A92C-7E9BF9E02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13" y="5537200"/>
            <a:ext cx="3848637" cy="13208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70FE733-B733-0B39-40C5-0F6A45AFBCD7}"/>
              </a:ext>
            </a:extLst>
          </p:cNvPr>
          <p:cNvSpPr txBox="1">
            <a:spLocks/>
          </p:cNvSpPr>
          <p:nvPr/>
        </p:nvSpPr>
        <p:spPr>
          <a:xfrm>
            <a:off x="4975668" y="5713053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10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2D7F-4980-3E5C-AF6C-B615CC846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6D51-46DB-32C3-FCA3-593B2BD3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DED3D-C817-E1E9-6358-EDCEFA6BD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5. Switch/case.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7BC41-F917-44C4-B3FD-B193BDC1FC71}"/>
              </a:ext>
            </a:extLst>
          </p:cNvPr>
          <p:cNvSpPr txBox="1"/>
          <p:nvPr/>
        </p:nvSpPr>
        <p:spPr>
          <a:xfrm>
            <a:off x="751894" y="1714514"/>
            <a:ext cx="7421880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&lt;?xml version="1.0" encoding="utf-8" ?&gt;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 trim="false"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b="0" dirty="0">
                <a:effectLst/>
                <a:latin typeface="Consolas" panose="020B0609020204030204" pitchFamily="49" charset="0"/>
              </a:rPr>
              <a:t>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xmlns:g</a:t>
            </a:r>
            <a:r>
              <a:rPr lang="en-US" b="0" dirty="0">
                <a:effectLst/>
                <a:latin typeface="Consolas" panose="020B0609020204030204" pitchFamily="49" charset="0"/>
              </a:rPr>
              <a:t>="glide" xmlns:j2="null" xmlns:g2="null"&gt;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" value="Aakash"&gt;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j:switch</a:t>
            </a:r>
            <a:r>
              <a:rPr lang="en-US" b="0" dirty="0">
                <a:effectLst/>
                <a:latin typeface="Consolas" panose="020B0609020204030204" pitchFamily="49" charset="0"/>
              </a:rPr>
              <a:t> on="${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j:case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value="Richa"&gt;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Richa!&lt;/p&gt;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j:case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j:case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value="Atul"&gt;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Atul!&lt;/p&gt;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j:case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j:default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}!&lt;/p&gt;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j:default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j:switch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C402E6-7F5D-2043-8497-722F73CE3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683" y="5338415"/>
            <a:ext cx="3848637" cy="11431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F63FF6E-7A75-E5E3-4966-B736DE166601}"/>
              </a:ext>
            </a:extLst>
          </p:cNvPr>
          <p:cNvSpPr txBox="1">
            <a:spLocks/>
          </p:cNvSpPr>
          <p:nvPr/>
        </p:nvSpPr>
        <p:spPr>
          <a:xfrm>
            <a:off x="5631180" y="55880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97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03B3-F86B-5F7A-D081-EA537E41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7654-9D2C-CDD4-A9E6-CE020D4E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FBC13-2193-4C49-0125-2C8639646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6. Loops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499E18-DB6D-0535-8071-BD81F7D9800A}"/>
              </a:ext>
            </a:extLst>
          </p:cNvPr>
          <p:cNvSpPr txBox="1"/>
          <p:nvPr/>
        </p:nvSpPr>
        <p:spPr>
          <a:xfrm>
            <a:off x="766124" y="1567361"/>
            <a:ext cx="6118860" cy="494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&lt;?xml version="1.0" encoding="utf-8" ?&gt;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trim="false"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&lt;!-- Standard Jelly uses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 to define variables. 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 We split a string to create an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iterable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array. --&gt;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var="colors" value="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pink,green,violet,indigo,blue,yellow,orange,white,red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"/&gt;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 items="${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colors.split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(',')}"&gt;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&lt;p&gt;Color: &amp;#160; &lt;span style="color:${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}"&gt;${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}&lt;/span&gt;&lt;/p&gt;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jvar_index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 begin="0" end="20" step="2"&gt;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jvar_index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E0C91-F799-0B40-2905-2F4B1CD41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787" y="4422696"/>
            <a:ext cx="3606624" cy="208556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BEF5E63-4754-F552-740B-A65D480EBDF7}"/>
              </a:ext>
            </a:extLst>
          </p:cNvPr>
          <p:cNvSpPr txBox="1">
            <a:spLocks/>
          </p:cNvSpPr>
          <p:nvPr/>
        </p:nvSpPr>
        <p:spPr>
          <a:xfrm>
            <a:off x="6574155" y="5187465"/>
            <a:ext cx="269984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57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D698-A69C-625E-274A-4CFC1DBE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FDFA-8090-4C72-CA92-386111E5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1672E-8261-1B27-B6BE-DA2E1571CEC8}"/>
              </a:ext>
            </a:extLst>
          </p:cNvPr>
          <p:cNvSpPr txBox="1"/>
          <p:nvPr/>
        </p:nvSpPr>
        <p:spPr>
          <a:xfrm>
            <a:off x="677334" y="1597360"/>
            <a:ext cx="611886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&lt;?xml version="1.0"?&gt;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b="0" dirty="0">
                <a:effectLst/>
                <a:latin typeface="Consolas" panose="020B0609020204030204" pitchFamily="49" charset="0"/>
              </a:rPr>
              <a:t>"&gt;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&lt;!-- Set a variable --&gt;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var="name" value="Alice"/&gt;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var="age" value="20"/&gt;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&lt;!-- If condition --&gt;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j:if</a:t>
            </a:r>
            <a:r>
              <a:rPr lang="en-US" b="0" dirty="0">
                <a:effectLst/>
                <a:latin typeface="Consolas" panose="020B0609020204030204" pitchFamily="49" charset="0"/>
              </a:rPr>
              <a:t> test="${age &gt;= 18}"&gt;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j:expr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value="Hello ${name}, you are an adult."/&gt;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j:if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effectLst/>
                <a:latin typeface="Consolas" panose="020B0609020204030204" pitchFamily="49" charset="0"/>
              </a:rPr>
              <a:t>/&gt;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886C1-45D4-A1FF-5369-4BF8D6372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602" y="5510094"/>
            <a:ext cx="5143485" cy="41921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FE7C536-7EEA-2A34-CAA5-BCD6A2919409}"/>
              </a:ext>
            </a:extLst>
          </p:cNvPr>
          <p:cNvSpPr txBox="1">
            <a:spLocks/>
          </p:cNvSpPr>
          <p:nvPr/>
        </p:nvSpPr>
        <p:spPr>
          <a:xfrm>
            <a:off x="5868602" y="4927601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299FA-B809-5529-5737-8D34E862D617}"/>
              </a:ext>
            </a:extLst>
          </p:cNvPr>
          <p:cNvSpPr txBox="1"/>
          <p:nvPr/>
        </p:nvSpPr>
        <p:spPr>
          <a:xfrm>
            <a:off x="486834" y="1270000"/>
            <a:ext cx="611886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Some Examples:</a:t>
            </a:r>
          </a:p>
        </p:txBody>
      </p:sp>
    </p:spTree>
    <p:extLst>
      <p:ext uri="{BB962C8B-B14F-4D97-AF65-F5344CB8AC3E}">
        <p14:creationId xmlns:p14="http://schemas.microsoft.com/office/powerpoint/2010/main" val="40727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905B-F4BF-D00D-6CCD-C688ADFF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8D1C-AA5F-D9E0-AF6A-43982C6C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C457C-F4F8-B247-3D64-C1B72A40ABE6}"/>
              </a:ext>
            </a:extLst>
          </p:cNvPr>
          <p:cNvSpPr txBox="1"/>
          <p:nvPr/>
        </p:nvSpPr>
        <p:spPr>
          <a:xfrm>
            <a:off x="391584" y="1257300"/>
            <a:ext cx="61188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dirty="0"/>
              <a:t>    &lt;!-- Choose / When / Otherwise --&gt;</a:t>
            </a:r>
          </a:p>
          <a:p>
            <a:r>
              <a:rPr lang="en-US" dirty="0"/>
              <a:t>    &lt;</a:t>
            </a:r>
            <a:r>
              <a:rPr lang="en-US" dirty="0" err="1"/>
              <a:t>j:choose</a:t>
            </a:r>
            <a:r>
              <a:rPr lang="en-US" dirty="0"/>
              <a:t>&gt;</a:t>
            </a:r>
          </a:p>
          <a:p>
            <a:r>
              <a:rPr lang="en-US" dirty="0"/>
              <a:t>        &lt;</a:t>
            </a:r>
            <a:r>
              <a:rPr lang="en-US" dirty="0" err="1"/>
              <a:t>j:when</a:t>
            </a:r>
            <a:r>
              <a:rPr lang="en-US" dirty="0"/>
              <a:t> test="${age &amp;</a:t>
            </a:r>
            <a:r>
              <a:rPr lang="en-US" dirty="0" err="1"/>
              <a:t>lt</a:t>
            </a:r>
            <a:r>
              <a:rPr lang="en-US" dirty="0"/>
              <a:t>; 13}"&gt;</a:t>
            </a:r>
          </a:p>
          <a:p>
            <a:r>
              <a:rPr lang="en-US" dirty="0"/>
              <a:t>            Child</a:t>
            </a:r>
          </a:p>
          <a:p>
            <a:r>
              <a:rPr lang="en-US" dirty="0"/>
              <a:t>        &lt;/</a:t>
            </a:r>
            <a:r>
              <a:rPr lang="en-US" dirty="0" err="1"/>
              <a:t>j:when</a:t>
            </a:r>
            <a:r>
              <a:rPr lang="en-US" dirty="0"/>
              <a:t>&gt;</a:t>
            </a:r>
          </a:p>
          <a:p>
            <a:r>
              <a:rPr lang="en-US" dirty="0"/>
              <a:t>        &lt;</a:t>
            </a:r>
            <a:r>
              <a:rPr lang="en-US" dirty="0" err="1"/>
              <a:t>j:when</a:t>
            </a:r>
            <a:r>
              <a:rPr lang="en-US" dirty="0"/>
              <a:t> test="${age &amp;</a:t>
            </a:r>
            <a:r>
              <a:rPr lang="en-US" dirty="0" err="1"/>
              <a:t>lt</a:t>
            </a:r>
            <a:r>
              <a:rPr lang="en-US" dirty="0"/>
              <a:t>; 20}"&gt;</a:t>
            </a:r>
          </a:p>
          <a:p>
            <a:r>
              <a:rPr lang="en-US" dirty="0"/>
              <a:t>            Teenager</a:t>
            </a:r>
          </a:p>
          <a:p>
            <a:r>
              <a:rPr lang="en-US" dirty="0"/>
              <a:t>        &lt;/</a:t>
            </a:r>
            <a:r>
              <a:rPr lang="en-US" dirty="0" err="1"/>
              <a:t>j:when</a:t>
            </a:r>
            <a:r>
              <a:rPr lang="en-US" dirty="0"/>
              <a:t>&gt;</a:t>
            </a:r>
          </a:p>
          <a:p>
            <a:r>
              <a:rPr lang="en-US" dirty="0"/>
              <a:t>        &lt;</a:t>
            </a:r>
            <a:r>
              <a:rPr lang="en-US" dirty="0" err="1"/>
              <a:t>j:otherwise</a:t>
            </a:r>
            <a:r>
              <a:rPr lang="en-US" dirty="0"/>
              <a:t>&gt;</a:t>
            </a:r>
          </a:p>
          <a:p>
            <a:r>
              <a:rPr lang="en-US" dirty="0"/>
              <a:t>            Adult</a:t>
            </a:r>
          </a:p>
          <a:p>
            <a:r>
              <a:rPr lang="en-US" dirty="0"/>
              <a:t>        &lt;/</a:t>
            </a:r>
            <a:r>
              <a:rPr lang="en-US" dirty="0" err="1"/>
              <a:t>j:otherwise</a:t>
            </a:r>
            <a:r>
              <a:rPr lang="en-US" dirty="0"/>
              <a:t>&gt;</a:t>
            </a:r>
          </a:p>
          <a:p>
            <a:r>
              <a:rPr lang="en-US" dirty="0"/>
              <a:t>    &lt;/</a:t>
            </a:r>
            <a:r>
              <a:rPr lang="en-US" dirty="0" err="1"/>
              <a:t>j:choose</a:t>
            </a:r>
            <a:r>
              <a:rPr lang="en-US" dirty="0"/>
              <a:t>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79D0B1-62BC-1C2B-8685-ABBA2318E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444" y="4553203"/>
            <a:ext cx="4328972" cy="74879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577D822-015F-99CE-8AEB-EFCBC995D049}"/>
              </a:ext>
            </a:extLst>
          </p:cNvPr>
          <p:cNvSpPr txBox="1">
            <a:spLocks/>
          </p:cNvSpPr>
          <p:nvPr/>
        </p:nvSpPr>
        <p:spPr>
          <a:xfrm>
            <a:off x="4975668" y="4651880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C25F7-9AA0-01B6-707C-971FC7506035}"/>
              </a:ext>
            </a:extLst>
          </p:cNvPr>
          <p:cNvSpPr txBox="1"/>
          <p:nvPr/>
        </p:nvSpPr>
        <p:spPr>
          <a:xfrm>
            <a:off x="391584" y="1455975"/>
            <a:ext cx="611886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Some Examples:</a:t>
            </a:r>
          </a:p>
        </p:txBody>
      </p:sp>
    </p:spTree>
    <p:extLst>
      <p:ext uri="{BB962C8B-B14F-4D97-AF65-F5344CB8AC3E}">
        <p14:creationId xmlns:p14="http://schemas.microsoft.com/office/powerpoint/2010/main" val="277382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8DE7C-36AB-785A-7D9E-10340A94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D594-705C-89B1-DB34-D30FC9CA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5B301-50EA-5CFF-391D-02EECA447C06}"/>
              </a:ext>
            </a:extLst>
          </p:cNvPr>
          <p:cNvSpPr txBox="1"/>
          <p:nvPr/>
        </p:nvSpPr>
        <p:spPr>
          <a:xfrm>
            <a:off x="486834" y="1818946"/>
            <a:ext cx="61188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&lt;!-- Loop example --&gt;</a:t>
            </a:r>
          </a:p>
          <a:p>
            <a:r>
              <a:rPr lang="en-US" dirty="0"/>
              <a:t>    &lt;</a:t>
            </a:r>
            <a:r>
              <a:rPr lang="en-US" dirty="0" err="1"/>
              <a:t>j:set</a:t>
            </a:r>
            <a:r>
              <a:rPr lang="en-US" dirty="0"/>
              <a:t> var="numbers" value="1,2,3,4,5"/&gt;</a:t>
            </a:r>
          </a:p>
          <a:p>
            <a:r>
              <a:rPr lang="en-US" dirty="0"/>
              <a:t>    &lt;</a:t>
            </a:r>
            <a:r>
              <a:rPr lang="en-US" dirty="0" err="1"/>
              <a:t>j:forEach</a:t>
            </a:r>
            <a:r>
              <a:rPr lang="en-US" dirty="0"/>
              <a:t> var="num" items="${numbers}"&gt;</a:t>
            </a:r>
          </a:p>
          <a:p>
            <a:r>
              <a:rPr lang="en-US" dirty="0"/>
              <a:t>        Number: ${num}</a:t>
            </a:r>
          </a:p>
          <a:p>
            <a:r>
              <a:rPr lang="en-US" dirty="0"/>
              <a:t>        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  &lt;/</a:t>
            </a:r>
            <a:r>
              <a:rPr lang="en-US" dirty="0" err="1"/>
              <a:t>j:forEach</a:t>
            </a:r>
            <a:r>
              <a:rPr lang="en-US" dirty="0"/>
              <a:t>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095819-9FF6-EA5C-71A1-023BF8B89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756" y="3859130"/>
            <a:ext cx="1800476" cy="25625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05C4AF-ED4A-3F9B-9D11-161D75479142}"/>
              </a:ext>
            </a:extLst>
          </p:cNvPr>
          <p:cNvSpPr txBox="1"/>
          <p:nvPr/>
        </p:nvSpPr>
        <p:spPr>
          <a:xfrm>
            <a:off x="486834" y="1270000"/>
            <a:ext cx="611886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Some Examples: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2B67B8-2B1E-C41C-85EE-F857BFFC54B9}"/>
              </a:ext>
            </a:extLst>
          </p:cNvPr>
          <p:cNvSpPr txBox="1">
            <a:spLocks/>
          </p:cNvSpPr>
          <p:nvPr/>
        </p:nvSpPr>
        <p:spPr>
          <a:xfrm>
            <a:off x="4275580" y="4007889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47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9855-016F-4E2B-A706-B13CF81C9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8B8A-C8C1-96EA-DDC0-C9E30F52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D2CF65-AB3C-C085-D877-C59765357F09}"/>
              </a:ext>
            </a:extLst>
          </p:cNvPr>
          <p:cNvSpPr txBox="1"/>
          <p:nvPr/>
        </p:nvSpPr>
        <p:spPr>
          <a:xfrm>
            <a:off x="677334" y="1965960"/>
            <a:ext cx="7232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&lt;!-- For array --&gt;</a:t>
            </a:r>
          </a:p>
          <a:p>
            <a:r>
              <a:rPr lang="en-US" dirty="0"/>
              <a:t>      &lt;</a:t>
            </a:r>
            <a:r>
              <a:rPr lang="en-US" dirty="0" err="1"/>
              <a:t>j:set</a:t>
            </a:r>
            <a:r>
              <a:rPr lang="en-US" dirty="0"/>
              <a:t> var="names" value="['Alice', 'Bob', 'Charlie', 'Diana']"/&gt;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</a:t>
            </a:r>
            <a:r>
              <a:rPr lang="en-US" dirty="0" err="1"/>
              <a:t>j:forEach</a:t>
            </a:r>
            <a:r>
              <a:rPr lang="en-US" dirty="0"/>
              <a:t> var="</a:t>
            </a:r>
            <a:r>
              <a:rPr lang="en-US" dirty="0" err="1"/>
              <a:t>currentName</a:t>
            </a:r>
            <a:r>
              <a:rPr lang="en-US" dirty="0"/>
              <a:t>" items="${names}"&gt;</a:t>
            </a:r>
          </a:p>
          <a:p>
            <a:r>
              <a:rPr lang="en-US" dirty="0"/>
              <a:t>    Name: ${</a:t>
            </a:r>
            <a:r>
              <a:rPr lang="en-US" dirty="0" err="1"/>
              <a:t>currentName</a:t>
            </a:r>
            <a:r>
              <a:rPr lang="en-US" dirty="0"/>
              <a:t>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&lt;/</a:t>
            </a:r>
            <a:r>
              <a:rPr lang="en-US" dirty="0" err="1"/>
              <a:t>j:forEach</a:t>
            </a:r>
            <a:r>
              <a:rPr lang="en-US" dirty="0"/>
              <a:t>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4DF6FB-F143-81ED-611B-147599F96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911" y="4290842"/>
            <a:ext cx="3277057" cy="126700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BE2269C-3DCD-16DC-3CE7-75B7CFBFF210}"/>
              </a:ext>
            </a:extLst>
          </p:cNvPr>
          <p:cNvSpPr txBox="1">
            <a:spLocks/>
          </p:cNvSpPr>
          <p:nvPr/>
        </p:nvSpPr>
        <p:spPr>
          <a:xfrm>
            <a:off x="5747193" y="4609018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5B559-C500-FB25-C4F2-B67A143C9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8" y="1387475"/>
            <a:ext cx="61912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7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FB3D-396F-B217-1B41-AEE35B97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81F7-103D-C2D4-906F-977BC2AD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FB013-C436-193D-CF01-CD524FE3220C}"/>
              </a:ext>
            </a:extLst>
          </p:cNvPr>
          <p:cNvSpPr txBox="1"/>
          <p:nvPr/>
        </p:nvSpPr>
        <p:spPr>
          <a:xfrm>
            <a:off x="847831" y="1277573"/>
            <a:ext cx="723222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 &lt;!-- Create Java </a:t>
            </a:r>
            <a:r>
              <a:rPr lang="en-US" dirty="0" err="1"/>
              <a:t>ArrayList</a:t>
            </a:r>
            <a:r>
              <a:rPr lang="en-US" dirty="0"/>
              <a:t> --&gt;</a:t>
            </a:r>
          </a:p>
          <a:p>
            <a:r>
              <a:rPr lang="en-US" dirty="0"/>
              <a:t>  &lt;</a:t>
            </a:r>
            <a:r>
              <a:rPr lang="en-US" dirty="0" err="1"/>
              <a:t>j:new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java.util.ArrayList</a:t>
            </a:r>
            <a:r>
              <a:rPr lang="en-US" dirty="0"/>
              <a:t>" var="names"/&gt;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on="${names}" method="add"&gt;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value="Alice"/&gt;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on="${names}" method="add"&gt;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value="Bob"/&gt;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on="${names}" method="add"&gt;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value="Charlie"/&gt;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on="${names}" method="add"&gt;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value="Diana"/&gt;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&lt;!-- Loop through it --&gt;</a:t>
            </a:r>
          </a:p>
          <a:p>
            <a:r>
              <a:rPr lang="en-US" dirty="0"/>
              <a:t>  &lt;</a:t>
            </a:r>
            <a:r>
              <a:rPr lang="en-US" dirty="0" err="1"/>
              <a:t>j:forEach</a:t>
            </a:r>
            <a:r>
              <a:rPr lang="en-US" dirty="0"/>
              <a:t> var="</a:t>
            </a:r>
            <a:r>
              <a:rPr lang="en-US" dirty="0" err="1"/>
              <a:t>currentName</a:t>
            </a:r>
            <a:r>
              <a:rPr lang="en-US" dirty="0"/>
              <a:t>" items="${names}"&gt;</a:t>
            </a:r>
          </a:p>
          <a:p>
            <a:r>
              <a:rPr lang="en-US" dirty="0"/>
              <a:t>    Name: ${</a:t>
            </a:r>
            <a:r>
              <a:rPr lang="en-US" dirty="0" err="1"/>
              <a:t>currentName</a:t>
            </a:r>
            <a:r>
              <a:rPr lang="en-US" dirty="0"/>
              <a:t>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&lt;/</a:t>
            </a:r>
            <a:r>
              <a:rPr lang="en-US" dirty="0" err="1"/>
              <a:t>j:forEach</a:t>
            </a:r>
            <a:r>
              <a:rPr lang="en-US" dirty="0"/>
              <a:t>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4DD2C1-6DBF-EE2A-8FB0-DBA88A25C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930" y="4259627"/>
            <a:ext cx="3501366" cy="13208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67A8B2F-0AF3-CABC-3D4A-D846E8276DAA}"/>
              </a:ext>
            </a:extLst>
          </p:cNvPr>
          <p:cNvSpPr txBox="1">
            <a:spLocks/>
          </p:cNvSpPr>
          <p:nvPr/>
        </p:nvSpPr>
        <p:spPr>
          <a:xfrm>
            <a:off x="5747193" y="4609018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16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0E1A-7EEB-759C-62C1-4EDBE967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43FB-635E-D894-A3DC-53BA70FF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8E8A5-11B4-BDD1-CE2C-E146D0887950}"/>
              </a:ext>
            </a:extLst>
          </p:cNvPr>
          <p:cNvSpPr txBox="1"/>
          <p:nvPr/>
        </p:nvSpPr>
        <p:spPr>
          <a:xfrm>
            <a:off x="1180147" y="1270000"/>
            <a:ext cx="10811158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</a:t>
            </a:r>
            <a:r>
              <a:rPr lang="en-US" dirty="0" err="1"/>
              <a:t>j:new</a:t>
            </a:r>
            <a:r>
              <a:rPr lang="en-US" dirty="0"/>
              <a:t>&gt; creates a new Java object instance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java.util.ArrayList</a:t>
            </a:r>
            <a:r>
              <a:rPr lang="en-US" dirty="0"/>
              <a:t>" specifies we want to create an </a:t>
            </a:r>
            <a:r>
              <a:rPr lang="en-US" dirty="0" err="1"/>
              <a:t>ArrayList</a:t>
            </a:r>
            <a:r>
              <a:rPr lang="en-US" dirty="0"/>
              <a:t> (a Java collection that can hold multiple items)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var="names" stores this new </a:t>
            </a:r>
            <a:r>
              <a:rPr lang="en-US" dirty="0" err="1"/>
              <a:t>ArrayList</a:t>
            </a:r>
            <a:r>
              <a:rPr lang="en-US" dirty="0"/>
              <a:t> in a variable called 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like doing </a:t>
            </a:r>
            <a:r>
              <a:rPr lang="en-US" dirty="0" err="1"/>
              <a:t>ArrayList</a:t>
            </a:r>
            <a:r>
              <a:rPr lang="en-US" dirty="0"/>
              <a:t> names = new </a:t>
            </a:r>
            <a:r>
              <a:rPr lang="en-US" dirty="0" err="1"/>
              <a:t>ArrayList</a:t>
            </a:r>
            <a:r>
              <a:rPr lang="en-US" dirty="0"/>
              <a:t>(); in 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/>
              <a:t>Let's break down the first &lt;</a:t>
            </a:r>
            <a:r>
              <a:rPr lang="en-US" sz="2000" b="1" dirty="0" err="1"/>
              <a:t>j:invoke</a:t>
            </a:r>
            <a:r>
              <a:rPr lang="en-US" sz="2000" b="1" dirty="0"/>
              <a:t>&gt;: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</a:t>
            </a:r>
            <a:r>
              <a:rPr lang="en-US" dirty="0" err="1"/>
              <a:t>j:invoke</a:t>
            </a:r>
            <a:r>
              <a:rPr lang="en-US" dirty="0"/>
              <a:t>&gt; calls a method on an existing Java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on="${names}" specifies which object to call the method on (our </a:t>
            </a:r>
            <a:r>
              <a:rPr lang="en-US" dirty="0" err="1"/>
              <a:t>ArrayList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method="add" specifies we want to call the add() 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Inside, &lt;</a:t>
            </a:r>
            <a:r>
              <a:rPr lang="en-US" dirty="0" err="1"/>
              <a:t>j:arg</a:t>
            </a:r>
            <a:r>
              <a:rPr lang="en-US" dirty="0"/>
              <a:t> value="Alice"/&gt; provides the argument/parameter for the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like doing </a:t>
            </a:r>
            <a:r>
              <a:rPr lang="en-US" dirty="0" err="1"/>
              <a:t>names.add</a:t>
            </a:r>
            <a:r>
              <a:rPr lang="en-US" dirty="0"/>
              <a:t>("Alice"); in 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8834F-5BD9-1DE4-9EB3-321EE9FC8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940" y="4375664"/>
            <a:ext cx="3310610" cy="242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21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CC1B-0058-1865-4D58-DA72BA0D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B979-8A50-CAD0-03CD-A9322576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742F3-F9F5-C786-17E0-30B6C955775D}"/>
              </a:ext>
            </a:extLst>
          </p:cNvPr>
          <p:cNvSpPr txBox="1"/>
          <p:nvPr/>
        </p:nvSpPr>
        <p:spPr>
          <a:xfrm>
            <a:off x="677334" y="1462726"/>
            <a:ext cx="72322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&lt;!-- Parse String --&gt;</a:t>
            </a:r>
          </a:p>
          <a:p>
            <a:r>
              <a:rPr lang="en-US" dirty="0"/>
              <a:t>  &lt;</a:t>
            </a:r>
            <a:r>
              <a:rPr lang="en-US" dirty="0" err="1"/>
              <a:t>j:set</a:t>
            </a:r>
            <a:r>
              <a:rPr lang="en-US" dirty="0"/>
              <a:t> var="</a:t>
            </a:r>
            <a:r>
              <a:rPr lang="en-US" dirty="0" err="1"/>
              <a:t>nameString</a:t>
            </a:r>
            <a:r>
              <a:rPr lang="en-US" dirty="0"/>
              <a:t>" value="</a:t>
            </a:r>
            <a:r>
              <a:rPr lang="en-US" dirty="0" err="1"/>
              <a:t>Alice,Bob,Charlie,Diana</a:t>
            </a:r>
            <a:r>
              <a:rPr lang="en-US" dirty="0"/>
              <a:t>"/&gt;</a:t>
            </a:r>
          </a:p>
          <a:p>
            <a:r>
              <a:rPr lang="en-US" dirty="0"/>
              <a:t>  &lt;</a:t>
            </a:r>
            <a:r>
              <a:rPr lang="en-US" dirty="0" err="1"/>
              <a:t>j:set</a:t>
            </a:r>
            <a:r>
              <a:rPr lang="en-US" dirty="0"/>
              <a:t> var="names" value="${</a:t>
            </a:r>
            <a:r>
              <a:rPr lang="en-US" dirty="0" err="1"/>
              <a:t>nameString.split</a:t>
            </a:r>
            <a:r>
              <a:rPr lang="en-US" dirty="0"/>
              <a:t>(',')}"/&gt;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</a:t>
            </a:r>
            <a:r>
              <a:rPr lang="en-US" dirty="0" err="1"/>
              <a:t>j:forEach</a:t>
            </a:r>
            <a:r>
              <a:rPr lang="en-US" dirty="0"/>
              <a:t> var="</a:t>
            </a:r>
            <a:r>
              <a:rPr lang="en-US" dirty="0" err="1"/>
              <a:t>currentName</a:t>
            </a:r>
            <a:r>
              <a:rPr lang="en-US" dirty="0"/>
              <a:t>" items="${names}"&gt;</a:t>
            </a:r>
          </a:p>
          <a:p>
            <a:r>
              <a:rPr lang="en-US" dirty="0"/>
              <a:t>    Name: ${</a:t>
            </a:r>
            <a:r>
              <a:rPr lang="en-US" dirty="0" err="1"/>
              <a:t>currentName</a:t>
            </a:r>
            <a:r>
              <a:rPr lang="en-US" dirty="0"/>
              <a:t>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&lt;/</a:t>
            </a:r>
            <a:r>
              <a:rPr lang="en-US" dirty="0" err="1"/>
              <a:t>j:forEach</a:t>
            </a:r>
            <a:r>
              <a:rPr lang="en-US" dirty="0"/>
              <a:t>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4E3AD-C6A9-DF68-CC8A-2C3C6C398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447" y="3851781"/>
            <a:ext cx="3501366" cy="13208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4C57E73-C0AE-3839-0880-F205969B1E80}"/>
              </a:ext>
            </a:extLst>
          </p:cNvPr>
          <p:cNvSpPr txBox="1">
            <a:spLocks/>
          </p:cNvSpPr>
          <p:nvPr/>
        </p:nvSpPr>
        <p:spPr>
          <a:xfrm>
            <a:off x="2959350" y="3851781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07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9C72-02DE-DDD6-D129-F23AA72F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4E48-A313-D7B7-8E24-BF7F5444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7CB8C-07CB-0EAB-B02F-15A751C10C9F}"/>
              </a:ext>
            </a:extLst>
          </p:cNvPr>
          <p:cNvSpPr txBox="1"/>
          <p:nvPr/>
        </p:nvSpPr>
        <p:spPr>
          <a:xfrm>
            <a:off x="347374" y="1474328"/>
            <a:ext cx="723222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 &lt;!-- Create a Date object (current date/time) --&gt;</a:t>
            </a:r>
          </a:p>
          <a:p>
            <a:r>
              <a:rPr lang="en-US" dirty="0"/>
              <a:t>  &lt;</a:t>
            </a:r>
            <a:r>
              <a:rPr lang="en-US" dirty="0" err="1"/>
              <a:t>j:new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java.util.Date</a:t>
            </a:r>
            <a:r>
              <a:rPr lang="en-US" dirty="0"/>
              <a:t>" var="now"/&gt;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Current date/time: ${now}&lt;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&lt;!-- Get timestamp in milliseconds --&gt;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on="${now}" method="</a:t>
            </a:r>
            <a:r>
              <a:rPr lang="en-US" dirty="0" err="1"/>
              <a:t>getTime</a:t>
            </a:r>
            <a:r>
              <a:rPr lang="en-US" dirty="0"/>
              <a:t>" var="timestamp"/&gt;</a:t>
            </a:r>
          </a:p>
          <a:p>
            <a:r>
              <a:rPr lang="en-US" dirty="0"/>
              <a:t>  Timestamp: ${timestamp} milliseconds&lt;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&lt;!-- Format the date --&gt;</a:t>
            </a:r>
          </a:p>
          <a:p>
            <a:r>
              <a:rPr lang="en-US" dirty="0"/>
              <a:t>  &lt;</a:t>
            </a:r>
            <a:r>
              <a:rPr lang="en-US" dirty="0" err="1"/>
              <a:t>j:new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java.text.SimpleDateFormat</a:t>
            </a:r>
            <a:r>
              <a:rPr lang="en-US" dirty="0"/>
              <a:t>" var="formatter"&gt;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</a:t>
            </a:r>
            <a:r>
              <a:rPr lang="en-US" dirty="0" err="1"/>
              <a:t>yyyy</a:t>
            </a:r>
            <a:r>
              <a:rPr lang="en-US" dirty="0"/>
              <a:t>-MM-dd </a:t>
            </a:r>
            <a:r>
              <a:rPr lang="en-US" dirty="0" err="1"/>
              <a:t>HH:mm:ss</a:t>
            </a:r>
            <a:r>
              <a:rPr lang="en-US" dirty="0"/>
              <a:t>"/&gt;</a:t>
            </a:r>
          </a:p>
          <a:p>
            <a:r>
              <a:rPr lang="en-US" dirty="0"/>
              <a:t>  &lt;/</a:t>
            </a:r>
            <a:r>
              <a:rPr lang="en-US" dirty="0" err="1"/>
              <a:t>j:new</a:t>
            </a:r>
            <a:r>
              <a:rPr lang="en-US" dirty="0"/>
              <a:t>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on="${formatter}" method="format" var="</a:t>
            </a:r>
            <a:r>
              <a:rPr lang="en-US" dirty="0" err="1"/>
              <a:t>formattedDate</a:t>
            </a:r>
            <a:r>
              <a:rPr lang="en-US" dirty="0"/>
              <a:t>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value="${now}"/&gt;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Formatted date: ${</a:t>
            </a:r>
            <a:r>
              <a:rPr lang="en-US" dirty="0" err="1"/>
              <a:t>formattedDate</a:t>
            </a:r>
            <a:r>
              <a:rPr lang="en-US" dirty="0"/>
              <a:t>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6B64E9-B176-D251-2AB7-E1DF2E2C1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672" y="5638113"/>
            <a:ext cx="4505954" cy="91452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56BB0B-C0BB-44D7-B7FD-B776C92C3A7B}"/>
              </a:ext>
            </a:extLst>
          </p:cNvPr>
          <p:cNvSpPr txBox="1">
            <a:spLocks/>
          </p:cNvSpPr>
          <p:nvPr/>
        </p:nvSpPr>
        <p:spPr>
          <a:xfrm>
            <a:off x="5931150" y="5752018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22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4A38-D725-1980-6C3F-88275C0F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FC8B-8BBA-421A-526F-1C94DDC9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/>
              <a:t> </a:t>
            </a:r>
            <a:r>
              <a:rPr lang="en-US" b="1" dirty="0">
                <a:solidFill>
                  <a:schemeClr val="tx1"/>
                </a:solidFill>
              </a:rPr>
              <a:t>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B3D64B-B110-28E9-FF8E-663BA563C93D}"/>
              </a:ext>
            </a:extLst>
          </p:cNvPr>
          <p:cNvSpPr txBox="1"/>
          <p:nvPr/>
        </p:nvSpPr>
        <p:spPr>
          <a:xfrm>
            <a:off x="347374" y="1474328"/>
            <a:ext cx="7232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Task</a:t>
            </a:r>
            <a:r>
              <a:rPr lang="en-US" dirty="0"/>
              <a:t>:</a:t>
            </a:r>
          </a:p>
          <a:p>
            <a:r>
              <a:rPr lang="en-US" dirty="0"/>
              <a:t>Create custom date not taken today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28512-BE75-6697-A719-19B1E268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520950"/>
            <a:ext cx="12987338" cy="286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5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FE7A-714A-BEE9-BB96-D4DB42CB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D813-CBFA-FDBC-C94C-B831D492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static fields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2491D-754F-C56C-B931-C95425531BF9}"/>
              </a:ext>
            </a:extLst>
          </p:cNvPr>
          <p:cNvSpPr txBox="1"/>
          <p:nvPr/>
        </p:nvSpPr>
        <p:spPr>
          <a:xfrm>
            <a:off x="890299" y="1517191"/>
            <a:ext cx="7232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&lt;!-- Get static fields --&gt;</a:t>
            </a:r>
          </a:p>
          <a:p>
            <a:r>
              <a:rPr lang="en-US" dirty="0"/>
              <a:t>  &lt;</a:t>
            </a:r>
            <a:r>
              <a:rPr lang="en-US" dirty="0" err="1"/>
              <a:t>j:getStatic</a:t>
            </a:r>
            <a:r>
              <a:rPr lang="en-US" dirty="0"/>
              <a:t> var="pi"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java.lang.Math</a:t>
            </a:r>
            <a:r>
              <a:rPr lang="en-US" dirty="0"/>
              <a:t>" field="PI"/&gt;</a:t>
            </a:r>
          </a:p>
          <a:p>
            <a:r>
              <a:rPr lang="en-US" dirty="0"/>
              <a:t>  &lt;</a:t>
            </a:r>
            <a:r>
              <a:rPr lang="en-US" dirty="0" err="1"/>
              <a:t>j:getStatic</a:t>
            </a:r>
            <a:r>
              <a:rPr lang="en-US" dirty="0"/>
              <a:t> var="e"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java.lang.Math</a:t>
            </a:r>
            <a:r>
              <a:rPr lang="en-US" dirty="0"/>
              <a:t>" field="E"/&gt;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PI value: ${pi}&lt;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E value: ${e}&lt;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BEADB-B4A1-1AA1-3F99-3C5034991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68" y="3586484"/>
            <a:ext cx="3915321" cy="84784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ED370EB-AAA9-4E2B-A58A-E6AF12DC047A}"/>
              </a:ext>
            </a:extLst>
          </p:cNvPr>
          <p:cNvSpPr txBox="1">
            <a:spLocks/>
          </p:cNvSpPr>
          <p:nvPr/>
        </p:nvSpPr>
        <p:spPr>
          <a:xfrm>
            <a:off x="3402263" y="3773927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70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9B9D-F8F3-51B7-D3B0-A2F96BF5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2FC41-E58B-B671-A093-02DDFE54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1"/>
                </a:solidFill>
              </a:rPr>
              <a:t>JellyScript</a:t>
            </a:r>
            <a:r>
              <a:rPr lang="en-US" b="1" dirty="0">
                <a:solidFill>
                  <a:schemeClr val="tx1"/>
                </a:solidFill>
              </a:rPr>
              <a:t> Syntax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BC5F8-B021-BF51-8588-8D4CB272774A}"/>
              </a:ext>
            </a:extLst>
          </p:cNvPr>
          <p:cNvSpPr txBox="1"/>
          <p:nvPr/>
        </p:nvSpPr>
        <p:spPr>
          <a:xfrm>
            <a:off x="347374" y="1474328"/>
            <a:ext cx="7232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Task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r>
              <a:rPr lang="en-US" dirty="0">
                <a:sym typeface="Wingdings" panose="05000000000000000000" pitchFamily="2" charset="2"/>
              </a:rPr>
              <a:t>Try to get random number but integer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E03D7-2313-1A70-460F-2699BABFF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72" y="2795499"/>
            <a:ext cx="9354856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4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E81AD-9531-B207-57A1-D55BD425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7BB7-9970-91BD-1F12-CF751111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Static fields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25D87-631A-626B-0692-A6FB7424D516}"/>
              </a:ext>
            </a:extLst>
          </p:cNvPr>
          <p:cNvSpPr txBox="1"/>
          <p:nvPr/>
        </p:nvSpPr>
        <p:spPr>
          <a:xfrm>
            <a:off x="347374" y="1474328"/>
            <a:ext cx="7232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c-Latn" dirty="0">
                <a:highlight>
                  <a:srgbClr val="FFFF00"/>
                </a:highlight>
              </a:rPr>
              <a:t>Task</a:t>
            </a:r>
            <a:endParaRPr lang="ar-EG" dirty="0">
              <a:highlight>
                <a:srgbClr val="FFFF00"/>
              </a:highlight>
            </a:endParaRPr>
          </a:p>
          <a:p>
            <a:r>
              <a:rPr lang="en-US" dirty="0"/>
              <a:t>Try To get Max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54BA0-1678-A230-33B2-4133BA89A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42" y="2272940"/>
            <a:ext cx="7674696" cy="14564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ED261-0AFF-D679-21F0-D78514328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681" y="4425297"/>
            <a:ext cx="5525334" cy="50230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01B69A-B01B-BFF1-D019-AB7F7D3EAA38}"/>
              </a:ext>
            </a:extLst>
          </p:cNvPr>
          <p:cNvSpPr txBox="1">
            <a:spLocks/>
          </p:cNvSpPr>
          <p:nvPr/>
        </p:nvSpPr>
        <p:spPr>
          <a:xfrm>
            <a:off x="3546964" y="4425297"/>
            <a:ext cx="4032636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 dirty="0">
                <a:solidFill>
                  <a:schemeClr val="tx1"/>
                </a:solidFill>
              </a:rPr>
              <a:t>Output:</a:t>
            </a:r>
            <a:endParaRPr 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68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C8864-2061-3CBE-EF9B-C485F3D2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0242-00A2-AAA7-23A1-188F86B7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Static fields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EFA28-7345-E3C4-B2B1-BC6D9BAAE6A7}"/>
              </a:ext>
            </a:extLst>
          </p:cNvPr>
          <p:cNvSpPr txBox="1"/>
          <p:nvPr/>
        </p:nvSpPr>
        <p:spPr>
          <a:xfrm>
            <a:off x="2479887" y="1795845"/>
            <a:ext cx="72322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j:invokeStatic</a:t>
            </a:r>
            <a:r>
              <a:rPr lang="en-US" dirty="0"/>
              <a:t> var="rounded"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java.lang.Math</a:t>
            </a:r>
            <a:r>
              <a:rPr lang="en-US" dirty="0"/>
              <a:t>" method="round"&gt;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value="3.14159" type="float"/&gt;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j:invokeStatic</a:t>
            </a:r>
            <a:r>
              <a:rPr lang="en-US" dirty="0"/>
              <a:t>&gt;</a:t>
            </a:r>
          </a:p>
          <a:p>
            <a:r>
              <a:rPr lang="en-US" dirty="0"/>
              <a:t>  Rounded PI: ${rounded}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2FAD8F-01AB-BB1F-75E2-9DF5498F4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685" y="3984579"/>
            <a:ext cx="2765240" cy="4748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E50FB1-6777-9DF2-28F4-0D5F2474FC57}"/>
              </a:ext>
            </a:extLst>
          </p:cNvPr>
          <p:cNvSpPr txBox="1"/>
          <p:nvPr/>
        </p:nvSpPr>
        <p:spPr>
          <a:xfrm>
            <a:off x="1089422" y="3959083"/>
            <a:ext cx="6122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Output:</a:t>
            </a:r>
            <a:endParaRPr lang="en-US" sz="18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4E2FD-6155-2EC5-EAE4-2F667BE1EB10}"/>
              </a:ext>
            </a:extLst>
          </p:cNvPr>
          <p:cNvSpPr txBox="1"/>
          <p:nvPr/>
        </p:nvSpPr>
        <p:spPr>
          <a:xfrm>
            <a:off x="347374" y="1474328"/>
            <a:ext cx="7232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c-Latn" dirty="0">
                <a:highlight>
                  <a:srgbClr val="FFFF00"/>
                </a:highlight>
              </a:rPr>
              <a:t>Task</a:t>
            </a:r>
            <a:endParaRPr lang="ar-EG" dirty="0">
              <a:highlight>
                <a:srgbClr val="FFFF00"/>
              </a:highlight>
            </a:endParaRPr>
          </a:p>
          <a:p>
            <a:r>
              <a:rPr lang="en-US" dirty="0"/>
              <a:t>Try To get round</a:t>
            </a:r>
          </a:p>
        </p:txBody>
      </p:sp>
    </p:spTree>
    <p:extLst>
      <p:ext uri="{BB962C8B-B14F-4D97-AF65-F5344CB8AC3E}">
        <p14:creationId xmlns:p14="http://schemas.microsoft.com/office/powerpoint/2010/main" val="404594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AD3D5-F9C5-E58F-E394-99F6F292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8FAF-629F-17DC-A155-0ABBE747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7" y="191938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StringBuilder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87800-62AA-89D6-F960-C9D461424DEF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4E691-7CCC-5694-8B72-83BD957BC0E1}"/>
              </a:ext>
            </a:extLst>
          </p:cNvPr>
          <p:cNvSpPr txBox="1"/>
          <p:nvPr/>
        </p:nvSpPr>
        <p:spPr>
          <a:xfrm>
            <a:off x="947738" y="1117107"/>
            <a:ext cx="7410450" cy="5548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&lt;!-- Create StringBuilder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j:new</a:t>
            </a:r>
            <a:r>
              <a:rPr lang="en-US" b="0" dirty="0">
                <a:effectLst/>
                <a:latin typeface="Menlo"/>
              </a:rPr>
              <a:t> </a:t>
            </a:r>
            <a:r>
              <a:rPr lang="en-US" b="0" dirty="0" err="1">
                <a:effectLst/>
                <a:latin typeface="Menlo"/>
              </a:rPr>
              <a:t>className</a:t>
            </a:r>
            <a:r>
              <a:rPr lang="en-US" b="0" dirty="0">
                <a:effectLst/>
                <a:latin typeface="Menlo"/>
              </a:rPr>
              <a:t>="</a:t>
            </a:r>
            <a:r>
              <a:rPr lang="en-US" b="0" dirty="0" err="1">
                <a:effectLst/>
                <a:latin typeface="Menlo"/>
              </a:rPr>
              <a:t>java.lang.StringBuilder</a:t>
            </a:r>
            <a:r>
              <a:rPr lang="en-US" b="0" dirty="0">
                <a:effectLst/>
                <a:latin typeface="Menlo"/>
              </a:rPr>
              <a:t>" var="builder"/&gt;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&lt;!-- Append strings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method="append"&gt;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  &lt;</a:t>
            </a:r>
            <a:r>
              <a:rPr lang="en-US" b="0" dirty="0" err="1">
                <a:effectLst/>
                <a:latin typeface="Menlo"/>
              </a:rPr>
              <a:t>j:arg</a:t>
            </a:r>
            <a:r>
              <a:rPr lang="en-US" b="0" dirty="0">
                <a:effectLst/>
                <a:latin typeface="Menlo"/>
              </a:rPr>
              <a:t> value="Hello"/&gt;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&lt;/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method="append"&gt;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  &lt;</a:t>
            </a:r>
            <a:r>
              <a:rPr lang="en-US" b="0" dirty="0" err="1">
                <a:effectLst/>
                <a:latin typeface="Menlo"/>
              </a:rPr>
              <a:t>j:arg</a:t>
            </a:r>
            <a:r>
              <a:rPr lang="en-US" b="0" dirty="0">
                <a:effectLst/>
                <a:latin typeface="Menlo"/>
              </a:rPr>
              <a:t> value=" 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&lt;/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method="append"&gt;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  &lt;</a:t>
            </a:r>
            <a:r>
              <a:rPr lang="en-US" b="0" dirty="0" err="1">
                <a:effectLst/>
                <a:latin typeface="Menlo"/>
              </a:rPr>
              <a:t>j:arg</a:t>
            </a:r>
            <a:r>
              <a:rPr lang="en-US" b="0" dirty="0">
                <a:effectLst/>
                <a:latin typeface="Menlo"/>
              </a:rPr>
              <a:t> value="World"/&gt;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&lt;/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&lt;!-- Get the final string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</a:t>
            </a:r>
            <a:r>
              <a:rPr lang="en-US" b="0" dirty="0" err="1">
                <a:effectLst/>
                <a:latin typeface="Menlo"/>
              </a:rPr>
              <a:t>toString</a:t>
            </a:r>
            <a:r>
              <a:rPr lang="en-US" b="0" dirty="0">
                <a:effectLst/>
                <a:latin typeface="Menlo"/>
              </a:rPr>
              <a:t>" var="message"/&gt;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Message: ${message}&lt;</a:t>
            </a:r>
            <a:r>
              <a:rPr lang="en-US" b="0" dirty="0" err="1">
                <a:effectLst/>
                <a:latin typeface="Menlo"/>
              </a:rPr>
              <a:t>br</a:t>
            </a:r>
            <a:r>
              <a:rPr lang="en-US" b="0" dirty="0">
                <a:effectLst/>
                <a:latin typeface="Menlo"/>
              </a:rPr>
              <a:t>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&lt;!-- Get length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method="length" var="length"/&gt;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Length: ${length}&lt;</a:t>
            </a:r>
            <a:r>
              <a:rPr lang="en-US" b="0" dirty="0" err="1">
                <a:effectLst/>
                <a:latin typeface="Menlo"/>
              </a:rPr>
              <a:t>br</a:t>
            </a:r>
            <a:r>
              <a:rPr lang="en-US" b="0" dirty="0">
                <a:effectLst/>
                <a:latin typeface="Menlo"/>
              </a:rPr>
              <a:t>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&lt;!-- Reverse it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method="reverse"/&gt;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Reversed: ${</a:t>
            </a:r>
            <a:r>
              <a:rPr lang="en-US" b="0" dirty="0" err="1">
                <a:effectLst/>
                <a:latin typeface="Menlo"/>
              </a:rPr>
              <a:t>builder.toString</a:t>
            </a:r>
            <a:r>
              <a:rPr lang="en-US" b="0" dirty="0">
                <a:effectLst/>
                <a:latin typeface="Menlo"/>
              </a:rPr>
              <a:t>()}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F72F76-6A66-D2ED-08D2-C6E6C9474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316" y="5608580"/>
            <a:ext cx="5176746" cy="105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7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3493</TotalTime>
  <Words>4094</Words>
  <Application>Microsoft Office PowerPoint</Application>
  <PresentationFormat>Widescreen</PresentationFormat>
  <Paragraphs>507</Paragraphs>
  <Slides>42</Slides>
  <Notes>42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Antique Olive</vt:lpstr>
      <vt:lpstr>Arial</vt:lpstr>
      <vt:lpstr>Calibri</vt:lpstr>
      <vt:lpstr>Calibri Light</vt:lpstr>
      <vt:lpstr>Consolas</vt:lpstr>
      <vt:lpstr>Menlo</vt:lpstr>
      <vt:lpstr>Trebuchet MS</vt:lpstr>
      <vt:lpstr>Wingdings</vt:lpstr>
      <vt:lpstr>Wingdings 3</vt:lpstr>
      <vt:lpstr>Facet</vt:lpstr>
      <vt:lpstr>Custom Design</vt:lpstr>
      <vt:lpstr>Jelly Script</vt:lpstr>
      <vt:lpstr>1. What is Jelly</vt:lpstr>
      <vt:lpstr>1. What is Jelly</vt:lpstr>
      <vt:lpstr>2. Why learn Jelly?</vt:lpstr>
      <vt:lpstr>2. Why learn Jelly?</vt:lpstr>
      <vt:lpstr>2. Why learn Jelly?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POM FILE</vt:lpstr>
      <vt:lpstr>3. POM FILE</vt:lpstr>
      <vt:lpstr>3. Install Jelly</vt:lpstr>
      <vt:lpstr>3. Install Jelly</vt:lpstr>
      <vt:lpstr>3. Install Jelly</vt:lpstr>
      <vt:lpstr>3. Install Jelly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JellyScript Syntax</vt:lpstr>
      <vt:lpstr>static fields</vt:lpstr>
      <vt:lpstr>JellyScript Syntax</vt:lpstr>
      <vt:lpstr>Static fields</vt:lpstr>
      <vt:lpstr>Static fields</vt:lpstr>
      <vt:lpstr>StringBuilder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Petra</dc:creator>
  <cp:lastModifiedBy>sandy maged</cp:lastModifiedBy>
  <cp:revision>590</cp:revision>
  <dcterms:created xsi:type="dcterms:W3CDTF">2026-01-26T08:52:25Z</dcterms:created>
  <dcterms:modified xsi:type="dcterms:W3CDTF">2026-02-24T18:56:27Z</dcterms:modified>
</cp:coreProperties>
</file>