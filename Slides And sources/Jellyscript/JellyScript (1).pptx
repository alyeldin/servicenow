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731" r:id="rId1"/>
    <p:sldMasterId id="2147483748" r:id="rId2"/>
  </p:sldMasterIdLst>
  <p:notesMasterIdLst>
    <p:notesMasterId r:id="rId84"/>
  </p:notesMasterIdLst>
  <p:sldIdLst>
    <p:sldId id="256" r:id="rId3"/>
    <p:sldId id="305" r:id="rId4"/>
    <p:sldId id="306" r:id="rId5"/>
    <p:sldId id="307" r:id="rId6"/>
    <p:sldId id="309" r:id="rId7"/>
    <p:sldId id="311" r:id="rId8"/>
    <p:sldId id="312" r:id="rId9"/>
    <p:sldId id="313" r:id="rId10"/>
    <p:sldId id="314" r:id="rId11"/>
    <p:sldId id="315" r:id="rId12"/>
    <p:sldId id="316" r:id="rId13"/>
    <p:sldId id="330" r:id="rId14"/>
    <p:sldId id="338" r:id="rId15"/>
    <p:sldId id="331" r:id="rId16"/>
    <p:sldId id="332" r:id="rId17"/>
    <p:sldId id="333" r:id="rId18"/>
    <p:sldId id="334" r:id="rId19"/>
    <p:sldId id="335" r:id="rId20"/>
    <p:sldId id="353" r:id="rId21"/>
    <p:sldId id="354" r:id="rId22"/>
    <p:sldId id="355" r:id="rId23"/>
    <p:sldId id="337" r:id="rId24"/>
    <p:sldId id="387" r:id="rId25"/>
    <p:sldId id="388" r:id="rId26"/>
    <p:sldId id="336" r:id="rId27"/>
    <p:sldId id="319" r:id="rId28"/>
    <p:sldId id="320" r:id="rId29"/>
    <p:sldId id="321" r:id="rId30"/>
    <p:sldId id="322" r:id="rId31"/>
    <p:sldId id="324" r:id="rId32"/>
    <p:sldId id="325" r:id="rId33"/>
    <p:sldId id="326" r:id="rId34"/>
    <p:sldId id="327" r:id="rId35"/>
    <p:sldId id="328" r:id="rId36"/>
    <p:sldId id="323" r:id="rId37"/>
    <p:sldId id="329" r:id="rId38"/>
    <p:sldId id="317" r:id="rId39"/>
    <p:sldId id="350" r:id="rId40"/>
    <p:sldId id="356" r:id="rId41"/>
    <p:sldId id="357" r:id="rId42"/>
    <p:sldId id="358" r:id="rId43"/>
    <p:sldId id="359" r:id="rId44"/>
    <p:sldId id="318" r:id="rId45"/>
    <p:sldId id="339" r:id="rId46"/>
    <p:sldId id="340" r:id="rId47"/>
    <p:sldId id="341" r:id="rId48"/>
    <p:sldId id="343" r:id="rId49"/>
    <p:sldId id="344" r:id="rId50"/>
    <p:sldId id="345" r:id="rId51"/>
    <p:sldId id="346" r:id="rId52"/>
    <p:sldId id="347" r:id="rId53"/>
    <p:sldId id="348" r:id="rId54"/>
    <p:sldId id="349" r:id="rId55"/>
    <p:sldId id="351" r:id="rId56"/>
    <p:sldId id="352" r:id="rId57"/>
    <p:sldId id="360" r:id="rId58"/>
    <p:sldId id="361" r:id="rId59"/>
    <p:sldId id="362" r:id="rId60"/>
    <p:sldId id="363" r:id="rId61"/>
    <p:sldId id="364" r:id="rId62"/>
    <p:sldId id="365" r:id="rId63"/>
    <p:sldId id="367" r:id="rId64"/>
    <p:sldId id="366" r:id="rId65"/>
    <p:sldId id="368" r:id="rId66"/>
    <p:sldId id="389" r:id="rId67"/>
    <p:sldId id="369" r:id="rId68"/>
    <p:sldId id="371" r:id="rId69"/>
    <p:sldId id="372" r:id="rId70"/>
    <p:sldId id="373" r:id="rId71"/>
    <p:sldId id="374" r:id="rId72"/>
    <p:sldId id="376" r:id="rId73"/>
    <p:sldId id="377" r:id="rId74"/>
    <p:sldId id="378" r:id="rId75"/>
    <p:sldId id="379" r:id="rId76"/>
    <p:sldId id="380" r:id="rId77"/>
    <p:sldId id="381" r:id="rId78"/>
    <p:sldId id="383" r:id="rId79"/>
    <p:sldId id="384" r:id="rId80"/>
    <p:sldId id="385" r:id="rId81"/>
    <p:sldId id="386" r:id="rId82"/>
    <p:sldId id="382" r:id="rId8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91" autoAdjust="0"/>
    <p:restoredTop sz="93861" autoAdjust="0"/>
  </p:normalViewPr>
  <p:slideViewPr>
    <p:cSldViewPr snapToGrid="0">
      <p:cViewPr varScale="1">
        <p:scale>
          <a:sx n="67" d="100"/>
          <a:sy n="67" d="100"/>
        </p:scale>
        <p:origin x="82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55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76" Type="http://schemas.openxmlformats.org/officeDocument/2006/relationships/slide" Target="slides/slide74.xml"/><Relationship Id="rId8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87" Type="http://schemas.openxmlformats.org/officeDocument/2006/relationships/theme" Target="theme/theme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B7E296-0428-41DA-B2FD-629865C14C9A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CD3839-9FE5-42F2-BECC-1535DA6E108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060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9321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08960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FBEF1-DC2C-2ACB-B25E-59E9148EB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C24158-7981-964C-EAD3-84C449D48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673F0A-BC67-C854-21F5-4112D576FD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1B89C-9481-62B6-05D3-3173F032E8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3788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26FFA-D7CA-AD55-662D-9C82A2653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AB3845-EEC5-88C2-3E93-B81A7BA3AC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45E591-A877-F108-D469-107CC24D5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E1E70-C2A4-1A34-59A8-3A94D4118D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1507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AA40-70B0-2764-CF19-543F139C7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8A17CB-D9F8-40E3-5118-B1DEF319C3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03B27-8FA4-0066-FC86-332A0D656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66E0C-271E-D9F8-159F-B27762D33B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7424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61CEB-ECDE-02F7-1B48-65E8E438B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47795-DCF5-BC81-5658-1CC0B689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22591D-97A5-CE3B-C343-8B13EE25C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057A4F-269E-5D01-1FE7-9CDD3791D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9252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95D17-A352-4D66-B1B0-55A3EA2F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01E6A8-72C1-6570-16AA-6F4CBAF8FE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769C38-2E21-B2EB-67E5-342F920AE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C9DE05-3B29-77AE-D4AF-F639ADC3D7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263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07D69-BB24-2673-44DA-F0CD849B8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FB90F7-2A03-C9BA-B169-27DDC795E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4EDF02-7596-6F05-FA47-C66B22DA5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81561-7B53-B8E4-67C2-55C3D200D0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03622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583CC-8DF5-60B2-C294-646C8D4C6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A25011-9F91-1365-71BA-9F21C8745C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CDD98-0206-93B6-9EEF-35F71F7CBE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4C7A09-1B36-D989-891E-1267D22B82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5399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56272-BFD3-DAD3-D52B-4A7121BC6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78297-36ED-7552-5770-C316EC2C9B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FF1D9-F987-8CFE-28A7-EFB9E5B24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782E7-169D-127D-B20A-E187ECDB7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1058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9E323-261C-F507-365F-42FC3CDAF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2E958C-A9C9-42C4-1305-F4CDB52A4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E3677-42A1-7736-C667-F78C17157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545C7-FF33-F7DF-1E0D-F21254BFD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59923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FA4DF-AB8D-6CFD-1F79-9A528EEFA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68D823-D413-DC96-E91D-F37D0C909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AFEE01-ED03-110C-46FA-226E36AD86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4B10A-E22D-946F-9D0B-B4AC6E48D1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1407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9F6BD-86DF-BE14-83A8-0C0AA28D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9CB2C1-1BF6-5D0E-A92B-30E5E4C22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9DB935-F713-029A-6865-2A38F34C50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2157F1-6CDB-50EF-0211-F84B25664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2141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54B94-4A21-65AC-E93C-54D9E61BA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47B784-C84E-328E-3F4E-F0B48620B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50A3A-9531-EFB8-BD76-644E61F72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7691B-0B93-E816-292B-056DF4CD54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441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EE5B5-1359-47A4-64E1-ABA632694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436137-B512-0D58-059D-21C8E64076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F1E780-0975-D8CA-4D0D-4D5EE046B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088B8-A260-9DCE-C035-D8360ACF3A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9157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20BF9-9AE5-6AA8-0324-6ECEA4017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119431-C3A0-6EBA-1EF9-6AE5C05E8E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FEF4C5-F1C1-B4BA-AF97-376954B26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B381B-F1D0-3312-B67B-805A5EF5F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18407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81401-CE77-9E37-963C-11A3EE83D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5D53C0-8A11-B5DB-50C0-0346C748B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4282F-A3D7-9DC3-DFEC-5FEE2BB3DD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2A0D1F-968B-601F-9338-C0692497A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962213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665A-1C33-EE4E-F501-ACB51740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10DFF1-55E0-2936-96F4-6601E0B69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0B01E-FA2D-4AEF-C3CA-B3268983C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DF91B-98C5-68C8-FE72-0A63BEC67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7596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F2ECA-5842-EA30-2937-F32D71DD1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C7C6C-0583-1710-4382-AFB613DE10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3C4BE2-BDA8-A71C-4801-965619E476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BB664-FEC1-F12E-7CC7-EE71309CF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8878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DAA99-6BD3-68B3-B618-9B38E7DAA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E9B2FC-1D48-3F55-E430-1C8FC323CA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7A1427-7BDD-2F3B-A938-DE6388C29A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FF1B9-E004-7133-1E26-2AE0095C24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403874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2AC9D-C709-33B4-E7E7-6834F9E3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BF9281-3288-1DEE-5E28-129B57021A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5E97A0-71C9-DEEC-DE6D-7A5EB35F1E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4BB11A-7790-90B4-C3E3-2D9F255FF1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529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8346D-5ED3-3A15-4205-F7C32B1B1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9B8824-92FC-D171-18CC-79EB0AF178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91DB86-2950-7A75-F922-9140E1CD30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DE004-1DA6-C498-BE55-9902A892CD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6297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882D62-94B9-15D7-B1D2-B072163F0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CA5728-3F37-10EF-86C3-F0402D35E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00258-12FE-4998-D983-262412543C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342A42-42A8-20DC-C025-62BB8F5F9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844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7B83E-1B18-A38C-D5FE-7DDC70F75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1E496F-53C8-1777-5FA9-7E0228EDAD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4552F0-43A7-1B54-409B-CE628C8AA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DAC996-C040-568E-79B2-182A8211D5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23512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0323-B51C-C919-8FCB-97698449B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B7A72-83AF-E4D7-146B-CF27FA072D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5CA816-D756-EFB8-2D63-C137F78906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6A588-AB23-F9D3-1BAA-2F3670273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8702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12D9E-DDE0-9DEF-74EB-B57753E7B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CA500B-0572-C02B-6AFF-5692C61312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51A4C0-5034-A665-FF58-5A1C17E97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0A488-2D66-8378-CD81-91A06E95F0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47175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F94E9-B3CD-CED4-0A73-F7F351A02A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5D901E-C8A6-7F15-722A-AACA536104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737B8-C985-8A84-EE0D-D2328A615B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5A48EC-60A3-E56C-5CFF-721A0AEA2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951559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CE19D-9E93-2C62-CDBA-435E210C2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E160C6-6075-7653-F660-2976C91E3B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E66AE-8741-4509-2B18-8D7FAD902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CLASSPATH=C:\path\to\jelly\commons-jelly-1.0.1.jar;%CLASSPATH%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4EEA7-A6B0-187C-0EFA-D20D57BEE8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437276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25563-A0FD-3605-55E4-B5A30C15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9F0989-FF8D-CDED-DD75-23C7AD154B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E3C62D-2E39-21A3-164C-E2707B0BC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9C881-57FB-E8BD-8741-C21840D9A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265122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E5975-98D2-F0E6-DB1A-5A09B9AA6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1293D4-27B4-6C0D-1FCA-829F00C23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5F7118-2CAE-57C4-C471-355571B01E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03CCC-C26C-5C85-ED8A-F6D9054019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54223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D50F00-FE64-FA2D-AB6B-4071F02CA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BFF491-F13D-833D-711B-0D980DFE48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A02DC-322B-EDB1-CC5E-9035D8DDBF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https://commons.apache.org/logging/download_logging.cgi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762E2-9698-183D-148B-D6ECE872F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4009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0263-260D-CFFE-9123-5563B7F49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6E8BE3-23B0-B1D6-D74E-7A48C8603A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3A4F34-A484-A81D-F8F8-E2B6E9FDEC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https://commons.apache.org/logging/download_logging.cgi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CDFC3-C552-4285-8E2E-0FCB301C93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68312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EB1C1-BB98-0AF6-AB5B-5DB3499D1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B5CD1B-3E61-7F35-BACF-07D7708C4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EE9425-703A-1817-6568-1B7F931579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https://commons.apache.org/logging/download_logging.cgi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75BD4-4C36-B04D-04DD-89D3ED9A75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08067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CEE2E-0626-C144-8648-868958AC10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5161B7-E37E-C65B-8386-9778D30E1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93AFD-4493-6A5E-8348-CA48579F12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https://commons.apache.org/logging/download_logging.cgi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00FF4-7EE5-6D3D-7F8B-B918E94772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207319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F78C8-5486-5CF5-80C6-68AC8FC4A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FFB35C-B18D-993D-050B-77CA681A6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03C793-E3DA-37E4-C20E-4635C2C69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4724F-FAF4-468A-B14C-84F55B289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17541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11BA7-8066-1F16-2DDE-CA0BD73DE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5D16A-F169-6809-5E7C-4C5DF43C83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1FB1C-121E-A6AE-A1FB-B4F23DB0ED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  <a:p>
            <a:endParaRPr lang="en-US" dirty="0"/>
          </a:p>
          <a:p>
            <a:r>
              <a:rPr lang="en-US" dirty="0"/>
              <a:t>https://commons.apache.org/proper/commons-jelly/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CECCC-C12B-EAFA-7761-A7DCF3DE1A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273000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5F85F-CC19-976E-3481-1BC68C180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F99C3-012C-2D72-BC53-E64910833B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459460-3DD3-1088-4653-E7EA949C2C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3FB62-35B2-4906-5700-FCF7BDD7AE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918867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3E66E-691B-B336-67FB-6D9FFF0FD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0DD06-7E63-4BBF-BAB7-F909DB7F9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D3D1D-C58D-4368-F2DD-768A2DF5B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A1233B-D1F6-715D-30C7-18F33BCE2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904986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1E965-DC46-289B-6F9E-3D4AAB9C7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47419E-B91F-8A9F-0A80-447CF5A130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EEED1F-2874-4F44-378B-C175D3249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5BE9C-C6AD-F3DD-F881-859724C09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297985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F3B54-107D-FC5E-4F6E-EDF875703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4AB639-5C7B-53B4-5A26-0184CCCFCE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56F0B8-73E1-95AB-2015-D8DEA94DC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535B6-3E24-8F5F-5722-047A12A20A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77684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490EE-338F-9C34-C3DF-8327FAA16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52EBC-C7BF-6E51-60E2-DDD815247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BF7136-40D5-DB90-78B4-FBB81428E2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5A653F-574D-8121-8E53-A6A43F9550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16326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F2757-EE00-7370-1571-1853C7E58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D74D3C-37B0-C2F8-DEA5-B5FC9EF7E7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DC6495-0F16-C53E-1E17-9AB8D9018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B6B5A-D864-5B41-D692-3822FD343D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740865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073A29-907C-E485-21B9-F6964212D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00AFD9-67E5-F305-33C9-5AA20C0499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FF394-B7C2-044C-39BB-28EBF90BD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E744B9-BCAF-296E-5934-10ECC88A8E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02653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904009-4CEF-D47E-37D5-737557A9D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CF107C-F7D3-80D9-EB2F-3BF672D4BE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C3516-7550-2D92-26F7-58F0759C7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2322C-D215-1830-CEFA-4CA778C5E8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36892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C8768-E0D0-EA3C-20DD-54D6DE1B2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965330-884E-A8F6-99C9-95B857D40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141E54-CDED-9078-6B3E-E99D5F064E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643AE4-FD68-E5E8-8DA0-12E59EF4A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241287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2C61D-25E7-4809-4EFB-5EB66BD42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BAD997-C2FB-BD7A-8B08-7282D8709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5BEB91-F767-B7AB-9790-44607DE828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C0D08-C166-D724-9DDA-F44AF2BB2F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246505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A7463-D2B6-4421-D9CB-8FEAE706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143746-60F7-7FBD-EA68-827F484D90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5922AE-A22C-C0A8-22E2-32DFA2093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F2F2B8-52C9-776D-BF93-720F66CB4B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92073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D9E3B-B26A-3447-DCCC-DE4D5C6DD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423DC-867B-08D9-092D-47C020FEF7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D3D658-85EE-DBE7-2723-14FC14105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B1175-A9AE-351F-C54E-97FE3A732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700478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8EF05-9B59-061E-A6D9-9A6FB222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9EDB9-12AD-4AC3-CCCC-C9A748E873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44E8DD-4C82-0489-2238-4B61DD7484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FE915-150F-ED23-5C1F-153495971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6986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6345C-6F3B-3581-5F0A-C07367F03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13E87F-C491-C948-EDC3-CC69B0886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980F4-8812-AB79-D2D1-790888E2C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09AD65-D938-FA38-9E77-844BFBE62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06839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014DA-16C5-FF76-811A-856537BCA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61E843-7FE7-8452-9ED0-0301C28848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284172-B6D9-52E1-64EE-2DFB770934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0B7D31-2286-2856-DCDE-BBEA5F2C2A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91900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957CC-473D-7319-05D9-877BE6928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EF0470-F07B-F9BC-FBDD-5D15CA7E0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BEDE6-B3CD-C0AC-9F2E-055F07FC96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9970F-2ED0-3D3E-4426-C494316EE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403063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45A44-89EF-7F9A-6EEB-E7EDA5A8A3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5F5F90-C379-07CF-9A92-808C780EFC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D8A61-CC44-E80C-9779-5B35EA7993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3CF19-0987-7786-5AD1-44B617ECB8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21838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B289A-AC69-CD46-1550-A75625DAA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C2A4C6-CB2E-677B-F2FE-4EE7BA8AD3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047D8-4F76-8FB0-E05F-043FEA567C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A53B8-BA70-99A0-FD66-B9711A73EE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462977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E1538-8BEC-A207-03A8-656A5D6A6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3AD023-CEAE-A306-22C9-EE36C728AC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9B708-813B-FDED-DAAC-244FE31DE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4BC41-852B-ADE3-C332-C568F3AB01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18917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368D7-70B9-A00A-4480-7AFCFC40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57FA8-3C43-C448-A5C4-D05D5851F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BDAB3-24D3-F1FF-A038-40347E51F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93D51-C398-1A37-901D-02F27666A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89623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76960-728B-467E-E8CE-055752E3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A7D1D-B1FE-F843-554C-CFFCA5A5F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7D0D8-6195-C6C4-05EF-6C5FB293C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0D5A12-C0D9-9E30-3047-5FA0F9A4A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566534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73525-843B-0C01-EBB7-F7DD3C2D6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47FF6-231F-966C-392F-C5F760B0B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48720-13E5-548F-DF09-D1A9737336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7CF98-F261-B7B3-E2A5-9810AF08D4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100558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CE629-6B8E-5A28-2CA8-69D1A5D8B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70DD1-1374-0B97-309F-6F305449D1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1147E8-2833-FE8D-AE87-8FCE15DEAE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69B010-7569-94FB-3C7F-EDE0A6EBE4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59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298155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2594F-410E-9105-D887-24A4FE682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1E472-EA97-1654-9980-24AEAB800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CF5661-26E8-3E87-7949-B0ACC1B38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74F22-CB21-9094-9F9D-EE298E1802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0214585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E8115-5477-E0C5-8198-FE2D54913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01C9C5-E81D-DC6E-BFED-26ABD8083E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D9B7F1-2D38-F2C2-8681-266E2F8BC1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76632-9994-FE97-A7D0-40CA0DF0B1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80237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D6134-42E6-968B-FF98-1F37DCE8F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682FD-2989-E934-8842-12E83ADF2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EB0A9-EDB6-CA75-91C8-4CB3FAF4B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FEF1A8-7A3D-5008-CA78-B7159DB32E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279572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73BCF-8BA0-E65E-473B-F39B7A9E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DB6024-4B4A-3942-8BDD-1FFC2F28B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3E16EF-54E4-7765-CF2C-6B43EDFDE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37575-C497-A396-81E7-2E1D9BFB3E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3235493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B06D1-D5A3-47D1-A968-5AA442ED3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1DCAA-0A2A-B21D-8E5E-74C3D50995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A24F04-AF7C-50D2-19A7-75F46BD5D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E1331-B65F-4DA5-B02B-73DA585C6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487975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43AD5-5938-7CD6-8350-B4D532922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6F2B91-FDFD-CDAE-4AE4-0B032F077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B2E1D-746C-46C7-867B-7ABD5837EC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B4420-73CC-017A-FFC3-4BF01480E9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611256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6A66B-0CFC-9001-9152-E7553428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41DA8F-11C1-C9CF-B057-B2F7455A1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015A07-92F2-4FA2-3170-2EEC2347A2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FA503D-A444-9A16-E462-F73D17E387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884667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7B763-2212-630A-D989-BDB3E12CA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89FE56-5570-3B94-3D8D-F51131F1C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FB2D3-29D8-F6E8-BE64-ACAB8466E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44A94-F4E2-7C09-C76B-653DADCC5D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7935960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6529F-CF52-9959-0876-8DA31FD38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CC7167-3B18-2E92-6179-82F92DD787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0173AE-A55A-4B44-6E8A-0AE998EFF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B8C405-A0E0-233D-987B-19C11EAC6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924203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4695E4-4EC6-75D8-9A74-FD7B765F5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3E7D4-6D38-5164-C682-25995632B3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C7709-8914-C013-86BE-A0F92965B1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E168C0-B8E3-39F7-7994-796F903451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69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147460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2E034-4845-3852-6993-8D6BC2643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1240D3-ACCB-1ABC-0101-BFD62B4A4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D1B297-ABCE-5FEC-51BF-7FC020477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533373-2BBE-E655-704E-AD551A582D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828533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15702-90ED-5B28-3619-B1B6E304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C48B6E-2C52-C763-F44A-088CB1447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9E6B7A-4EF1-A0A8-AC98-556D33E31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1B20B1-3475-1114-4C69-81BE359776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308416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DFCE9-0130-D909-0678-7D936F73D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29A088-D88D-3E10-97C2-B00B29B37E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0F9745-4237-305C-1D6F-62BE8557A7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71DFC3-21C2-C56D-BF5B-AD7C8B11F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558766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779D8-6AFE-7AC5-38DA-A1A60443D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E9BA44-9D4D-8258-515E-398F6BBBFC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DB0420-62A2-52AE-028E-55F379AD00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3CEF3-249E-29BA-25B3-F9E5288B5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473057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B10A5-C6B9-C254-B482-884FE5AE4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6125B6-F1CC-96DB-C7DD-D51CCD9FFF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76480-9B28-8B9F-8174-EA8C21A8D1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236F37-ECA8-9ABC-323E-87E7D975F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7547485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F46B4-3E65-3B6C-18FF-39BFD4F59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DFB59-D93F-6FA0-5188-3EEA72865A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E06B80-2645-C532-86E8-16CF40E058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64980-C33B-E2FE-ECD7-C941368D8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013324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6731A-0F3E-11F8-B92F-1E5699143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19672-9254-7C5D-4679-160B5026AD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BC264F-55C8-14D2-EC48-81F0E5A08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B00CB-B032-7CCA-FF3D-FEE4745BC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6252269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B885B-79F1-3FC5-8402-1F7450BBC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F8A79-EF5F-D389-72B2-9A220F1D0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7FCA65-AD97-8573-1914-B4F59E835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B88411-9F2D-5E1A-8CD0-264184EFD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9885783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6A02C-0110-11A5-3A2F-8D4606D35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0C4333-BBB3-3089-72D2-6CA2F4BA63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9237C2-328E-4D66-5C05-EACC5238C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89807-DD5B-CCE1-37ED-33001ACC7A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7255804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C51C-D1CB-7C18-ACF8-FAE208A16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FAFAE5-44E3-27D3-0883-D8FA1DDDA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6D8AC7-8F93-D1CC-1059-385469E07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B3FE77-4FCC-7C93-DE3A-2D7DAD1D5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79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0409892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3DFB0-482B-160F-3D04-271B75BA2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2A8782-E5B8-F270-3CC3-427A5BF5A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24700-E875-9DD1-1182-D03FA66E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E9B538-F4DD-80DE-3EA1-15D4547B1B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80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7562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681F-8D12-B8D8-769A-F9898438F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B415B-3BFA-1D2F-9C79-1B82BDAD2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ED1DF-6B76-91FC-8021-E46A793C28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https://medium.com/@aakashgarg3108/introduction-to-servicenow-jelly-scripting-509a51c64147</a:t>
            </a:r>
            <a:endParaRPr lang="ar-EG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https://commons.apache.org/proper/commons-jelly/tags.html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E39D6-64D3-D584-AA73-9EB8C7FEA0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CD3839-9FE5-42F2-BECC-1535DA6E108D}" type="slidenum">
              <a:rPr lang="en-GB" smtClean="0"/>
              <a:t>81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32051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873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37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52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5096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493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739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1910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5765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9180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0181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97988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10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2578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36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210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165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84C05-9696-BEBD-7362-5C88FF3B61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3093AE-3464-57D7-9AC8-8F6D5485A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3810A-7863-2CAE-A291-9C3FEE18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33BAD-98FC-16EF-B78A-9E15DA1FA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EFECF4-2B3C-EBF0-7FA7-D5A6371EC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0111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CC052-8807-FB2B-F760-A6C34285D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380031-2C25-A794-9BCB-F84AE6BFB6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AA0056-6F21-78BC-CD0C-D3AE8AB82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2762E-1E65-B2E2-5A48-74889369B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8A673-FC5C-5DA3-4D90-22D4C6F2D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024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A849-60EF-B006-2F22-3985ACD07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30AAD3-850E-5052-F25E-95A8A67AB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23601-2075-6ACA-DFCA-5C5BCBAB5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3FB7F-AF21-00E7-279A-CA1AEFAD3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AF13D-2C0E-64B5-E7A9-6BEF035FE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1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44482-9AF1-3A73-6298-00EF41CD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46968-9CB3-813E-2692-BA801CEF8A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A5136-2B4D-73C2-22BD-BB455001F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A5755A-30CE-7F1C-4683-F507EA77D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D55C21-5BF2-105C-2FEA-07E3F2B8E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F09443-C309-26E2-C471-5E437CE9F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5742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BADD4-18F9-9597-EECE-98C21AB2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496A9-65E4-AD8D-EADC-A65B65001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FC373-4D6F-68D4-0C12-06CE51E8A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3735FA-F7D6-278E-9780-8E91FDBB22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EBC14D-D3FD-1773-5B62-08DF280E9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BBAD2E-E2EE-ECCE-8BA9-926867822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9E8F1-D316-889F-F7FF-B3041B16A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EB5863-AA6C-54CA-2ED7-2827A37D5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6588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2DE7E-CAAE-46DC-EBA7-D376525D0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2FC342-6B1E-A899-0AC0-7179CBF15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CE001-2DAE-92B0-6625-1190253B3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CCDCE7-1FEA-AE1D-5A86-3AADEEB95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5974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B038C8-D53B-A186-1A3B-68343A4DD2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A37522-AF1A-36A1-CDBC-F6CD468A1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45AA9-91CE-DAD3-1468-1B4D69903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49264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3D843-EC0F-70ED-0C7F-EA16DB3A3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13193-D853-04FA-7829-607C85F5E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C1CC16-0CEC-C434-BB6F-37998454E4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8E8119-876E-0597-A150-EBFEDCBFF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432E6-8E71-952C-5BD2-A544097FA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7DBFA-6354-65D6-057D-E4934DBDA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3688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47C2D-2AC8-F729-E57E-74AFCC4C5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30F5E9-6925-635A-B995-13375BD1E2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E4612-ECC5-387D-290F-B204253EAD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29A5D-A4D7-D0A4-36C4-B6B68D321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9A99D9-F393-52B2-AB41-48305F3B3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6B71-A785-4927-BC42-CB3A9329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87464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9A1A9-CF48-3810-4950-16842703E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EC0171-9295-C4A0-3C54-2231615E0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8C2C7-AD69-814F-1B16-FE4C09FF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AA943-52B4-2D49-FBA2-91C0098E1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DC9569-50F4-4F62-A4D4-980C227E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9917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9A05D2-C145-3A7C-947C-A4F5C91E60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3354D-E4E5-A40F-5A6F-8C847C318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40079-5E12-3CB4-DF15-D1B158218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0D9D9-0089-238F-F78A-6FED727C0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165DB6-AF59-30F2-25FF-1534DAFCB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0018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9EB2C1-3CEE-41D9-9027-001A41D0B6A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DDC63D1-4BC8-4D7B-B6FE-C4E6B3A818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BD2985-A48A-4FCE-5D51-E8E176F2C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C2E1-540F-5A5B-8259-B51FB6F866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94273-7860-81C7-8174-DE3F24445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C71BDA-3A19-4C68-B388-AA927C043E3D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E18E7-D115-4B1D-1330-0731ABB73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6B25B6-B513-E9E3-6780-9126B4B0CB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11724D-5708-428A-A351-EB4628D417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81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50" r:id="rId2"/>
    <p:sldLayoutId id="2147483751" r:id="rId3"/>
    <p:sldLayoutId id="2147483752" r:id="rId4"/>
    <p:sldLayoutId id="2147483753" r:id="rId5"/>
    <p:sldLayoutId id="2147483754" r:id="rId6"/>
    <p:sldLayoutId id="2147483755" r:id="rId7"/>
    <p:sldLayoutId id="2147483756" r:id="rId8"/>
    <p:sldLayoutId id="2147483757" r:id="rId9"/>
    <p:sldLayoutId id="2147483758" r:id="rId10"/>
    <p:sldLayoutId id="2147483759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.com/en/download/manual.jsp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adoptium.net/temurin/releases/?version=8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.com/en/download/manual.jsp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s://adoptium.net/temurin/releases/?version=8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maven.apache.org/download.cgi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apache.org/proper/commons-jelly/tags.html#jelly:core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apache.org/proper/commons-jelly/tags.html?utm_source=chatgpt.com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apache.org/proper/commons-jelly/tags.html?utm_source=chatgpt.com" TargetMode="External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apache.org/proper/commons-jelly/tags.html?utm_source=chatgpt.com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apache.org/proper/commons-jelly/tags.html?utm_source=chatgpt.com" TargetMode="Externa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apache.org/proper/commons-jelly/tags.html?utm_source=chatgpt.com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5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8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968C8-67C4-8011-F335-527CB36AE1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814" y="-675198"/>
            <a:ext cx="9279144" cy="3330934"/>
          </a:xfrm>
        </p:spPr>
        <p:txBody>
          <a:bodyPr/>
          <a:lstStyle/>
          <a:p>
            <a:pPr algn="ctr"/>
            <a:r>
              <a:rPr lang="en-US" sz="6000" dirty="0">
                <a:solidFill>
                  <a:schemeClr val="tx2">
                    <a:lumMod val="75000"/>
                  </a:schemeClr>
                </a:solidFill>
                <a:latin typeface="Antique Olive" panose="020B0603020204030204" pitchFamily="34" charset="0"/>
              </a:rPr>
              <a:t>Jelly Script</a:t>
            </a:r>
          </a:p>
        </p:txBody>
      </p:sp>
    </p:spTree>
    <p:extLst>
      <p:ext uri="{BB962C8B-B14F-4D97-AF65-F5344CB8AC3E}">
        <p14:creationId xmlns:p14="http://schemas.microsoft.com/office/powerpoint/2010/main" val="8922605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C8C43-24DB-D916-3E96-278106F9E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8A68B0-1CE7-D42A-4885-E8406A84F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1. What is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E73FC-9075-DDAF-7D89-336039526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i="1" dirty="0"/>
              <a:t>Jelly</a:t>
            </a:r>
            <a:r>
              <a:rPr lang="en-US" i="1" dirty="0"/>
              <a:t> is nothing but the </a:t>
            </a:r>
            <a:r>
              <a:rPr lang="en-US" b="1" i="1" dirty="0"/>
              <a:t>Java Elements</a:t>
            </a:r>
            <a:r>
              <a:rPr lang="en-US" i="1" dirty="0"/>
              <a:t> comprised of Java and XML-based scripting that originates from Apache Foundation.</a:t>
            </a:r>
            <a:endParaRPr lang="en-US" dirty="0"/>
          </a:p>
          <a:p>
            <a:r>
              <a:rPr lang="en-US" b="1" i="1" dirty="0"/>
              <a:t>ServiceNow</a:t>
            </a:r>
            <a:r>
              <a:rPr lang="en-US" i="1" dirty="0"/>
              <a:t> uses Jelly Scripting to process XML-based documents containing static and dynamic HTML content and special Jelly Tags and the output is HTML.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0121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5F7B5-D60D-7F20-CF9D-E42EA0EB3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F3AF-5A0D-765D-D5E9-C5A6FEFEF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1. What is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545CB-1618-B1FC-2720-401C47520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dirty="0"/>
              <a:t>There are 2 kinds of tags in Jelly Scripting</a:t>
            </a:r>
          </a:p>
          <a:p>
            <a:r>
              <a:rPr lang="en-US" b="1" i="1" dirty="0"/>
              <a:t>Core Tags</a:t>
            </a:r>
            <a:r>
              <a:rPr lang="en-US" i="1" dirty="0"/>
              <a:t> — known as Jelly Core.</a:t>
            </a:r>
            <a:endParaRPr lang="en-US" dirty="0"/>
          </a:p>
          <a:p>
            <a:pPr lvl="1"/>
            <a:r>
              <a:rPr lang="en-US" b="1" i="1" dirty="0"/>
              <a:t>Example:-</a:t>
            </a:r>
            <a:r>
              <a:rPr lang="en-US" i="1" dirty="0"/>
              <a:t> &lt;</a:t>
            </a:r>
            <a:r>
              <a:rPr lang="en-US" i="1" dirty="0" err="1"/>
              <a:t>j:set</a:t>
            </a:r>
            <a:r>
              <a:rPr lang="en-US" i="1" dirty="0"/>
              <a:t>&gt;, &lt;</a:t>
            </a:r>
            <a:r>
              <a:rPr lang="en-US" i="1" dirty="0" err="1"/>
              <a:t>j:choose</a:t>
            </a:r>
            <a:r>
              <a:rPr lang="en-US" i="1" dirty="0"/>
              <a:t>&gt;, &lt;</a:t>
            </a:r>
            <a:r>
              <a:rPr lang="en-US" i="1" dirty="0" err="1"/>
              <a:t>j:if</a:t>
            </a:r>
            <a:r>
              <a:rPr lang="en-US" i="1" dirty="0"/>
              <a:t>&gt;, &lt;</a:t>
            </a:r>
            <a:r>
              <a:rPr lang="en-US" i="1" dirty="0" err="1"/>
              <a:t>j:forEach</a:t>
            </a:r>
            <a:r>
              <a:rPr lang="en-US" i="1" dirty="0"/>
              <a:t>&gt;, &lt;</a:t>
            </a:r>
            <a:r>
              <a:rPr lang="en-US" i="1" dirty="0" err="1"/>
              <a:t>j:otherwise</a:t>
            </a:r>
            <a:r>
              <a:rPr lang="en-US" i="1" dirty="0"/>
              <a:t>&gt;</a:t>
            </a:r>
            <a:endParaRPr lang="en-US" dirty="0"/>
          </a:p>
          <a:p>
            <a:r>
              <a:rPr lang="en-US" b="1" i="1" dirty="0"/>
              <a:t>ServiceNow Custom Tags</a:t>
            </a:r>
            <a:r>
              <a:rPr lang="en-US" i="1" dirty="0"/>
              <a:t> — known as Glide Core.</a:t>
            </a:r>
            <a:endParaRPr lang="en-US" dirty="0"/>
          </a:p>
          <a:p>
            <a:pPr lvl="1"/>
            <a:r>
              <a:rPr lang="en-US" b="1" i="1" dirty="0"/>
              <a:t>Example:-</a:t>
            </a:r>
            <a:r>
              <a:rPr lang="en-US" i="1" dirty="0"/>
              <a:t> &lt;</a:t>
            </a:r>
            <a:r>
              <a:rPr lang="en-US" i="1" dirty="0" err="1"/>
              <a:t>g:ui_form</a:t>
            </a:r>
            <a:r>
              <a:rPr lang="en-US" i="1" dirty="0"/>
              <a:t>&gt;, &lt;</a:t>
            </a:r>
            <a:r>
              <a:rPr lang="en-US" i="1" dirty="0" err="1"/>
              <a:t>g:evaluate</a:t>
            </a:r>
            <a:r>
              <a:rPr lang="en-US" i="1" dirty="0"/>
              <a:t>&gt;, &lt;</a:t>
            </a:r>
            <a:r>
              <a:rPr lang="en-US" i="1" dirty="0" err="1"/>
              <a:t>g:ui_reference</a:t>
            </a:r>
            <a:r>
              <a:rPr lang="en-US" i="1" dirty="0"/>
              <a:t>&gt;</a:t>
            </a:r>
            <a:endParaRPr lang="en-US" dirty="0"/>
          </a:p>
          <a:p>
            <a:r>
              <a:rPr lang="en-US" i="1" dirty="0"/>
              <a:t>However, you will find practical examples using both tags in this blog that help you to get started with Jelly Scripting. So, </a:t>
            </a:r>
            <a:r>
              <a:rPr lang="en-US" b="1" i="1" dirty="0"/>
              <a:t>Stay Tuned!</a:t>
            </a: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312471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1757A-0C17-EA0F-0F7E-1E658FB3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D40E1-0D9E-7862-B814-E65348A32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6BF42-021E-CE32-F3E9-81151C65A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i="1" dirty="0"/>
              <a:t>ServiceNow</a:t>
            </a:r>
            <a:r>
              <a:rPr lang="en-US" i="1" dirty="0"/>
              <a:t> uses Jelly Scripting a lot. There are 2 prominent places where ServiceNow uses Jelly Scripting.</a:t>
            </a:r>
            <a:endParaRPr lang="en-US" dirty="0"/>
          </a:p>
          <a:p>
            <a:r>
              <a:rPr lang="en-US" b="1" i="1" dirty="0"/>
              <a:t>UI Macros.</a:t>
            </a:r>
            <a:endParaRPr lang="en-US" dirty="0"/>
          </a:p>
          <a:p>
            <a:r>
              <a:rPr lang="en-US" b="1" i="1" dirty="0"/>
              <a:t>UI Pages.</a:t>
            </a:r>
            <a:endParaRPr lang="en-US" dirty="0"/>
          </a:p>
          <a:p>
            <a:r>
              <a:rPr lang="en-US" b="1" i="1" dirty="0"/>
              <a:t>UI Macros</a:t>
            </a:r>
            <a:r>
              <a:rPr lang="en-US" i="1" dirty="0"/>
              <a:t> consist of Jelly Scripting only. However, we can induce Client Script in Jelly Script as well.</a:t>
            </a:r>
            <a:endParaRPr lang="en-US" dirty="0"/>
          </a:p>
          <a:p>
            <a:r>
              <a:rPr lang="en-US" b="1" i="1" dirty="0"/>
              <a:t>UI Pages</a:t>
            </a:r>
            <a:r>
              <a:rPr lang="en-US" i="1" dirty="0"/>
              <a:t> consist of Jelly Script, Client Script, and Processing Script.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9075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2E016-FE1A-5DDA-1A43-FD2C5ECEC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67F7-556B-A095-33E8-302BBDAC4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C62A2-0B34-C2C8-05F9-5265E2D0E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639445"/>
            <a:ext cx="8946541" cy="4195481"/>
          </a:xfrm>
        </p:spPr>
        <p:txBody>
          <a:bodyPr>
            <a:normAutofit/>
          </a:bodyPr>
          <a:lstStyle/>
          <a:p>
            <a:r>
              <a:rPr lang="en-US" b="1" dirty="0"/>
              <a:t>How to use it?</a:t>
            </a:r>
          </a:p>
          <a:p>
            <a:r>
              <a:rPr lang="en-US" b="1" i="1" dirty="0"/>
              <a:t>ServiceNow</a:t>
            </a:r>
            <a:r>
              <a:rPr lang="en-US" i="1" dirty="0"/>
              <a:t> uses </a:t>
            </a:r>
            <a:r>
              <a:rPr lang="en-US" b="1" i="1" dirty="0"/>
              <a:t>Formatters</a:t>
            </a:r>
            <a:r>
              <a:rPr lang="en-US" i="1" dirty="0"/>
              <a:t> to place </a:t>
            </a:r>
            <a:r>
              <a:rPr lang="en-US" b="1" i="1" dirty="0"/>
              <a:t>UI Macros</a:t>
            </a:r>
            <a:r>
              <a:rPr lang="en-US" i="1" dirty="0"/>
              <a:t> (consisting of Jelly Scripting) in Forms.</a:t>
            </a:r>
            <a:endParaRPr lang="en-US" dirty="0"/>
          </a:p>
          <a:p>
            <a:r>
              <a:rPr lang="en-US" b="1" i="1" dirty="0"/>
              <a:t>To access or use UI Pages, There are 2 ways:-</a:t>
            </a:r>
            <a:endParaRPr lang="en-US" dirty="0"/>
          </a:p>
          <a:p>
            <a:r>
              <a:rPr lang="en-US" i="1" dirty="0"/>
              <a:t>Open UI Page directly using URI — </a:t>
            </a:r>
            <a:r>
              <a:rPr lang="en-US" b="1" i="1" dirty="0"/>
              <a:t>https:&lt;instance_name.service-now.com/&lt;</a:t>
            </a:r>
            <a:r>
              <a:rPr lang="en-US" b="1" i="1" dirty="0" err="1"/>
              <a:t>ui_page_name</a:t>
            </a:r>
            <a:r>
              <a:rPr lang="en-US" b="1" i="1" dirty="0"/>
              <a:t>&gt;.do</a:t>
            </a:r>
            <a:endParaRPr lang="en-US" dirty="0"/>
          </a:p>
          <a:p>
            <a:r>
              <a:rPr lang="en-US" i="1" dirty="0"/>
              <a:t>Open UI Page as a modal on the Client Side [using Client Script, UI Actions, etc.]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054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000"/>
                            </p:stCondLst>
                            <p:childTnLst>
                              <p:par>
                                <p:cTn id="6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9000"/>
                            </p:stCondLst>
                            <p:childTnLst>
                              <p:par>
                                <p:cTn id="7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5D91-E27F-8511-E1CE-E0DCEFA3A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C1E73-49F4-7026-9FDF-76C546CE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17BAF-2D0B-FB8D-8FCD-D590803C4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function </a:t>
            </a:r>
            <a:r>
              <a:rPr lang="en-US" dirty="0" err="1"/>
              <a:t>confirmAction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var dialog = new </a:t>
            </a:r>
            <a:r>
              <a:rPr lang="en-US" dirty="0" err="1"/>
              <a:t>GlideDialogWindow</a:t>
            </a:r>
            <a:r>
              <a:rPr lang="en-US" dirty="0"/>
              <a:t>('&lt;</a:t>
            </a:r>
            <a:r>
              <a:rPr lang="en-US" dirty="0" err="1"/>
              <a:t>ui_page_name</a:t>
            </a:r>
            <a:r>
              <a:rPr lang="en-US" dirty="0"/>
              <a:t>&gt;');</a:t>
            </a:r>
            <a:br>
              <a:rPr lang="en-US" dirty="0"/>
            </a:br>
            <a:r>
              <a:rPr lang="en-US" dirty="0" err="1"/>
              <a:t>dialog.setTitle</a:t>
            </a:r>
            <a:r>
              <a:rPr lang="en-US" dirty="0"/>
              <a:t>('My UI Page');</a:t>
            </a:r>
            <a:br>
              <a:rPr lang="en-US" dirty="0"/>
            </a:br>
            <a:r>
              <a:rPr lang="en-US" dirty="0" err="1"/>
              <a:t>dialog.setSize</a:t>
            </a:r>
            <a:r>
              <a:rPr lang="en-US" dirty="0"/>
              <a:t>(550, 200); // consists of Height and Width</a:t>
            </a:r>
            <a:br>
              <a:rPr lang="en-US" dirty="0"/>
            </a:br>
            <a:r>
              <a:rPr lang="en-US" dirty="0" err="1"/>
              <a:t>dialog.render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br>
              <a:rPr lang="en-US" dirty="0"/>
            </a:br>
            <a:r>
              <a:rPr lang="en-US" dirty="0"/>
              <a:t>OR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// This function helps you to open the UI Page in a new window.</a:t>
            </a:r>
            <a:br>
              <a:rPr lang="en-US" dirty="0"/>
            </a:br>
            <a:r>
              <a:rPr lang="en-US" dirty="0"/>
              <a:t>function </a:t>
            </a:r>
            <a:r>
              <a:rPr lang="en-US" dirty="0" err="1"/>
              <a:t>confirmAction</a:t>
            </a:r>
            <a:r>
              <a:rPr lang="en-US" dirty="0"/>
              <a:t>() {</a:t>
            </a:r>
            <a:br>
              <a:rPr lang="en-US" dirty="0"/>
            </a:br>
            <a:r>
              <a:rPr lang="en-US" dirty="0"/>
              <a:t>var features = "resizable=</a:t>
            </a:r>
            <a:r>
              <a:rPr lang="en-US" dirty="0" err="1"/>
              <a:t>yes,scrollbars</a:t>
            </a:r>
            <a:r>
              <a:rPr lang="en-US" dirty="0"/>
              <a:t>=</a:t>
            </a:r>
            <a:r>
              <a:rPr lang="en-US" dirty="0" err="1"/>
              <a:t>yes,status</a:t>
            </a:r>
            <a:r>
              <a:rPr lang="en-US" dirty="0"/>
              <a:t>=</a:t>
            </a:r>
            <a:r>
              <a:rPr lang="en-US" dirty="0" err="1"/>
              <a:t>no,toolbar</a:t>
            </a:r>
            <a:r>
              <a:rPr lang="en-US" dirty="0"/>
              <a:t>=</a:t>
            </a:r>
            <a:r>
              <a:rPr lang="en-US" dirty="0" err="1"/>
              <a:t>no,menubar</a:t>
            </a:r>
            <a:r>
              <a:rPr lang="en-US" dirty="0"/>
              <a:t>=</a:t>
            </a:r>
            <a:r>
              <a:rPr lang="en-US" dirty="0" err="1"/>
              <a:t>yes,location</a:t>
            </a:r>
            <a:r>
              <a:rPr lang="en-US" dirty="0"/>
              <a:t>=</a:t>
            </a:r>
            <a:r>
              <a:rPr lang="en-US" dirty="0" err="1"/>
              <a:t>no,width</a:t>
            </a:r>
            <a:r>
              <a:rPr lang="en-US" dirty="0"/>
              <a:t>=600,height=400";</a:t>
            </a:r>
            <a:br>
              <a:rPr lang="en-US" dirty="0"/>
            </a:br>
            <a:r>
              <a:rPr lang="en-US" dirty="0"/>
              <a:t>var </a:t>
            </a:r>
            <a:r>
              <a:rPr lang="en-US" dirty="0" err="1"/>
              <a:t>url</a:t>
            </a:r>
            <a:r>
              <a:rPr lang="en-US" dirty="0"/>
              <a:t> = 'https://dev121229.service-now.com/sam_poc1.do?sysparm_stack=</a:t>
            </a:r>
            <a:r>
              <a:rPr lang="en-US" dirty="0" err="1"/>
              <a:t>no&amp;sysparm_id</a:t>
            </a:r>
            <a:r>
              <a:rPr lang="en-US" dirty="0"/>
              <a:t>=' + </a:t>
            </a:r>
            <a:r>
              <a:rPr lang="en-US" dirty="0" err="1"/>
              <a:t>g_form.getUniqueValue</a:t>
            </a:r>
            <a:r>
              <a:rPr lang="en-US" dirty="0"/>
              <a:t>(); // Replace 'https://dev121229.service-now.com/sam_poc1.do' with your '&lt;</a:t>
            </a:r>
            <a:r>
              <a:rPr lang="en-US" dirty="0" err="1"/>
              <a:t>instance_name</a:t>
            </a:r>
            <a:r>
              <a:rPr lang="en-US" dirty="0"/>
              <a:t>/ui_page.do&gt;'</a:t>
            </a:r>
            <a:br>
              <a:rPr lang="en-US" dirty="0"/>
            </a:br>
            <a:r>
              <a:rPr lang="en-US" dirty="0" err="1"/>
              <a:t>g_navigation.open</a:t>
            </a:r>
            <a:r>
              <a:rPr lang="en-US" dirty="0"/>
              <a:t>(</a:t>
            </a:r>
            <a:r>
              <a:rPr lang="en-US" dirty="0" err="1"/>
              <a:t>url</a:t>
            </a:r>
            <a:r>
              <a:rPr lang="en-US" dirty="0"/>
              <a:t>, "</a:t>
            </a:r>
            <a:r>
              <a:rPr lang="en-US" dirty="0" err="1"/>
              <a:t>Printer_friendly_format</a:t>
            </a:r>
            <a:r>
              <a:rPr lang="en-US" dirty="0"/>
              <a:t>", features);</a:t>
            </a:r>
            <a:br>
              <a:rPr lang="en-US" dirty="0"/>
            </a:b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398464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0E698-F27A-FB0A-EA6E-1D35E13C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2EF3E-8534-134C-926E-47131AFB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4EF7C-A469-258D-1F4A-4F7BAA7138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b="1" i="1" dirty="0"/>
              <a:t>NOTE:- </a:t>
            </a:r>
            <a:r>
              <a:rPr lang="en-US" i="1" dirty="0"/>
              <a:t>The </a:t>
            </a:r>
            <a:r>
              <a:rPr lang="en-US" b="1" i="1" dirty="0" err="1"/>
              <a:t>GlideModal</a:t>
            </a:r>
            <a:r>
              <a:rPr lang="en-US" b="1" i="1" dirty="0"/>
              <a:t> </a:t>
            </a:r>
            <a:r>
              <a:rPr lang="en-US" i="1" dirty="0"/>
              <a:t>class is an alternative way of the </a:t>
            </a:r>
            <a:r>
              <a:rPr lang="en-US" b="1" i="1" dirty="0" err="1"/>
              <a:t>GlideDialogWindow</a:t>
            </a:r>
            <a:r>
              <a:rPr lang="en-US" b="1" i="1" dirty="0"/>
              <a:t> </a:t>
            </a:r>
            <a:r>
              <a:rPr lang="en-US" i="1" dirty="0"/>
              <a:t>class to call UI Page. The syntax is:</a:t>
            </a:r>
            <a:r>
              <a:rPr lang="en-US" b="1" i="1" dirty="0"/>
              <a:t>-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108921-6187-17D1-2155-4C40B553C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192" y="3238443"/>
            <a:ext cx="7490810" cy="220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687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E6188-56E1-BB31-76BC-B06A25ED1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5E4BE-4949-7715-7526-89D40EF42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FB28B-3421-AD99-8538-EE359257A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Query Parameters</a:t>
            </a:r>
          </a:p>
          <a:p>
            <a:r>
              <a:rPr lang="en-US" i="1" dirty="0"/>
              <a:t>In </a:t>
            </a:r>
            <a:r>
              <a:rPr lang="en-US" b="1" i="1" dirty="0"/>
              <a:t>Query Parameters</a:t>
            </a:r>
            <a:r>
              <a:rPr lang="en-US" i="1" dirty="0"/>
              <a:t>, an object known as </a:t>
            </a:r>
            <a:r>
              <a:rPr lang="en-US" b="1" i="1" dirty="0"/>
              <a:t>RP</a:t>
            </a:r>
            <a:r>
              <a:rPr lang="en-US" i="1" dirty="0"/>
              <a:t> has several methods like </a:t>
            </a:r>
            <a:r>
              <a:rPr lang="en-US" i="1" dirty="0" err="1"/>
              <a:t>getParameterValue</a:t>
            </a:r>
            <a:r>
              <a:rPr lang="en-US" i="1" dirty="0"/>
              <a:t>(), and </a:t>
            </a:r>
            <a:r>
              <a:rPr lang="en-US" i="1" dirty="0" err="1"/>
              <a:t>getWindowProperties</a:t>
            </a:r>
            <a:r>
              <a:rPr lang="en-US" i="1" dirty="0"/>
              <a:t>().get() that provide information about the page context in the UI Page.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93604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A29B-4D2B-8381-03FA-E3B79EFE8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2ED1-3C33-AE7D-D118-EA67E882F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85394-5B2B-EBFE-DE14-58557B9254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i="1" dirty="0"/>
              <a:t>You can use the </a:t>
            </a:r>
            <a:r>
              <a:rPr lang="en-US" i="1" dirty="0" err="1"/>
              <a:t>setPreference</a:t>
            </a:r>
            <a:r>
              <a:rPr lang="en-US" i="1" dirty="0"/>
              <a:t>() method of the </a:t>
            </a:r>
            <a:r>
              <a:rPr lang="en-US" b="1" i="1" dirty="0" err="1"/>
              <a:t>GlideDialogWindow</a:t>
            </a:r>
            <a:r>
              <a:rPr lang="en-US" i="1" dirty="0"/>
              <a:t> class to pass the query parameter from the Client Side to the UI Page 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FC70E3-F613-B9B1-518A-346B6A66F9B0}"/>
              </a:ext>
            </a:extLst>
          </p:cNvPr>
          <p:cNvSpPr txBox="1"/>
          <p:nvPr/>
        </p:nvSpPr>
        <p:spPr>
          <a:xfrm>
            <a:off x="1021080" y="2960245"/>
            <a:ext cx="886968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function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confirmAction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() {</a:t>
            </a:r>
            <a:br>
              <a:rPr lang="en-US" dirty="0"/>
            </a:b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var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 dialog = 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new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GlideDialogWindow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'&lt;</a:t>
            </a:r>
            <a:r>
              <a:rPr lang="en-US" b="0" i="0" dirty="0" err="1">
                <a:solidFill>
                  <a:srgbClr val="C41A16"/>
                </a:solidFill>
                <a:effectLst/>
                <a:latin typeface="source-code-pro"/>
              </a:rPr>
              <a:t>ui_page_name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&gt;'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);</a:t>
            </a:r>
            <a:br>
              <a:rPr lang="en-US" dirty="0"/>
            </a:b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dialog.setTitle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'My UI Page'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);</a:t>
            </a:r>
            <a:br>
              <a:rPr lang="en-US" dirty="0"/>
            </a:b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dialog.setPreference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'</a:t>
            </a:r>
            <a:r>
              <a:rPr lang="en-US" b="0" i="0" dirty="0" err="1">
                <a:solidFill>
                  <a:srgbClr val="C41A16"/>
                </a:solidFill>
                <a:effectLst/>
                <a:latin typeface="source-code-pro"/>
              </a:rPr>
              <a:t>sysparm_sysid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'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g_form.getUniqueValue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()); </a:t>
            </a:r>
            <a:r>
              <a:rPr lang="en-US" b="0" i="0" dirty="0">
                <a:solidFill>
                  <a:srgbClr val="007400"/>
                </a:solidFill>
                <a:effectLst/>
                <a:latin typeface="source-code-pro"/>
              </a:rPr>
              <a:t>// </a:t>
            </a:r>
            <a:r>
              <a:rPr lang="en-US" b="0" i="0" dirty="0" err="1">
                <a:solidFill>
                  <a:srgbClr val="007400"/>
                </a:solidFill>
                <a:effectLst/>
                <a:latin typeface="source-code-pro"/>
              </a:rPr>
              <a:t>setPreference</a:t>
            </a:r>
            <a:r>
              <a:rPr lang="en-US" b="0" i="0" dirty="0">
                <a:solidFill>
                  <a:srgbClr val="007400"/>
                </a:solidFill>
                <a:effectLst/>
                <a:latin typeface="source-code-pro"/>
              </a:rPr>
              <a:t> function used to pass the query parameters that can be used in UI Page.</a:t>
            </a:r>
            <a:br>
              <a:rPr lang="en-US" dirty="0"/>
            </a:b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dialog.setSize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(</a:t>
            </a:r>
            <a:r>
              <a:rPr lang="en-US" b="0" i="0" dirty="0">
                <a:solidFill>
                  <a:srgbClr val="1C00CF"/>
                </a:solidFill>
                <a:effectLst/>
                <a:latin typeface="source-code-pro"/>
              </a:rPr>
              <a:t>550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, </a:t>
            </a:r>
            <a:r>
              <a:rPr lang="en-US" b="0" i="0" dirty="0">
                <a:solidFill>
                  <a:srgbClr val="1C00CF"/>
                </a:solidFill>
                <a:effectLst/>
                <a:latin typeface="source-code-pro"/>
              </a:rPr>
              <a:t>200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);</a:t>
            </a:r>
            <a:br>
              <a:rPr lang="en-US" dirty="0"/>
            </a:br>
            <a:r>
              <a:rPr lang="en-US" b="0" i="0" dirty="0" err="1">
                <a:solidFill>
                  <a:srgbClr val="242424"/>
                </a:solidFill>
                <a:effectLst/>
                <a:latin typeface="source-code-pro"/>
              </a:rPr>
              <a:t>dialog.render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();</a:t>
            </a:r>
            <a:br>
              <a:rPr lang="en-US" dirty="0"/>
            </a:b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6261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48FD5-F543-46E0-B0D4-5C53B41EA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D7317-C998-C5F6-E123-A875DDA04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0A2A9-9701-C1F0-65EE-39D022A0B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Access Query Parameters in UI Page</a:t>
            </a:r>
          </a:p>
          <a:p>
            <a:r>
              <a:rPr lang="en-US" i="1" dirty="0"/>
              <a:t>There are two ways to access query parameters:-</a:t>
            </a:r>
          </a:p>
          <a:p>
            <a:r>
              <a:rPr lang="en-US" i="1" dirty="0"/>
              <a:t>Use &lt;</a:t>
            </a:r>
            <a:r>
              <a:rPr lang="en-US" i="1" dirty="0" err="1"/>
              <a:t>g:evaluate</a:t>
            </a:r>
            <a:r>
              <a:rPr lang="en-US" i="1" dirty="0"/>
              <a:t>&gt; with </a:t>
            </a:r>
            <a:r>
              <a:rPr lang="en-US" i="1" dirty="0" err="1"/>
              <a:t>RP.getParameterValue</a:t>
            </a:r>
            <a:r>
              <a:rPr lang="en-US" i="1" dirty="0"/>
              <a:t>() or </a:t>
            </a:r>
            <a:r>
              <a:rPr lang="en-US" i="1" dirty="0" err="1"/>
              <a:t>RP.getWindowProperties</a:t>
            </a:r>
            <a:r>
              <a:rPr lang="en-US" i="1" dirty="0"/>
              <a:t>().get() to get query parameters from the client script </a:t>
            </a:r>
          </a:p>
          <a:p>
            <a:r>
              <a:rPr lang="en-US" i="1" dirty="0"/>
              <a:t>Use &lt;</a:t>
            </a:r>
            <a:r>
              <a:rPr lang="en-US" i="1" dirty="0" err="1"/>
              <a:t>j:set</a:t>
            </a:r>
            <a:r>
              <a:rPr lang="en-US" i="1" dirty="0"/>
              <a:t>&gt; to get query parameters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0276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2991-1850-55BD-502D-766068100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DD7D-C9F1-62F9-C601-66BF2CFFF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32AB1-D7B2-338B-7480-DF55F784F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&lt;</a:t>
            </a:r>
            <a:r>
              <a:rPr lang="en-US" dirty="0" err="1"/>
              <a:t>g:evaluate</a:t>
            </a:r>
            <a:r>
              <a:rPr lang="en-US" dirty="0"/>
              <a:t> var="</a:t>
            </a:r>
            <a:r>
              <a:rPr lang="en-US" dirty="0" err="1"/>
              <a:t>sys_id</a:t>
            </a:r>
            <a:r>
              <a:rPr lang="en-US" dirty="0"/>
              <a:t>"&gt;</a:t>
            </a:r>
            <a:br>
              <a:rPr lang="en-US" dirty="0"/>
            </a:br>
            <a:r>
              <a:rPr lang="en-US" dirty="0"/>
              <a:t>var </a:t>
            </a:r>
            <a:r>
              <a:rPr lang="en-US" dirty="0" err="1"/>
              <a:t>sys_id</a:t>
            </a:r>
            <a:r>
              <a:rPr lang="en-US" dirty="0"/>
              <a:t> = </a:t>
            </a:r>
            <a:r>
              <a:rPr lang="en-US" dirty="0" err="1"/>
              <a:t>RP.getParameterValue</a:t>
            </a:r>
            <a:r>
              <a:rPr lang="en-US" dirty="0"/>
              <a:t>("</a:t>
            </a:r>
            <a:r>
              <a:rPr lang="en-US" dirty="0" err="1"/>
              <a:t>sysparm_sysid</a:t>
            </a:r>
            <a:r>
              <a:rPr lang="en-US" dirty="0"/>
              <a:t>");</a:t>
            </a:r>
            <a:br>
              <a:rPr lang="en-US" dirty="0"/>
            </a:br>
            <a:r>
              <a:rPr lang="en-US" dirty="0" err="1"/>
              <a:t>sys_id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g:evaluate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&lt;h1&gt;Hey, I got ${</a:t>
            </a:r>
            <a:r>
              <a:rPr lang="en-US" dirty="0" err="1"/>
              <a:t>sys_id</a:t>
            </a:r>
            <a:r>
              <a:rPr lang="en-US" dirty="0"/>
              <a:t>}.&lt;/h1&gt;</a:t>
            </a:r>
            <a:br>
              <a:rPr lang="en-US" dirty="0"/>
            </a:br>
            <a:br>
              <a:rPr lang="en-US" dirty="0"/>
            </a:br>
            <a:r>
              <a:rPr lang="en-US" sz="2200" b="1" dirty="0">
                <a:solidFill>
                  <a:srgbClr val="FF0000"/>
                </a:solidFill>
              </a:rPr>
              <a:t>OR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</a:t>
            </a:r>
            <a:r>
              <a:rPr lang="en-US" dirty="0" err="1"/>
              <a:t>g:evaluate</a:t>
            </a:r>
            <a:r>
              <a:rPr lang="en-US" dirty="0"/>
              <a:t> var="</a:t>
            </a:r>
            <a:r>
              <a:rPr lang="en-US" dirty="0" err="1"/>
              <a:t>jvar_sysid</a:t>
            </a:r>
            <a:r>
              <a:rPr lang="en-US" dirty="0"/>
              <a:t>" expression="</a:t>
            </a:r>
            <a:r>
              <a:rPr lang="en-US" dirty="0" err="1"/>
              <a:t>RP.getWindowProperties</a:t>
            </a:r>
            <a:r>
              <a:rPr lang="en-US" dirty="0"/>
              <a:t>().get('</a:t>
            </a:r>
            <a:r>
              <a:rPr lang="en-US" dirty="0" err="1"/>
              <a:t>sysparm_sysid</a:t>
            </a:r>
            <a:r>
              <a:rPr lang="en-US" dirty="0"/>
              <a:t>')"&gt;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g:evaluate</a:t>
            </a:r>
            <a:r>
              <a:rPr lang="en-US" dirty="0"/>
              <a:t>&gt;</a:t>
            </a:r>
            <a:br>
              <a:rPr lang="en-US" dirty="0"/>
            </a:br>
            <a:r>
              <a:rPr lang="en-US" dirty="0"/>
              <a:t>&lt;div&gt;</a:t>
            </a:r>
            <a:br>
              <a:rPr lang="en-US" dirty="0"/>
            </a:br>
            <a:r>
              <a:rPr lang="en-US" dirty="0"/>
              <a:t>&lt;h1&gt;Welcome, ${</a:t>
            </a:r>
            <a:r>
              <a:rPr lang="en-US" dirty="0" err="1"/>
              <a:t>jvar_sysid</a:t>
            </a:r>
            <a:r>
              <a:rPr lang="en-US" dirty="0"/>
              <a:t>}&lt;/h1&gt;</a:t>
            </a:r>
            <a:br>
              <a:rPr lang="en-US" dirty="0"/>
            </a:br>
            <a:r>
              <a:rPr lang="en-US" dirty="0"/>
              <a:t>&lt;/div&gt;</a:t>
            </a:r>
            <a:br>
              <a:rPr lang="en-US" dirty="0"/>
            </a:br>
            <a:r>
              <a:rPr lang="en-US" dirty="0"/>
              <a:t>&lt;style&gt;</a:t>
            </a:r>
            <a:br>
              <a:rPr lang="en-US" dirty="0"/>
            </a:br>
            <a:r>
              <a:rPr lang="en-US" dirty="0"/>
              <a:t>h1{</a:t>
            </a:r>
            <a:br>
              <a:rPr lang="en-US" dirty="0"/>
            </a:br>
            <a:r>
              <a:rPr lang="en-US" dirty="0" err="1"/>
              <a:t>display:inline</a:t>
            </a:r>
            <a:r>
              <a:rPr lang="en-US" dirty="0"/>
              <a:t>;</a:t>
            </a:r>
            <a:br>
              <a:rPr lang="en-US" dirty="0"/>
            </a:br>
            <a:r>
              <a:rPr lang="en-US" dirty="0"/>
              <a:t>}</a:t>
            </a:r>
            <a:br>
              <a:rPr lang="en-US" dirty="0"/>
            </a:br>
            <a:r>
              <a:rPr lang="en-US" dirty="0"/>
              <a:t>&lt;/style&gt;</a:t>
            </a:r>
          </a:p>
        </p:txBody>
      </p:sp>
    </p:spTree>
    <p:extLst>
      <p:ext uri="{BB962C8B-B14F-4D97-AF65-F5344CB8AC3E}">
        <p14:creationId xmlns:p14="http://schemas.microsoft.com/office/powerpoint/2010/main" val="9924688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5F3E8-9FF3-A5A8-4BF9-6FFD9CE13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34939-D0B5-7D6A-083A-0A5BC3AB0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A9FF1E-B75A-4423-783C-E14E162D6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616732"/>
            <a:ext cx="8954346" cy="1432386"/>
          </a:xfrm>
        </p:spPr>
        <p:txBody>
          <a:bodyPr>
            <a:noAutofit/>
          </a:bodyPr>
          <a:lstStyle/>
          <a:p>
            <a:r>
              <a:rPr lang="en-US" dirty="0"/>
              <a:t>First we need to install java from oracle </a:t>
            </a:r>
          </a:p>
          <a:p>
            <a:r>
              <a:rPr lang="en-US" dirty="0"/>
              <a:t>I will use java 8 </a:t>
            </a:r>
          </a:p>
          <a:p>
            <a:r>
              <a:rPr lang="en-US" dirty="0">
                <a:hlinkClick r:id="rId3"/>
              </a:rPr>
              <a:t>https://www.java.com/en/download/manual.jsp</a:t>
            </a:r>
            <a:endParaRPr lang="en-US" dirty="0"/>
          </a:p>
          <a:p>
            <a:r>
              <a:rPr lang="en-US" dirty="0">
                <a:hlinkClick r:id="rId4"/>
              </a:rPr>
              <a:t>https://adoptium.net/temurin/releases/?version=8</a:t>
            </a:r>
            <a:endParaRPr lang="en-US" dirty="0"/>
          </a:p>
          <a:p>
            <a:r>
              <a:rPr lang="en-US" dirty="0"/>
              <a:t>Then in environment system variable we will add JAVA_HOME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86D522-EB55-BD41-EFD1-6A71E3C1C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079" y="4167837"/>
            <a:ext cx="5074921" cy="2690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5B811B-0A55-EA75-2118-EC030D660D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34" y="4509867"/>
            <a:ext cx="5309115" cy="1738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67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C0458-99CB-22C5-51D4-EEF46B0A8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B97FC-196E-0D9D-C14C-FEDD89901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F03E786-D20A-DCDA-0C93-D222081BF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Autofit/>
          </a:bodyPr>
          <a:lstStyle/>
          <a:p>
            <a:r>
              <a:rPr lang="en-US" dirty="0"/>
              <a:t>First we need to install java from oracle </a:t>
            </a:r>
          </a:p>
          <a:p>
            <a:r>
              <a:rPr lang="en-US" dirty="0"/>
              <a:t>I will use java 8 </a:t>
            </a:r>
          </a:p>
          <a:p>
            <a:r>
              <a:rPr lang="en-US" dirty="0">
                <a:hlinkClick r:id="rId3"/>
              </a:rPr>
              <a:t>https://www.java.com/en/download/manual.jsp</a:t>
            </a:r>
            <a:endParaRPr lang="en-US" dirty="0"/>
          </a:p>
          <a:p>
            <a:r>
              <a:rPr lang="en-US" dirty="0">
                <a:hlinkClick r:id="rId4"/>
              </a:rPr>
              <a:t>https://adoptium.net/temurin/releases/?version=8</a:t>
            </a:r>
            <a:endParaRPr lang="en-US" dirty="0"/>
          </a:p>
          <a:p>
            <a:r>
              <a:rPr lang="en-US" dirty="0"/>
              <a:t>Then in environment system variable we will add JAVA_HOME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6F7299-6AC5-D33F-077F-8D59F1FBF7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6079" y="4167837"/>
            <a:ext cx="5074921" cy="2690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5C48C1-D70D-8024-28C2-ACCDB8AB49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334" y="4509867"/>
            <a:ext cx="5309115" cy="173853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2EEFAA-C757-E3B5-7DB3-857169F4D9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42093" y="0"/>
            <a:ext cx="5772573" cy="2356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6309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E98F1-215D-C7D1-B6B5-05C20E596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719B-401E-BB06-1D39-137E818C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F0363E-A61A-9B67-885F-CDB459FCC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To make sure that java is running</a:t>
            </a:r>
          </a:p>
          <a:p>
            <a:r>
              <a:rPr lang="en-US" dirty="0"/>
              <a:t>Open </a:t>
            </a:r>
            <a:r>
              <a:rPr lang="en-US" dirty="0" err="1"/>
              <a:t>cmd</a:t>
            </a:r>
            <a:r>
              <a:rPr lang="en-US" dirty="0"/>
              <a:t> and run java --version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C1ABD9-A759-9E8A-465C-74592B399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801" y="3638186"/>
            <a:ext cx="7373379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59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A384F-3A89-4B5B-044E-CEEDE158FD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CC65B-AE05-28C9-299A-42145B4F0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83CFE5-0A7D-5122-A7B0-03D2A4911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Then we will download maven to can run any jelly script </a:t>
            </a:r>
          </a:p>
          <a:p>
            <a:r>
              <a:rPr lang="en-US" dirty="0">
                <a:hlinkClick r:id="rId3"/>
              </a:rPr>
              <a:t>https://maven.apache.org/download.cgi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7EE1DD-F15B-501F-59BF-6628B012C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8255" y="3059462"/>
            <a:ext cx="10693586" cy="208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411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984DE-A72E-791B-C8D5-3C5C813F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760C8-F776-6A08-339C-3A53D1AC9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62B2095-EFD1-0352-C50D-1A7CEAD96E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Then create folder in </a:t>
            </a:r>
            <a:r>
              <a:rPr lang="de-DE" b="1" dirty="0"/>
              <a:t>C:\Program Files</a:t>
            </a:r>
            <a:r>
              <a:rPr lang="en-US" b="1" dirty="0"/>
              <a:t> </a:t>
            </a:r>
            <a:r>
              <a:rPr lang="de-DE" dirty="0"/>
              <a:t>called </a:t>
            </a:r>
            <a:r>
              <a:rPr lang="de-DE" b="1" dirty="0"/>
              <a:t>maven and copy the extracted from zip</a:t>
            </a:r>
          </a:p>
          <a:p>
            <a:r>
              <a:rPr lang="de-DE" b="1" dirty="0"/>
              <a:t>Add in enviroment system the path of maven to make run mvn command</a:t>
            </a:r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74738-19A6-9BEC-4A70-4EF312987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815" y="3136651"/>
            <a:ext cx="6284186" cy="2892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158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3E002-96B0-D736-F025-30DA829AC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21B0-1C12-E463-92B0-910CDC5FF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0788D08-78A9-924A-D6E7-5E56A05BB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Then create folder in </a:t>
            </a:r>
            <a:r>
              <a:rPr lang="de-DE" b="1" dirty="0"/>
              <a:t>C:\Program Files</a:t>
            </a:r>
            <a:r>
              <a:rPr lang="en-US" b="1" dirty="0"/>
              <a:t> </a:t>
            </a:r>
            <a:r>
              <a:rPr lang="de-DE" dirty="0"/>
              <a:t>called </a:t>
            </a:r>
            <a:r>
              <a:rPr lang="de-DE" b="1" dirty="0"/>
              <a:t>maven and copy the extracted from zip</a:t>
            </a:r>
          </a:p>
          <a:p>
            <a:r>
              <a:rPr lang="de-DE" b="1" dirty="0"/>
              <a:t>Add in enviroment system the path of maven to make run mvn command</a:t>
            </a:r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25751-DFB1-E572-5AC9-CD16F7A34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458" y="3686953"/>
            <a:ext cx="5001323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34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A8854-4440-2EF9-BC6C-AB8B59C16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1EB87-BFE9-18C9-C9EF-4E60B935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2EE8CCE-7A80-E1E3-1B1E-62AEBFAD05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To make sure that is maven is running open CMD</a:t>
            </a:r>
          </a:p>
          <a:p>
            <a:r>
              <a:rPr lang="en-US" b="1" dirty="0" err="1"/>
              <a:t>Mvn</a:t>
            </a:r>
            <a:r>
              <a:rPr lang="en-US" b="1" dirty="0"/>
              <a:t> –version</a:t>
            </a:r>
          </a:p>
          <a:p>
            <a:r>
              <a:rPr lang="en-US" b="1" dirty="0"/>
              <a:t>Also that show the java is running in Maven</a:t>
            </a:r>
          </a:p>
          <a:p>
            <a:r>
              <a:rPr lang="en-US" b="1" dirty="0"/>
              <a:t>May be need to restart your PC to make sure everything is running</a:t>
            </a:r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71B12D-6DCD-C052-B298-C856CF9C7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3557350"/>
            <a:ext cx="5001323" cy="10574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7FB05E-ACC5-BAFA-9AC5-00EF93EDB7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7678" y="4614773"/>
            <a:ext cx="8916644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84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9287C-BB5F-D4EE-CBCD-0F1C8F2F7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0B0A5-3956-0580-4101-C44C0906B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POM FILE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4088218-DF09-110C-6CB8-68DC9E805B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Autofit/>
          </a:bodyPr>
          <a:lstStyle/>
          <a:p>
            <a:r>
              <a:rPr lang="en-US" dirty="0"/>
              <a:t>In the context of </a:t>
            </a:r>
            <a:r>
              <a:rPr lang="en-US" b="1" dirty="0" err="1"/>
              <a:t>JellyScript</a:t>
            </a:r>
            <a:r>
              <a:rPr lang="en-US" dirty="0"/>
              <a:t>, a </a:t>
            </a:r>
            <a:r>
              <a:rPr lang="en-US" b="1" dirty="0"/>
              <a:t>POM file</a:t>
            </a:r>
            <a:r>
              <a:rPr lang="en-US" dirty="0"/>
              <a:t> usually refers to the same concept used in the Java ecosystem: a </a:t>
            </a:r>
            <a:r>
              <a:rPr lang="en-US" b="1" dirty="0"/>
              <a:t>Project Object Model (POM)</a:t>
            </a:r>
            <a:r>
              <a:rPr lang="en-US" dirty="0"/>
              <a:t> file used by </a:t>
            </a:r>
            <a:r>
              <a:rPr lang="en-US" b="1" dirty="0"/>
              <a:t>Apache Maven</a:t>
            </a:r>
            <a:r>
              <a:rPr lang="en-US" dirty="0"/>
              <a:t>.</a:t>
            </a:r>
          </a:p>
          <a:p>
            <a:r>
              <a:rPr lang="en-US" b="1" dirty="0"/>
              <a:t>What is a POM file?</a:t>
            </a:r>
          </a:p>
          <a:p>
            <a:r>
              <a:rPr lang="en-US" dirty="0"/>
              <a:t>A </a:t>
            </a:r>
            <a:r>
              <a:rPr lang="en-US" b="1" dirty="0"/>
              <a:t>POM file</a:t>
            </a:r>
            <a:r>
              <a:rPr lang="en-US" dirty="0"/>
              <a:t> is an XML file named:</a:t>
            </a:r>
          </a:p>
          <a:p>
            <a:r>
              <a:rPr lang="en-US" dirty="0"/>
              <a:t>It defines:</a:t>
            </a:r>
          </a:p>
          <a:p>
            <a:pPr lvl="1"/>
            <a:r>
              <a:rPr lang="en-US" dirty="0"/>
              <a:t>Project metadata (name, version, description)</a:t>
            </a:r>
          </a:p>
          <a:p>
            <a:pPr lvl="1"/>
            <a:r>
              <a:rPr lang="en-US" dirty="0"/>
              <a:t>Dependencies (external libraries your project needs)</a:t>
            </a:r>
          </a:p>
          <a:p>
            <a:pPr lvl="1"/>
            <a:r>
              <a:rPr lang="en-US" dirty="0"/>
              <a:t>Build configuration</a:t>
            </a:r>
          </a:p>
          <a:p>
            <a:pPr lvl="1"/>
            <a:r>
              <a:rPr lang="en-US" dirty="0"/>
              <a:t>Plugins</a:t>
            </a:r>
          </a:p>
          <a:p>
            <a:pPr lvl="1"/>
            <a:r>
              <a:rPr lang="en-US" dirty="0"/>
              <a:t>Packaging type</a:t>
            </a:r>
          </a:p>
          <a:p>
            <a:pPr lvl="1"/>
            <a:r>
              <a:rPr lang="en-US" dirty="0"/>
              <a:t>Repository information</a:t>
            </a:r>
          </a:p>
          <a:p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524184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E0490-4BA2-3967-9D0B-32086800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4160A-4409-2350-15D9-FED9B8D9A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POM FILE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C03E6F4-8621-BDFE-1286-A0BB060AA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Autofit/>
          </a:bodyPr>
          <a:lstStyle/>
          <a:p>
            <a:r>
              <a:rPr lang="en-US" b="1" dirty="0"/>
              <a:t>Why would </a:t>
            </a:r>
            <a:r>
              <a:rPr lang="en-US" b="1" dirty="0" err="1"/>
              <a:t>JellyScript</a:t>
            </a:r>
            <a:r>
              <a:rPr lang="en-US" b="1" dirty="0"/>
              <a:t> have a POM file?</a:t>
            </a:r>
          </a:p>
          <a:p>
            <a:r>
              <a:rPr lang="en-US" dirty="0"/>
              <a:t>If </a:t>
            </a:r>
            <a:r>
              <a:rPr lang="en-US" dirty="0" err="1"/>
              <a:t>JellyScript</a:t>
            </a:r>
            <a:r>
              <a:rPr lang="en-US" dirty="0"/>
              <a:t>:</a:t>
            </a:r>
          </a:p>
          <a:p>
            <a:r>
              <a:rPr lang="en-US" dirty="0"/>
              <a:t>Runs on the JVM, or</a:t>
            </a:r>
          </a:p>
          <a:p>
            <a:r>
              <a:rPr lang="en-US" dirty="0"/>
              <a:t>Integrates with Java libraries, or</a:t>
            </a:r>
          </a:p>
          <a:p>
            <a:r>
              <a:rPr lang="en-US" dirty="0"/>
              <a:t>Is built using Maven</a:t>
            </a:r>
          </a:p>
          <a:p>
            <a:r>
              <a:rPr lang="en-US" dirty="0"/>
              <a:t>then it may use a pom.xml file to manage dependencies and builds.</a:t>
            </a:r>
          </a:p>
          <a:p>
            <a:r>
              <a:rPr lang="en-US" b="1" dirty="0"/>
              <a:t>In Simple Terms</a:t>
            </a:r>
          </a:p>
          <a:p>
            <a:r>
              <a:rPr lang="en-US" dirty="0"/>
              <a:t>Think of a </a:t>
            </a:r>
            <a:r>
              <a:rPr lang="en-US" b="1" dirty="0"/>
              <a:t>POM file</a:t>
            </a:r>
            <a:r>
              <a:rPr lang="en-US" dirty="0"/>
              <a:t> as:</a:t>
            </a:r>
          </a:p>
          <a:p>
            <a:r>
              <a:rPr lang="en-US" dirty="0"/>
              <a:t>The configuration file that tells Maven how to build your project and what libraries it needs.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961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38C7DF-FDC0-2C22-40DC-B7AB424F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363F1-83DF-7769-01AE-803C16CBD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POM FILE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19B7FE2-00EA-5FC1-1750-716ABFDC76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5825" y="1311593"/>
            <a:ext cx="5144346" cy="2589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8EB715-4048-EBB5-52C0-E9306FA1C2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2127" y="657829"/>
            <a:ext cx="5144346" cy="285726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121467-A6D2-AFD6-DDD0-EA26D94FAB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1871" y="4057259"/>
            <a:ext cx="5582429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180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E09F9-DC8C-BA5E-EA09-5B2673829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690D8-75E2-131F-7642-508B57D89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9C21535-FA95-5529-451D-90566108BA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8954346" cy="1432386"/>
          </a:xfrm>
        </p:spPr>
        <p:txBody>
          <a:bodyPr>
            <a:normAutofit/>
          </a:bodyPr>
          <a:lstStyle/>
          <a:p>
            <a:r>
              <a:rPr lang="en-US" dirty="0"/>
              <a:t>To make build for all .jelly file</a:t>
            </a:r>
          </a:p>
          <a:p>
            <a:r>
              <a:rPr lang="en-US" b="1" dirty="0"/>
              <a:t>Create file Main.java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CDFF60-82AE-5681-DF58-256AA4474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2256" y="3171048"/>
            <a:ext cx="5934903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02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C7B42-80AC-84BE-9F68-EB6C27399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33CDE-684C-BE00-C45C-A240E8D50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2D2D978-38A7-4C3D-F4B9-40EE5B80F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10082106" cy="2818098"/>
          </a:xfrm>
        </p:spPr>
        <p:txBody>
          <a:bodyPr>
            <a:normAutofit/>
          </a:bodyPr>
          <a:lstStyle/>
          <a:p>
            <a:r>
              <a:rPr lang="en-US" sz="1600" dirty="0"/>
              <a:t>Main.java File</a:t>
            </a:r>
            <a:endParaRPr lang="en-US" sz="23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079A13-D790-315A-B45F-30ACED771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795" y="208304"/>
            <a:ext cx="4505731" cy="212339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3FDF45-54A3-44C3-DCD8-030796E41A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248" y="2323946"/>
            <a:ext cx="5260958" cy="19497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FFA4C12-ED5C-143C-49E5-661A59CB9E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036" y="2402093"/>
            <a:ext cx="4762947" cy="21546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239749-7A1D-59BF-D675-AF44E851B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248" y="4484370"/>
            <a:ext cx="3962829" cy="198448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B032D3-87C2-3A66-4650-E8E5DCE6408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59532" y="4578426"/>
            <a:ext cx="4346128" cy="22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531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5B46-86D0-89D4-615C-24F1D7072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C1E9F-D998-5BE6-6B0A-110A049C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032547-6B22-71C4-F655-425A98AE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10082106" cy="2818098"/>
          </a:xfrm>
        </p:spPr>
        <p:txBody>
          <a:bodyPr>
            <a:normAutofit/>
          </a:bodyPr>
          <a:lstStyle/>
          <a:p>
            <a:r>
              <a:rPr lang="en-US" sz="1600" dirty="0"/>
              <a:t>Main.java File</a:t>
            </a:r>
            <a:endParaRPr lang="en-US" sz="2300" b="1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743B61-5830-4EBE-4758-1B68036D82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71" y="2313501"/>
            <a:ext cx="5582429" cy="3372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3F09A8-BF6E-6BE7-FA7E-BC63263D93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9763" y="609600"/>
            <a:ext cx="5249008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889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929AE-4D9D-62C5-34B5-17932643B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0DDBB-7AE7-B563-7BE3-9AE253689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633EEC3-72D4-3E87-69B5-E0C2E2AE5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38662"/>
            <a:ext cx="10082106" cy="2818098"/>
          </a:xfrm>
        </p:spPr>
        <p:txBody>
          <a:bodyPr>
            <a:normAutofit fontScale="77500" lnSpcReduction="20000"/>
          </a:bodyPr>
          <a:lstStyle/>
          <a:p>
            <a:r>
              <a:rPr lang="en-US" sz="1600" dirty="0"/>
              <a:t>Some Command may you will need it in </a:t>
            </a:r>
            <a:r>
              <a:rPr lang="en-US" sz="1600" dirty="0" err="1"/>
              <a:t>mvn</a:t>
            </a:r>
            <a:endParaRPr lang="en-US" sz="1600" dirty="0"/>
          </a:p>
          <a:p>
            <a:r>
              <a:rPr lang="en-US" sz="2300" b="1" dirty="0" err="1"/>
              <a:t>Mvn</a:t>
            </a:r>
            <a:r>
              <a:rPr lang="en-US" sz="2300" b="1" dirty="0"/>
              <a:t> clean</a:t>
            </a:r>
          </a:p>
          <a:p>
            <a:r>
              <a:rPr lang="en-US" sz="2300" b="1" dirty="0" err="1"/>
              <a:t>mvn</a:t>
            </a:r>
            <a:r>
              <a:rPr lang="en-US" sz="2300" b="1" dirty="0"/>
              <a:t> </a:t>
            </a:r>
            <a:r>
              <a:rPr lang="en-US" sz="2300" b="1" dirty="0" err="1"/>
              <a:t>exec:java</a:t>
            </a:r>
            <a:r>
              <a:rPr lang="en-US" sz="2300" b="1" dirty="0"/>
              <a:t> -</a:t>
            </a:r>
            <a:r>
              <a:rPr lang="en-US" sz="2300" b="1" dirty="0" err="1"/>
              <a:t>Dexec.mainClass</a:t>
            </a:r>
            <a:r>
              <a:rPr lang="en-US" sz="2300" b="1" dirty="0"/>
              <a:t>=</a:t>
            </a:r>
            <a:r>
              <a:rPr lang="en-US" sz="2300" b="1" dirty="0" err="1"/>
              <a:t>org.apache.commons.jelly.Jelly</a:t>
            </a:r>
            <a:r>
              <a:rPr lang="en-US" sz="2300" b="1" dirty="0"/>
              <a:t> -</a:t>
            </a:r>
            <a:r>
              <a:rPr lang="en-US" sz="2300" b="1" dirty="0" err="1"/>
              <a:t>Dexec.args</a:t>
            </a:r>
            <a:r>
              <a:rPr lang="en-US" sz="2300" b="1" dirty="0"/>
              <a:t>=“</a:t>
            </a:r>
            <a:r>
              <a:rPr lang="en-US" sz="2300" b="1" dirty="0" err="1"/>
              <a:t>your_script.jelly</a:t>
            </a:r>
            <a:r>
              <a:rPr lang="en-US" sz="2300" b="1" dirty="0"/>
              <a:t> -o target/page.html“ to make it out as html file</a:t>
            </a:r>
          </a:p>
          <a:p>
            <a:r>
              <a:rPr lang="en-US" sz="2300" b="1" dirty="0" err="1"/>
              <a:t>mvn</a:t>
            </a:r>
            <a:r>
              <a:rPr lang="en-US" sz="2300" b="1" dirty="0"/>
              <a:t> </a:t>
            </a:r>
            <a:r>
              <a:rPr lang="en-US" sz="2300" b="1" dirty="0" err="1"/>
              <a:t>dependency:tree</a:t>
            </a:r>
            <a:endParaRPr lang="en-US" sz="2300" b="1" dirty="0"/>
          </a:p>
          <a:p>
            <a:r>
              <a:rPr lang="en-US" sz="2300" b="1" dirty="0" err="1"/>
              <a:t>mvn</a:t>
            </a:r>
            <a:r>
              <a:rPr lang="en-US" sz="2300" b="1" dirty="0"/>
              <a:t> clean compile </a:t>
            </a:r>
            <a:r>
              <a:rPr lang="en-US" sz="2300" b="1" dirty="0" err="1"/>
              <a:t>exec:java</a:t>
            </a:r>
            <a:r>
              <a:rPr lang="en-US" sz="2300" b="1" dirty="0"/>
              <a:t> -</a:t>
            </a:r>
            <a:r>
              <a:rPr lang="en-US" sz="2300" b="1" dirty="0" err="1"/>
              <a:t>Dexec.mainClass</a:t>
            </a:r>
            <a:r>
              <a:rPr lang="en-US" sz="2300" b="1" dirty="0"/>
              <a:t>=</a:t>
            </a:r>
            <a:r>
              <a:rPr lang="en-US" sz="2300" b="1" dirty="0" err="1"/>
              <a:t>org.apache.commons.jelly.Jelly</a:t>
            </a:r>
            <a:r>
              <a:rPr lang="en-US" sz="2300" b="1" dirty="0"/>
              <a:t> -</a:t>
            </a:r>
            <a:r>
              <a:rPr lang="en-US" sz="2300" b="1" dirty="0" err="1"/>
              <a:t>Dexec.args</a:t>
            </a:r>
            <a:r>
              <a:rPr lang="en-US" sz="2300" b="1" dirty="0"/>
              <a:t>=“</a:t>
            </a:r>
            <a:r>
              <a:rPr lang="en-US" sz="2300" b="1" dirty="0" err="1"/>
              <a:t>your_script.jelly</a:t>
            </a:r>
            <a:r>
              <a:rPr lang="en-US" sz="2300" b="1" dirty="0"/>
              <a:t> -o page.html“</a:t>
            </a:r>
          </a:p>
          <a:p>
            <a:r>
              <a:rPr lang="en-US" sz="2300" b="1" dirty="0" err="1"/>
              <a:t>mvn</a:t>
            </a:r>
            <a:r>
              <a:rPr lang="en-US" sz="2300" b="1" dirty="0"/>
              <a:t> clean compile </a:t>
            </a:r>
            <a:r>
              <a:rPr lang="en-US" sz="2300" b="1" dirty="0" err="1"/>
              <a:t>exec:java</a:t>
            </a:r>
            <a:r>
              <a:rPr lang="en-US" sz="2300" b="1" dirty="0"/>
              <a:t> "-</a:t>
            </a:r>
            <a:r>
              <a:rPr lang="en-US" sz="2300" b="1" dirty="0" err="1"/>
              <a:t>Dexec.mainClass</a:t>
            </a:r>
            <a:r>
              <a:rPr lang="en-US" sz="2300" b="1" dirty="0"/>
              <a:t>=Main“  </a:t>
            </a:r>
            <a:r>
              <a:rPr lang="en-US" sz="2300" b="1" dirty="0">
                <a:sym typeface="Wingdings" panose="05000000000000000000" pitchFamily="2" charset="2"/>
              </a:rPr>
              <a:t> </a:t>
            </a:r>
            <a:r>
              <a:rPr lang="en-US" sz="2300" b="1" dirty="0">
                <a:highlight>
                  <a:srgbClr val="FFFF00"/>
                </a:highlight>
                <a:sym typeface="Wingdings" panose="05000000000000000000" pitchFamily="2" charset="2"/>
              </a:rPr>
              <a:t>To build many files .jelly</a:t>
            </a:r>
            <a:endParaRPr lang="en-US" sz="2300" b="1" dirty="0">
              <a:highlight>
                <a:srgbClr val="FFFF00"/>
              </a:highlight>
            </a:endParaRPr>
          </a:p>
          <a:p>
            <a:endParaRPr lang="en-US" sz="2300" b="1" dirty="0"/>
          </a:p>
        </p:txBody>
      </p:sp>
    </p:spTree>
    <p:extLst>
      <p:ext uri="{BB962C8B-B14F-4D97-AF65-F5344CB8AC3E}">
        <p14:creationId xmlns:p14="http://schemas.microsoft.com/office/powerpoint/2010/main" val="39244039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F12E41-918C-179E-553E-BF4A80F61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6BFC0-CE30-1B14-EEF9-5C5AACAA9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3AFB22C-EBDC-3FFD-052F-EA556168E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8334" y="5152422"/>
            <a:ext cx="8954346" cy="1432386"/>
          </a:xfrm>
        </p:spPr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@balena/jellyfish-jellyscript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DF3C678-6E40-6D88-56B4-DB745EA24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3294" y="1681003"/>
            <a:ext cx="7325546" cy="292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6918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3881715-025A-7F89-653B-D6DF15CE0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1CC06-05D8-F88F-CF6E-076F7BEE7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225CF16-C843-86A0-54D4-E9A035EA2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https://commons.apache.org/jelly/download_jelly.cgi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9510B9-A6E1-6D5F-C0DF-6D4C85E59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111" y="2386524"/>
            <a:ext cx="8883891" cy="324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16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6554B63-E977-E9E6-ECA4-844A426F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4CA8F-15AB-4A14-9A66-8F7557A9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151DEA-0CB3-DC1F-76CD-08A94E039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https://commons.apache.org/jelly/download_jelly.cgi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31D62A-C706-195F-F5DC-16C0F91EE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4" y="2225520"/>
            <a:ext cx="7822545" cy="286190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DDF877-510F-A1FD-E052-F9C0F910FE1D}"/>
              </a:ext>
            </a:extLst>
          </p:cNvPr>
          <p:cNvSpPr txBox="1"/>
          <p:nvPr/>
        </p:nvSpPr>
        <p:spPr>
          <a:xfrm>
            <a:off x="1508799" y="5580666"/>
            <a:ext cx="79440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set CLASSPATH=C:\path\to\jelly\commons-jelly-1.0.1.jar;%CLASSPATH%</a:t>
            </a:r>
          </a:p>
        </p:txBody>
      </p:sp>
    </p:spTree>
    <p:extLst>
      <p:ext uri="{BB962C8B-B14F-4D97-AF65-F5344CB8AC3E}">
        <p14:creationId xmlns:p14="http://schemas.microsoft.com/office/powerpoint/2010/main" val="2722057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BA7615-5C77-A3C4-9D24-DA55E6D7E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AEE92-7F88-65DB-FF1C-8CA599D48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5F1EE8-E882-544F-AEE3-2F499C549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https://commons.apache.org/jelly/download_jelly.cgi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30C4FE-0602-D391-AE40-B097992AC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5" y="2409135"/>
            <a:ext cx="8261219" cy="18757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B5B0E71-98B5-8237-A792-A13A70E4F28E}"/>
              </a:ext>
            </a:extLst>
          </p:cNvPr>
          <p:cNvSpPr txBox="1"/>
          <p:nvPr/>
        </p:nvSpPr>
        <p:spPr>
          <a:xfrm>
            <a:off x="1569674" y="5017431"/>
            <a:ext cx="8473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export CLASSPATH=/path/to/jelly/commons-jelly-1.0.1.jar:$CLASSPATH</a:t>
            </a:r>
          </a:p>
        </p:txBody>
      </p:sp>
    </p:spTree>
    <p:extLst>
      <p:ext uri="{BB962C8B-B14F-4D97-AF65-F5344CB8AC3E}">
        <p14:creationId xmlns:p14="http://schemas.microsoft.com/office/powerpoint/2010/main" val="11770812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EFACADF-A798-E759-F0C6-276987B2C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61725-6482-A00C-FC8B-2729321F6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6FC146E-EAAF-4BC7-8F19-70A59134A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https://commons.apache.org/jelly/download_jelly.cgi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B62A7E-1DFE-B044-22BD-9C36EFD154BC}"/>
              </a:ext>
            </a:extLst>
          </p:cNvPr>
          <p:cNvSpPr txBox="1"/>
          <p:nvPr/>
        </p:nvSpPr>
        <p:spPr>
          <a:xfrm>
            <a:off x="1569674" y="5017431"/>
            <a:ext cx="8473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jar </a:t>
            </a:r>
            <a:r>
              <a:rPr lang="en-US" dirty="0" err="1"/>
              <a:t>tf</a:t>
            </a:r>
            <a:r>
              <a:rPr lang="en-US" dirty="0"/>
              <a:t> commons-jelly.jar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2E26DB-2161-1305-7F2D-D4F140D3E6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556" y="2303734"/>
            <a:ext cx="5068007" cy="1352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638D7F-2BDB-3526-A61E-2D23D37CB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470" y="2889252"/>
            <a:ext cx="3524742" cy="29436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C935CCC-9958-AF3D-E9CB-75EA9F452593}"/>
              </a:ext>
            </a:extLst>
          </p:cNvPr>
          <p:cNvSpPr txBox="1"/>
          <p:nvPr/>
        </p:nvSpPr>
        <p:spPr>
          <a:xfrm>
            <a:off x="300990" y="5877941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https://maven.apache.org/download.cgi</a:t>
            </a:r>
          </a:p>
        </p:txBody>
      </p:sp>
    </p:spTree>
    <p:extLst>
      <p:ext uri="{BB962C8B-B14F-4D97-AF65-F5344CB8AC3E}">
        <p14:creationId xmlns:p14="http://schemas.microsoft.com/office/powerpoint/2010/main" val="16287161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C708FA-2BB0-0A6F-A826-069509A0D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650D6-512B-AC81-A990-EBD9F77BF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AF04EF-D215-D048-D5C7-25DE98908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https://commons.apache.org/logging/download_logging.cgi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A17289-91FF-88CB-84E2-1F99140827CE}"/>
              </a:ext>
            </a:extLst>
          </p:cNvPr>
          <p:cNvSpPr txBox="1"/>
          <p:nvPr/>
        </p:nvSpPr>
        <p:spPr>
          <a:xfrm>
            <a:off x="1569674" y="5017431"/>
            <a:ext cx="8473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jar </a:t>
            </a:r>
            <a:r>
              <a:rPr lang="en-US" dirty="0" err="1"/>
              <a:t>tf</a:t>
            </a:r>
            <a:r>
              <a:rPr lang="en-US" dirty="0"/>
              <a:t> commons-logging-1.3.5.jar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B25540-DFE4-E500-67F3-4A9CDBFD9501}"/>
              </a:ext>
            </a:extLst>
          </p:cNvPr>
          <p:cNvSpPr txBox="1"/>
          <p:nvPr/>
        </p:nvSpPr>
        <p:spPr>
          <a:xfrm>
            <a:off x="300990" y="5877941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https://maven.apache.org/download.cgi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56DB4D-1D49-7DF1-5B30-0BF772458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17" y="2353789"/>
            <a:ext cx="7574511" cy="250602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62779D-ED94-3CDA-2F80-9C14DE9D3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2812" y="5177649"/>
            <a:ext cx="3820058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749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9AE0309-88A9-59F2-9CBA-3113F66AF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AC97DD-7725-43B2-F90C-F98C800B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2DAF5F-9858-F0E2-E8FB-66B650EEF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https://repo1.maven.org/maven2/commons-beanutils/commons-beanutils/1.9.4/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D37F4D-D895-E687-8051-2FBF02BBCA0C}"/>
              </a:ext>
            </a:extLst>
          </p:cNvPr>
          <p:cNvSpPr txBox="1"/>
          <p:nvPr/>
        </p:nvSpPr>
        <p:spPr>
          <a:xfrm>
            <a:off x="300990" y="4681517"/>
            <a:ext cx="8473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jar </a:t>
            </a:r>
            <a:r>
              <a:rPr lang="en-US" dirty="0" err="1"/>
              <a:t>tf</a:t>
            </a:r>
            <a:r>
              <a:rPr lang="en-US" dirty="0"/>
              <a:t> commons-beanutils-1.9.4-javadoc.jar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4FBDA6-50F2-2D7E-7D6E-40EA181EEE9B}"/>
              </a:ext>
            </a:extLst>
          </p:cNvPr>
          <p:cNvSpPr txBox="1"/>
          <p:nvPr/>
        </p:nvSpPr>
        <p:spPr>
          <a:xfrm>
            <a:off x="300990" y="5877941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https://maven.apache.org/download.cgi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385D7F-E381-9A17-ADB2-5C6D643FA9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4949" y="2331404"/>
            <a:ext cx="5475452" cy="44166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B1C723-FBBA-5DE9-E62F-17E29BB14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939" y="2737937"/>
            <a:ext cx="5144218" cy="138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3143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EBEC9D-9EF8-1E4F-1956-5F47F5138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2A9D5-CE9E-0113-8FC9-9D4ED392C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A3872F-C24B-542B-673B-1577F523E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https://repo1.maven.org/maven2/commons-collections/commons-collections/3.2.2/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7C20E3-75FF-6304-D1CF-D716D3D54D47}"/>
              </a:ext>
            </a:extLst>
          </p:cNvPr>
          <p:cNvSpPr txBox="1"/>
          <p:nvPr/>
        </p:nvSpPr>
        <p:spPr>
          <a:xfrm>
            <a:off x="300990" y="4681517"/>
            <a:ext cx="8473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jar </a:t>
            </a:r>
            <a:r>
              <a:rPr lang="en-US" dirty="0" err="1"/>
              <a:t>tf</a:t>
            </a:r>
            <a:r>
              <a:rPr lang="en-US" dirty="0"/>
              <a:t> commons-collections-3.2.2-javadoc.jar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8A4FBA-B7D2-94FE-24A5-D50DDF5E23BC}"/>
              </a:ext>
            </a:extLst>
          </p:cNvPr>
          <p:cNvSpPr txBox="1"/>
          <p:nvPr/>
        </p:nvSpPr>
        <p:spPr>
          <a:xfrm>
            <a:off x="300990" y="5877941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https://maven.apache.org/download.cgi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0EC792-D78E-2FC4-95FC-45E39A032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922" y="2498843"/>
            <a:ext cx="5517107" cy="37484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9EAE78E-946F-EE70-0D40-7F9FD80ECA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486" y="2449312"/>
            <a:ext cx="3350247" cy="21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587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C716BD-4D9C-9154-5F9C-D43DE6598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4A18E-2CC8-971B-64DC-1BBC2809D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3E39EF-D911-9037-AFFD-2490D8E440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https://repo1.maven.org/maven2/commons-digester/commons-digester/1.8.1/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6CEB11-50C6-A9D7-A54F-5A2708499331}"/>
              </a:ext>
            </a:extLst>
          </p:cNvPr>
          <p:cNvSpPr txBox="1"/>
          <p:nvPr/>
        </p:nvSpPr>
        <p:spPr>
          <a:xfrm>
            <a:off x="300990" y="4681517"/>
            <a:ext cx="84734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jar </a:t>
            </a:r>
            <a:r>
              <a:rPr lang="en-US" dirty="0" err="1"/>
              <a:t>tf</a:t>
            </a:r>
            <a:r>
              <a:rPr lang="en-US" dirty="0"/>
              <a:t> commons-digester-1.8.1-javadoc.jar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43D89B-D03F-E331-09D6-1991B10DA7CE}"/>
              </a:ext>
            </a:extLst>
          </p:cNvPr>
          <p:cNvSpPr txBox="1"/>
          <p:nvPr/>
        </p:nvSpPr>
        <p:spPr>
          <a:xfrm>
            <a:off x="300990" y="5877941"/>
            <a:ext cx="61188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https://maven.apache.org/download.cgi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0C0EE7-F8D2-DE27-14B8-8372C7EF2E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6724" y="2757492"/>
            <a:ext cx="7158453" cy="33850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5006BD-9B7A-2C97-835A-6805F2F2F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454" y="2238863"/>
            <a:ext cx="4801270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027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0D3DFEA-A035-CFF8-642E-0C0BD4B10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26DCF-FF27-0A30-7B22-5BD1153DD6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5BEAFD-090D-E099-4222-3684CC558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https://commons.apache.org/jelly/download_jelly.cgi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5BB41A-C095-EF9C-CFD6-BF8DA8A9B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5" y="2512961"/>
            <a:ext cx="7563465" cy="29287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7D10B8E-60EC-D217-61C4-9C8F1E98A2D5}"/>
              </a:ext>
            </a:extLst>
          </p:cNvPr>
          <p:cNvSpPr txBox="1"/>
          <p:nvPr/>
        </p:nvSpPr>
        <p:spPr>
          <a:xfrm>
            <a:off x="1443989" y="5816214"/>
            <a:ext cx="7563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 </a:t>
            </a:r>
            <a:r>
              <a:rPr lang="en-US" dirty="0" err="1"/>
              <a:t>org.apache.commons.jelly.Jelly</a:t>
            </a:r>
            <a:r>
              <a:rPr lang="en-US" dirty="0"/>
              <a:t> </a:t>
            </a:r>
            <a:r>
              <a:rPr lang="en-US" dirty="0" err="1"/>
              <a:t>your_script.jelly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5674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FFFC2BA-5665-1365-5589-8B749469F0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84544-D600-46B9-2557-018BC4EBD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Install Jelly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A3A362-9D9D-6049-AEFD-9913083CEC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495" y="1769142"/>
            <a:ext cx="8954346" cy="1432386"/>
          </a:xfrm>
        </p:spPr>
        <p:txBody>
          <a:bodyPr/>
          <a:lstStyle/>
          <a:p>
            <a:r>
              <a:rPr lang="en-US" dirty="0"/>
              <a:t>https://downloads.apache.org/commons/jelly/binaries/commons-jelly-1.0.1-bin.zip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6594C2-6A18-9808-D40D-2278D5C22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5" y="2512961"/>
            <a:ext cx="7563465" cy="29287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154E59-726A-49DF-D6D2-1CBB5CE39073}"/>
              </a:ext>
            </a:extLst>
          </p:cNvPr>
          <p:cNvSpPr txBox="1"/>
          <p:nvPr/>
        </p:nvSpPr>
        <p:spPr>
          <a:xfrm>
            <a:off x="1443989" y="5816214"/>
            <a:ext cx="75634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java </a:t>
            </a:r>
            <a:r>
              <a:rPr lang="en-US" dirty="0" err="1"/>
              <a:t>org.apache.commons.jelly.Jelly</a:t>
            </a:r>
            <a:r>
              <a:rPr lang="en-US" dirty="0"/>
              <a:t> </a:t>
            </a:r>
            <a:r>
              <a:rPr lang="en-US" dirty="0" err="1"/>
              <a:t>your_script.jelly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669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7EDD9EE-B729-BF19-782C-A8EF28D7AD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B6C5C-70CA-2386-2A28-F56EE7A3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2. Why learn Jelly?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8C90E-18A1-4A88-9A03-AF2748588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dirty="0"/>
              <a:t>&lt;</a:t>
            </a:r>
            <a:r>
              <a:rPr lang="en-US" dirty="0" err="1"/>
              <a:t>j:set</a:t>
            </a:r>
            <a:r>
              <a:rPr lang="en-US" dirty="0"/>
              <a:t> var="</a:t>
            </a:r>
            <a:r>
              <a:rPr lang="en-US" dirty="0" err="1"/>
              <a:t>jvar_sys_id</a:t>
            </a:r>
            <a:r>
              <a:rPr lang="en-US" dirty="0"/>
              <a:t>" value="${</a:t>
            </a:r>
            <a:r>
              <a:rPr lang="en-US" dirty="0" err="1"/>
              <a:t>sysparm_sysid</a:t>
            </a:r>
            <a:r>
              <a:rPr lang="en-US" dirty="0"/>
              <a:t>}"&gt;</a:t>
            </a:r>
            <a:br>
              <a:rPr lang="en-US" dirty="0"/>
            </a:br>
            <a:r>
              <a:rPr lang="en-US" dirty="0"/>
              <a:t>&lt;/</a:t>
            </a:r>
            <a:r>
              <a:rPr lang="en-US" dirty="0" err="1"/>
              <a:t>j:set</a:t>
            </a:r>
            <a:r>
              <a:rPr lang="en-US" dirty="0"/>
              <a:t>&gt;</a:t>
            </a:r>
            <a:br>
              <a:rPr lang="en-US" dirty="0"/>
            </a:br>
            <a:br>
              <a:rPr lang="en-US" dirty="0"/>
            </a:br>
            <a:r>
              <a:rPr lang="en-US" dirty="0"/>
              <a:t>&lt;h1&gt;${</a:t>
            </a:r>
            <a:r>
              <a:rPr lang="en-US" dirty="0" err="1"/>
              <a:t>jvar_sys_id</a:t>
            </a:r>
            <a:r>
              <a:rPr lang="en-US" dirty="0"/>
              <a:t>}&lt;/h1&gt;</a:t>
            </a:r>
          </a:p>
        </p:txBody>
      </p:sp>
    </p:spTree>
    <p:extLst>
      <p:ext uri="{BB962C8B-B14F-4D97-AF65-F5344CB8AC3E}">
        <p14:creationId xmlns:p14="http://schemas.microsoft.com/office/powerpoint/2010/main" val="38160587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C99A-200D-7713-D40F-7D9A2C397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FEC94-B263-8965-ED1D-BF796476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Tags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9C4C-53FC-90CA-E9E0-C8D1010F38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dirty="0" err="1">
                <a:hlinkClick r:id="rId3"/>
              </a:rPr>
              <a:t>jelly:core</a:t>
            </a:r>
            <a:r>
              <a:rPr lang="ar-EG" dirty="0"/>
              <a:t> : </a:t>
            </a:r>
            <a:r>
              <a:rPr lang="en-US" dirty="0"/>
              <a:t>The core Tags from the JSTL plus Jelly extensions.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2D907D-A6AD-F25D-E54D-C468FBC6C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6776211"/>
              </p:ext>
            </p:extLst>
          </p:nvPr>
        </p:nvGraphicFramePr>
        <p:xfrm>
          <a:off x="441960" y="2160588"/>
          <a:ext cx="10424160" cy="4278425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5212080">
                  <a:extLst>
                    <a:ext uri="{9D8B030D-6E8A-4147-A177-3AD203B41FA5}">
                      <a16:colId xmlns:a16="http://schemas.microsoft.com/office/drawing/2014/main" val="765044333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126275417"/>
                    </a:ext>
                  </a:extLst>
                </a:gridCol>
              </a:tblGrid>
              <a:tr h="209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Tag</a:t>
                      </a:r>
                      <a:endParaRPr lang="en-US" sz="1400" b="1" dirty="0"/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Purpose</a:t>
                      </a:r>
                      <a:endParaRPr lang="en-US" sz="1400" b="1" dirty="0"/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4052600349"/>
                  </a:ext>
                </a:extLst>
              </a:tr>
              <a:tr h="52451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choose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Conditional block to choose among multiple conditions.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518668761"/>
                  </a:ext>
                </a:extLst>
              </a:tr>
              <a:tr h="36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when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Used inside choose to test a condition.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24107830"/>
                  </a:ext>
                </a:extLst>
              </a:tr>
              <a:tr h="36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otherwise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Fallback inside choose if no when matches.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447019363"/>
                  </a:ext>
                </a:extLst>
              </a:tr>
              <a:tr h="36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if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Conditional evaluation of body when test is true.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4148380931"/>
                  </a:ext>
                </a:extLst>
              </a:tr>
              <a:tr h="36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switch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Switch/Case control structure.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428256946"/>
                  </a:ext>
                </a:extLst>
              </a:tr>
              <a:tr h="20980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case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 switch case.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2085839841"/>
                  </a:ext>
                </a:extLst>
              </a:tr>
              <a:tr h="36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default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Default section of a switch.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1972747082"/>
                  </a:ext>
                </a:extLst>
              </a:tr>
              <a:tr h="36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Breaks out of a loop.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3683420903"/>
                  </a:ext>
                </a:extLst>
              </a:tr>
              <a:tr h="36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while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Loop while condition is true. (</a:t>
                      </a:r>
                      <a:r>
                        <a:rPr lang="en-US" sz="140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1445596927"/>
                  </a:ext>
                </a:extLst>
              </a:tr>
              <a:tr h="3671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forEach</a:t>
                      </a:r>
                    </a:p>
                  </a:txBody>
                  <a:tcPr marL="52452" marR="52452" marT="26226" marB="26226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Loop over items like arrays or lists. (</a:t>
                      </a:r>
                      <a:r>
                        <a:rPr lang="en-US" sz="1400" dirty="0">
                          <a:hlinkClick r:id="rId4" tooltip="Jelly - Tag Documentation"/>
                        </a:rPr>
                        <a:t>commons.apache.org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52452" marR="52452" marT="26226" marB="26226" anchor="ctr"/>
                </a:tc>
                <a:extLst>
                  <a:ext uri="{0D108BD9-81ED-4DB2-BD59-A6C34878D82A}">
                    <a16:rowId xmlns:a16="http://schemas.microsoft.com/office/drawing/2014/main" val="3148462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5923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5905BA-FB67-6DBF-14FD-358FFE577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33E7-A28B-04C0-C279-146256815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Tags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6AD4C-DC5D-C0B8-A798-A2E02902F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dirty="0"/>
              <a:t>Evaluation &amp; Expression Tags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9DDB65-15D6-6898-0DDB-9DF2917F25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3604382"/>
              </p:ext>
            </p:extLst>
          </p:nvPr>
        </p:nvGraphicFramePr>
        <p:xfrm>
          <a:off x="815022" y="1930400"/>
          <a:ext cx="9075738" cy="2733039"/>
        </p:xfrm>
        <a:graphic>
          <a:graphicData uri="http://schemas.openxmlformats.org/drawingml/2006/table">
            <a:tbl>
              <a:tblPr/>
              <a:tblGrid>
                <a:gridCol w="4537869">
                  <a:extLst>
                    <a:ext uri="{9D8B030D-6E8A-4147-A177-3AD203B41FA5}">
                      <a16:colId xmlns:a16="http://schemas.microsoft.com/office/drawing/2014/main" val="4046456575"/>
                    </a:ext>
                  </a:extLst>
                </a:gridCol>
                <a:gridCol w="4537869">
                  <a:extLst>
                    <a:ext uri="{9D8B030D-6E8A-4147-A177-3AD203B41FA5}">
                      <a16:colId xmlns:a16="http://schemas.microsoft.com/office/drawing/2014/main" val="4095509700"/>
                    </a:ext>
                  </a:extLst>
                </a:gridCol>
              </a:tblGrid>
              <a:tr h="7192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Tag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Purpose</a:t>
                      </a:r>
                      <a:endParaRPr lang="en-US" b="1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107337"/>
                  </a:ext>
                </a:extLst>
              </a:tr>
              <a:tr h="1006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expr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Evaluate an expression and output the result. (</a:t>
                      </a:r>
                      <a:r>
                        <a:rPr lang="en-US" dirty="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5105839"/>
                  </a:ext>
                </a:extLst>
              </a:tr>
              <a:tr h="10069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getStatic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Get a static field value from a Java class. (</a:t>
                      </a:r>
                      <a:r>
                        <a:rPr lang="en-US" dirty="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76223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36528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78BFA-9AC9-5E9B-4969-9A75A1E45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35F87-A70D-25EC-3FFF-B9E934FB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Tags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B6B26-FE08-A80A-9422-2FA150272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dirty="0"/>
              <a:t>Object &amp; Context Tags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8E085E6-62E1-07EB-0680-4104AE8BB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947682"/>
              </p:ext>
            </p:extLst>
          </p:nvPr>
        </p:nvGraphicFramePr>
        <p:xfrm>
          <a:off x="1009764" y="2121957"/>
          <a:ext cx="8865756" cy="4004420"/>
        </p:xfrm>
        <a:graphic>
          <a:graphicData uri="http://schemas.openxmlformats.org/drawingml/2006/table">
            <a:tbl>
              <a:tblPr/>
              <a:tblGrid>
                <a:gridCol w="4432878">
                  <a:extLst>
                    <a:ext uri="{9D8B030D-6E8A-4147-A177-3AD203B41FA5}">
                      <a16:colId xmlns:a16="http://schemas.microsoft.com/office/drawing/2014/main" val="1440939493"/>
                    </a:ext>
                  </a:extLst>
                </a:gridCol>
                <a:gridCol w="4432878">
                  <a:extLst>
                    <a:ext uri="{9D8B030D-6E8A-4147-A177-3AD203B41FA5}">
                      <a16:colId xmlns:a16="http://schemas.microsoft.com/office/drawing/2014/main" val="3184341129"/>
                    </a:ext>
                  </a:extLst>
                </a:gridCol>
              </a:tblGrid>
              <a:tr h="3375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Tag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Purpose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7473629"/>
                  </a:ext>
                </a:extLst>
              </a:tr>
              <a:tr h="590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new</a:t>
                      </a:r>
                      <a:endParaRPr lang="en-US" sz="170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Instantiate a new object. (</a:t>
                      </a:r>
                      <a:r>
                        <a:rPr lang="en-US" sz="17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700"/>
                        <a:t>)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3388548"/>
                  </a:ext>
                </a:extLst>
              </a:tr>
              <a:tr h="590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invoke</a:t>
                      </a:r>
                      <a:endParaRPr lang="en-US" sz="170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Call a method on an object. (</a:t>
                      </a:r>
                      <a:r>
                        <a:rPr lang="en-US" sz="17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700"/>
                        <a:t>)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0192024"/>
                  </a:ext>
                </a:extLst>
              </a:tr>
              <a:tr h="590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invokeStatic</a:t>
                      </a:r>
                      <a:endParaRPr lang="en-US" sz="170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Call a static method. (</a:t>
                      </a:r>
                      <a:r>
                        <a:rPr lang="en-US" sz="17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700"/>
                        <a:t>)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3335942"/>
                  </a:ext>
                </a:extLst>
              </a:tr>
              <a:tr h="590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useBean</a:t>
                      </a:r>
                      <a:endParaRPr lang="en-US" sz="170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Create &amp; configure a Java bean. (</a:t>
                      </a:r>
                      <a:r>
                        <a:rPr lang="en-US" sz="17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700"/>
                        <a:t>)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9447"/>
                  </a:ext>
                </a:extLst>
              </a:tr>
              <a:tr h="590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useList</a:t>
                      </a:r>
                      <a:endParaRPr lang="en-US" sz="170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/>
                        <a:t>Build a list from items. (</a:t>
                      </a:r>
                      <a:r>
                        <a:rPr lang="en-US" sz="17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700"/>
                        <a:t>)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7964501"/>
                  </a:ext>
                </a:extLst>
              </a:tr>
              <a:tr h="5906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>
                          <a:latin typeface="Courier New" panose="02070309020205020404" pitchFamily="49" charset="0"/>
                        </a:rPr>
                        <a:t>setProperties</a:t>
                      </a:r>
                      <a:endParaRPr lang="en-US" sz="1700"/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700" dirty="0"/>
                        <a:t>Set properties on beans. (</a:t>
                      </a:r>
                      <a:r>
                        <a:rPr lang="en-US" sz="1700" dirty="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700" dirty="0"/>
                        <a:t>)</a:t>
                      </a:r>
                    </a:p>
                  </a:txBody>
                  <a:tcPr marL="84379" marR="84379" marT="42190" marB="4219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231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76197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9A917-D020-F558-AD09-6821BC891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F90E3-361E-8BB3-41BF-50A6C7017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Tags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67F8A-638A-3BDC-F1AB-DFE820C72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dirty="0"/>
              <a:t>Variable &amp; Scope Tags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6B7532A-33EE-28AB-AE6E-048F5E93D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04699"/>
              </p:ext>
            </p:extLst>
          </p:nvPr>
        </p:nvGraphicFramePr>
        <p:xfrm>
          <a:off x="677862" y="2638266"/>
          <a:ext cx="8862376" cy="3017520"/>
        </p:xfrm>
        <a:graphic>
          <a:graphicData uri="http://schemas.openxmlformats.org/drawingml/2006/table">
            <a:tbl>
              <a:tblPr/>
              <a:tblGrid>
                <a:gridCol w="4431188">
                  <a:extLst>
                    <a:ext uri="{9D8B030D-6E8A-4147-A177-3AD203B41FA5}">
                      <a16:colId xmlns:a16="http://schemas.microsoft.com/office/drawing/2014/main" val="48170598"/>
                    </a:ext>
                  </a:extLst>
                </a:gridCol>
                <a:gridCol w="4431188">
                  <a:extLst>
                    <a:ext uri="{9D8B030D-6E8A-4147-A177-3AD203B41FA5}">
                      <a16:colId xmlns:a16="http://schemas.microsoft.com/office/drawing/2014/main" val="21037623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1259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set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Assign a variable’s value. (</a:t>
                      </a:r>
                      <a:r>
                        <a:rPr lang="en-US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8388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remove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Remove a variable from scope. (</a:t>
                      </a:r>
                      <a:r>
                        <a:rPr lang="en-US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60730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scope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Create a nested variable scope. (</a:t>
                      </a:r>
                      <a:r>
                        <a:rPr lang="en-US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82255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arg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Pass arguments to other tags like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new</a:t>
                      </a:r>
                      <a:r>
                        <a:rPr lang="en-US" dirty="0"/>
                        <a:t> or </a:t>
                      </a:r>
                      <a:r>
                        <a:rPr lang="en-US" dirty="0">
                          <a:latin typeface="Courier New" panose="02070309020205020404" pitchFamily="49" charset="0"/>
                        </a:rPr>
                        <a:t>invoke</a:t>
                      </a:r>
                      <a:r>
                        <a:rPr lang="en-US" dirty="0"/>
                        <a:t>. (</a:t>
                      </a:r>
                      <a:r>
                        <a:rPr lang="en-US" dirty="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09849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374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9EDD6-508F-E214-AD9C-F6CD9B899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31F97-8D82-B7E0-810D-EA0356EC9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Tags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BC125-3F77-A76A-0B0B-C02718360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dirty="0"/>
              <a:t>Output &amp; Script Control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AECE4FB-9F78-3AEC-118E-DA29738A45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0427673"/>
              </p:ext>
            </p:extLst>
          </p:nvPr>
        </p:nvGraphicFramePr>
        <p:xfrm>
          <a:off x="677334" y="2126182"/>
          <a:ext cx="8817186" cy="4024546"/>
        </p:xfrm>
        <a:graphic>
          <a:graphicData uri="http://schemas.openxmlformats.org/drawingml/2006/table">
            <a:tbl>
              <a:tblPr/>
              <a:tblGrid>
                <a:gridCol w="4408593">
                  <a:extLst>
                    <a:ext uri="{9D8B030D-6E8A-4147-A177-3AD203B41FA5}">
                      <a16:colId xmlns:a16="http://schemas.microsoft.com/office/drawing/2014/main" val="2728497329"/>
                    </a:ext>
                  </a:extLst>
                </a:gridCol>
                <a:gridCol w="4408593">
                  <a:extLst>
                    <a:ext uri="{9D8B030D-6E8A-4147-A177-3AD203B41FA5}">
                      <a16:colId xmlns:a16="http://schemas.microsoft.com/office/drawing/2014/main" val="3029411426"/>
                    </a:ext>
                  </a:extLst>
                </a:gridCol>
              </a:tblGrid>
              <a:tr h="2587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Tag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Purpose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0160898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jelly</a:t>
                      </a:r>
                      <a:endParaRPr lang="en-US" sz="1300"/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Root tag of a Jelly script. (</a:t>
                      </a:r>
                      <a:r>
                        <a:rPr lang="en-US" sz="13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300"/>
                        <a:t>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211777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file</a:t>
                      </a:r>
                      <a:endParaRPr lang="en-US" sz="1300"/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Write content to a file or variable. (</a:t>
                      </a:r>
                      <a:r>
                        <a:rPr lang="en-US" sz="13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300"/>
                        <a:t>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6862616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include</a:t>
                      </a:r>
                      <a:endParaRPr lang="en-US" sz="1300"/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Include another script or file. (</a:t>
                      </a:r>
                      <a:r>
                        <a:rPr lang="en-US" sz="13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300"/>
                        <a:t>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6954355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import</a:t>
                      </a:r>
                      <a:endParaRPr lang="en-US" sz="1300"/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Import another Jelly script. (</a:t>
                      </a:r>
                      <a:r>
                        <a:rPr lang="en-US" sz="13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300"/>
                        <a:t>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3926298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parse</a:t>
                      </a:r>
                      <a:endParaRPr lang="en-US" sz="1300"/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Parse body text as Jelly and run it. (</a:t>
                      </a:r>
                      <a:r>
                        <a:rPr lang="en-US" sz="13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300"/>
                        <a:t>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554376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mute</a:t>
                      </a:r>
                      <a:endParaRPr lang="en-US" sz="1300"/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Execute body but don’t output results. (</a:t>
                      </a:r>
                      <a:r>
                        <a:rPr lang="en-US" sz="13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300"/>
                        <a:t>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252474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thread</a:t>
                      </a:r>
                      <a:endParaRPr lang="en-US" sz="1300"/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Run body in a new thread. (</a:t>
                      </a:r>
                      <a:r>
                        <a:rPr lang="en-US" sz="130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300"/>
                        <a:t>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533241"/>
                  </a:ext>
                </a:extLst>
              </a:tr>
              <a:tr h="452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>
                          <a:latin typeface="Courier New" panose="02070309020205020404" pitchFamily="49" charset="0"/>
                        </a:rPr>
                        <a:t>whitespace</a:t>
                      </a:r>
                      <a:endParaRPr lang="en-US" sz="1300"/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Preserve whitespace inside the body. (</a:t>
                      </a:r>
                      <a:r>
                        <a:rPr lang="en-US" sz="1300" dirty="0">
                          <a:hlinkClick r:id="rId3" tooltip="Jelly - Tag Documentation"/>
                        </a:rPr>
                        <a:t>commons.apache.org</a:t>
                      </a:r>
                      <a:r>
                        <a:rPr lang="en-US" sz="1300" dirty="0"/>
                        <a:t>)</a:t>
                      </a:r>
                    </a:p>
                  </a:txBody>
                  <a:tcPr marL="64691" marR="64691" marT="32345" marB="3234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6251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5549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8891-E0BD-9B14-F43D-D826A54B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D2AF-340B-6ED2-E667-BE5365725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A846F-99FD-AA3A-E983-D59E5C02C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Print Jello World.</a:t>
            </a:r>
            <a:endParaRPr lang="en-US" dirty="0"/>
          </a:p>
          <a:p>
            <a:r>
              <a:rPr lang="en-US" i="1" dirty="0"/>
              <a:t>The name “Jello World” is interesting. Right! Programmers can understand it more :)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4E1101-A59D-3211-7EB5-393E8581A837}"/>
              </a:ext>
            </a:extLst>
          </p:cNvPr>
          <p:cNvSpPr txBox="1"/>
          <p:nvPr/>
        </p:nvSpPr>
        <p:spPr>
          <a:xfrm>
            <a:off x="1021080" y="3727272"/>
            <a:ext cx="92354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643820"/>
                </a:solidFill>
                <a:effectLst/>
                <a:latin typeface="source-code-pro"/>
              </a:rPr>
              <a:t>&lt;?xml version=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"1.0"</a:t>
            </a:r>
            <a:r>
              <a:rPr lang="en-US" b="0" i="0" dirty="0">
                <a:solidFill>
                  <a:srgbClr val="643820"/>
                </a:solidFill>
                <a:effectLst/>
                <a:latin typeface="source-code-pro"/>
              </a:rPr>
              <a:t> encoding=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"utf-8"</a:t>
            </a:r>
            <a:r>
              <a:rPr lang="en-US" b="0" i="0" dirty="0">
                <a:solidFill>
                  <a:srgbClr val="643820"/>
                </a:solidFill>
                <a:effectLst/>
                <a:latin typeface="source-code-pro"/>
              </a:rPr>
              <a:t> ?&gt;</a:t>
            </a:r>
            <a:br>
              <a:rPr lang="en-US" dirty="0"/>
            </a:b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&lt;</a:t>
            </a:r>
            <a:r>
              <a:rPr lang="en-US" b="0" i="0" dirty="0" err="1">
                <a:solidFill>
                  <a:srgbClr val="AA0D91"/>
                </a:solidFill>
                <a:effectLst/>
                <a:latin typeface="source-code-pro"/>
              </a:rPr>
              <a:t>j:jelly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 </a:t>
            </a:r>
            <a:r>
              <a:rPr lang="en-US" b="0" i="0" dirty="0">
                <a:solidFill>
                  <a:srgbClr val="836C28"/>
                </a:solidFill>
                <a:effectLst/>
                <a:latin typeface="source-code-pro"/>
              </a:rPr>
              <a:t>trim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=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"false"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 </a:t>
            </a:r>
            <a:r>
              <a:rPr lang="en-US" b="0" i="0" dirty="0" err="1">
                <a:solidFill>
                  <a:srgbClr val="836C28"/>
                </a:solidFill>
                <a:effectLst/>
                <a:latin typeface="source-code-pro"/>
              </a:rPr>
              <a:t>xmlns:j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=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US" b="0" i="0" dirty="0" err="1">
                <a:solidFill>
                  <a:srgbClr val="C41A16"/>
                </a:solidFill>
                <a:effectLst/>
                <a:latin typeface="source-code-pro"/>
              </a:rPr>
              <a:t>jelly:core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 </a:t>
            </a:r>
            <a:r>
              <a:rPr lang="en-US" b="0" i="0" dirty="0" err="1">
                <a:solidFill>
                  <a:srgbClr val="836C28"/>
                </a:solidFill>
                <a:effectLst/>
                <a:latin typeface="source-code-pro"/>
              </a:rPr>
              <a:t>xmlns:g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=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"glide"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 </a:t>
            </a:r>
            <a:r>
              <a:rPr lang="en-US" b="0" i="0" dirty="0">
                <a:solidFill>
                  <a:srgbClr val="836C28"/>
                </a:solidFill>
                <a:effectLst/>
                <a:latin typeface="source-code-pro"/>
              </a:rPr>
              <a:t>xmlns:j2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=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"null"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 </a:t>
            </a:r>
            <a:r>
              <a:rPr lang="en-US" b="0" i="0" dirty="0">
                <a:solidFill>
                  <a:srgbClr val="836C28"/>
                </a:solidFill>
                <a:effectLst/>
                <a:latin typeface="source-code-pro"/>
              </a:rPr>
              <a:t>xmlns:g2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=</a:t>
            </a:r>
            <a:r>
              <a:rPr lang="en-US" b="0" i="0" dirty="0">
                <a:solidFill>
                  <a:srgbClr val="C41A16"/>
                </a:solidFill>
                <a:effectLst/>
                <a:latin typeface="source-code-pro"/>
              </a:rPr>
              <a:t>"null"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&gt;</a:t>
            </a:r>
            <a:br>
              <a:rPr lang="en-US" dirty="0"/>
            </a:b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&lt;h1&gt;</a:t>
            </a:r>
            <a:r>
              <a:rPr lang="en-US" b="0" i="0" dirty="0">
                <a:solidFill>
                  <a:srgbClr val="242424"/>
                </a:solidFill>
                <a:effectLst/>
                <a:latin typeface="source-code-pro"/>
              </a:rPr>
              <a:t>Jello World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&lt;/h1&gt;</a:t>
            </a:r>
            <a:br>
              <a:rPr lang="en-US" dirty="0"/>
            </a:b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&lt;/</a:t>
            </a:r>
            <a:r>
              <a:rPr lang="en-US" b="0" i="0" dirty="0" err="1">
                <a:solidFill>
                  <a:srgbClr val="AA0D91"/>
                </a:solidFill>
                <a:effectLst/>
                <a:latin typeface="source-code-pro"/>
              </a:rPr>
              <a:t>j:jelly</a:t>
            </a:r>
            <a:r>
              <a:rPr lang="en-US" b="0" i="0" dirty="0">
                <a:solidFill>
                  <a:srgbClr val="AA0D91"/>
                </a:solidFill>
                <a:effectLst/>
                <a:latin typeface="source-code-pro"/>
              </a:rPr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8858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3319D-31B8-95A2-7947-83A62A442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F9AEF-6A62-6EA2-417B-3E9A6B408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99C9E-9475-DBB8-B11E-5CC30A80B8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Print Jello World.</a:t>
            </a:r>
            <a:endParaRPr lang="en-US" dirty="0"/>
          </a:p>
          <a:p>
            <a:r>
              <a:rPr lang="en-US" i="1" dirty="0"/>
              <a:t>The name “Jello World” is interesting. Right! Programmers can understand it more :)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F631FC-0F80-B392-734A-414A13F20F76}"/>
              </a:ext>
            </a:extLst>
          </p:cNvPr>
          <p:cNvSpPr txBox="1"/>
          <p:nvPr/>
        </p:nvSpPr>
        <p:spPr>
          <a:xfrm>
            <a:off x="1021080" y="3727272"/>
            <a:ext cx="92354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&lt;?xml version="1.0" encoding="utf-8" ?&gt;</a:t>
            </a:r>
          </a:p>
          <a:p>
            <a:r>
              <a:rPr lang="en-US" dirty="0"/>
              <a:t>&lt;jelly&gt;</a:t>
            </a:r>
          </a:p>
          <a:p>
            <a:r>
              <a:rPr lang="en-US" dirty="0"/>
              <a:t>  &lt;html&gt;</a:t>
            </a:r>
          </a:p>
          <a:p>
            <a:r>
              <a:rPr lang="en-US" dirty="0"/>
              <a:t>    &lt;body&gt;</a:t>
            </a:r>
          </a:p>
          <a:p>
            <a:r>
              <a:rPr lang="en-US" dirty="0"/>
              <a:t>      &lt;h1&gt;Hello World from Jelly!&lt;/h1&gt;</a:t>
            </a:r>
          </a:p>
          <a:p>
            <a:r>
              <a:rPr lang="en-US" dirty="0"/>
              <a:t>      &lt;p&gt;This page was generated locally.&lt;/p&gt;</a:t>
            </a:r>
          </a:p>
          <a:p>
            <a:r>
              <a:rPr lang="en-US" dirty="0"/>
              <a:t>    &lt;/body&gt;</a:t>
            </a:r>
          </a:p>
          <a:p>
            <a:r>
              <a:rPr lang="en-US" dirty="0"/>
              <a:t>  &lt;/html&gt;</a:t>
            </a:r>
          </a:p>
          <a:p>
            <a:r>
              <a:rPr lang="en-US" dirty="0"/>
              <a:t>&lt;/jelly&gt;</a:t>
            </a:r>
          </a:p>
        </p:txBody>
      </p:sp>
    </p:spTree>
    <p:extLst>
      <p:ext uri="{BB962C8B-B14F-4D97-AF65-F5344CB8AC3E}">
        <p14:creationId xmlns:p14="http://schemas.microsoft.com/office/powerpoint/2010/main" val="3551080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1C258-25D1-3B18-8824-AD99C527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DE73C-E36A-4083-2E04-DE6697C96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0EA15-9A2C-E72C-0EBF-8AD4F3782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240" y="1639445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To </a:t>
            </a:r>
            <a:r>
              <a:rPr lang="en-US" b="1" dirty="0" err="1"/>
              <a:t>genenarte</a:t>
            </a:r>
            <a:r>
              <a:rPr lang="en-US" b="1" dirty="0"/>
              <a:t> as html </a:t>
            </a:r>
          </a:p>
          <a:p>
            <a:r>
              <a:rPr lang="en-US" dirty="0"/>
              <a:t> </a:t>
            </a:r>
            <a:r>
              <a:rPr lang="en-US" dirty="0" err="1"/>
              <a:t>mvn</a:t>
            </a:r>
            <a:r>
              <a:rPr lang="en-US" dirty="0"/>
              <a:t> </a:t>
            </a:r>
            <a:r>
              <a:rPr lang="en-US" dirty="0" err="1"/>
              <a:t>exec:java</a:t>
            </a:r>
            <a:r>
              <a:rPr lang="en-US" dirty="0"/>
              <a:t> "-</a:t>
            </a:r>
            <a:r>
              <a:rPr lang="en-US" dirty="0" err="1"/>
              <a:t>Dexec.mainClass</a:t>
            </a:r>
            <a:r>
              <a:rPr lang="en-US" dirty="0"/>
              <a:t>=</a:t>
            </a:r>
            <a:r>
              <a:rPr lang="en-US" dirty="0" err="1"/>
              <a:t>org.apache.commons.jelly.Jelly</a:t>
            </a:r>
            <a:r>
              <a:rPr lang="en-US" dirty="0"/>
              <a:t>" "-</a:t>
            </a:r>
            <a:r>
              <a:rPr lang="en-US" dirty="0" err="1"/>
              <a:t>Dexec.args</a:t>
            </a:r>
            <a:r>
              <a:rPr lang="en-US" dirty="0"/>
              <a:t>=</a:t>
            </a:r>
            <a:r>
              <a:rPr lang="en-US" dirty="0" err="1"/>
              <a:t>your_script.jelly</a:t>
            </a:r>
            <a:r>
              <a:rPr lang="en-US" dirty="0"/>
              <a:t> -o target/page.html"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B89BB-F73D-FC36-12C2-D025889339BE}"/>
              </a:ext>
            </a:extLst>
          </p:cNvPr>
          <p:cNvSpPr txBox="1"/>
          <p:nvPr/>
        </p:nvSpPr>
        <p:spPr>
          <a:xfrm>
            <a:off x="396240" y="2924187"/>
            <a:ext cx="923544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&lt;?xml version="1.0" encoding="utf-8" ?&gt;</a:t>
            </a:r>
          </a:p>
          <a:p>
            <a:r>
              <a:rPr lang="en-US" dirty="0"/>
              <a:t>&lt;jelly&gt;</a:t>
            </a:r>
          </a:p>
          <a:p>
            <a:r>
              <a:rPr lang="en-US" dirty="0"/>
              <a:t>  &lt;html&gt;</a:t>
            </a:r>
          </a:p>
          <a:p>
            <a:r>
              <a:rPr lang="en-US" dirty="0"/>
              <a:t>    &lt;body&gt;</a:t>
            </a:r>
          </a:p>
          <a:p>
            <a:r>
              <a:rPr lang="en-US" dirty="0"/>
              <a:t>      &lt;h1&gt;Hello World from Jelly!&lt;/h1&gt;</a:t>
            </a:r>
          </a:p>
          <a:p>
            <a:r>
              <a:rPr lang="en-US" dirty="0"/>
              <a:t>      &lt;p&gt;This page was generated locally.&lt;/p&gt;</a:t>
            </a:r>
          </a:p>
          <a:p>
            <a:r>
              <a:rPr lang="en-US" dirty="0"/>
              <a:t>    &lt;/body&gt;</a:t>
            </a:r>
          </a:p>
          <a:p>
            <a:r>
              <a:rPr lang="en-US" dirty="0"/>
              <a:t>  &lt;/html&gt;</a:t>
            </a:r>
          </a:p>
          <a:p>
            <a:r>
              <a:rPr lang="en-US" dirty="0"/>
              <a:t>&lt;/jelly&gt;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1060A4-4AA1-0148-4962-2C3911651E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9370" y="5155266"/>
            <a:ext cx="6899670" cy="135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5785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E1A9E-D732-9509-3B37-4F168D33D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810A9-E816-DA2C-CA96-D4E60081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32013-1D4B-C0DB-6B02-DEE983A74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Print an Array.</a:t>
            </a:r>
          </a:p>
          <a:p>
            <a:r>
              <a:rPr lang="en-US" dirty="0"/>
              <a:t>var words = ["Welcome", "To", "Jello", "World"]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875DD-8CAF-D8D9-BD03-577065EACF23}"/>
              </a:ext>
            </a:extLst>
          </p:cNvPr>
          <p:cNvSpPr txBox="1"/>
          <p:nvPr/>
        </p:nvSpPr>
        <p:spPr>
          <a:xfrm>
            <a:off x="243840" y="2083793"/>
            <a:ext cx="826008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&lt;?xml version="1.0" encoding="utf-8" ?&gt;</a:t>
            </a:r>
          </a:p>
          <a:p>
            <a:r>
              <a:rPr lang="en-US" sz="1400" dirty="0"/>
              <a:t>&lt;</a:t>
            </a:r>
            <a:r>
              <a:rPr lang="en-US" sz="1400" dirty="0" err="1"/>
              <a:t>j:jelly</a:t>
            </a:r>
            <a:r>
              <a:rPr lang="en-US" sz="1400" dirty="0"/>
              <a:t> </a:t>
            </a:r>
            <a:r>
              <a:rPr lang="en-US" sz="1400" dirty="0" err="1"/>
              <a:t>xmlns:j</a:t>
            </a:r>
            <a:r>
              <a:rPr lang="en-US" sz="1400" dirty="0"/>
              <a:t>="</a:t>
            </a:r>
            <a:r>
              <a:rPr lang="en-US" sz="1400" dirty="0" err="1"/>
              <a:t>jelly:core</a:t>
            </a:r>
            <a:r>
              <a:rPr lang="en-US" sz="1400" dirty="0"/>
              <a:t>" </a:t>
            </a:r>
            <a:r>
              <a:rPr lang="en-US" sz="1400" dirty="0" err="1"/>
              <a:t>xmlns:g</a:t>
            </a:r>
            <a:r>
              <a:rPr lang="en-US" sz="1400" dirty="0"/>
              <a:t>="glide"&gt;</a:t>
            </a:r>
          </a:p>
          <a:p>
            <a:r>
              <a:rPr lang="en-US" sz="1400" dirty="0"/>
              <a:t>        &lt;!-- In </a:t>
            </a:r>
            <a:r>
              <a:rPr lang="en-US" sz="1400" dirty="0" err="1"/>
              <a:t>servicenow</a:t>
            </a:r>
            <a:r>
              <a:rPr lang="en-US" sz="1400" dirty="0"/>
              <a:t> --&gt;</a:t>
            </a:r>
          </a:p>
          <a:p>
            <a:r>
              <a:rPr lang="en-US" sz="1400" dirty="0"/>
              <a:t>    &lt;!-- &lt;</a:t>
            </a:r>
            <a:r>
              <a:rPr lang="en-US" sz="1400" dirty="0" err="1"/>
              <a:t>g:evaluate</a:t>
            </a:r>
            <a:r>
              <a:rPr lang="en-US" sz="1400" dirty="0"/>
              <a:t>&gt;</a:t>
            </a:r>
          </a:p>
          <a:p>
            <a:r>
              <a:rPr lang="en-US" sz="1400" dirty="0"/>
              <a:t>        var words = ["Welcome", "To", "Jello", "World"];</a:t>
            </a:r>
          </a:p>
          <a:p>
            <a:r>
              <a:rPr lang="en-US" sz="1400" dirty="0"/>
              <a:t>    &lt;/</a:t>
            </a:r>
            <a:r>
              <a:rPr lang="en-US" sz="1400" dirty="0" err="1"/>
              <a:t>g:evaluate</a:t>
            </a:r>
            <a:r>
              <a:rPr lang="en-US" sz="1400" dirty="0"/>
              <a:t>&gt;</a:t>
            </a:r>
          </a:p>
          <a:p>
            <a:r>
              <a:rPr lang="en-US" sz="1400" dirty="0"/>
              <a:t>    &lt;</a:t>
            </a:r>
            <a:r>
              <a:rPr lang="en-US" sz="1400" dirty="0" err="1"/>
              <a:t>j:forEach</a:t>
            </a:r>
            <a:r>
              <a:rPr lang="en-US" sz="1400" dirty="0"/>
              <a:t> var="</a:t>
            </a:r>
            <a:r>
              <a:rPr lang="en-US" sz="1400" dirty="0" err="1"/>
              <a:t>jvar_msg</a:t>
            </a:r>
            <a:r>
              <a:rPr lang="en-US" sz="1400" dirty="0"/>
              <a:t>" items="${words}"&gt;</a:t>
            </a:r>
          </a:p>
          <a:p>
            <a:r>
              <a:rPr lang="en-US" sz="1400" dirty="0"/>
              <a:t>        &lt;p&gt;${</a:t>
            </a:r>
            <a:r>
              <a:rPr lang="en-US" sz="1400" dirty="0" err="1"/>
              <a:t>jvar_msg</a:t>
            </a:r>
            <a:r>
              <a:rPr lang="en-US" sz="1400" dirty="0"/>
              <a:t>}&lt;/p&gt;</a:t>
            </a:r>
          </a:p>
          <a:p>
            <a:r>
              <a:rPr lang="en-US" sz="1400" dirty="0"/>
              <a:t>    &lt;/</a:t>
            </a:r>
            <a:r>
              <a:rPr lang="en-US" sz="1400" dirty="0" err="1"/>
              <a:t>j:forEach</a:t>
            </a:r>
            <a:r>
              <a:rPr lang="en-US" sz="1400" dirty="0"/>
              <a:t>&gt; --&gt;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     &lt;!-- In standard Jelly, you can define an array using a comma-separated string </a:t>
            </a:r>
          </a:p>
          <a:p>
            <a:r>
              <a:rPr lang="en-US" sz="1400" dirty="0"/>
              <a:t>         or by passing a Java object from your Maven 'exec' context --&gt;</a:t>
            </a:r>
          </a:p>
          <a:p>
            <a:r>
              <a:rPr lang="en-US" sz="1400" dirty="0"/>
              <a:t>    &lt;</a:t>
            </a:r>
            <a:r>
              <a:rPr lang="en-US" sz="1400" dirty="0" err="1"/>
              <a:t>j:set</a:t>
            </a:r>
            <a:r>
              <a:rPr lang="en-US" sz="1400" dirty="0"/>
              <a:t> var="words" value="</a:t>
            </a:r>
            <a:r>
              <a:rPr lang="en-US" sz="1400" dirty="0" err="1"/>
              <a:t>Welcome,To,Jello,World</a:t>
            </a:r>
            <a:r>
              <a:rPr lang="en-US" sz="1400" dirty="0"/>
              <a:t>"/&gt;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    &lt;!-- Use tokenize to split the string into a list for the loop --&gt;</a:t>
            </a:r>
          </a:p>
          <a:p>
            <a:r>
              <a:rPr lang="en-US" sz="1400" dirty="0"/>
              <a:t>    &lt;</a:t>
            </a:r>
            <a:r>
              <a:rPr lang="en-US" sz="1400" dirty="0" err="1"/>
              <a:t>j:forEach</a:t>
            </a:r>
            <a:r>
              <a:rPr lang="en-US" sz="1400" dirty="0"/>
              <a:t> var="</a:t>
            </a:r>
            <a:r>
              <a:rPr lang="en-US" sz="1400" dirty="0" err="1"/>
              <a:t>jvar_msg</a:t>
            </a:r>
            <a:r>
              <a:rPr lang="en-US" sz="1400" dirty="0"/>
              <a:t>" items="${</a:t>
            </a:r>
            <a:r>
              <a:rPr lang="en-US" sz="1400" dirty="0" err="1"/>
              <a:t>words.split</a:t>
            </a:r>
            <a:r>
              <a:rPr lang="en-US" sz="1400" dirty="0"/>
              <a:t>(',')}"&gt;</a:t>
            </a:r>
          </a:p>
          <a:p>
            <a:r>
              <a:rPr lang="en-US" sz="1400" dirty="0"/>
              <a:t>        &lt;p&gt;${</a:t>
            </a:r>
            <a:r>
              <a:rPr lang="en-US" sz="1400" dirty="0" err="1"/>
              <a:t>jvar_msg</a:t>
            </a:r>
            <a:r>
              <a:rPr lang="en-US" sz="1400" dirty="0"/>
              <a:t>}&lt;/p&gt;</a:t>
            </a:r>
          </a:p>
          <a:p>
            <a:r>
              <a:rPr lang="en-US" sz="1400" dirty="0"/>
              <a:t>    &lt;/</a:t>
            </a:r>
            <a:r>
              <a:rPr lang="en-US" sz="1400" dirty="0" err="1"/>
              <a:t>j:forEach</a:t>
            </a:r>
            <a:r>
              <a:rPr lang="en-US" sz="1400" dirty="0"/>
              <a:t>&gt;</a:t>
            </a:r>
          </a:p>
          <a:p>
            <a:r>
              <a:rPr lang="en-US" sz="1400" dirty="0"/>
              <a:t>&lt;/</a:t>
            </a:r>
            <a:r>
              <a:rPr lang="en-US" sz="1400" dirty="0" err="1"/>
              <a:t>j:jelly</a:t>
            </a:r>
            <a:r>
              <a:rPr lang="en-US" sz="1400" dirty="0"/>
              <a:t>&gt;</a:t>
            </a:r>
          </a:p>
          <a:p>
            <a:br>
              <a:rPr lang="en-US" sz="1400" dirty="0"/>
            </a:br>
            <a:endParaRPr lang="en-US" sz="1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632597-0299-B7D7-D9FA-6420EEAAC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5416" y="1218156"/>
            <a:ext cx="5516598" cy="274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8856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1B3DF-0B37-EE3C-4A9A-721A2C9CA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74971-4E8D-9602-CFCF-597210AC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640DD-E796-981A-2F41-EA60D5E48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Print an Array.</a:t>
            </a:r>
          </a:p>
          <a:p>
            <a:r>
              <a:rPr lang="en-US" dirty="0"/>
              <a:t>After generate to 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082028-CDD3-5996-107F-859BB4D0D19E}"/>
              </a:ext>
            </a:extLst>
          </p:cNvPr>
          <p:cNvSpPr txBox="1"/>
          <p:nvPr/>
        </p:nvSpPr>
        <p:spPr>
          <a:xfrm>
            <a:off x="243840" y="2083793"/>
            <a:ext cx="8260080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&lt;?xml version="1.0" encoding="utf-8" ?&gt;</a:t>
            </a:r>
          </a:p>
          <a:p>
            <a:r>
              <a:rPr lang="en-US" sz="1400" dirty="0"/>
              <a:t>&lt;</a:t>
            </a:r>
            <a:r>
              <a:rPr lang="en-US" sz="1400" dirty="0" err="1"/>
              <a:t>j:jelly</a:t>
            </a:r>
            <a:r>
              <a:rPr lang="en-US" sz="1400" dirty="0"/>
              <a:t> </a:t>
            </a:r>
            <a:r>
              <a:rPr lang="en-US" sz="1400" dirty="0" err="1"/>
              <a:t>xmlns:j</a:t>
            </a:r>
            <a:r>
              <a:rPr lang="en-US" sz="1400" dirty="0"/>
              <a:t>="</a:t>
            </a:r>
            <a:r>
              <a:rPr lang="en-US" sz="1400" dirty="0" err="1"/>
              <a:t>jelly:core</a:t>
            </a:r>
            <a:r>
              <a:rPr lang="en-US" sz="1400" dirty="0"/>
              <a:t>" </a:t>
            </a:r>
            <a:r>
              <a:rPr lang="en-US" sz="1400" dirty="0" err="1"/>
              <a:t>xmlns:g</a:t>
            </a:r>
            <a:r>
              <a:rPr lang="en-US" sz="1400" dirty="0"/>
              <a:t>="glide"&gt;</a:t>
            </a:r>
          </a:p>
          <a:p>
            <a:r>
              <a:rPr lang="en-US" sz="1400" dirty="0"/>
              <a:t>        &lt;!-- In </a:t>
            </a:r>
            <a:r>
              <a:rPr lang="en-US" sz="1400" dirty="0" err="1"/>
              <a:t>servicenow</a:t>
            </a:r>
            <a:r>
              <a:rPr lang="en-US" sz="1400" dirty="0"/>
              <a:t> --&gt;</a:t>
            </a:r>
          </a:p>
          <a:p>
            <a:r>
              <a:rPr lang="en-US" sz="1400" dirty="0"/>
              <a:t>    &lt;!-- &lt;</a:t>
            </a:r>
            <a:r>
              <a:rPr lang="en-US" sz="1400" dirty="0" err="1"/>
              <a:t>g:evaluate</a:t>
            </a:r>
            <a:r>
              <a:rPr lang="en-US" sz="1400" dirty="0"/>
              <a:t>&gt;</a:t>
            </a:r>
          </a:p>
          <a:p>
            <a:r>
              <a:rPr lang="en-US" sz="1400" dirty="0"/>
              <a:t>        var words = ["Welcome", "To", "Jello", "World"];</a:t>
            </a:r>
          </a:p>
          <a:p>
            <a:r>
              <a:rPr lang="en-US" sz="1400" dirty="0"/>
              <a:t>    &lt;/</a:t>
            </a:r>
            <a:r>
              <a:rPr lang="en-US" sz="1400" dirty="0" err="1"/>
              <a:t>g:evaluate</a:t>
            </a:r>
            <a:r>
              <a:rPr lang="en-US" sz="1400" dirty="0"/>
              <a:t>&gt;</a:t>
            </a:r>
          </a:p>
          <a:p>
            <a:r>
              <a:rPr lang="en-US" sz="1400" dirty="0"/>
              <a:t>    &lt;</a:t>
            </a:r>
            <a:r>
              <a:rPr lang="en-US" sz="1400" dirty="0" err="1"/>
              <a:t>j:forEach</a:t>
            </a:r>
            <a:r>
              <a:rPr lang="en-US" sz="1400" dirty="0"/>
              <a:t> var="</a:t>
            </a:r>
            <a:r>
              <a:rPr lang="en-US" sz="1400" dirty="0" err="1"/>
              <a:t>jvar_msg</a:t>
            </a:r>
            <a:r>
              <a:rPr lang="en-US" sz="1400" dirty="0"/>
              <a:t>" items="${words}"&gt;</a:t>
            </a:r>
          </a:p>
          <a:p>
            <a:r>
              <a:rPr lang="en-US" sz="1400" dirty="0"/>
              <a:t>        &lt;p&gt;${</a:t>
            </a:r>
            <a:r>
              <a:rPr lang="en-US" sz="1400" dirty="0" err="1"/>
              <a:t>jvar_msg</a:t>
            </a:r>
            <a:r>
              <a:rPr lang="en-US" sz="1400" dirty="0"/>
              <a:t>}&lt;/p&gt;</a:t>
            </a:r>
          </a:p>
          <a:p>
            <a:r>
              <a:rPr lang="en-US" sz="1400" dirty="0"/>
              <a:t>    &lt;/</a:t>
            </a:r>
            <a:r>
              <a:rPr lang="en-US" sz="1400" dirty="0" err="1"/>
              <a:t>j:forEach</a:t>
            </a:r>
            <a:r>
              <a:rPr lang="en-US" sz="1400" dirty="0"/>
              <a:t>&gt; --&gt;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     &lt;!-- In standard Jelly, you can define an array using a comma-separated string </a:t>
            </a:r>
          </a:p>
          <a:p>
            <a:r>
              <a:rPr lang="en-US" sz="1400" dirty="0"/>
              <a:t>         or by passing a Java object from your Maven 'exec' context --&gt;</a:t>
            </a:r>
          </a:p>
          <a:p>
            <a:r>
              <a:rPr lang="en-US" sz="1400" dirty="0"/>
              <a:t>    &lt;</a:t>
            </a:r>
            <a:r>
              <a:rPr lang="en-US" sz="1400" dirty="0" err="1"/>
              <a:t>j:set</a:t>
            </a:r>
            <a:r>
              <a:rPr lang="en-US" sz="1400" dirty="0"/>
              <a:t> var="words" value="</a:t>
            </a:r>
            <a:r>
              <a:rPr lang="en-US" sz="1400" dirty="0" err="1"/>
              <a:t>Welcome,To,Jello,World</a:t>
            </a:r>
            <a:r>
              <a:rPr lang="en-US" sz="1400" dirty="0"/>
              <a:t>"/&gt;</a:t>
            </a:r>
          </a:p>
          <a:p>
            <a:br>
              <a:rPr lang="en-US" sz="1400" dirty="0"/>
            </a:br>
            <a:endParaRPr lang="en-US" sz="1400" dirty="0"/>
          </a:p>
          <a:p>
            <a:r>
              <a:rPr lang="en-US" sz="1400" dirty="0"/>
              <a:t>    &lt;!-- Use tokenize to split the string into a list for the loop --&gt;</a:t>
            </a:r>
          </a:p>
          <a:p>
            <a:r>
              <a:rPr lang="en-US" sz="1400" dirty="0"/>
              <a:t>    &lt;</a:t>
            </a:r>
            <a:r>
              <a:rPr lang="en-US" sz="1400" dirty="0" err="1"/>
              <a:t>j:forEach</a:t>
            </a:r>
            <a:r>
              <a:rPr lang="en-US" sz="1400" dirty="0"/>
              <a:t> var="</a:t>
            </a:r>
            <a:r>
              <a:rPr lang="en-US" sz="1400" dirty="0" err="1"/>
              <a:t>jvar_msg</a:t>
            </a:r>
            <a:r>
              <a:rPr lang="en-US" sz="1400" dirty="0"/>
              <a:t>" items="${</a:t>
            </a:r>
            <a:r>
              <a:rPr lang="en-US" sz="1400" dirty="0" err="1"/>
              <a:t>words.split</a:t>
            </a:r>
            <a:r>
              <a:rPr lang="en-US" sz="1400" dirty="0"/>
              <a:t>(',')}"&gt;</a:t>
            </a:r>
          </a:p>
          <a:p>
            <a:r>
              <a:rPr lang="en-US" sz="1400" dirty="0"/>
              <a:t>        &lt;p&gt;${</a:t>
            </a:r>
            <a:r>
              <a:rPr lang="en-US" sz="1400" dirty="0" err="1"/>
              <a:t>jvar_msg</a:t>
            </a:r>
            <a:r>
              <a:rPr lang="en-US" sz="1400" dirty="0"/>
              <a:t>}&lt;/p&gt;</a:t>
            </a:r>
          </a:p>
          <a:p>
            <a:r>
              <a:rPr lang="en-US" sz="1400" dirty="0"/>
              <a:t>    &lt;/</a:t>
            </a:r>
            <a:r>
              <a:rPr lang="en-US" sz="1400" dirty="0" err="1"/>
              <a:t>j:forEach</a:t>
            </a:r>
            <a:r>
              <a:rPr lang="en-US" sz="1400" dirty="0"/>
              <a:t>&gt;</a:t>
            </a:r>
          </a:p>
          <a:p>
            <a:r>
              <a:rPr lang="en-US" sz="1400" dirty="0"/>
              <a:t>&lt;/</a:t>
            </a:r>
            <a:r>
              <a:rPr lang="en-US" sz="1400" dirty="0" err="1"/>
              <a:t>j:jelly</a:t>
            </a:r>
            <a:r>
              <a:rPr lang="en-US" sz="1400" dirty="0"/>
              <a:t>&gt;</a:t>
            </a:r>
          </a:p>
          <a:p>
            <a:br>
              <a:rPr lang="en-US" sz="1400" dirty="0"/>
            </a:br>
            <a:endParaRPr lang="en-US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DACDD7-D1B0-68C2-14B7-0793410FE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34561"/>
            <a:ext cx="5144218" cy="81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4882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23DD0-9037-D0C2-BA28-BCBE7586A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9C2B6-82ED-4E44-99F4-2DE5928EF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FBC82A-7650-9CB9-7945-F9F1B7AAD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Variable and with condition </a:t>
            </a:r>
          </a:p>
          <a:p>
            <a:r>
              <a:rPr lang="en-US" dirty="0"/>
              <a:t>After generate to html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08FF6E-0D5C-2415-E926-9A690B6378AD}"/>
              </a:ext>
            </a:extLst>
          </p:cNvPr>
          <p:cNvSpPr txBox="1"/>
          <p:nvPr/>
        </p:nvSpPr>
        <p:spPr>
          <a:xfrm>
            <a:off x="243840" y="2083793"/>
            <a:ext cx="826008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&lt;?xml version="1.0" encoding="utf-8" ?&gt;</a:t>
            </a:r>
          </a:p>
          <a:p>
            <a:r>
              <a:rPr lang="en-US" dirty="0"/>
              <a:t>&lt;</a:t>
            </a:r>
            <a:r>
              <a:rPr lang="en-US" dirty="0" err="1"/>
              <a:t>j:jelly</a:t>
            </a:r>
            <a:r>
              <a:rPr lang="en-US" dirty="0"/>
              <a:t> trim="false" </a:t>
            </a:r>
            <a:r>
              <a:rPr lang="en-US" dirty="0" err="1"/>
              <a:t>xmlns:j</a:t>
            </a:r>
            <a:r>
              <a:rPr lang="en-US" dirty="0"/>
              <a:t>="</a:t>
            </a:r>
            <a:r>
              <a:rPr lang="en-US" dirty="0" err="1"/>
              <a:t>jelly:core</a:t>
            </a:r>
            <a:r>
              <a:rPr lang="en-US" dirty="0"/>
              <a:t>" </a:t>
            </a:r>
            <a:r>
              <a:rPr lang="en-US" dirty="0" err="1"/>
              <a:t>xmlns:g</a:t>
            </a:r>
            <a:r>
              <a:rPr lang="en-US" dirty="0"/>
              <a:t>="glide" xmlns:j2="null" xmlns:g2="null"&gt;</a:t>
            </a:r>
          </a:p>
          <a:p>
            <a:r>
              <a:rPr lang="en-US" dirty="0"/>
              <a:t> &lt;</a:t>
            </a:r>
            <a:r>
              <a:rPr lang="en-US" dirty="0" err="1"/>
              <a:t>j:set</a:t>
            </a:r>
            <a:r>
              <a:rPr lang="en-US" dirty="0"/>
              <a:t> var="</a:t>
            </a:r>
            <a:r>
              <a:rPr lang="en-US" dirty="0" err="1"/>
              <a:t>jvar_age</a:t>
            </a:r>
            <a:r>
              <a:rPr lang="en-US" dirty="0"/>
              <a:t>" value="16"&gt;</a:t>
            </a:r>
          </a:p>
          <a:p>
            <a:r>
              <a:rPr lang="en-US" dirty="0"/>
              <a:t> &lt;/</a:t>
            </a:r>
            <a:r>
              <a:rPr lang="en-US" dirty="0" err="1"/>
              <a:t>j:set</a:t>
            </a:r>
            <a:r>
              <a:rPr lang="en-US" dirty="0"/>
              <a:t>&gt;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 &lt;</a:t>
            </a:r>
            <a:r>
              <a:rPr lang="en-US" dirty="0" err="1"/>
              <a:t>j:if</a:t>
            </a:r>
            <a:r>
              <a:rPr lang="en-US" dirty="0"/>
              <a:t> test="${</a:t>
            </a:r>
            <a:r>
              <a:rPr lang="en-US" dirty="0" err="1"/>
              <a:t>jvar_age</a:t>
            </a:r>
            <a:r>
              <a:rPr lang="en-US" dirty="0"/>
              <a:t> </a:t>
            </a:r>
            <a:r>
              <a:rPr lang="en-US" dirty="0" err="1"/>
              <a:t>lt</a:t>
            </a:r>
            <a:r>
              <a:rPr lang="en-US" dirty="0"/>
              <a:t> 18}"&gt;</a:t>
            </a:r>
          </a:p>
          <a:p>
            <a:r>
              <a:rPr lang="en-US" dirty="0"/>
              <a:t>  &lt;p&gt;Sorry, You are not eligible for driving </a:t>
            </a:r>
            <a:r>
              <a:rPr lang="en-US" dirty="0" err="1"/>
              <a:t>licence</a:t>
            </a:r>
            <a:r>
              <a:rPr lang="en-US" dirty="0"/>
              <a:t>. As we got your age is ${</a:t>
            </a:r>
            <a:r>
              <a:rPr lang="en-US" dirty="0" err="1"/>
              <a:t>jvar_age</a:t>
            </a:r>
            <a:r>
              <a:rPr lang="en-US" dirty="0"/>
              <a:t>}.&lt;/p&gt;</a:t>
            </a:r>
          </a:p>
          <a:p>
            <a:r>
              <a:rPr lang="en-US" dirty="0"/>
              <a:t> &lt;/</a:t>
            </a:r>
            <a:r>
              <a:rPr lang="en-US" dirty="0" err="1"/>
              <a:t>j:if</a:t>
            </a:r>
            <a:r>
              <a:rPr lang="en-US" dirty="0"/>
              <a:t>&gt;</a:t>
            </a:r>
          </a:p>
          <a:p>
            <a:r>
              <a:rPr lang="en-US" dirty="0"/>
              <a:t> </a:t>
            </a:r>
          </a:p>
          <a:p>
            <a:r>
              <a:rPr lang="en-US" dirty="0"/>
              <a:t> &lt;</a:t>
            </a:r>
            <a:r>
              <a:rPr lang="en-US" dirty="0" err="1"/>
              <a:t>j:if</a:t>
            </a:r>
            <a:r>
              <a:rPr lang="en-US" dirty="0"/>
              <a:t> test="${</a:t>
            </a:r>
            <a:r>
              <a:rPr lang="en-US" dirty="0" err="1"/>
              <a:t>jvar_age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en-US" dirty="0"/>
              <a:t> 18}"&gt;</a:t>
            </a:r>
          </a:p>
          <a:p>
            <a:r>
              <a:rPr lang="en-US" dirty="0"/>
              <a:t>  &lt;p&gt;Hey, You are eligible for driving </a:t>
            </a:r>
            <a:r>
              <a:rPr lang="en-US" dirty="0" err="1"/>
              <a:t>licence</a:t>
            </a:r>
            <a:r>
              <a:rPr lang="en-US" dirty="0"/>
              <a:t>. As we got your age is ${</a:t>
            </a:r>
            <a:r>
              <a:rPr lang="en-US" dirty="0" err="1"/>
              <a:t>jvar_age</a:t>
            </a:r>
            <a:r>
              <a:rPr lang="en-US" dirty="0"/>
              <a:t>}.&lt;/p&gt;</a:t>
            </a:r>
          </a:p>
          <a:p>
            <a:r>
              <a:rPr lang="en-US" dirty="0"/>
              <a:t> &lt;/</a:t>
            </a:r>
            <a:r>
              <a:rPr lang="en-US" dirty="0" err="1"/>
              <a:t>j:if</a:t>
            </a:r>
            <a:r>
              <a:rPr lang="en-US" dirty="0"/>
              <a:t>&gt;</a:t>
            </a:r>
          </a:p>
          <a:p>
            <a:r>
              <a:rPr lang="en-US" dirty="0"/>
              <a:t>&lt;/</a:t>
            </a:r>
            <a:r>
              <a:rPr lang="en-US" dirty="0" err="1"/>
              <a:t>j:jelly</a:t>
            </a:r>
            <a:r>
              <a:rPr lang="en-US" dirty="0"/>
              <a:t>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55F10C-9750-D57C-937F-BD5E021547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1023" y="46865"/>
            <a:ext cx="6152782" cy="203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881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45EF9-9B05-38D7-8A85-86FED5B85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1153-1525-13CE-BA81-7C344D8F9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92CE7-3AB7-B647-5105-1EC05021C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Variable and with condition </a:t>
            </a:r>
          </a:p>
          <a:p>
            <a:r>
              <a:rPr lang="en-US" dirty="0"/>
              <a:t>After generate to 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19233E-1E66-C5A8-797F-F999FE60C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378" y="911936"/>
            <a:ext cx="6152782" cy="2036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3C0771-D765-202D-DE05-190FEB819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116" y="3733500"/>
            <a:ext cx="9040487" cy="1419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826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7FFCF-8CB7-B060-DF3F-F358B0F6B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6A9AC-7D6B-5985-7E3D-A8BDAB34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FF114-AF32-54D3-92B3-063AC37168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Variable and with condition </a:t>
            </a:r>
          </a:p>
          <a:p>
            <a:r>
              <a:rPr lang="en-US" dirty="0"/>
              <a:t>After generate to 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011DE8-1BF8-D9B7-AE50-D74BED441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559" y="3429000"/>
            <a:ext cx="5770885" cy="25615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36970D-4257-CACF-CA34-E90B3EB419D2}"/>
              </a:ext>
            </a:extLst>
          </p:cNvPr>
          <p:cNvSpPr txBox="1"/>
          <p:nvPr/>
        </p:nvSpPr>
        <p:spPr>
          <a:xfrm>
            <a:off x="-43122" y="2089751"/>
            <a:ext cx="7684308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&lt;?xml version="1.0" encoding="utf-8" ?&gt;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 trim="false"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b="0" dirty="0">
                <a:effectLst/>
                <a:latin typeface="Consolas" panose="020B0609020204030204" pitchFamily="49" charset="0"/>
              </a:rPr>
              <a:t>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xmlns:g</a:t>
            </a:r>
            <a:r>
              <a:rPr lang="en-US" b="0" dirty="0">
                <a:effectLst/>
                <a:latin typeface="Consolas" panose="020B0609020204030204" pitchFamily="49" charset="0"/>
              </a:rPr>
              <a:t>="glide" xmlns:j2="null" xmlns:g2="null"&gt;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" value="Aakash"&gt;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j:choose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j:when</a:t>
            </a:r>
            <a:r>
              <a:rPr lang="en-US" b="0" dirty="0">
                <a:effectLst/>
                <a:latin typeface="Consolas" panose="020B0609020204030204" pitchFamily="49" charset="0"/>
              </a:rPr>
              <a:t> test="${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 eq 'Richa'}"&gt;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Richa!&lt;/p&gt;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j:when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j:when</a:t>
            </a:r>
            <a:r>
              <a:rPr lang="en-US" b="0" dirty="0">
                <a:effectLst/>
                <a:latin typeface="Consolas" panose="020B0609020204030204" pitchFamily="49" charset="0"/>
              </a:rPr>
              <a:t> test="${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 eq 'Atul'}"&gt;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Atul!&lt;/p&gt;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j:when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j:otherwise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}!&lt;/p&gt;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j:otherwise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j:choose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601108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629E2-3A15-B5B7-896B-4FC48B617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E0834-43D6-38BD-1514-19526E5E7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D15FFE-4A11-8E8D-A772-2A937D483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Variable and with condition </a:t>
            </a:r>
          </a:p>
          <a:p>
            <a:r>
              <a:rPr lang="en-US" dirty="0"/>
              <a:t>After generate to html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A60C8C-B7DF-8E42-70DA-5772E599B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781" y="1609398"/>
            <a:ext cx="5770885" cy="25615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BB8801F-52CB-9CAD-5B6C-79935BFA75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998" y="3849900"/>
            <a:ext cx="3848637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5584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D02D7F-4980-3E5C-AF6C-B615CC846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F6D51-46DB-32C3-FCA3-593B2BD37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DED3D-C817-E1E9-6358-EDCEFA6BD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Switch/case.</a:t>
            </a:r>
          </a:p>
          <a:p>
            <a:r>
              <a:rPr lang="en-US" dirty="0"/>
              <a:t>After generate to 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022D087-D0DD-CED3-2CA4-1460B74D5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1180" y="336926"/>
            <a:ext cx="5808926" cy="259208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F7BC41-F917-44C4-B3FD-B193BDC1FC71}"/>
              </a:ext>
            </a:extLst>
          </p:cNvPr>
          <p:cNvSpPr txBox="1"/>
          <p:nvPr/>
        </p:nvSpPr>
        <p:spPr>
          <a:xfrm>
            <a:off x="0" y="2085579"/>
            <a:ext cx="7421880" cy="49654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&lt;?xml version="1.0" encoding="utf-8" ?&gt;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 trim="false"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b="0" dirty="0">
                <a:effectLst/>
                <a:latin typeface="Consolas" panose="020B0609020204030204" pitchFamily="49" charset="0"/>
              </a:rPr>
              <a:t>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xmlns:g</a:t>
            </a:r>
            <a:r>
              <a:rPr lang="en-US" b="0" dirty="0">
                <a:effectLst/>
                <a:latin typeface="Consolas" panose="020B0609020204030204" pitchFamily="49" charset="0"/>
              </a:rPr>
              <a:t>="glide" xmlns:j2="null" xmlns:g2="null"&gt;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" value="Aakash"&gt;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j:switch</a:t>
            </a:r>
            <a:r>
              <a:rPr lang="en-US" b="0" dirty="0">
                <a:effectLst/>
                <a:latin typeface="Consolas" panose="020B0609020204030204" pitchFamily="49" charset="0"/>
              </a:rPr>
              <a:t> on="${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}"&gt;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j:case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value="Richa"&gt;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Richa!&lt;/p&gt;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j:case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j:case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value="Atul"&gt;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Atul!&lt;/p&gt;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j:case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j:default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&lt;p&gt;Welcome, ${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jvar_name</a:t>
            </a:r>
            <a:r>
              <a:rPr lang="en-US" b="0" dirty="0">
                <a:effectLst/>
                <a:latin typeface="Consolas" panose="020B0609020204030204" pitchFamily="49" charset="0"/>
              </a:rPr>
              <a:t>}!&lt;/p&gt;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j:default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j:switch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7409710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468BB-0713-A078-50C7-84A5AD983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768D2-747B-C458-F47D-545821085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D349E-EED3-7E89-BBF8-E36A59763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Switch/case.</a:t>
            </a:r>
          </a:p>
          <a:p>
            <a:r>
              <a:rPr lang="en-US" dirty="0"/>
              <a:t>After generate to html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8856C9F-8534-D0AF-7507-C982B35AF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540" y="676508"/>
            <a:ext cx="5808926" cy="25920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CC7610-E15F-CE93-A4AD-C822FDA147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2543" y="3784441"/>
            <a:ext cx="3848637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048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503B3-F86B-5F7A-D081-EA537E41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77654-9D2C-CDD4-A9E6-CE020D4E2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FBC13-2193-4C49-0125-2C8639646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Loops</a:t>
            </a:r>
          </a:p>
          <a:p>
            <a:r>
              <a:rPr lang="en-US" dirty="0"/>
              <a:t>After generate to 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04EC2F-5AC5-58DE-F0BE-0EC1369F9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8" y="2747963"/>
            <a:ext cx="5082732" cy="13620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C499E18-DB6D-0535-8071-BD81F7D9800A}"/>
              </a:ext>
            </a:extLst>
          </p:cNvPr>
          <p:cNvSpPr txBox="1"/>
          <p:nvPr/>
        </p:nvSpPr>
        <p:spPr>
          <a:xfrm>
            <a:off x="5829300" y="378213"/>
            <a:ext cx="6118860" cy="6479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&lt;?xml version="1.0" encoding="utf-8" ?&gt;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trim="false"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&lt;!-- Standard Jelly uses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 to define variables. 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 We split a string to create an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iterable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array. --&gt;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var="colors" value="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pink,green,violet,indigo,blue,yellow,orange,white,red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"/&gt;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jvar_colors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 items="${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colors.split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(',')}"&gt;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&lt;p&gt;Color: &amp;#160; &lt;span style="color:${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jvar_colors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}"&gt;${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jvar_colors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}&lt;/span&gt;&lt;/p&gt;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jvar_index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 begin="0" end="20" step="2"&gt;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jvar_index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5575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79023-CAB0-9C33-A01A-D6A6C3E7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F10F3-3815-54A8-0B37-560BFAF3A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29336-F649-A2BC-401C-34AA853B7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r>
              <a:rPr lang="en-US" b="1" dirty="0"/>
              <a:t>2. Loops</a:t>
            </a:r>
          </a:p>
          <a:p>
            <a:r>
              <a:rPr lang="en-US" dirty="0"/>
              <a:t>After generate to html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D0C60-37DB-FC5C-BD81-83E751D0D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08" y="2747963"/>
            <a:ext cx="5082732" cy="136207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AE71D2D-3A5E-C64D-7882-C8BF81252368}"/>
              </a:ext>
            </a:extLst>
          </p:cNvPr>
          <p:cNvSpPr txBox="1"/>
          <p:nvPr/>
        </p:nvSpPr>
        <p:spPr>
          <a:xfrm>
            <a:off x="5829300" y="378213"/>
            <a:ext cx="6118860" cy="6479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&lt;?xml version="1.0" encoding="utf-8" ?&gt;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trim="false"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&lt;!-- Standard Jelly uses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 to define variables. 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 We split a string to create an 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iterable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array. --&gt;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var="colors" value="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pink,green,violet,indigo,blue,yellow,orange,white,red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"/&gt;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jvar_colors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 items="${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colors.split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(',')}"&gt;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&lt;p&gt;Color: &amp;#160; &lt;span style="color:${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jvar_colors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}"&gt;${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jvar_colors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}&lt;/span&gt;&lt;/p&gt;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 var="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jvar_index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" begin="0" end="20" step="2"&gt;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    ${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jvar_index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j:forEach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sz="1200" b="0" dirty="0">
                <a:effectLst/>
                <a:latin typeface="Consolas" panose="020B0609020204030204" pitchFamily="49" charset="0"/>
              </a:rPr>
              <a:t>&lt;/</a:t>
            </a:r>
            <a:r>
              <a:rPr lang="en-US" sz="1200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sz="1200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sz="1200" b="0" dirty="0">
                <a:effectLst/>
                <a:latin typeface="Consolas" panose="020B0609020204030204" pitchFamily="49" charset="0"/>
              </a:rPr>
            </a:br>
            <a:endParaRPr lang="en-US" sz="1200" b="0" dirty="0"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3544C-9B13-7EC7-1A9A-0BB155BE9F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162" y="4422696"/>
            <a:ext cx="3606624" cy="2085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957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71C9D-54D1-FC47-D30D-A1818592A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52ADB-F180-DC01-CDD2-5E79C2030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E4108-E314-50AA-48B8-52DD4362F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456600-AEFA-013F-7124-7C8C611DE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61" y="630056"/>
            <a:ext cx="6077798" cy="2600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8582491-EEF2-ADCB-2412-BD12D62B4FED}"/>
              </a:ext>
            </a:extLst>
          </p:cNvPr>
          <p:cNvSpPr txBox="1"/>
          <p:nvPr/>
        </p:nvSpPr>
        <p:spPr>
          <a:xfrm>
            <a:off x="677334" y="1965960"/>
            <a:ext cx="611886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&lt;?xml version="1.0"?&gt;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b="0" dirty="0">
                <a:effectLst/>
                <a:latin typeface="Consolas" panose="020B0609020204030204" pitchFamily="49" charset="0"/>
              </a:rPr>
              <a:t>"&gt;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&lt;!-- Set a variable --&gt;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var="name" value="Alice"/&gt;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var="age" value="20"/&gt;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&lt;!-- If condition --&gt;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j:if</a:t>
            </a:r>
            <a:r>
              <a:rPr lang="en-US" b="0" dirty="0">
                <a:effectLst/>
                <a:latin typeface="Consolas" panose="020B0609020204030204" pitchFamily="49" charset="0"/>
              </a:rPr>
              <a:t> test="${age &gt;= 18}"&gt;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j:expr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value="Hello ${name}, you are an adult."/&gt;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j:if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effectLst/>
                <a:latin typeface="Consolas" panose="020B0609020204030204" pitchFamily="49" charset="0"/>
              </a:rPr>
              <a:t>/&gt;</a:t>
            </a:r>
          </a:p>
        </p:txBody>
      </p:sp>
    </p:spTree>
    <p:extLst>
      <p:ext uri="{BB962C8B-B14F-4D97-AF65-F5344CB8AC3E}">
        <p14:creationId xmlns:p14="http://schemas.microsoft.com/office/powerpoint/2010/main" val="9708962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DD698-A69C-625E-274A-4CFC1DBE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FDFA-8090-4C72-CA92-386111E5B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D66AC-05F0-A13C-C3A0-8C8F451F3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F5F92F-644B-0F9F-416A-33B275C9D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661" y="630056"/>
            <a:ext cx="6077798" cy="2600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D31672E-8261-1B27-B6BE-DA2E1571CEC8}"/>
              </a:ext>
            </a:extLst>
          </p:cNvPr>
          <p:cNvSpPr txBox="1"/>
          <p:nvPr/>
        </p:nvSpPr>
        <p:spPr>
          <a:xfrm>
            <a:off x="677334" y="1965960"/>
            <a:ext cx="6118860" cy="4452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&lt;?xml version="1.0"?&gt;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j:jelly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xmlns:j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jelly:core</a:t>
            </a:r>
            <a:r>
              <a:rPr lang="en-US" b="0" dirty="0">
                <a:effectLst/>
                <a:latin typeface="Consolas" panose="020B0609020204030204" pitchFamily="49" charset="0"/>
              </a:rPr>
              <a:t>"&gt;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&lt;!-- Set a variable --&gt;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var="name" value="Alice"/&gt;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j:set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var="age" value="20"/&gt;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&lt;!-- If condition --&gt;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j:if</a:t>
            </a:r>
            <a:r>
              <a:rPr lang="en-US" b="0" dirty="0">
                <a:effectLst/>
                <a:latin typeface="Consolas" panose="020B0609020204030204" pitchFamily="49" charset="0"/>
              </a:rPr>
              <a:t> test="${age &gt;= 18}"&gt;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j:expr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value="Hello ${name}, you are an adult."/&gt;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j:if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2025"/>
              </a:lnSpc>
              <a:buNone/>
            </a:pPr>
            <a:br>
              <a:rPr lang="en-US" b="0" dirty="0">
                <a:effectLst/>
                <a:latin typeface="Consolas" panose="020B0609020204030204" pitchFamily="49" charset="0"/>
              </a:rPr>
            </a:br>
            <a:endParaRPr lang="en-US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br</a:t>
            </a:r>
            <a:r>
              <a:rPr lang="en-US" b="0" dirty="0">
                <a:effectLst/>
                <a:latin typeface="Consolas" panose="020B0609020204030204" pitchFamily="49" charset="0"/>
              </a:rPr>
              <a:t>/&gt;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8886C1-45D4-A1FF-5369-4BF8D6372E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4552" y="5981582"/>
            <a:ext cx="3038899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7603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0905B-F4BF-D00D-6CCD-C688ADFF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78D1C-AA5F-D9E0-AF6A-43982C6CB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39A61-126A-BED6-B641-48C7B6D717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6C457C-F4F8-B247-3D64-C1B72A40ABE6}"/>
              </a:ext>
            </a:extLst>
          </p:cNvPr>
          <p:cNvSpPr txBox="1"/>
          <p:nvPr/>
        </p:nvSpPr>
        <p:spPr>
          <a:xfrm>
            <a:off x="677334" y="1965960"/>
            <a:ext cx="611886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US" dirty="0"/>
            </a:br>
            <a:endParaRPr lang="en-US" dirty="0"/>
          </a:p>
          <a:p>
            <a:r>
              <a:rPr lang="en-US" dirty="0"/>
              <a:t>    &lt;!-- Choose / When / Otherwise --&gt;</a:t>
            </a:r>
          </a:p>
          <a:p>
            <a:r>
              <a:rPr lang="en-US" dirty="0"/>
              <a:t>    &lt;</a:t>
            </a:r>
            <a:r>
              <a:rPr lang="en-US" dirty="0" err="1"/>
              <a:t>j:choose</a:t>
            </a:r>
            <a:r>
              <a:rPr lang="en-US" dirty="0"/>
              <a:t>&gt;</a:t>
            </a:r>
          </a:p>
          <a:p>
            <a:r>
              <a:rPr lang="en-US" dirty="0"/>
              <a:t>        &lt;</a:t>
            </a:r>
            <a:r>
              <a:rPr lang="en-US" dirty="0" err="1"/>
              <a:t>j:when</a:t>
            </a:r>
            <a:r>
              <a:rPr lang="en-US" dirty="0"/>
              <a:t> test="${age &amp;</a:t>
            </a:r>
            <a:r>
              <a:rPr lang="en-US" dirty="0" err="1"/>
              <a:t>lt</a:t>
            </a:r>
            <a:r>
              <a:rPr lang="en-US" dirty="0"/>
              <a:t>; 13}"&gt;</a:t>
            </a:r>
          </a:p>
          <a:p>
            <a:r>
              <a:rPr lang="en-US" dirty="0"/>
              <a:t>            Child</a:t>
            </a:r>
          </a:p>
          <a:p>
            <a:r>
              <a:rPr lang="en-US" dirty="0"/>
              <a:t>        &lt;/</a:t>
            </a:r>
            <a:r>
              <a:rPr lang="en-US" dirty="0" err="1"/>
              <a:t>j:when</a:t>
            </a:r>
            <a:r>
              <a:rPr lang="en-US" dirty="0"/>
              <a:t>&gt;</a:t>
            </a:r>
          </a:p>
          <a:p>
            <a:r>
              <a:rPr lang="en-US" dirty="0"/>
              <a:t>        &lt;</a:t>
            </a:r>
            <a:r>
              <a:rPr lang="en-US" dirty="0" err="1"/>
              <a:t>j:when</a:t>
            </a:r>
            <a:r>
              <a:rPr lang="en-US" dirty="0"/>
              <a:t> test="${age &amp;</a:t>
            </a:r>
            <a:r>
              <a:rPr lang="en-US" dirty="0" err="1"/>
              <a:t>lt</a:t>
            </a:r>
            <a:r>
              <a:rPr lang="en-US" dirty="0"/>
              <a:t>; 20}"&gt;</a:t>
            </a:r>
          </a:p>
          <a:p>
            <a:r>
              <a:rPr lang="en-US" dirty="0"/>
              <a:t>            Teenager</a:t>
            </a:r>
          </a:p>
          <a:p>
            <a:r>
              <a:rPr lang="en-US" dirty="0"/>
              <a:t>        &lt;/</a:t>
            </a:r>
            <a:r>
              <a:rPr lang="en-US" dirty="0" err="1"/>
              <a:t>j:when</a:t>
            </a:r>
            <a:r>
              <a:rPr lang="en-US" dirty="0"/>
              <a:t>&gt;</a:t>
            </a:r>
          </a:p>
          <a:p>
            <a:r>
              <a:rPr lang="en-US" dirty="0"/>
              <a:t>        &lt;</a:t>
            </a:r>
            <a:r>
              <a:rPr lang="en-US" dirty="0" err="1"/>
              <a:t>j:otherwise</a:t>
            </a:r>
            <a:r>
              <a:rPr lang="en-US" dirty="0"/>
              <a:t>&gt;</a:t>
            </a:r>
          </a:p>
          <a:p>
            <a:r>
              <a:rPr lang="en-US" dirty="0"/>
              <a:t>            Adult</a:t>
            </a:r>
          </a:p>
          <a:p>
            <a:r>
              <a:rPr lang="en-US" dirty="0"/>
              <a:t>        &lt;/</a:t>
            </a:r>
            <a:r>
              <a:rPr lang="en-US" dirty="0" err="1"/>
              <a:t>j:otherwise</a:t>
            </a:r>
            <a:r>
              <a:rPr lang="en-US" dirty="0"/>
              <a:t>&gt;</a:t>
            </a:r>
          </a:p>
          <a:p>
            <a:r>
              <a:rPr lang="en-US" dirty="0"/>
              <a:t>    &lt;/</a:t>
            </a:r>
            <a:r>
              <a:rPr lang="en-US" dirty="0" err="1"/>
              <a:t>j:choose</a:t>
            </a:r>
            <a:r>
              <a:rPr lang="en-US" dirty="0"/>
              <a:t>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1F1EB-6996-C4A3-1060-A4DC65E0D0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166" y="155060"/>
            <a:ext cx="4353533" cy="2829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79D0B1-62BC-1C2B-8685-ABBA2318E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9924" y="5729855"/>
            <a:ext cx="3524742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8272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8DE7C-36AB-785A-7D9E-10340A94C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D594-705C-89B1-DB34-D30FC9CA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97AFF-A526-4AD7-0E3D-F89655154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3840" y="1270000"/>
            <a:ext cx="10774680" cy="4195481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D5B301-50EA-5CFF-391D-02EECA447C06}"/>
              </a:ext>
            </a:extLst>
          </p:cNvPr>
          <p:cNvSpPr txBox="1"/>
          <p:nvPr/>
        </p:nvSpPr>
        <p:spPr>
          <a:xfrm>
            <a:off x="677334" y="1965960"/>
            <a:ext cx="611886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&lt;!-- Loop example --&gt;</a:t>
            </a:r>
          </a:p>
          <a:p>
            <a:r>
              <a:rPr lang="en-US" dirty="0"/>
              <a:t>    &lt;</a:t>
            </a:r>
            <a:r>
              <a:rPr lang="en-US" dirty="0" err="1"/>
              <a:t>j:set</a:t>
            </a:r>
            <a:r>
              <a:rPr lang="en-US" dirty="0"/>
              <a:t> var="numbers" value="1,2,3,4,5"/&gt;</a:t>
            </a:r>
          </a:p>
          <a:p>
            <a:r>
              <a:rPr lang="en-US" dirty="0"/>
              <a:t>    &lt;</a:t>
            </a:r>
            <a:r>
              <a:rPr lang="en-US" dirty="0" err="1"/>
              <a:t>j:forEach</a:t>
            </a:r>
            <a:r>
              <a:rPr lang="en-US" dirty="0"/>
              <a:t> var="num" items="${numbers}"&gt;</a:t>
            </a:r>
          </a:p>
          <a:p>
            <a:r>
              <a:rPr lang="en-US" dirty="0"/>
              <a:t>        Number: ${num}</a:t>
            </a:r>
          </a:p>
          <a:p>
            <a:r>
              <a:rPr lang="en-US" dirty="0"/>
              <a:t>        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  &lt;/</a:t>
            </a:r>
            <a:r>
              <a:rPr lang="en-US" dirty="0" err="1"/>
              <a:t>j:forEach</a:t>
            </a:r>
            <a:r>
              <a:rPr lang="en-US" dirty="0"/>
              <a:t>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CE3823-D60F-B889-4D49-C938333062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9663" y="456681"/>
            <a:ext cx="3781953" cy="1362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9095819-9FF6-EA5C-71A1-023BF8B89E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8044" y="3654438"/>
            <a:ext cx="1800476" cy="256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77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6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E9855-016F-4E2B-A706-B13CF81C9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48B8A-C8C1-96EA-DDC0-C9E30F52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D2CF65-AB3C-C085-D877-C59765357F09}"/>
              </a:ext>
            </a:extLst>
          </p:cNvPr>
          <p:cNvSpPr txBox="1"/>
          <p:nvPr/>
        </p:nvSpPr>
        <p:spPr>
          <a:xfrm>
            <a:off x="677334" y="1965960"/>
            <a:ext cx="72322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&lt;!-- For array --&gt;</a:t>
            </a:r>
          </a:p>
          <a:p>
            <a:r>
              <a:rPr lang="en-US" dirty="0"/>
              <a:t>      &lt;</a:t>
            </a:r>
            <a:r>
              <a:rPr lang="en-US" dirty="0" err="1"/>
              <a:t>j:set</a:t>
            </a:r>
            <a:r>
              <a:rPr lang="en-US" dirty="0"/>
              <a:t> var="names" value="['Alice', 'Bob', 'Charlie', 'Diana']"/&gt;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</a:t>
            </a:r>
            <a:r>
              <a:rPr lang="en-US" dirty="0" err="1"/>
              <a:t>j:forEach</a:t>
            </a:r>
            <a:r>
              <a:rPr lang="en-US" dirty="0"/>
              <a:t> var="</a:t>
            </a:r>
            <a:r>
              <a:rPr lang="en-US" dirty="0" err="1"/>
              <a:t>currentName</a:t>
            </a:r>
            <a:r>
              <a:rPr lang="en-US" dirty="0"/>
              <a:t>" items="${names}"&gt;</a:t>
            </a:r>
          </a:p>
          <a:p>
            <a:r>
              <a:rPr lang="en-US" dirty="0"/>
              <a:t>    Name: ${</a:t>
            </a:r>
            <a:r>
              <a:rPr lang="en-US" dirty="0" err="1"/>
              <a:t>currentName</a:t>
            </a:r>
            <a:r>
              <a:rPr lang="en-US" dirty="0"/>
              <a:t>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&lt;/</a:t>
            </a:r>
            <a:r>
              <a:rPr lang="en-US" dirty="0" err="1"/>
              <a:t>j:forEach</a:t>
            </a:r>
            <a:r>
              <a:rPr lang="en-US" dirty="0"/>
              <a:t>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E8F038-D2F9-3BC6-C17B-5130B0FAF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709" y="495182"/>
            <a:ext cx="6858957" cy="143847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74DF6FB-F143-81ED-611B-147599F96C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5911" y="4290842"/>
            <a:ext cx="3277057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3749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E7FB3D-396F-B217-1B41-AEE35B971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81F7-103D-C2D4-906F-977BC2ADB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AFB013-C436-193D-CF01-CD524FE3220C}"/>
              </a:ext>
            </a:extLst>
          </p:cNvPr>
          <p:cNvSpPr txBox="1"/>
          <p:nvPr/>
        </p:nvSpPr>
        <p:spPr>
          <a:xfrm>
            <a:off x="433494" y="1249680"/>
            <a:ext cx="723222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 &lt;!-- Create Java </a:t>
            </a:r>
            <a:r>
              <a:rPr lang="en-US" dirty="0" err="1"/>
              <a:t>ArrayList</a:t>
            </a:r>
            <a:r>
              <a:rPr lang="en-US" dirty="0"/>
              <a:t> --&gt;</a:t>
            </a:r>
          </a:p>
          <a:p>
            <a:r>
              <a:rPr lang="en-US" dirty="0"/>
              <a:t>  &lt;</a:t>
            </a:r>
            <a:r>
              <a:rPr lang="en-US" dirty="0" err="1"/>
              <a:t>j:new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java.util.ArrayList</a:t>
            </a:r>
            <a:r>
              <a:rPr lang="en-US" dirty="0"/>
              <a:t>" var="names"/&gt;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on="${names}" method="add"&gt;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value="Alice"/&gt;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on="${names}" method="add"&gt;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value="Bob"/&gt;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on="${names}" method="add"&gt;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value="Charlie"/&gt;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on="${names}" method="add"&gt;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value="Diana"/&gt;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&lt;!-- Loop through it --&gt;</a:t>
            </a:r>
          </a:p>
          <a:p>
            <a:r>
              <a:rPr lang="en-US" dirty="0"/>
              <a:t>  &lt;</a:t>
            </a:r>
            <a:r>
              <a:rPr lang="en-US" dirty="0" err="1"/>
              <a:t>j:forEach</a:t>
            </a:r>
            <a:r>
              <a:rPr lang="en-US" dirty="0"/>
              <a:t> var="</a:t>
            </a:r>
            <a:r>
              <a:rPr lang="en-US" dirty="0" err="1"/>
              <a:t>currentName</a:t>
            </a:r>
            <a:r>
              <a:rPr lang="en-US" dirty="0"/>
              <a:t>" items="${names}"&gt;</a:t>
            </a:r>
          </a:p>
          <a:p>
            <a:r>
              <a:rPr lang="en-US" dirty="0"/>
              <a:t>    Name: ${</a:t>
            </a:r>
            <a:r>
              <a:rPr lang="en-US" dirty="0" err="1"/>
              <a:t>currentName</a:t>
            </a:r>
            <a:r>
              <a:rPr lang="en-US" dirty="0"/>
              <a:t>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&lt;/</a:t>
            </a:r>
            <a:r>
              <a:rPr lang="en-US" dirty="0" err="1"/>
              <a:t>j:forEach</a:t>
            </a:r>
            <a:r>
              <a:rPr lang="en-US" dirty="0"/>
              <a:t>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115200-AD3C-C570-22E7-1CBB01017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709" y="196608"/>
            <a:ext cx="4734586" cy="34675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4DD2C1-6DBF-EE2A-8FB0-DBA88A25C2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230" y="5057704"/>
            <a:ext cx="2676899" cy="1009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41626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60E1A-7EEB-759C-62C1-4EDBE967B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0743FB-635E-D894-A3DC-53BA70FFC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8E8A5-11B4-BDD1-CE2C-E146D0887950}"/>
              </a:ext>
            </a:extLst>
          </p:cNvPr>
          <p:cNvSpPr txBox="1"/>
          <p:nvPr/>
        </p:nvSpPr>
        <p:spPr>
          <a:xfrm>
            <a:off x="137160" y="1428452"/>
            <a:ext cx="1081115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</a:t>
            </a:r>
            <a:r>
              <a:rPr lang="en-US" dirty="0" err="1"/>
              <a:t>j:new</a:t>
            </a:r>
            <a:r>
              <a:rPr lang="en-US" dirty="0"/>
              <a:t>&gt; creates a new Java object instance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java.util.ArrayList</a:t>
            </a:r>
            <a:r>
              <a:rPr lang="en-US" dirty="0"/>
              <a:t>" specifies we want to create an </a:t>
            </a:r>
            <a:r>
              <a:rPr lang="en-US" dirty="0" err="1"/>
              <a:t>ArrayList</a:t>
            </a:r>
            <a:r>
              <a:rPr lang="en-US" dirty="0"/>
              <a:t> (a Java collection that can hold multiple items)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var="names" stores this new </a:t>
            </a:r>
            <a:r>
              <a:rPr lang="en-US" dirty="0" err="1"/>
              <a:t>ArrayList</a:t>
            </a:r>
            <a:r>
              <a:rPr lang="en-US" dirty="0"/>
              <a:t> in a variable called 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like doing </a:t>
            </a:r>
            <a:r>
              <a:rPr lang="en-US" dirty="0" err="1"/>
              <a:t>ArrayList</a:t>
            </a:r>
            <a:r>
              <a:rPr lang="en-US" dirty="0"/>
              <a:t> names = new </a:t>
            </a:r>
            <a:r>
              <a:rPr lang="en-US" dirty="0" err="1"/>
              <a:t>ArrayList</a:t>
            </a:r>
            <a:r>
              <a:rPr lang="en-US" dirty="0"/>
              <a:t>(); in 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sz="2000" b="1" dirty="0"/>
              <a:t>Let's break down the first &lt;</a:t>
            </a:r>
            <a:r>
              <a:rPr lang="en-US" sz="2000" b="1" dirty="0" err="1"/>
              <a:t>j:invoke</a:t>
            </a:r>
            <a:r>
              <a:rPr lang="en-US" sz="2000" b="1" dirty="0"/>
              <a:t>&gt;: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&lt;</a:t>
            </a:r>
            <a:r>
              <a:rPr lang="en-US" dirty="0" err="1"/>
              <a:t>j:invoke</a:t>
            </a:r>
            <a:r>
              <a:rPr lang="en-US" dirty="0"/>
              <a:t>&gt; calls a method on an existing Java object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on="${names}" specifies which object to call the method on (our </a:t>
            </a:r>
            <a:r>
              <a:rPr lang="en-US" dirty="0" err="1"/>
              <a:t>ArrayList</a:t>
            </a:r>
            <a:r>
              <a:rPr lang="en-US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method="add" specifies we want to call the add() 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Inside, &lt;</a:t>
            </a:r>
            <a:r>
              <a:rPr lang="en-US" dirty="0" err="1"/>
              <a:t>j:arg</a:t>
            </a:r>
            <a:r>
              <a:rPr lang="en-US" dirty="0"/>
              <a:t> value="Alice"/&gt; provides the argument/parameter for the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is like doing </a:t>
            </a:r>
            <a:r>
              <a:rPr lang="en-US" dirty="0" err="1"/>
              <a:t>names.add</a:t>
            </a:r>
            <a:r>
              <a:rPr lang="en-US" dirty="0"/>
              <a:t>("Alice"); in Java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C8834F-5BD9-1DE4-9EB3-321EE9FC8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390" y="4217211"/>
            <a:ext cx="3310610" cy="242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21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5CC1B-0058-1865-4D58-DA72BA0D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1B979-8A50-CAD0-03CD-A9322576F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6742F3-F9F5-C786-17E0-30B6C955775D}"/>
              </a:ext>
            </a:extLst>
          </p:cNvPr>
          <p:cNvSpPr txBox="1"/>
          <p:nvPr/>
        </p:nvSpPr>
        <p:spPr>
          <a:xfrm>
            <a:off x="433494" y="2164080"/>
            <a:ext cx="723222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&lt;!-- Parse String --&gt;</a:t>
            </a:r>
          </a:p>
          <a:p>
            <a:r>
              <a:rPr lang="en-US" dirty="0"/>
              <a:t>  &lt;</a:t>
            </a:r>
            <a:r>
              <a:rPr lang="en-US" dirty="0" err="1"/>
              <a:t>j:set</a:t>
            </a:r>
            <a:r>
              <a:rPr lang="en-US" dirty="0"/>
              <a:t> var="</a:t>
            </a:r>
            <a:r>
              <a:rPr lang="en-US" dirty="0" err="1"/>
              <a:t>nameString</a:t>
            </a:r>
            <a:r>
              <a:rPr lang="en-US" dirty="0"/>
              <a:t>" value="</a:t>
            </a:r>
            <a:r>
              <a:rPr lang="en-US" dirty="0" err="1"/>
              <a:t>Alice,Bob,Charlie,Diana</a:t>
            </a:r>
            <a:r>
              <a:rPr lang="en-US" dirty="0"/>
              <a:t>"/&gt;</a:t>
            </a:r>
          </a:p>
          <a:p>
            <a:r>
              <a:rPr lang="en-US" dirty="0"/>
              <a:t>  &lt;</a:t>
            </a:r>
            <a:r>
              <a:rPr lang="en-US" dirty="0" err="1"/>
              <a:t>j:set</a:t>
            </a:r>
            <a:r>
              <a:rPr lang="en-US" dirty="0"/>
              <a:t> var="names" value="${</a:t>
            </a:r>
            <a:r>
              <a:rPr lang="en-US" dirty="0" err="1"/>
              <a:t>nameString.split</a:t>
            </a:r>
            <a:r>
              <a:rPr lang="en-US" dirty="0"/>
              <a:t>(',')}"/&gt;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</a:t>
            </a:r>
            <a:r>
              <a:rPr lang="en-US" dirty="0" err="1"/>
              <a:t>j:forEach</a:t>
            </a:r>
            <a:r>
              <a:rPr lang="en-US" dirty="0"/>
              <a:t> var="</a:t>
            </a:r>
            <a:r>
              <a:rPr lang="en-US" dirty="0" err="1"/>
              <a:t>currentName</a:t>
            </a:r>
            <a:r>
              <a:rPr lang="en-US" dirty="0"/>
              <a:t>" items="${names}"&gt;</a:t>
            </a:r>
          </a:p>
          <a:p>
            <a:r>
              <a:rPr lang="en-US" dirty="0"/>
              <a:t>    Name: ${</a:t>
            </a:r>
            <a:r>
              <a:rPr lang="en-US" dirty="0" err="1"/>
              <a:t>currentName</a:t>
            </a:r>
            <a:r>
              <a:rPr lang="en-US" dirty="0"/>
              <a:t>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&lt;/</a:t>
            </a:r>
            <a:r>
              <a:rPr lang="en-US" dirty="0" err="1"/>
              <a:t>j:forEach</a:t>
            </a:r>
            <a:r>
              <a:rPr lang="en-US" dirty="0"/>
              <a:t>&gt;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E4E3AD-C6A9-DF68-CC8A-2C3C6C398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230" y="5057704"/>
            <a:ext cx="2676899" cy="100979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979434-DE8C-1A26-8DFF-AE43462EA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044" y="582837"/>
            <a:ext cx="4801270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0728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9C72-02DE-DDD6-D129-F23AA72F0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B4E48-A313-D7B7-8E24-BF7F54446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97CB8C-07CB-0EAB-B02F-15A751C10C9F}"/>
              </a:ext>
            </a:extLst>
          </p:cNvPr>
          <p:cNvSpPr txBox="1"/>
          <p:nvPr/>
        </p:nvSpPr>
        <p:spPr>
          <a:xfrm>
            <a:off x="347374" y="1474328"/>
            <a:ext cx="7232226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 &lt;!-- Create a Date object (current date/time) --&gt;</a:t>
            </a:r>
          </a:p>
          <a:p>
            <a:r>
              <a:rPr lang="en-US" dirty="0"/>
              <a:t>  &lt;</a:t>
            </a:r>
            <a:r>
              <a:rPr lang="en-US" dirty="0" err="1"/>
              <a:t>j:new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java.util.Date</a:t>
            </a:r>
            <a:r>
              <a:rPr lang="en-US" dirty="0"/>
              <a:t>" var="now"/&gt;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Current date/time: ${now}&lt;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&lt;!-- Get timestamp in milliseconds --&gt;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on="${now}" method="</a:t>
            </a:r>
            <a:r>
              <a:rPr lang="en-US" dirty="0" err="1"/>
              <a:t>getTime</a:t>
            </a:r>
            <a:r>
              <a:rPr lang="en-US" dirty="0"/>
              <a:t>" var="timestamp"/&gt;</a:t>
            </a:r>
          </a:p>
          <a:p>
            <a:r>
              <a:rPr lang="en-US" dirty="0"/>
              <a:t>  Timestamp: ${timestamp} milliseconds&lt;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&lt;!-- Format the date --&gt;</a:t>
            </a:r>
          </a:p>
          <a:p>
            <a:r>
              <a:rPr lang="en-US" dirty="0"/>
              <a:t>  &lt;</a:t>
            </a:r>
            <a:r>
              <a:rPr lang="en-US" dirty="0" err="1"/>
              <a:t>j:new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java.text.SimpleDateFormat</a:t>
            </a:r>
            <a:r>
              <a:rPr lang="en-US" dirty="0"/>
              <a:t>" var="formatter"&gt;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</a:t>
            </a:r>
            <a:r>
              <a:rPr lang="en-US" dirty="0" err="1"/>
              <a:t>yyyy</a:t>
            </a:r>
            <a:r>
              <a:rPr lang="en-US" dirty="0"/>
              <a:t>-MM-dd </a:t>
            </a:r>
            <a:r>
              <a:rPr lang="en-US" dirty="0" err="1"/>
              <a:t>HH:mm:ss</a:t>
            </a:r>
            <a:r>
              <a:rPr lang="en-US" dirty="0"/>
              <a:t>"/&gt;</a:t>
            </a:r>
          </a:p>
          <a:p>
            <a:r>
              <a:rPr lang="en-US" dirty="0"/>
              <a:t>  &lt;/</a:t>
            </a:r>
            <a:r>
              <a:rPr lang="en-US" dirty="0" err="1"/>
              <a:t>j:new</a:t>
            </a:r>
            <a:r>
              <a:rPr lang="en-US" dirty="0"/>
              <a:t>&gt;</a:t>
            </a:r>
          </a:p>
          <a:p>
            <a:r>
              <a:rPr lang="en-US" dirty="0"/>
              <a:t>  &lt;</a:t>
            </a:r>
            <a:r>
              <a:rPr lang="en-US" dirty="0" err="1"/>
              <a:t>j:invoke</a:t>
            </a:r>
            <a:r>
              <a:rPr lang="en-US" dirty="0"/>
              <a:t> on="${formatter}" method="format" var="</a:t>
            </a:r>
            <a:r>
              <a:rPr lang="en-US" dirty="0" err="1"/>
              <a:t>formattedDate</a:t>
            </a:r>
            <a:r>
              <a:rPr lang="en-US" dirty="0"/>
              <a:t>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value="${now}"/&gt;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</a:t>
            </a:r>
            <a:r>
              <a:rPr lang="en-US" dirty="0"/>
              <a:t>&gt;</a:t>
            </a:r>
          </a:p>
          <a:p>
            <a:r>
              <a:rPr lang="en-US" dirty="0"/>
              <a:t>  Formatted date: ${</a:t>
            </a:r>
            <a:r>
              <a:rPr lang="en-US" dirty="0" err="1"/>
              <a:t>formattedDate</a:t>
            </a:r>
            <a:r>
              <a:rPr lang="en-US" dirty="0"/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980463-A282-9E6F-2071-EADF1BE115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9640" y="102042"/>
            <a:ext cx="4766890" cy="27445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6B64E9-B176-D251-2AB7-E1DF2E2C1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6263" y="5120576"/>
            <a:ext cx="4505954" cy="91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27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D4A38-D725-1980-6C3F-88275C0F7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7FC8B-8BBA-421A-526F-1C94DDC9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B3D64B-B110-28E9-FF8E-663BA563C93D}"/>
              </a:ext>
            </a:extLst>
          </p:cNvPr>
          <p:cNvSpPr txBox="1"/>
          <p:nvPr/>
        </p:nvSpPr>
        <p:spPr>
          <a:xfrm>
            <a:off x="347374" y="1474328"/>
            <a:ext cx="7232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Task</a:t>
            </a:r>
            <a:r>
              <a:rPr lang="en-US" dirty="0"/>
              <a:t>:</a:t>
            </a:r>
          </a:p>
          <a:p>
            <a:r>
              <a:rPr lang="en-US" dirty="0"/>
              <a:t>Create custom date not taken today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A28512-BE75-6697-A719-19B1E268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149" y="2795128"/>
            <a:ext cx="9482574" cy="1942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548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0FE7A-714A-BEE9-BB96-D4DB42CB2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9D813-CBFA-FDBC-C94C-B831D492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22491D-754F-C56C-B931-C95425531BF9}"/>
              </a:ext>
            </a:extLst>
          </p:cNvPr>
          <p:cNvSpPr txBox="1"/>
          <p:nvPr/>
        </p:nvSpPr>
        <p:spPr>
          <a:xfrm>
            <a:off x="347374" y="1474328"/>
            <a:ext cx="72322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&lt;!-- Get static fields --&gt;</a:t>
            </a:r>
          </a:p>
          <a:p>
            <a:r>
              <a:rPr lang="en-US" dirty="0"/>
              <a:t>  &lt;</a:t>
            </a:r>
            <a:r>
              <a:rPr lang="en-US" dirty="0" err="1"/>
              <a:t>j:getStatic</a:t>
            </a:r>
            <a:r>
              <a:rPr lang="en-US" dirty="0"/>
              <a:t> var="pi"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java.lang.Math</a:t>
            </a:r>
            <a:r>
              <a:rPr lang="en-US" dirty="0"/>
              <a:t>" field="PI"/&gt;</a:t>
            </a:r>
          </a:p>
          <a:p>
            <a:r>
              <a:rPr lang="en-US" dirty="0"/>
              <a:t>  &lt;</a:t>
            </a:r>
            <a:r>
              <a:rPr lang="en-US" dirty="0" err="1"/>
              <a:t>j:getStatic</a:t>
            </a:r>
            <a:r>
              <a:rPr lang="en-US" dirty="0"/>
              <a:t> var="e"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java.lang.Math</a:t>
            </a:r>
            <a:r>
              <a:rPr lang="en-US" dirty="0"/>
              <a:t>" field="E"/&gt;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PI value: ${pi}&lt;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  <a:p>
            <a:r>
              <a:rPr lang="en-US" dirty="0"/>
              <a:t>  E value: ${e}&lt;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2BE04E-2988-155B-8985-6A6E993AF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263" y="609600"/>
            <a:ext cx="5001323" cy="13813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7BEADB-B4A1-1AA1-3F99-3C50349914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8681" y="3888998"/>
            <a:ext cx="3915321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707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59B9D-F8F3-51B7-D3B0-A2F96BF53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82FC41-E58B-B671-A093-02DDFE541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DBC5F8-B021-BF51-8588-8D4CB272774A}"/>
              </a:ext>
            </a:extLst>
          </p:cNvPr>
          <p:cNvSpPr txBox="1"/>
          <p:nvPr/>
        </p:nvSpPr>
        <p:spPr>
          <a:xfrm>
            <a:off x="347374" y="1474328"/>
            <a:ext cx="7232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Task</a:t>
            </a:r>
            <a:r>
              <a:rPr lang="en-US" dirty="0">
                <a:sym typeface="Wingdings" panose="05000000000000000000" pitchFamily="2" charset="2"/>
              </a:rPr>
              <a:t>:</a:t>
            </a:r>
          </a:p>
          <a:p>
            <a:r>
              <a:rPr lang="en-US" dirty="0">
                <a:sym typeface="Wingdings" panose="05000000000000000000" pitchFamily="2" charset="2"/>
              </a:rPr>
              <a:t>Try to get random number but integer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9E03D7-2313-1A70-460F-2699BABFF7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572" y="2795499"/>
            <a:ext cx="9354856" cy="126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417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6C0AFC-5EFE-BEAC-66A8-15B061603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B463-FDE8-FF79-F460-7DBC2267F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66C52E-B528-67B4-64A3-4AC10C118C36}"/>
              </a:ext>
            </a:extLst>
          </p:cNvPr>
          <p:cNvSpPr txBox="1"/>
          <p:nvPr/>
        </p:nvSpPr>
        <p:spPr>
          <a:xfrm>
            <a:off x="347374" y="1474328"/>
            <a:ext cx="72322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&lt;</a:t>
            </a:r>
            <a:r>
              <a:rPr lang="en-US" dirty="0" err="1"/>
              <a:t>j:invokeStatic</a:t>
            </a:r>
            <a:r>
              <a:rPr lang="en-US" dirty="0"/>
              <a:t> var="</a:t>
            </a:r>
            <a:r>
              <a:rPr lang="en-US" dirty="0" err="1"/>
              <a:t>maxValue</a:t>
            </a:r>
            <a:r>
              <a:rPr lang="en-US" dirty="0"/>
              <a:t>"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java.lang.Math</a:t>
            </a:r>
            <a:r>
              <a:rPr lang="en-US" dirty="0"/>
              <a:t>" method="max"&gt;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value="10" type="int"/&gt;  &lt;!-- Specify the type --&gt;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value="20" type="int"/&gt;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j:invokeStatic</a:t>
            </a:r>
            <a:r>
              <a:rPr lang="en-US" dirty="0"/>
              <a:t>&gt;</a:t>
            </a:r>
          </a:p>
          <a:p>
            <a:r>
              <a:rPr lang="en-US" dirty="0"/>
              <a:t>  Max of 10 and 20: ${</a:t>
            </a:r>
            <a:r>
              <a:rPr lang="en-US" dirty="0" err="1"/>
              <a:t>maxValue</a:t>
            </a:r>
            <a:r>
              <a:rPr lang="en-US" dirty="0"/>
              <a:t>}&lt;</a:t>
            </a:r>
            <a:r>
              <a:rPr lang="en-US" dirty="0" err="1"/>
              <a:t>br</a:t>
            </a:r>
            <a:r>
              <a:rPr lang="en-US" dirty="0"/>
              <a:t>/&gt;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401F3-1A95-8E12-587C-59530C409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42" y="2795128"/>
            <a:ext cx="5772956" cy="1095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E4B02A-9B62-720A-EB21-7A96B2713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668" y="4996797"/>
            <a:ext cx="2724530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039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E81AD-9531-B207-57A1-D55BD425E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F7BB7-9970-91BD-1F12-CF7511111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625D87-631A-626B-0692-A6FB7424D516}"/>
              </a:ext>
            </a:extLst>
          </p:cNvPr>
          <p:cNvSpPr txBox="1"/>
          <p:nvPr/>
        </p:nvSpPr>
        <p:spPr>
          <a:xfrm>
            <a:off x="347374" y="1474328"/>
            <a:ext cx="7232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c-Latn" dirty="0">
                <a:highlight>
                  <a:srgbClr val="FFFF00"/>
                </a:highlight>
              </a:rPr>
              <a:t>Task</a:t>
            </a:r>
            <a:endParaRPr lang="ar-EG" dirty="0">
              <a:highlight>
                <a:srgbClr val="FFFF00"/>
              </a:highlight>
            </a:endParaRPr>
          </a:p>
          <a:p>
            <a:r>
              <a:rPr lang="en-US" dirty="0"/>
              <a:t>Try To get Min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954BA0-1678-A230-33B2-4133BA89A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642" y="2795128"/>
            <a:ext cx="5772956" cy="1095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2ED261-0AFF-D679-21F0-D78514328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5668" y="4996797"/>
            <a:ext cx="2724530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6896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C8864-2061-3CBE-EF9B-C485F3D27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20242-00A2-AAA7-23A1-188F86B7C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6EFA28-7345-E3C4-B2B1-BC6D9BAAE6A7}"/>
              </a:ext>
            </a:extLst>
          </p:cNvPr>
          <p:cNvSpPr txBox="1"/>
          <p:nvPr/>
        </p:nvSpPr>
        <p:spPr>
          <a:xfrm>
            <a:off x="347374" y="1474328"/>
            <a:ext cx="723222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&lt;</a:t>
            </a:r>
            <a:r>
              <a:rPr lang="en-US" dirty="0" err="1"/>
              <a:t>j:invokeStatic</a:t>
            </a:r>
            <a:r>
              <a:rPr lang="en-US" dirty="0"/>
              <a:t> var="rounded"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java.lang.Math</a:t>
            </a:r>
            <a:r>
              <a:rPr lang="en-US" dirty="0"/>
              <a:t>" method="round"&gt;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value="3.14159" type="float"/&gt;</a:t>
            </a:r>
          </a:p>
          <a:p>
            <a:r>
              <a:rPr lang="en-US" dirty="0"/>
              <a:t>  &lt;/</a:t>
            </a:r>
            <a:r>
              <a:rPr lang="en-US" dirty="0" err="1"/>
              <a:t>j:invokeStatic</a:t>
            </a:r>
            <a:r>
              <a:rPr lang="en-US" dirty="0"/>
              <a:t>&gt;</a:t>
            </a:r>
          </a:p>
          <a:p>
            <a:r>
              <a:rPr lang="en-US" dirty="0"/>
              <a:t>  Rounded PI: ${rounded}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31D9F0-3489-3CB3-D874-5B442DDC03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063" y="2739909"/>
            <a:ext cx="5468113" cy="10764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2FAD8F-01AB-BB1F-75E2-9DF5498F43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5573" y="4836772"/>
            <a:ext cx="1886213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49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AD3D5-F9C5-E58F-E394-99F6F292C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D8FAF-629F-17DC-A155-0ABBE7471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237" y="191938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787800-62AA-89D6-F960-C9D461424DEF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StringBuilder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4E691-7CCC-5694-8B72-83BD957BC0E1}"/>
              </a:ext>
            </a:extLst>
          </p:cNvPr>
          <p:cNvSpPr txBox="1"/>
          <p:nvPr/>
        </p:nvSpPr>
        <p:spPr>
          <a:xfrm>
            <a:off x="2390775" y="638485"/>
            <a:ext cx="7410450" cy="5548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&lt;!-- Create StringBuilder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j:new</a:t>
            </a:r>
            <a:r>
              <a:rPr lang="en-US" b="0" dirty="0">
                <a:effectLst/>
                <a:latin typeface="Menlo"/>
              </a:rPr>
              <a:t> </a:t>
            </a:r>
            <a:r>
              <a:rPr lang="en-US" b="0" dirty="0" err="1">
                <a:effectLst/>
                <a:latin typeface="Menlo"/>
              </a:rPr>
              <a:t>className</a:t>
            </a:r>
            <a:r>
              <a:rPr lang="en-US" b="0" dirty="0">
                <a:effectLst/>
                <a:latin typeface="Menlo"/>
              </a:rPr>
              <a:t>="</a:t>
            </a:r>
            <a:r>
              <a:rPr lang="en-US" b="0" dirty="0" err="1">
                <a:effectLst/>
                <a:latin typeface="Menlo"/>
              </a:rPr>
              <a:t>java.lang.StringBuilder</a:t>
            </a:r>
            <a:r>
              <a:rPr lang="en-US" b="0" dirty="0">
                <a:effectLst/>
                <a:latin typeface="Menlo"/>
              </a:rPr>
              <a:t>" var="builder"/&gt;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&lt;!-- Append strings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method="append"&gt;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  &lt;</a:t>
            </a:r>
            <a:r>
              <a:rPr lang="en-US" b="0" dirty="0" err="1">
                <a:effectLst/>
                <a:latin typeface="Menlo"/>
              </a:rPr>
              <a:t>j:arg</a:t>
            </a:r>
            <a:r>
              <a:rPr lang="en-US" b="0" dirty="0">
                <a:effectLst/>
                <a:latin typeface="Menlo"/>
              </a:rPr>
              <a:t> value="Hello"/&gt;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&lt;/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method="append"&gt;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  &lt;</a:t>
            </a:r>
            <a:r>
              <a:rPr lang="en-US" b="0" dirty="0" err="1">
                <a:effectLst/>
                <a:latin typeface="Menlo"/>
              </a:rPr>
              <a:t>j:arg</a:t>
            </a:r>
            <a:r>
              <a:rPr lang="en-US" b="0" dirty="0">
                <a:effectLst/>
                <a:latin typeface="Menlo"/>
              </a:rPr>
              <a:t> value=" 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&lt;/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method="append"&gt;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  &lt;</a:t>
            </a:r>
            <a:r>
              <a:rPr lang="en-US" b="0" dirty="0" err="1">
                <a:effectLst/>
                <a:latin typeface="Menlo"/>
              </a:rPr>
              <a:t>j:arg</a:t>
            </a:r>
            <a:r>
              <a:rPr lang="en-US" b="0" dirty="0">
                <a:effectLst/>
                <a:latin typeface="Menlo"/>
              </a:rPr>
              <a:t> value="World"/&gt;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&lt;/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&lt;!-- Get the final string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</a:t>
            </a:r>
            <a:r>
              <a:rPr lang="en-US" b="0" dirty="0" err="1">
                <a:effectLst/>
                <a:latin typeface="Menlo"/>
              </a:rPr>
              <a:t>toString</a:t>
            </a:r>
            <a:r>
              <a:rPr lang="en-US" b="0" dirty="0">
                <a:effectLst/>
                <a:latin typeface="Menlo"/>
              </a:rPr>
              <a:t>" var="message"/&gt;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Message: ${message}&lt;</a:t>
            </a:r>
            <a:r>
              <a:rPr lang="en-US" b="0" dirty="0" err="1">
                <a:effectLst/>
                <a:latin typeface="Menlo"/>
              </a:rPr>
              <a:t>br</a:t>
            </a:r>
            <a:r>
              <a:rPr lang="en-US" b="0" dirty="0">
                <a:effectLst/>
                <a:latin typeface="Menlo"/>
              </a:rPr>
              <a:t>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&lt;!-- Get length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method="length" var="length"/&gt;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Length: ${length}&lt;</a:t>
            </a:r>
            <a:r>
              <a:rPr lang="en-US" b="0" dirty="0" err="1">
                <a:effectLst/>
                <a:latin typeface="Menlo"/>
              </a:rPr>
              <a:t>br</a:t>
            </a:r>
            <a:r>
              <a:rPr lang="en-US" b="0" dirty="0">
                <a:effectLst/>
                <a:latin typeface="Menlo"/>
              </a:rPr>
              <a:t>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&lt;!-- Reverse it --&gt;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&lt;</a:t>
            </a:r>
            <a:r>
              <a:rPr lang="en-US" b="0" dirty="0" err="1">
                <a:effectLst/>
                <a:latin typeface="Menlo"/>
              </a:rPr>
              <a:t>j:invoke</a:t>
            </a:r>
            <a:r>
              <a:rPr lang="en-US" b="0" dirty="0">
                <a:effectLst/>
                <a:latin typeface="Menlo"/>
              </a:rPr>
              <a:t> on="${builder}" method="reverse"/&gt;</a:t>
            </a:r>
          </a:p>
          <a:p>
            <a:pPr algn="l" latinLnBrk="1">
              <a:lnSpc>
                <a:spcPts val="1650"/>
              </a:lnSpc>
              <a:buNone/>
            </a:pPr>
            <a:r>
              <a:rPr lang="en-US" b="0" dirty="0">
                <a:effectLst/>
                <a:latin typeface="Menlo"/>
              </a:rPr>
              <a:t>  Reversed: ${</a:t>
            </a:r>
            <a:r>
              <a:rPr lang="en-US" b="0" dirty="0" err="1">
                <a:effectLst/>
                <a:latin typeface="Menlo"/>
              </a:rPr>
              <a:t>builder.toString</a:t>
            </a:r>
            <a:r>
              <a:rPr lang="en-US" b="0" dirty="0">
                <a:effectLst/>
                <a:latin typeface="Menlo"/>
              </a:rPr>
              <a:t>()}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5E0B9E-84BE-4D29-98BF-3CF31384E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905" y="1733678"/>
            <a:ext cx="3481950" cy="15682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CB9E4DE-E38B-5064-C1CF-1DDDDE02B0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645" y="4424840"/>
            <a:ext cx="3619835" cy="1651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76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2E087-E771-B010-70FA-397692610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8DF1C-929F-2ACB-7963-CBEB9FC9C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21EAAB-21A3-9242-A61D-588F54F28E6F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StringBuilder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CC8907-DF43-BBF0-CD42-711E2E963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3545" y="1474328"/>
            <a:ext cx="3481950" cy="15682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BAE1B13-8BD2-CFC7-7910-D3D150CE07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4602" y="3429000"/>
            <a:ext cx="3619835" cy="16519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94EA45-D79B-7FF2-3DF2-90450CF4D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34" y="2934155"/>
            <a:ext cx="6465775" cy="1320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38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48FC2B-AAD4-606A-069E-D53E8CA00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57471-88FA-2480-03B2-A03AA178C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Tags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6B4F40-5D58-A76C-73FF-9AA51056A938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Working with </a:t>
            </a:r>
            <a:r>
              <a:rPr lang="en-US" b="1" dirty="0" err="1"/>
              <a:t>java.io.File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322745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03C5F-692B-F534-9BAF-D142682D2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02155-A9B1-0BF6-9843-26C167511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18" y="291871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71E098-2342-8CDC-042A-264A26726DD1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Working with HashMap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090CB-ED02-7F06-2F52-05F7FA4A3FE3}"/>
              </a:ext>
            </a:extLst>
          </p:cNvPr>
          <p:cNvSpPr txBox="1"/>
          <p:nvPr/>
        </p:nvSpPr>
        <p:spPr>
          <a:xfrm>
            <a:off x="3261822" y="151179"/>
            <a:ext cx="6118860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&lt;!-- Create HashMap --&gt;</a:t>
            </a:r>
          </a:p>
          <a:p>
            <a:r>
              <a:rPr lang="en-US" sz="1200" dirty="0"/>
              <a:t>  &lt;</a:t>
            </a:r>
            <a:r>
              <a:rPr lang="en-US" sz="1200" dirty="0" err="1"/>
              <a:t>j:new</a:t>
            </a:r>
            <a:r>
              <a:rPr lang="en-US" sz="1200" dirty="0"/>
              <a:t> </a:t>
            </a:r>
            <a:r>
              <a:rPr lang="en-US" sz="1200" dirty="0" err="1"/>
              <a:t>className</a:t>
            </a:r>
            <a:r>
              <a:rPr lang="en-US" sz="1200" dirty="0"/>
              <a:t>="</a:t>
            </a:r>
            <a:r>
              <a:rPr lang="en-US" sz="1200" dirty="0" err="1"/>
              <a:t>java.util.HashMap</a:t>
            </a:r>
            <a:r>
              <a:rPr lang="en-US" sz="1200" dirty="0"/>
              <a:t>" var="user"/&gt;</a:t>
            </a:r>
          </a:p>
          <a:p>
            <a:r>
              <a:rPr lang="en-US" sz="1200" dirty="0"/>
              <a:t>  </a:t>
            </a:r>
          </a:p>
          <a:p>
            <a:r>
              <a:rPr lang="en-US" sz="1200" dirty="0"/>
              <a:t>  &lt;!-- Put key-value pairs --&gt;</a:t>
            </a:r>
          </a:p>
          <a:p>
            <a:r>
              <a:rPr lang="en-US" sz="1200" dirty="0"/>
              <a:t>  &lt;</a:t>
            </a:r>
            <a:r>
              <a:rPr lang="en-US" sz="1200" dirty="0" err="1"/>
              <a:t>j:invoke</a:t>
            </a:r>
            <a:r>
              <a:rPr lang="en-US" sz="1200" dirty="0"/>
              <a:t> on="${user}" method="put"&gt;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j:arg</a:t>
            </a:r>
            <a:r>
              <a:rPr lang="en-US" sz="1200" dirty="0"/>
              <a:t> value="name"/&gt;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j:arg</a:t>
            </a:r>
            <a:r>
              <a:rPr lang="en-US" sz="1200" dirty="0"/>
              <a:t> value="John Doe"/&gt;</a:t>
            </a:r>
          </a:p>
          <a:p>
            <a:r>
              <a:rPr lang="en-US" sz="1200" dirty="0"/>
              <a:t>  &lt;/</a:t>
            </a:r>
            <a:r>
              <a:rPr lang="en-US" sz="1200" dirty="0" err="1"/>
              <a:t>j:invoke</a:t>
            </a:r>
            <a:r>
              <a:rPr lang="en-US" sz="1200" dirty="0"/>
              <a:t>&gt;</a:t>
            </a:r>
          </a:p>
          <a:p>
            <a:r>
              <a:rPr lang="en-US" sz="1200" dirty="0"/>
              <a:t>  &lt;</a:t>
            </a:r>
            <a:r>
              <a:rPr lang="en-US" sz="1200" dirty="0" err="1"/>
              <a:t>j:invoke</a:t>
            </a:r>
            <a:r>
              <a:rPr lang="en-US" sz="1200" dirty="0"/>
              <a:t> on="${user}" method="put"&gt;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j:arg</a:t>
            </a:r>
            <a:r>
              <a:rPr lang="en-US" sz="1200" dirty="0"/>
              <a:t> value="age"/&gt;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j:arg</a:t>
            </a:r>
            <a:r>
              <a:rPr lang="en-US" sz="1200" dirty="0"/>
              <a:t> value="30"/&gt;</a:t>
            </a:r>
          </a:p>
          <a:p>
            <a:r>
              <a:rPr lang="en-US" sz="1200" dirty="0"/>
              <a:t>  &lt;/</a:t>
            </a:r>
            <a:r>
              <a:rPr lang="en-US" sz="1200" dirty="0" err="1"/>
              <a:t>j:invoke</a:t>
            </a:r>
            <a:r>
              <a:rPr lang="en-US" sz="1200" dirty="0"/>
              <a:t>&gt;</a:t>
            </a:r>
          </a:p>
          <a:p>
            <a:r>
              <a:rPr lang="en-US" sz="1200" dirty="0"/>
              <a:t>  &lt;</a:t>
            </a:r>
            <a:r>
              <a:rPr lang="en-US" sz="1200" dirty="0" err="1"/>
              <a:t>j:invoke</a:t>
            </a:r>
            <a:r>
              <a:rPr lang="en-US" sz="1200" dirty="0"/>
              <a:t> on="${user}" method="put"&gt;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j:arg</a:t>
            </a:r>
            <a:r>
              <a:rPr lang="en-US" sz="1200" dirty="0"/>
              <a:t> value="city"/&gt;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j:arg</a:t>
            </a:r>
            <a:r>
              <a:rPr lang="en-US" sz="1200" dirty="0"/>
              <a:t> value="New York"/&gt;</a:t>
            </a:r>
          </a:p>
          <a:p>
            <a:r>
              <a:rPr lang="en-US" sz="1200" dirty="0"/>
              <a:t>  &lt;/</a:t>
            </a:r>
            <a:r>
              <a:rPr lang="en-US" sz="1200" dirty="0" err="1"/>
              <a:t>j:invoke</a:t>
            </a:r>
            <a:r>
              <a:rPr lang="en-US" sz="1200" dirty="0"/>
              <a:t>&gt;</a:t>
            </a:r>
          </a:p>
          <a:p>
            <a:r>
              <a:rPr lang="en-US" sz="1200" dirty="0"/>
              <a:t>  </a:t>
            </a:r>
          </a:p>
          <a:p>
            <a:r>
              <a:rPr lang="en-US" sz="1200" dirty="0"/>
              <a:t>  &lt;!-- Get values --&gt;</a:t>
            </a:r>
          </a:p>
          <a:p>
            <a:r>
              <a:rPr lang="en-US" sz="1200" dirty="0"/>
              <a:t>  &lt;</a:t>
            </a:r>
            <a:r>
              <a:rPr lang="en-US" sz="1200" dirty="0" err="1"/>
              <a:t>j:invoke</a:t>
            </a:r>
            <a:r>
              <a:rPr lang="en-US" sz="1200" dirty="0"/>
              <a:t> on="${user}" method="get" var="</a:t>
            </a:r>
            <a:r>
              <a:rPr lang="en-US" sz="1200" dirty="0" err="1"/>
              <a:t>userName</a:t>
            </a:r>
            <a:r>
              <a:rPr lang="en-US" sz="1200" dirty="0"/>
              <a:t>"&gt;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j:arg</a:t>
            </a:r>
            <a:r>
              <a:rPr lang="en-US" sz="1200" dirty="0"/>
              <a:t> value="name"/&gt;</a:t>
            </a:r>
          </a:p>
          <a:p>
            <a:r>
              <a:rPr lang="en-US" sz="1200" dirty="0"/>
              <a:t>  &lt;/</a:t>
            </a:r>
            <a:r>
              <a:rPr lang="en-US" sz="1200" dirty="0" err="1"/>
              <a:t>j:invoke</a:t>
            </a:r>
            <a:r>
              <a:rPr lang="en-US" sz="1200" dirty="0"/>
              <a:t>&gt;</a:t>
            </a:r>
          </a:p>
          <a:p>
            <a:r>
              <a:rPr lang="en-US" sz="1200" dirty="0"/>
              <a:t>  &lt;</a:t>
            </a:r>
            <a:r>
              <a:rPr lang="en-US" sz="1200" dirty="0" err="1"/>
              <a:t>j:invoke</a:t>
            </a:r>
            <a:r>
              <a:rPr lang="en-US" sz="1200" dirty="0"/>
              <a:t> on="${user}" method="get" var="</a:t>
            </a:r>
            <a:r>
              <a:rPr lang="en-US" sz="1200" dirty="0" err="1"/>
              <a:t>userAge</a:t>
            </a:r>
            <a:r>
              <a:rPr lang="en-US" sz="1200" dirty="0"/>
              <a:t>"&gt;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j:arg</a:t>
            </a:r>
            <a:r>
              <a:rPr lang="en-US" sz="1200" dirty="0"/>
              <a:t> value="age"/&gt;</a:t>
            </a:r>
          </a:p>
          <a:p>
            <a:r>
              <a:rPr lang="en-US" sz="1200" dirty="0"/>
              <a:t>  &lt;/</a:t>
            </a:r>
            <a:r>
              <a:rPr lang="en-US" sz="1200" dirty="0" err="1"/>
              <a:t>j:invoke</a:t>
            </a:r>
            <a:r>
              <a:rPr lang="en-US" sz="1200" dirty="0"/>
              <a:t>&gt;</a:t>
            </a:r>
          </a:p>
          <a:p>
            <a:r>
              <a:rPr lang="en-US" sz="1200" dirty="0"/>
              <a:t>  </a:t>
            </a:r>
          </a:p>
          <a:p>
            <a:r>
              <a:rPr lang="en-US" sz="1200" dirty="0"/>
              <a:t>  Name: ${</a:t>
            </a:r>
            <a:r>
              <a:rPr lang="en-US" sz="1200" dirty="0" err="1"/>
              <a:t>userName</a:t>
            </a:r>
            <a:r>
              <a:rPr lang="en-US" sz="1200" dirty="0"/>
              <a:t>}&lt;</a:t>
            </a:r>
            <a:r>
              <a:rPr lang="en-US" sz="1200" dirty="0" err="1"/>
              <a:t>br</a:t>
            </a:r>
            <a:r>
              <a:rPr lang="en-US" sz="1200" dirty="0"/>
              <a:t>/&gt;</a:t>
            </a:r>
          </a:p>
          <a:p>
            <a:r>
              <a:rPr lang="en-US" sz="1200" dirty="0"/>
              <a:t>  Age: ${</a:t>
            </a:r>
            <a:r>
              <a:rPr lang="en-US" sz="1200" dirty="0" err="1"/>
              <a:t>userAge</a:t>
            </a:r>
            <a:r>
              <a:rPr lang="en-US" sz="1200" dirty="0"/>
              <a:t>}&lt;</a:t>
            </a:r>
            <a:r>
              <a:rPr lang="en-US" sz="1200" dirty="0" err="1"/>
              <a:t>br</a:t>
            </a:r>
            <a:r>
              <a:rPr lang="en-US" sz="1200" dirty="0"/>
              <a:t>/&gt;</a:t>
            </a:r>
          </a:p>
          <a:p>
            <a:r>
              <a:rPr lang="en-US" sz="1200" dirty="0"/>
              <a:t>  </a:t>
            </a:r>
          </a:p>
          <a:p>
            <a:r>
              <a:rPr lang="en-US" sz="1200" dirty="0"/>
              <a:t>  &lt;!-- Loop through entries --&gt;</a:t>
            </a:r>
          </a:p>
          <a:p>
            <a:r>
              <a:rPr lang="en-US" sz="1200" dirty="0"/>
              <a:t>  &lt;</a:t>
            </a:r>
            <a:r>
              <a:rPr lang="en-US" sz="1200" dirty="0" err="1"/>
              <a:t>j:invoke</a:t>
            </a:r>
            <a:r>
              <a:rPr lang="en-US" sz="1200" dirty="0"/>
              <a:t> on="${user}" method="</a:t>
            </a:r>
            <a:r>
              <a:rPr lang="en-US" sz="1200" dirty="0" err="1"/>
              <a:t>entrySet</a:t>
            </a:r>
            <a:r>
              <a:rPr lang="en-US" sz="1200" dirty="0"/>
              <a:t>" var="entries"/&gt;</a:t>
            </a:r>
          </a:p>
          <a:p>
            <a:r>
              <a:rPr lang="en-US" sz="1200" dirty="0"/>
              <a:t>  &lt;</a:t>
            </a:r>
            <a:r>
              <a:rPr lang="en-US" sz="1200" dirty="0" err="1"/>
              <a:t>j:forEach</a:t>
            </a:r>
            <a:r>
              <a:rPr lang="en-US" sz="1200" dirty="0"/>
              <a:t> var="entry" items="${entries}"&gt;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j:invoke</a:t>
            </a:r>
            <a:r>
              <a:rPr lang="en-US" sz="1200" dirty="0"/>
              <a:t> on="${entry}" method="</a:t>
            </a:r>
            <a:r>
              <a:rPr lang="en-US" sz="1200" dirty="0" err="1"/>
              <a:t>getKey</a:t>
            </a:r>
            <a:r>
              <a:rPr lang="en-US" sz="1200" dirty="0"/>
              <a:t>" var="key"/&gt;</a:t>
            </a:r>
          </a:p>
          <a:p>
            <a:r>
              <a:rPr lang="en-US" sz="1200" dirty="0"/>
              <a:t>    &lt;</a:t>
            </a:r>
            <a:r>
              <a:rPr lang="en-US" sz="1200" dirty="0" err="1"/>
              <a:t>j:invoke</a:t>
            </a:r>
            <a:r>
              <a:rPr lang="en-US" sz="1200" dirty="0"/>
              <a:t> on="${entry}" method="</a:t>
            </a:r>
            <a:r>
              <a:rPr lang="en-US" sz="1200" dirty="0" err="1"/>
              <a:t>getValue</a:t>
            </a:r>
            <a:r>
              <a:rPr lang="en-US" sz="1200" dirty="0"/>
              <a:t>" var="value"/&gt;</a:t>
            </a:r>
          </a:p>
          <a:p>
            <a:r>
              <a:rPr lang="en-US" sz="1200" dirty="0"/>
              <a:t>    ${key} = ${value}&lt;</a:t>
            </a:r>
            <a:r>
              <a:rPr lang="en-US" sz="1200" dirty="0" err="1"/>
              <a:t>br</a:t>
            </a:r>
            <a:r>
              <a:rPr lang="en-US" sz="1200" dirty="0"/>
              <a:t>/&gt;</a:t>
            </a:r>
          </a:p>
          <a:p>
            <a:r>
              <a:rPr lang="en-US" sz="1200" dirty="0"/>
              <a:t>  &lt;/</a:t>
            </a:r>
            <a:r>
              <a:rPr lang="en-US" sz="1200" dirty="0" err="1"/>
              <a:t>j:forEach</a:t>
            </a:r>
            <a:r>
              <a:rPr lang="en-US" sz="1200" dirty="0"/>
              <a:t>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8AFC7C-654C-5837-64F7-534FCC371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18" y="2181050"/>
            <a:ext cx="3077004" cy="2495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98CE06A-5C14-6D3F-4109-5B07E813C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854" y="291871"/>
            <a:ext cx="3334215" cy="1638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319D9C-6E12-B79E-4EBC-F300B9A48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9600" y="3574862"/>
            <a:ext cx="4267796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2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D8584-1632-43C1-C3EA-6EE85BDC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007E7-3165-C1A4-B866-7E16FBC4B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818" y="64695"/>
            <a:ext cx="8596668" cy="1320800"/>
          </a:xfrm>
        </p:spPr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5935D4-8ACE-906B-00D1-5926A64E1E9E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Working with HashMap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561786-D13A-A74F-1DF3-26C86DD9E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18" y="2181050"/>
            <a:ext cx="3077004" cy="24958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9F9921-0FB1-0F70-6F74-EAE4DC7A0A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6854" y="291871"/>
            <a:ext cx="3334215" cy="163852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D1180F-82B1-B7E7-5A02-D312FB458D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9386" y="4565462"/>
            <a:ext cx="4267796" cy="13527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8BC55F1-38BB-C564-1BFD-FF3496BE99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43179" y="2248129"/>
            <a:ext cx="3718871" cy="1534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74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A5C86-232D-689A-E7F6-55B40296F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672E1-AF64-F65C-20D7-BA8D434D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0EA4B0-8F82-DBD9-0971-823A8FBC81DE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Working with </a:t>
            </a:r>
            <a:r>
              <a:rPr lang="en-US" b="1" dirty="0" err="1"/>
              <a:t>java.awt.Color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482CFF-0948-3688-3463-F32E87AB5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412" y="811150"/>
            <a:ext cx="4658375" cy="1695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C06809-A92D-7741-F7AD-1738E1411A41}"/>
              </a:ext>
            </a:extLst>
          </p:cNvPr>
          <p:cNvSpPr txBox="1"/>
          <p:nvPr/>
        </p:nvSpPr>
        <p:spPr>
          <a:xfrm>
            <a:off x="904057" y="2509634"/>
            <a:ext cx="611886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j:getStatic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var="red"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java.awt.Color</a:t>
            </a:r>
            <a:r>
              <a:rPr lang="en-US" b="0" dirty="0">
                <a:effectLst/>
                <a:latin typeface="Consolas" panose="020B0609020204030204" pitchFamily="49" charset="0"/>
              </a:rPr>
              <a:t>" field="RED"/&gt;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j:getStatic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var="green"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java.awt.Color</a:t>
            </a:r>
            <a:r>
              <a:rPr lang="en-US" b="0" dirty="0">
                <a:effectLst/>
                <a:latin typeface="Consolas" panose="020B0609020204030204" pitchFamily="49" charset="0"/>
              </a:rPr>
              <a:t>" field="GREEN"/&gt;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j:getStatic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var="blue"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java.awt.Color</a:t>
            </a:r>
            <a:r>
              <a:rPr lang="en-US" b="0" dirty="0">
                <a:effectLst/>
                <a:latin typeface="Consolas" panose="020B0609020204030204" pitchFamily="49" charset="0"/>
              </a:rPr>
              <a:t>" field="BLUE"/&gt;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&lt;!-- Method 2: Creating custom colors --&gt;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j:new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java.awt.Color</a:t>
            </a:r>
            <a:r>
              <a:rPr lang="en-US" b="0" dirty="0">
                <a:effectLst/>
                <a:latin typeface="Consolas" panose="020B0609020204030204" pitchFamily="49" charset="0"/>
              </a:rPr>
              <a:t>" var="purple"&gt;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j:arg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value="128" type="int"/&gt;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j:arg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value="0" type="int"/&gt;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j:arg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value="128" type="int"/&gt;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j:new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20189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BF9EA-D4AC-885C-5AAE-73FBF327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75A7E-A837-FB31-EE6F-388A3DA14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0DFEB5-950D-F0FB-D99D-D16A0643B156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Working with </a:t>
            </a:r>
            <a:r>
              <a:rPr lang="en-US" b="1" dirty="0" err="1"/>
              <a:t>java.awt.Color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4F7466-BE7C-28D9-FF6A-4D55BEB2A0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0412" y="811150"/>
            <a:ext cx="4658375" cy="16956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B27390-D9A7-5A20-9419-A4DE181CFEF3}"/>
              </a:ext>
            </a:extLst>
          </p:cNvPr>
          <p:cNvSpPr txBox="1"/>
          <p:nvPr/>
        </p:nvSpPr>
        <p:spPr>
          <a:xfrm>
            <a:off x="904057" y="2509634"/>
            <a:ext cx="6118860" cy="3683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j:getStatic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var="red"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java.awt.Color</a:t>
            </a:r>
            <a:r>
              <a:rPr lang="en-US" b="0" dirty="0">
                <a:effectLst/>
                <a:latin typeface="Consolas" panose="020B0609020204030204" pitchFamily="49" charset="0"/>
              </a:rPr>
              <a:t>" field="RED"/&gt;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j:getStatic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var="green"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java.awt.Color</a:t>
            </a:r>
            <a:r>
              <a:rPr lang="en-US" b="0" dirty="0">
                <a:effectLst/>
                <a:latin typeface="Consolas" panose="020B0609020204030204" pitchFamily="49" charset="0"/>
              </a:rPr>
              <a:t>" field="GREEN"/&gt;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j:getStatic</a:t>
            </a:r>
            <a:r>
              <a:rPr lang="en-US" b="0" dirty="0">
                <a:effectLst/>
                <a:latin typeface="Consolas" panose="020B0609020204030204" pitchFamily="49" charset="0"/>
              </a:rPr>
              <a:t> var="blue"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java.awt.Color</a:t>
            </a:r>
            <a:r>
              <a:rPr lang="en-US" b="0" dirty="0">
                <a:effectLst/>
                <a:latin typeface="Consolas" panose="020B0609020204030204" pitchFamily="49" charset="0"/>
              </a:rPr>
              <a:t>" field="BLUE"/&gt;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&lt;!-- Method 2: Creating custom colors --&gt;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j:new</a:t>
            </a:r>
            <a:r>
              <a:rPr lang="en-US" b="0" dirty="0"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className</a:t>
            </a:r>
            <a:r>
              <a:rPr lang="en-US" b="0" dirty="0">
                <a:effectLst/>
                <a:latin typeface="Consolas" panose="020B0609020204030204" pitchFamily="49" charset="0"/>
              </a:rPr>
              <a:t>="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java.awt.Color</a:t>
            </a:r>
            <a:r>
              <a:rPr lang="en-US" b="0" dirty="0">
                <a:effectLst/>
                <a:latin typeface="Consolas" panose="020B0609020204030204" pitchFamily="49" charset="0"/>
              </a:rPr>
              <a:t>" var="purple"&gt;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j:arg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value="128" type="int"/&gt;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j:arg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value="0" type="int"/&gt;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  &lt;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j:arg</a:t>
            </a:r>
            <a:r>
              <a:rPr lang="en-US" b="0" dirty="0">
                <a:effectLst/>
                <a:latin typeface="Consolas" panose="020B0609020204030204" pitchFamily="49" charset="0"/>
              </a:rPr>
              <a:t> value="128" type="int"/&gt;</a:t>
            </a:r>
          </a:p>
          <a:p>
            <a:pPr>
              <a:lnSpc>
                <a:spcPts val="2025"/>
              </a:lnSpc>
              <a:buNone/>
            </a:pPr>
            <a:r>
              <a:rPr lang="en-US" b="0" dirty="0">
                <a:effectLst/>
                <a:latin typeface="Consolas" panose="020B0609020204030204" pitchFamily="49" charset="0"/>
              </a:rPr>
              <a:t>  &lt;/</a:t>
            </a:r>
            <a:r>
              <a:rPr lang="en-US" b="0" dirty="0" err="1">
                <a:effectLst/>
                <a:latin typeface="Consolas" panose="020B0609020204030204" pitchFamily="49" charset="0"/>
              </a:rPr>
              <a:t>j:new</a:t>
            </a:r>
            <a:r>
              <a:rPr lang="en-US" b="0" dirty="0"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555633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0840E-3785-725D-DB08-A936E4A5F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8BF57-0ED0-7FF6-EFAA-193A0889C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0DE262-C753-AECD-B838-89C9D5639DA6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Working with </a:t>
            </a:r>
            <a:r>
              <a:rPr lang="en-US" b="1" dirty="0" err="1"/>
              <a:t>java.awt.Color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0DADF9-FBD1-BF7B-BAD2-8A4683882883}"/>
              </a:ext>
            </a:extLst>
          </p:cNvPr>
          <p:cNvSpPr txBox="1"/>
          <p:nvPr/>
        </p:nvSpPr>
        <p:spPr>
          <a:xfrm>
            <a:off x="904057" y="2509634"/>
            <a:ext cx="611886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  &lt;</a:t>
            </a:r>
            <a:r>
              <a:rPr lang="en-US" dirty="0" err="1"/>
              <a:t>j:new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java.awt.Color</a:t>
            </a:r>
            <a:r>
              <a:rPr lang="en-US" dirty="0"/>
              <a:t>" var="teal"&gt;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value="0" type="int"/&gt;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value="128" type="int"/&gt;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value="128" type="int"/&gt;</a:t>
            </a:r>
          </a:p>
          <a:p>
            <a:r>
              <a:rPr lang="en-US" dirty="0"/>
              <a:t>  &lt;/</a:t>
            </a:r>
            <a:r>
              <a:rPr lang="en-US" dirty="0" err="1"/>
              <a:t>j:new</a:t>
            </a:r>
            <a:r>
              <a:rPr lang="en-US" dirty="0"/>
              <a:t>&gt;</a:t>
            </a:r>
          </a:p>
          <a:p>
            <a:r>
              <a:rPr lang="en-US" dirty="0"/>
              <a:t>  </a:t>
            </a:r>
          </a:p>
          <a:p>
            <a:r>
              <a:rPr lang="en-US" dirty="0"/>
              <a:t>  &lt;!-- Method 3: With alpha --&gt;</a:t>
            </a:r>
          </a:p>
          <a:p>
            <a:r>
              <a:rPr lang="en-US" dirty="0"/>
              <a:t>  &lt;</a:t>
            </a:r>
            <a:r>
              <a:rPr lang="en-US" dirty="0" err="1"/>
              <a:t>j:new</a:t>
            </a:r>
            <a:r>
              <a:rPr lang="en-US" dirty="0"/>
              <a:t> </a:t>
            </a:r>
            <a:r>
              <a:rPr lang="en-US" dirty="0" err="1"/>
              <a:t>className</a:t>
            </a:r>
            <a:r>
              <a:rPr lang="en-US" dirty="0"/>
              <a:t>="</a:t>
            </a:r>
            <a:r>
              <a:rPr lang="en-US" dirty="0" err="1"/>
              <a:t>java.awt.Color</a:t>
            </a:r>
            <a:r>
              <a:rPr lang="en-US" dirty="0"/>
              <a:t>" var="</a:t>
            </a:r>
            <a:r>
              <a:rPr lang="en-US" dirty="0" err="1"/>
              <a:t>transparentRed</a:t>
            </a:r>
            <a:r>
              <a:rPr lang="en-US" dirty="0"/>
              <a:t>"&gt;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value="255" type="int"/&gt;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value="0" type="int"/&gt;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value="0" type="int"/&gt;</a:t>
            </a:r>
          </a:p>
          <a:p>
            <a:r>
              <a:rPr lang="en-US" dirty="0"/>
              <a:t>    &lt;</a:t>
            </a:r>
            <a:r>
              <a:rPr lang="en-US" dirty="0" err="1"/>
              <a:t>j:arg</a:t>
            </a:r>
            <a:r>
              <a:rPr lang="en-US" dirty="0"/>
              <a:t> value="100" type="int"/&gt;  &lt;!-- 100/255 transparency --&gt;</a:t>
            </a:r>
          </a:p>
          <a:p>
            <a:r>
              <a:rPr lang="en-US" dirty="0"/>
              <a:t>  &lt;/</a:t>
            </a:r>
            <a:r>
              <a:rPr lang="en-US" dirty="0" err="1"/>
              <a:t>j:new</a:t>
            </a:r>
            <a:r>
              <a:rPr lang="en-US" dirty="0"/>
              <a:t>&gt;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EACF74-74F8-2EF0-0A18-34EB462E6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681" y="366210"/>
            <a:ext cx="4572638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044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74104-4090-4679-5AD5-E5B97CF44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39626-4F92-1A87-00E4-83DA1EC8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84B8B-5AFC-298B-492B-1CA0FAE0C12C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Working with </a:t>
            </a:r>
            <a:r>
              <a:rPr lang="en-US" b="1" dirty="0" err="1"/>
              <a:t>java.awt.Color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5A77C5-EDD8-4C9D-2422-92FC030E9F85}"/>
              </a:ext>
            </a:extLst>
          </p:cNvPr>
          <p:cNvSpPr txBox="1"/>
          <p:nvPr/>
        </p:nvSpPr>
        <p:spPr>
          <a:xfrm>
            <a:off x="3310063" y="1308926"/>
            <a:ext cx="611886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  &lt;!-- Get RGB components --&gt;</a:t>
            </a:r>
          </a:p>
          <a:p>
            <a:r>
              <a:rPr lang="en-US" sz="1600" dirty="0"/>
              <a:t>  &lt;</a:t>
            </a:r>
            <a:r>
              <a:rPr lang="en-US" sz="1600" dirty="0" err="1"/>
              <a:t>j:invoke</a:t>
            </a:r>
            <a:r>
              <a:rPr lang="en-US" sz="1600" dirty="0"/>
              <a:t> on="${purple}" method="</a:t>
            </a:r>
            <a:r>
              <a:rPr lang="en-US" sz="1600" dirty="0" err="1"/>
              <a:t>getRed</a:t>
            </a:r>
            <a:r>
              <a:rPr lang="en-US" sz="1600" dirty="0"/>
              <a:t>" var="r"/&gt;</a:t>
            </a:r>
          </a:p>
          <a:p>
            <a:r>
              <a:rPr lang="en-US" sz="1600" dirty="0"/>
              <a:t>  &lt;</a:t>
            </a:r>
            <a:r>
              <a:rPr lang="en-US" sz="1600" dirty="0" err="1"/>
              <a:t>j:invoke</a:t>
            </a:r>
            <a:r>
              <a:rPr lang="en-US" sz="1600" dirty="0"/>
              <a:t> on="${purple}" method="</a:t>
            </a:r>
            <a:r>
              <a:rPr lang="en-US" sz="1600" dirty="0" err="1"/>
              <a:t>getGreen</a:t>
            </a:r>
            <a:r>
              <a:rPr lang="en-US" sz="1600" dirty="0"/>
              <a:t>" var="g"/&gt;</a:t>
            </a:r>
          </a:p>
          <a:p>
            <a:r>
              <a:rPr lang="en-US" sz="1600" dirty="0"/>
              <a:t>  &lt;</a:t>
            </a:r>
            <a:r>
              <a:rPr lang="en-US" sz="1600" dirty="0" err="1"/>
              <a:t>j:invoke</a:t>
            </a:r>
            <a:r>
              <a:rPr lang="en-US" sz="1600" dirty="0"/>
              <a:t> on="${purple}" method="</a:t>
            </a:r>
            <a:r>
              <a:rPr lang="en-US" sz="1600" dirty="0" err="1"/>
              <a:t>getBlue</a:t>
            </a:r>
            <a:r>
              <a:rPr lang="en-US" sz="1600" dirty="0"/>
              <a:t>" var="b"/&gt;</a:t>
            </a:r>
          </a:p>
          <a:p>
            <a:r>
              <a:rPr lang="en-US" sz="1600" dirty="0"/>
              <a:t>  </a:t>
            </a:r>
          </a:p>
          <a:p>
            <a:r>
              <a:rPr lang="en-US" sz="1600" dirty="0"/>
              <a:t>  &lt;!-- Display results --&gt;</a:t>
            </a:r>
          </a:p>
          <a:p>
            <a:r>
              <a:rPr lang="en-US" sz="1600" dirty="0"/>
              <a:t>  &lt;h3&gt;Colors:&lt;/h3&gt;</a:t>
            </a:r>
          </a:p>
          <a:p>
            <a:r>
              <a:rPr lang="en-US" sz="1600" dirty="0"/>
              <a:t>  Red (static): ${red}&lt;</a:t>
            </a:r>
            <a:r>
              <a:rPr lang="en-US" sz="1600" dirty="0" err="1"/>
              <a:t>br</a:t>
            </a:r>
            <a:r>
              <a:rPr lang="en-US" sz="1600" dirty="0"/>
              <a:t>/&gt;</a:t>
            </a:r>
          </a:p>
          <a:p>
            <a:r>
              <a:rPr lang="en-US" sz="1600" dirty="0"/>
              <a:t>  Green (static): ${green}&lt;</a:t>
            </a:r>
            <a:r>
              <a:rPr lang="en-US" sz="1600" dirty="0" err="1"/>
              <a:t>br</a:t>
            </a:r>
            <a:r>
              <a:rPr lang="en-US" sz="1600" dirty="0"/>
              <a:t>/&gt;</a:t>
            </a:r>
          </a:p>
          <a:p>
            <a:r>
              <a:rPr lang="en-US" sz="1600" dirty="0"/>
              <a:t>  Blue (static): ${blue}&lt;</a:t>
            </a:r>
            <a:r>
              <a:rPr lang="en-US" sz="1600" dirty="0" err="1"/>
              <a:t>br</a:t>
            </a:r>
            <a:r>
              <a:rPr lang="en-US" sz="1600" dirty="0"/>
              <a:t>/&gt;</a:t>
            </a:r>
          </a:p>
          <a:p>
            <a:r>
              <a:rPr lang="en-US" sz="1600" dirty="0"/>
              <a:t>  Purple (custom): R=${r}, G=${g}, B=${b}&lt;</a:t>
            </a:r>
            <a:r>
              <a:rPr lang="en-US" sz="1600" dirty="0" err="1"/>
              <a:t>br</a:t>
            </a:r>
            <a:r>
              <a:rPr lang="en-US" sz="1600" dirty="0"/>
              <a:t>/&gt;</a:t>
            </a:r>
          </a:p>
          <a:p>
            <a:r>
              <a:rPr lang="en-US" sz="1600" dirty="0"/>
              <a:t>  </a:t>
            </a:r>
          </a:p>
          <a:p>
            <a:r>
              <a:rPr lang="en-US" sz="1600" dirty="0"/>
              <a:t>  &lt;!-- Get RGB integer value --&gt;</a:t>
            </a:r>
          </a:p>
          <a:p>
            <a:r>
              <a:rPr lang="en-US" sz="1600" dirty="0"/>
              <a:t>  &lt;</a:t>
            </a:r>
            <a:r>
              <a:rPr lang="en-US" sz="1600" dirty="0" err="1"/>
              <a:t>j:invoke</a:t>
            </a:r>
            <a:r>
              <a:rPr lang="en-US" sz="1600" dirty="0"/>
              <a:t> on="${teal}" method="</a:t>
            </a:r>
            <a:r>
              <a:rPr lang="en-US" sz="1600" dirty="0" err="1"/>
              <a:t>getRGB</a:t>
            </a:r>
            <a:r>
              <a:rPr lang="en-US" sz="1600" dirty="0"/>
              <a:t>" var="</a:t>
            </a:r>
            <a:r>
              <a:rPr lang="en-US" sz="1600" dirty="0" err="1"/>
              <a:t>rgb</a:t>
            </a:r>
            <a:r>
              <a:rPr lang="en-US" sz="1600" dirty="0"/>
              <a:t>"/&gt;</a:t>
            </a:r>
          </a:p>
          <a:p>
            <a:r>
              <a:rPr lang="en-US" sz="1600" dirty="0"/>
              <a:t>  Teal RGB value: ${</a:t>
            </a:r>
            <a:r>
              <a:rPr lang="en-US" sz="1600" dirty="0" err="1"/>
              <a:t>rgb</a:t>
            </a:r>
            <a:r>
              <a:rPr lang="en-US" sz="1600" dirty="0"/>
              <a:t>}&lt;</a:t>
            </a:r>
            <a:r>
              <a:rPr lang="en-US" sz="1600" dirty="0" err="1"/>
              <a:t>br</a:t>
            </a:r>
            <a:r>
              <a:rPr lang="en-US" sz="1600" dirty="0"/>
              <a:t>/&gt;</a:t>
            </a:r>
          </a:p>
          <a:p>
            <a:r>
              <a:rPr lang="en-US" sz="1600" dirty="0"/>
              <a:t>  </a:t>
            </a:r>
          </a:p>
          <a:p>
            <a:r>
              <a:rPr lang="en-US" sz="1600" dirty="0"/>
              <a:t>  &lt;!-- Check if colors are equal --&gt;</a:t>
            </a:r>
          </a:p>
          <a:p>
            <a:r>
              <a:rPr lang="en-US" sz="1600" dirty="0"/>
              <a:t>  &lt;</a:t>
            </a:r>
            <a:r>
              <a:rPr lang="en-US" sz="1600" dirty="0" err="1"/>
              <a:t>j:invoke</a:t>
            </a:r>
            <a:r>
              <a:rPr lang="en-US" sz="1600" dirty="0"/>
              <a:t> on="${red}" method="equals" var="</a:t>
            </a:r>
            <a:r>
              <a:rPr lang="en-US" sz="1600" dirty="0" err="1"/>
              <a:t>isEqual</a:t>
            </a:r>
            <a:r>
              <a:rPr lang="en-US" sz="1600" dirty="0"/>
              <a:t>"&gt;</a:t>
            </a:r>
          </a:p>
          <a:p>
            <a:r>
              <a:rPr lang="en-US" sz="1600" dirty="0"/>
              <a:t>    &lt;</a:t>
            </a:r>
            <a:r>
              <a:rPr lang="en-US" sz="1600" dirty="0" err="1"/>
              <a:t>j:arg</a:t>
            </a:r>
            <a:r>
              <a:rPr lang="en-US" sz="1600" dirty="0"/>
              <a:t> value="${red}"/&gt;</a:t>
            </a:r>
          </a:p>
          <a:p>
            <a:r>
              <a:rPr lang="en-US" sz="1600" dirty="0"/>
              <a:t>  &lt;/</a:t>
            </a:r>
            <a:r>
              <a:rPr lang="en-US" sz="1600" dirty="0" err="1"/>
              <a:t>j:invoke</a:t>
            </a:r>
            <a:r>
              <a:rPr lang="en-US" sz="1600" dirty="0"/>
              <a:t>&gt;</a:t>
            </a:r>
          </a:p>
          <a:p>
            <a:r>
              <a:rPr lang="en-US" sz="1600" dirty="0"/>
              <a:t>  Red equals itself: ${</a:t>
            </a:r>
            <a:r>
              <a:rPr lang="en-US" sz="1600" dirty="0" err="1"/>
              <a:t>isEqual</a:t>
            </a:r>
            <a:r>
              <a:rPr lang="en-US" sz="1600" dirty="0"/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E47CC8-CC2A-98B9-2C53-C73A0C0AD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1938" y="97771"/>
            <a:ext cx="2962688" cy="27531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67D0CB-13D8-A51B-0C5B-5152AB7E13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64" y="4147445"/>
            <a:ext cx="2857899" cy="866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72423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A69DB-4C05-6806-1370-D656414A1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18E15-D93B-BB08-C46E-CACEE1E27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4.Start Write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677EF2-98FA-294A-27BE-703BF5BFAD5A}"/>
              </a:ext>
            </a:extLst>
          </p:cNvPr>
          <p:cNvSpPr txBox="1"/>
          <p:nvPr/>
        </p:nvSpPr>
        <p:spPr>
          <a:xfrm>
            <a:off x="347374" y="1474328"/>
            <a:ext cx="72322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c-Latn-001" b="1" dirty="0">
                <a:highlight>
                  <a:srgbClr val="FFFF00"/>
                </a:highlight>
              </a:rPr>
              <a:t>Task</a:t>
            </a:r>
          </a:p>
          <a:p>
            <a:r>
              <a:rPr lang="en-US" b="1" dirty="0"/>
              <a:t>Try to set style based on color that already added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F921CC-4BB0-A352-DEF4-80D214FC3E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767" y="2708388"/>
            <a:ext cx="4354792" cy="877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033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3C5EC-1627-CE8A-229E-03352D992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391A0-EA91-28B9-5C58-168A7C31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3. Tags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9D939-BDEF-3678-EE32-A55D992E284A}"/>
              </a:ext>
            </a:extLst>
          </p:cNvPr>
          <p:cNvSpPr txBox="1"/>
          <p:nvPr/>
        </p:nvSpPr>
        <p:spPr>
          <a:xfrm>
            <a:off x="347374" y="1474328"/>
            <a:ext cx="72322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Key Patterns to Remember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2AD60B-D898-BCDD-CC11-ED059A9F2C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105" y="495684"/>
            <a:ext cx="6894417" cy="33295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DB8114C-F1FA-4CBA-2854-39B0F73C1A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9105" y="3825240"/>
            <a:ext cx="6894417" cy="216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460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2796</TotalTime>
  <Words>7931</Words>
  <Application>Microsoft Office PowerPoint</Application>
  <PresentationFormat>Widescreen</PresentationFormat>
  <Paragraphs>915</Paragraphs>
  <Slides>81</Slides>
  <Notes>81</Notes>
  <HiddenSlides>13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81</vt:i4>
      </vt:variant>
    </vt:vector>
  </HeadingPairs>
  <TitlesOfParts>
    <vt:vector size="94" baseType="lpstr">
      <vt:lpstr>Antique Olive</vt:lpstr>
      <vt:lpstr>Arial</vt:lpstr>
      <vt:lpstr>Calibri</vt:lpstr>
      <vt:lpstr>Calibri Light</vt:lpstr>
      <vt:lpstr>Consolas</vt:lpstr>
      <vt:lpstr>Courier New</vt:lpstr>
      <vt:lpstr>Menlo</vt:lpstr>
      <vt:lpstr>source-code-pro</vt:lpstr>
      <vt:lpstr>Trebuchet MS</vt:lpstr>
      <vt:lpstr>Wingdings</vt:lpstr>
      <vt:lpstr>Wingdings 3</vt:lpstr>
      <vt:lpstr>Facet</vt:lpstr>
      <vt:lpstr>Custom Design</vt:lpstr>
      <vt:lpstr>Jelly Script</vt:lpstr>
      <vt:lpstr>1. What is Jelly</vt:lpstr>
      <vt:lpstr>1. What is Jelly</vt:lpstr>
      <vt:lpstr>2. Why learn Jelly?</vt:lpstr>
      <vt:lpstr>2. Why learn Jelly?</vt:lpstr>
      <vt:lpstr>2. Why learn Jelly?</vt:lpstr>
      <vt:lpstr>2. Why learn Jelly?</vt:lpstr>
      <vt:lpstr>2. Why learn Jelly?</vt:lpstr>
      <vt:lpstr>2. Why learn Jelly?</vt:lpstr>
      <vt:lpstr>2. Why learn Jelly?</vt:lpstr>
      <vt:lpstr>2. Why learn Jelly?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POM FILE</vt:lpstr>
      <vt:lpstr>3. POM FILE</vt:lpstr>
      <vt:lpstr>3. POM FILE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3. Install Jelly</vt:lpstr>
      <vt:lpstr>2. Why learn Jelly?</vt:lpstr>
      <vt:lpstr>3. Tags</vt:lpstr>
      <vt:lpstr>3. Tags</vt:lpstr>
      <vt:lpstr>3. Tags</vt:lpstr>
      <vt:lpstr>3. Tags</vt:lpstr>
      <vt:lpstr>3. Tags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3. Tags</vt:lpstr>
      <vt:lpstr>4.Start Write</vt:lpstr>
      <vt:lpstr>4.Start Write</vt:lpstr>
      <vt:lpstr>4.Start Write</vt:lpstr>
      <vt:lpstr>4.Start Write</vt:lpstr>
      <vt:lpstr>4.Start Write</vt:lpstr>
      <vt:lpstr>4.Start Write</vt:lpstr>
      <vt:lpstr>4.Start Write</vt:lpstr>
      <vt:lpstr>3. Tags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Petra</dc:creator>
  <cp:lastModifiedBy>sandy maged</cp:lastModifiedBy>
  <cp:revision>544</cp:revision>
  <dcterms:created xsi:type="dcterms:W3CDTF">2026-01-26T08:52:25Z</dcterms:created>
  <dcterms:modified xsi:type="dcterms:W3CDTF">2026-02-23T08:13:42Z</dcterms:modified>
</cp:coreProperties>
</file>