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731" r:id="rId1"/>
    <p:sldMasterId id="2147483748" r:id="rId2"/>
  </p:sldMasterIdLst>
  <p:notesMasterIdLst>
    <p:notesMasterId r:id="rId51"/>
  </p:notesMasterIdLst>
  <p:sldIdLst>
    <p:sldId id="304" r:id="rId3"/>
    <p:sldId id="258" r:id="rId4"/>
    <p:sldId id="506" r:id="rId5"/>
    <p:sldId id="507" r:id="rId6"/>
    <p:sldId id="535" r:id="rId7"/>
    <p:sldId id="508" r:id="rId8"/>
    <p:sldId id="509" r:id="rId9"/>
    <p:sldId id="510" r:id="rId10"/>
    <p:sldId id="511" r:id="rId11"/>
    <p:sldId id="512" r:id="rId12"/>
    <p:sldId id="513" r:id="rId13"/>
    <p:sldId id="514" r:id="rId14"/>
    <p:sldId id="515" r:id="rId15"/>
    <p:sldId id="516" r:id="rId16"/>
    <p:sldId id="517" r:id="rId17"/>
    <p:sldId id="518" r:id="rId18"/>
    <p:sldId id="519" r:id="rId19"/>
    <p:sldId id="520" r:id="rId20"/>
    <p:sldId id="521" r:id="rId21"/>
    <p:sldId id="523" r:id="rId22"/>
    <p:sldId id="524" r:id="rId23"/>
    <p:sldId id="525" r:id="rId24"/>
    <p:sldId id="526" r:id="rId25"/>
    <p:sldId id="527" r:id="rId26"/>
    <p:sldId id="528" r:id="rId27"/>
    <p:sldId id="529" r:id="rId28"/>
    <p:sldId id="530" r:id="rId29"/>
    <p:sldId id="531" r:id="rId30"/>
    <p:sldId id="532" r:id="rId31"/>
    <p:sldId id="533" r:id="rId32"/>
    <p:sldId id="534" r:id="rId33"/>
    <p:sldId id="536" r:id="rId34"/>
    <p:sldId id="537" r:id="rId35"/>
    <p:sldId id="538" r:id="rId36"/>
    <p:sldId id="539" r:id="rId37"/>
    <p:sldId id="540" r:id="rId38"/>
    <p:sldId id="541" r:id="rId39"/>
    <p:sldId id="542" r:id="rId40"/>
    <p:sldId id="543" r:id="rId41"/>
    <p:sldId id="544" r:id="rId42"/>
    <p:sldId id="545" r:id="rId43"/>
    <p:sldId id="546" r:id="rId44"/>
    <p:sldId id="547" r:id="rId45"/>
    <p:sldId id="548" r:id="rId46"/>
    <p:sldId id="549" r:id="rId47"/>
    <p:sldId id="550" r:id="rId48"/>
    <p:sldId id="551" r:id="rId49"/>
    <p:sldId id="552" r:id="rId5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5000" autoAdjust="0"/>
    <p:restoredTop sz="94660"/>
  </p:normalViewPr>
  <p:slideViewPr>
    <p:cSldViewPr snapToGrid="0">
      <p:cViewPr varScale="1">
        <p:scale>
          <a:sx n="63" d="100"/>
          <a:sy n="63" d="100"/>
        </p:scale>
        <p:origin x="1020" y="6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6" d="100"/>
          <a:sy n="96" d="100"/>
        </p:scale>
        <p:origin x="3558" y="10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slide" Target="slides/slide39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8" Type="http://schemas.openxmlformats.org/officeDocument/2006/relationships/slide" Target="slides/slide6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B7E296-0428-41DA-B2FD-629865C14C9A}" type="datetimeFigureOut">
              <a:rPr lang="en-GB" smtClean="0"/>
              <a:t>10/02/2026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CD3839-9FE5-42F2-BECC-1535DA6E108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600606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DAC851-D387-A811-6E05-D3D515F163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7098F2D-7426-FD63-C23A-68288A3BF0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7AE22B-5184-875C-7A74-F351221725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8C6789-5B6C-3DA3-73AA-4F35797FDF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CD3839-9FE5-42F2-BECC-1535DA6E108D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553629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&lt;!doctype html&gt;</a:t>
            </a:r>
          </a:p>
          <a:p>
            <a:r>
              <a:rPr lang="en-US" dirty="0"/>
              <a:t>&lt;html lang="</a:t>
            </a:r>
            <a:r>
              <a:rPr lang="en-US" dirty="0" err="1"/>
              <a:t>en</a:t>
            </a:r>
            <a:r>
              <a:rPr lang="en-US" dirty="0"/>
              <a:t>"&gt;</a:t>
            </a:r>
          </a:p>
          <a:p>
            <a:r>
              <a:rPr lang="en-US" dirty="0"/>
              <a:t>  &lt;head&gt;</a:t>
            </a:r>
          </a:p>
          <a:p>
            <a:r>
              <a:rPr lang="en-US" dirty="0"/>
              <a:t>    &lt;meta charset="utf-8"&gt;</a:t>
            </a:r>
          </a:p>
          <a:p>
            <a:r>
              <a:rPr lang="en-US" dirty="0"/>
              <a:t>    &lt;meta name="viewport" content="width=device-width, initial-scale=1"&gt;</a:t>
            </a:r>
          </a:p>
          <a:p>
            <a:r>
              <a:rPr lang="en-US" dirty="0"/>
              <a:t>    &lt;title&gt;Bootstrap demo&lt;/title&gt;</a:t>
            </a:r>
          </a:p>
          <a:p>
            <a:r>
              <a:rPr lang="en-US" dirty="0"/>
              <a:t>    &lt;link </a:t>
            </a:r>
            <a:r>
              <a:rPr lang="en-US" dirty="0" err="1"/>
              <a:t>href</a:t>
            </a:r>
            <a:r>
              <a:rPr lang="en-US" dirty="0"/>
              <a:t>="https://cdn.jsdelivr.net/</a:t>
            </a:r>
            <a:r>
              <a:rPr lang="en-US" dirty="0" err="1"/>
              <a:t>npm</a:t>
            </a:r>
            <a:r>
              <a:rPr lang="en-US" dirty="0"/>
              <a:t>/bootstrap@5.3.8/</a:t>
            </a:r>
            <a:r>
              <a:rPr lang="en-US" dirty="0" err="1"/>
              <a:t>dist</a:t>
            </a:r>
            <a:r>
              <a:rPr lang="en-US" dirty="0"/>
              <a:t>/</a:t>
            </a:r>
            <a:r>
              <a:rPr lang="en-US" dirty="0" err="1"/>
              <a:t>css</a:t>
            </a:r>
            <a:r>
              <a:rPr lang="en-US" dirty="0"/>
              <a:t>/bootstrap.min.css" </a:t>
            </a:r>
            <a:r>
              <a:rPr lang="en-US" dirty="0" err="1"/>
              <a:t>rel</a:t>
            </a:r>
            <a:r>
              <a:rPr lang="en-US" dirty="0"/>
              <a:t>="stylesheet" integrity="sha384-sRIl4kxILFvY47J16cr9ZwB07vP4J8+LH7qKQnuqkuIAvNWLzeN8tE5YBujZqJLB" </a:t>
            </a:r>
            <a:r>
              <a:rPr lang="en-US" dirty="0" err="1"/>
              <a:t>crossorigin</a:t>
            </a:r>
            <a:r>
              <a:rPr lang="en-US" dirty="0"/>
              <a:t>="anonymous"&gt;</a:t>
            </a:r>
          </a:p>
          <a:p>
            <a:r>
              <a:rPr lang="en-US" dirty="0"/>
              <a:t>  &lt;/head&gt;</a:t>
            </a:r>
          </a:p>
          <a:p>
            <a:r>
              <a:rPr lang="en-US" dirty="0"/>
              <a:t>  &lt;body&gt;</a:t>
            </a:r>
          </a:p>
          <a:p>
            <a:r>
              <a:rPr lang="en-US" dirty="0"/>
              <a:t>    &lt;h1&gt;Hello, world!&lt;/h1&gt;</a:t>
            </a:r>
          </a:p>
          <a:p>
            <a:r>
              <a:rPr lang="en-US" dirty="0"/>
              <a:t>    &lt;script </a:t>
            </a:r>
            <a:r>
              <a:rPr lang="en-US" dirty="0" err="1"/>
              <a:t>src</a:t>
            </a:r>
            <a:r>
              <a:rPr lang="en-US" dirty="0"/>
              <a:t>="https://cdn.jsdelivr.net/</a:t>
            </a:r>
            <a:r>
              <a:rPr lang="en-US" dirty="0" err="1"/>
              <a:t>npm</a:t>
            </a:r>
            <a:r>
              <a:rPr lang="en-US" dirty="0"/>
              <a:t>/bootstrap@5.3.8/</a:t>
            </a:r>
            <a:r>
              <a:rPr lang="en-US" dirty="0" err="1"/>
              <a:t>dist</a:t>
            </a:r>
            <a:r>
              <a:rPr lang="en-US" dirty="0"/>
              <a:t>/</a:t>
            </a:r>
            <a:r>
              <a:rPr lang="en-US" dirty="0" err="1"/>
              <a:t>js</a:t>
            </a:r>
            <a:r>
              <a:rPr lang="en-US" dirty="0"/>
              <a:t>/bootstrap.bundle.min.js" integrity="sha384-FKyoEForCGlyvwx9Hj09JcYn3nv7wiPVlz7YYwJrWVcXK/BmnVDxM+D2scQbITxI" </a:t>
            </a:r>
            <a:r>
              <a:rPr lang="en-US" dirty="0" err="1"/>
              <a:t>crossorigin</a:t>
            </a:r>
            <a:r>
              <a:rPr lang="en-US" dirty="0"/>
              <a:t>="anonymous"&gt;&lt;/script&gt;</a:t>
            </a:r>
          </a:p>
          <a:p>
            <a:r>
              <a:rPr lang="en-US" dirty="0"/>
              <a:t>  &lt;/body&gt;</a:t>
            </a:r>
          </a:p>
          <a:p>
            <a:r>
              <a:rPr lang="en-US" dirty="0"/>
              <a:t>&lt;/html&gt;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CD3839-9FE5-42F2-BECC-1535DA6E108D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222113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CD7624-4133-F207-ABD9-E21FAAEE27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776E5C0-03D3-9979-1BD9-DF0B32A1BD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BB17E58-6FEF-265C-FE73-8F451DF3A2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&lt;!doctype html&gt;</a:t>
            </a:r>
          </a:p>
          <a:p>
            <a:r>
              <a:rPr lang="en-US" dirty="0"/>
              <a:t>&lt;html lang="</a:t>
            </a:r>
            <a:r>
              <a:rPr lang="en-US" dirty="0" err="1"/>
              <a:t>en</a:t>
            </a:r>
            <a:r>
              <a:rPr lang="en-US" dirty="0"/>
              <a:t>"&gt;</a:t>
            </a:r>
          </a:p>
          <a:p>
            <a:r>
              <a:rPr lang="en-US" dirty="0"/>
              <a:t>  &lt;head&gt;</a:t>
            </a:r>
          </a:p>
          <a:p>
            <a:r>
              <a:rPr lang="en-US" dirty="0"/>
              <a:t>    &lt;meta charset="utf-8"&gt;</a:t>
            </a:r>
          </a:p>
          <a:p>
            <a:r>
              <a:rPr lang="en-US" dirty="0"/>
              <a:t>    &lt;meta name="viewport" content="width=device-width, initial-scale=1"&gt;</a:t>
            </a:r>
          </a:p>
          <a:p>
            <a:r>
              <a:rPr lang="en-US" dirty="0"/>
              <a:t>    &lt;title&gt;Bootstrap demo&lt;/title&gt;</a:t>
            </a:r>
          </a:p>
          <a:p>
            <a:r>
              <a:rPr lang="en-US" dirty="0"/>
              <a:t>    &lt;link </a:t>
            </a:r>
            <a:r>
              <a:rPr lang="en-US" dirty="0" err="1"/>
              <a:t>href</a:t>
            </a:r>
            <a:r>
              <a:rPr lang="en-US" dirty="0"/>
              <a:t>="https://cdn.jsdelivr.net/</a:t>
            </a:r>
            <a:r>
              <a:rPr lang="en-US" dirty="0" err="1"/>
              <a:t>npm</a:t>
            </a:r>
            <a:r>
              <a:rPr lang="en-US" dirty="0"/>
              <a:t>/bootstrap@5.3.8/</a:t>
            </a:r>
            <a:r>
              <a:rPr lang="en-US" dirty="0" err="1"/>
              <a:t>dist</a:t>
            </a:r>
            <a:r>
              <a:rPr lang="en-US" dirty="0"/>
              <a:t>/</a:t>
            </a:r>
            <a:r>
              <a:rPr lang="en-US" dirty="0" err="1"/>
              <a:t>css</a:t>
            </a:r>
            <a:r>
              <a:rPr lang="en-US" dirty="0"/>
              <a:t>/bootstrap.min.css" </a:t>
            </a:r>
            <a:r>
              <a:rPr lang="en-US" dirty="0" err="1"/>
              <a:t>rel</a:t>
            </a:r>
            <a:r>
              <a:rPr lang="en-US" dirty="0"/>
              <a:t>="stylesheet" integrity="sha384-sRIl4kxILFvY47J16cr9ZwB07vP4J8+LH7qKQnuqkuIAvNWLzeN8tE5YBujZqJLB" </a:t>
            </a:r>
            <a:r>
              <a:rPr lang="en-US" dirty="0" err="1"/>
              <a:t>crossorigin</a:t>
            </a:r>
            <a:r>
              <a:rPr lang="en-US" dirty="0"/>
              <a:t>="anonymous"&gt;</a:t>
            </a:r>
          </a:p>
          <a:p>
            <a:r>
              <a:rPr lang="en-US" dirty="0"/>
              <a:t>  &lt;/head&gt;</a:t>
            </a:r>
          </a:p>
          <a:p>
            <a:r>
              <a:rPr lang="en-US" dirty="0"/>
              <a:t>  &lt;body&gt;</a:t>
            </a:r>
          </a:p>
          <a:p>
            <a:r>
              <a:rPr lang="en-US" dirty="0"/>
              <a:t>    &lt;h1&gt;Hello, world!&lt;/h1&gt;</a:t>
            </a:r>
          </a:p>
          <a:p>
            <a:r>
              <a:rPr lang="en-US" dirty="0"/>
              <a:t>    &lt;script </a:t>
            </a:r>
            <a:r>
              <a:rPr lang="en-US" dirty="0" err="1"/>
              <a:t>src</a:t>
            </a:r>
            <a:r>
              <a:rPr lang="en-US" dirty="0"/>
              <a:t>="https://cdn.jsdelivr.net/</a:t>
            </a:r>
            <a:r>
              <a:rPr lang="en-US" dirty="0" err="1"/>
              <a:t>npm</a:t>
            </a:r>
            <a:r>
              <a:rPr lang="en-US" dirty="0"/>
              <a:t>/bootstrap@5.3.8/</a:t>
            </a:r>
            <a:r>
              <a:rPr lang="en-US" dirty="0" err="1"/>
              <a:t>dist</a:t>
            </a:r>
            <a:r>
              <a:rPr lang="en-US" dirty="0"/>
              <a:t>/</a:t>
            </a:r>
            <a:r>
              <a:rPr lang="en-US" dirty="0" err="1"/>
              <a:t>js</a:t>
            </a:r>
            <a:r>
              <a:rPr lang="en-US" dirty="0"/>
              <a:t>/bootstrap.bundle.min.js" integrity="sha384-FKyoEForCGlyvwx9Hj09JcYn3nv7wiPVlz7YYwJrWVcXK/BmnVDxM+D2scQbITxI" </a:t>
            </a:r>
            <a:r>
              <a:rPr lang="en-US" dirty="0" err="1"/>
              <a:t>crossorigin</a:t>
            </a:r>
            <a:r>
              <a:rPr lang="en-US" dirty="0"/>
              <a:t>="anonymous"&gt;&lt;/script&gt;</a:t>
            </a:r>
          </a:p>
          <a:p>
            <a:r>
              <a:rPr lang="en-US" dirty="0"/>
              <a:t>  &lt;/body&gt;</a:t>
            </a:r>
          </a:p>
          <a:p>
            <a:r>
              <a:rPr lang="en-US" dirty="0"/>
              <a:t>&lt;/html&gt;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52BDB6-131D-111A-2AE5-0C8D1ABF414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CD3839-9FE5-42F2-BECC-1535DA6E108D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22129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3B764A-C52F-0BA4-4CA5-DD20846203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E2F1E7F-539A-EF95-2293-3788B4F589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BEBC55A-FD88-974B-72D2-2D5F593CDA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&lt;!doctype html&gt;</a:t>
            </a:r>
          </a:p>
          <a:p>
            <a:r>
              <a:rPr lang="en-US" dirty="0"/>
              <a:t>&lt;html lang="</a:t>
            </a:r>
            <a:r>
              <a:rPr lang="en-US" dirty="0" err="1"/>
              <a:t>en</a:t>
            </a:r>
            <a:r>
              <a:rPr lang="en-US" dirty="0"/>
              <a:t>"&gt;</a:t>
            </a:r>
          </a:p>
          <a:p>
            <a:r>
              <a:rPr lang="en-US" dirty="0"/>
              <a:t>  &lt;head&gt;</a:t>
            </a:r>
          </a:p>
          <a:p>
            <a:r>
              <a:rPr lang="en-US" dirty="0"/>
              <a:t>    &lt;meta charset="utf-8"&gt;</a:t>
            </a:r>
          </a:p>
          <a:p>
            <a:r>
              <a:rPr lang="en-US" dirty="0"/>
              <a:t>    &lt;meta name="viewport" content="width=device-width, initial-scale=1"&gt;</a:t>
            </a:r>
          </a:p>
          <a:p>
            <a:r>
              <a:rPr lang="en-US" dirty="0"/>
              <a:t>    &lt;title&gt;Bootstrap demo&lt;/title&gt;</a:t>
            </a:r>
          </a:p>
          <a:p>
            <a:r>
              <a:rPr lang="en-US" dirty="0"/>
              <a:t>    &lt;link </a:t>
            </a:r>
            <a:r>
              <a:rPr lang="en-US" dirty="0" err="1"/>
              <a:t>href</a:t>
            </a:r>
            <a:r>
              <a:rPr lang="en-US" dirty="0"/>
              <a:t>="https://cdn.jsdelivr.net/</a:t>
            </a:r>
            <a:r>
              <a:rPr lang="en-US" dirty="0" err="1"/>
              <a:t>npm</a:t>
            </a:r>
            <a:r>
              <a:rPr lang="en-US" dirty="0"/>
              <a:t>/bootstrap@5.3.8/</a:t>
            </a:r>
            <a:r>
              <a:rPr lang="en-US" dirty="0" err="1"/>
              <a:t>dist</a:t>
            </a:r>
            <a:r>
              <a:rPr lang="en-US" dirty="0"/>
              <a:t>/</a:t>
            </a:r>
            <a:r>
              <a:rPr lang="en-US" dirty="0" err="1"/>
              <a:t>css</a:t>
            </a:r>
            <a:r>
              <a:rPr lang="en-US" dirty="0"/>
              <a:t>/bootstrap.min.css" </a:t>
            </a:r>
            <a:r>
              <a:rPr lang="en-US" dirty="0" err="1"/>
              <a:t>rel</a:t>
            </a:r>
            <a:r>
              <a:rPr lang="en-US" dirty="0"/>
              <a:t>="stylesheet" integrity="sha384-sRIl4kxILFvY47J16cr9ZwB07vP4J8+LH7qKQnuqkuIAvNWLzeN8tE5YBujZqJLB" </a:t>
            </a:r>
            <a:r>
              <a:rPr lang="en-US" dirty="0" err="1"/>
              <a:t>crossorigin</a:t>
            </a:r>
            <a:r>
              <a:rPr lang="en-US" dirty="0"/>
              <a:t>="anonymous"&gt;</a:t>
            </a:r>
          </a:p>
          <a:p>
            <a:r>
              <a:rPr lang="en-US" dirty="0"/>
              <a:t>  &lt;/head&gt;</a:t>
            </a:r>
          </a:p>
          <a:p>
            <a:r>
              <a:rPr lang="en-US" dirty="0"/>
              <a:t>  &lt;body&gt;</a:t>
            </a:r>
          </a:p>
          <a:p>
            <a:r>
              <a:rPr lang="en-US" dirty="0"/>
              <a:t>    &lt;h1&gt;Hello, world!&lt;/h1&gt;</a:t>
            </a:r>
          </a:p>
          <a:p>
            <a:r>
              <a:rPr lang="en-US" dirty="0"/>
              <a:t>    &lt;script </a:t>
            </a:r>
            <a:r>
              <a:rPr lang="en-US" dirty="0" err="1"/>
              <a:t>src</a:t>
            </a:r>
            <a:r>
              <a:rPr lang="en-US" dirty="0"/>
              <a:t>="https://cdn.jsdelivr.net/</a:t>
            </a:r>
            <a:r>
              <a:rPr lang="en-US" dirty="0" err="1"/>
              <a:t>npm</a:t>
            </a:r>
            <a:r>
              <a:rPr lang="en-US" dirty="0"/>
              <a:t>/bootstrap@5.3.8/</a:t>
            </a:r>
            <a:r>
              <a:rPr lang="en-US" dirty="0" err="1"/>
              <a:t>dist</a:t>
            </a:r>
            <a:r>
              <a:rPr lang="en-US" dirty="0"/>
              <a:t>/</a:t>
            </a:r>
            <a:r>
              <a:rPr lang="en-US" dirty="0" err="1"/>
              <a:t>js</a:t>
            </a:r>
            <a:r>
              <a:rPr lang="en-US" dirty="0"/>
              <a:t>/bootstrap.bundle.min.js" integrity="sha384-FKyoEForCGlyvwx9Hj09JcYn3nv7wiPVlz7YYwJrWVcXK/BmnVDxM+D2scQbITxI" </a:t>
            </a:r>
            <a:r>
              <a:rPr lang="en-US" dirty="0" err="1"/>
              <a:t>crossorigin</a:t>
            </a:r>
            <a:r>
              <a:rPr lang="en-US" dirty="0"/>
              <a:t>="anonymous"&gt;&lt;/script&gt;</a:t>
            </a:r>
          </a:p>
          <a:p>
            <a:r>
              <a:rPr lang="en-US" dirty="0"/>
              <a:t>  &lt;/body&gt;</a:t>
            </a:r>
          </a:p>
          <a:p>
            <a:r>
              <a:rPr lang="en-US" dirty="0"/>
              <a:t>&lt;/html&gt;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361F5D-49DB-6DFA-025A-41F6A2C071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CD3839-9FE5-42F2-BECC-1535DA6E108D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5406551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FAA0A6-7771-F4B8-FC8A-AF6181A102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4CE2AE3-0893-F101-5B17-B98228A026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2303476-1189-B028-4D35-754746AEB6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&lt;!doctype html&gt;</a:t>
            </a:r>
          </a:p>
          <a:p>
            <a:r>
              <a:rPr lang="en-US" dirty="0"/>
              <a:t>&lt;html lang="</a:t>
            </a:r>
            <a:r>
              <a:rPr lang="en-US" dirty="0" err="1"/>
              <a:t>en</a:t>
            </a:r>
            <a:r>
              <a:rPr lang="en-US" dirty="0"/>
              <a:t>"&gt;</a:t>
            </a:r>
          </a:p>
          <a:p>
            <a:r>
              <a:rPr lang="en-US" dirty="0"/>
              <a:t>  &lt;head&gt;</a:t>
            </a:r>
          </a:p>
          <a:p>
            <a:r>
              <a:rPr lang="en-US" dirty="0"/>
              <a:t>    &lt;meta charset="utf-8"&gt;</a:t>
            </a:r>
          </a:p>
          <a:p>
            <a:r>
              <a:rPr lang="en-US" dirty="0"/>
              <a:t>    &lt;meta name="viewport" content="width=device-width, initial-scale=1"&gt;</a:t>
            </a:r>
          </a:p>
          <a:p>
            <a:r>
              <a:rPr lang="en-US" dirty="0"/>
              <a:t>    &lt;title&gt;Bootstrap demo&lt;/title&gt;</a:t>
            </a:r>
          </a:p>
          <a:p>
            <a:r>
              <a:rPr lang="en-US" dirty="0"/>
              <a:t>    &lt;link </a:t>
            </a:r>
            <a:r>
              <a:rPr lang="en-US" dirty="0" err="1"/>
              <a:t>href</a:t>
            </a:r>
            <a:r>
              <a:rPr lang="en-US" dirty="0"/>
              <a:t>="https://cdn.jsdelivr.net/</a:t>
            </a:r>
            <a:r>
              <a:rPr lang="en-US" dirty="0" err="1"/>
              <a:t>npm</a:t>
            </a:r>
            <a:r>
              <a:rPr lang="en-US" dirty="0"/>
              <a:t>/bootstrap@5.3.8/</a:t>
            </a:r>
            <a:r>
              <a:rPr lang="en-US" dirty="0" err="1"/>
              <a:t>dist</a:t>
            </a:r>
            <a:r>
              <a:rPr lang="en-US" dirty="0"/>
              <a:t>/</a:t>
            </a:r>
            <a:r>
              <a:rPr lang="en-US" dirty="0" err="1"/>
              <a:t>css</a:t>
            </a:r>
            <a:r>
              <a:rPr lang="en-US" dirty="0"/>
              <a:t>/bootstrap.min.css" </a:t>
            </a:r>
            <a:r>
              <a:rPr lang="en-US" dirty="0" err="1"/>
              <a:t>rel</a:t>
            </a:r>
            <a:r>
              <a:rPr lang="en-US" dirty="0"/>
              <a:t>="stylesheet" integrity="sha384-sRIl4kxILFvY47J16cr9ZwB07vP4J8+LH7qKQnuqkuIAvNWLzeN8tE5YBujZqJLB" </a:t>
            </a:r>
            <a:r>
              <a:rPr lang="en-US" dirty="0" err="1"/>
              <a:t>crossorigin</a:t>
            </a:r>
            <a:r>
              <a:rPr lang="en-US" dirty="0"/>
              <a:t>="anonymous"&gt;</a:t>
            </a:r>
          </a:p>
          <a:p>
            <a:r>
              <a:rPr lang="en-US" dirty="0"/>
              <a:t>  &lt;/head&gt;</a:t>
            </a:r>
          </a:p>
          <a:p>
            <a:r>
              <a:rPr lang="en-US" dirty="0"/>
              <a:t>  &lt;body&gt;</a:t>
            </a:r>
          </a:p>
          <a:p>
            <a:r>
              <a:rPr lang="en-US" dirty="0"/>
              <a:t>    &lt;h1&gt;Hello, world!&lt;/h1&gt;</a:t>
            </a:r>
          </a:p>
          <a:p>
            <a:r>
              <a:rPr lang="en-US" dirty="0"/>
              <a:t>    &lt;script </a:t>
            </a:r>
            <a:r>
              <a:rPr lang="en-US" dirty="0" err="1"/>
              <a:t>src</a:t>
            </a:r>
            <a:r>
              <a:rPr lang="en-US" dirty="0"/>
              <a:t>="https://cdn.jsdelivr.net/</a:t>
            </a:r>
            <a:r>
              <a:rPr lang="en-US" dirty="0" err="1"/>
              <a:t>npm</a:t>
            </a:r>
            <a:r>
              <a:rPr lang="en-US" dirty="0"/>
              <a:t>/bootstrap@5.3.8/</a:t>
            </a:r>
            <a:r>
              <a:rPr lang="en-US" dirty="0" err="1"/>
              <a:t>dist</a:t>
            </a:r>
            <a:r>
              <a:rPr lang="en-US" dirty="0"/>
              <a:t>/</a:t>
            </a:r>
            <a:r>
              <a:rPr lang="en-US" dirty="0" err="1"/>
              <a:t>js</a:t>
            </a:r>
            <a:r>
              <a:rPr lang="en-US" dirty="0"/>
              <a:t>/bootstrap.bundle.min.js" integrity="sha384-FKyoEForCGlyvwx9Hj09JcYn3nv7wiPVlz7YYwJrWVcXK/BmnVDxM+D2scQbITxI" </a:t>
            </a:r>
            <a:r>
              <a:rPr lang="en-US" dirty="0" err="1"/>
              <a:t>crossorigin</a:t>
            </a:r>
            <a:r>
              <a:rPr lang="en-US" dirty="0"/>
              <a:t>="anonymous"&gt;&lt;/script&gt;</a:t>
            </a:r>
          </a:p>
          <a:p>
            <a:r>
              <a:rPr lang="en-US" dirty="0"/>
              <a:t>  &lt;/body&gt;</a:t>
            </a:r>
          </a:p>
          <a:p>
            <a:r>
              <a:rPr lang="en-US" dirty="0"/>
              <a:t>&lt;/html&gt;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DF2FAA-3BE2-87B6-1895-4416DF085E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CD3839-9FE5-42F2-BECC-1535DA6E108D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3546662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760B8F-7849-CF97-0F6D-109CB7E8BC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F15279-491B-072A-C6BD-394EE9E5EB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D377944-D3E2-4237-9ED7-329FCD3254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&lt;!doctype html&gt;</a:t>
            </a:r>
          </a:p>
          <a:p>
            <a:r>
              <a:rPr lang="en-US" dirty="0"/>
              <a:t>&lt;html lang="</a:t>
            </a:r>
            <a:r>
              <a:rPr lang="en-US" dirty="0" err="1"/>
              <a:t>en</a:t>
            </a:r>
            <a:r>
              <a:rPr lang="en-US" dirty="0"/>
              <a:t>"&gt;</a:t>
            </a:r>
          </a:p>
          <a:p>
            <a:r>
              <a:rPr lang="en-US" dirty="0"/>
              <a:t>  &lt;head&gt;</a:t>
            </a:r>
          </a:p>
          <a:p>
            <a:r>
              <a:rPr lang="en-US" dirty="0"/>
              <a:t>    &lt;meta charset="utf-8"&gt;</a:t>
            </a:r>
          </a:p>
          <a:p>
            <a:r>
              <a:rPr lang="en-US" dirty="0"/>
              <a:t>    &lt;meta name="viewport" content="width=device-width, initial-scale=1"&gt;</a:t>
            </a:r>
          </a:p>
          <a:p>
            <a:r>
              <a:rPr lang="en-US" dirty="0"/>
              <a:t>    &lt;title&gt;Bootstrap demo&lt;/title&gt;</a:t>
            </a:r>
          </a:p>
          <a:p>
            <a:r>
              <a:rPr lang="en-US" dirty="0"/>
              <a:t>    &lt;link </a:t>
            </a:r>
            <a:r>
              <a:rPr lang="en-US" dirty="0" err="1"/>
              <a:t>href</a:t>
            </a:r>
            <a:r>
              <a:rPr lang="en-US" dirty="0"/>
              <a:t>="https://cdn.jsdelivr.net/</a:t>
            </a:r>
            <a:r>
              <a:rPr lang="en-US" dirty="0" err="1"/>
              <a:t>npm</a:t>
            </a:r>
            <a:r>
              <a:rPr lang="en-US" dirty="0"/>
              <a:t>/bootstrap@5.3.8/</a:t>
            </a:r>
            <a:r>
              <a:rPr lang="en-US" dirty="0" err="1"/>
              <a:t>dist</a:t>
            </a:r>
            <a:r>
              <a:rPr lang="en-US" dirty="0"/>
              <a:t>/</a:t>
            </a:r>
            <a:r>
              <a:rPr lang="en-US" dirty="0" err="1"/>
              <a:t>css</a:t>
            </a:r>
            <a:r>
              <a:rPr lang="en-US" dirty="0"/>
              <a:t>/bootstrap.min.css" </a:t>
            </a:r>
            <a:r>
              <a:rPr lang="en-US" dirty="0" err="1"/>
              <a:t>rel</a:t>
            </a:r>
            <a:r>
              <a:rPr lang="en-US" dirty="0"/>
              <a:t>="stylesheet" integrity="sha384-sRIl4kxILFvY47J16cr9ZwB07vP4J8+LH7qKQnuqkuIAvNWLzeN8tE5YBujZqJLB" </a:t>
            </a:r>
            <a:r>
              <a:rPr lang="en-US" dirty="0" err="1"/>
              <a:t>crossorigin</a:t>
            </a:r>
            <a:r>
              <a:rPr lang="en-US" dirty="0"/>
              <a:t>="anonymous"&gt;</a:t>
            </a:r>
          </a:p>
          <a:p>
            <a:r>
              <a:rPr lang="en-US" dirty="0"/>
              <a:t>  &lt;/head&gt;</a:t>
            </a:r>
          </a:p>
          <a:p>
            <a:r>
              <a:rPr lang="en-US" dirty="0"/>
              <a:t>  &lt;body&gt;</a:t>
            </a:r>
          </a:p>
          <a:p>
            <a:r>
              <a:rPr lang="en-US" dirty="0"/>
              <a:t>    &lt;h1&gt;Hello, world!&lt;/h1&gt;</a:t>
            </a:r>
          </a:p>
          <a:p>
            <a:r>
              <a:rPr lang="en-US" dirty="0"/>
              <a:t>    &lt;script </a:t>
            </a:r>
            <a:r>
              <a:rPr lang="en-US" dirty="0" err="1"/>
              <a:t>src</a:t>
            </a:r>
            <a:r>
              <a:rPr lang="en-US" dirty="0"/>
              <a:t>="https://cdn.jsdelivr.net/</a:t>
            </a:r>
            <a:r>
              <a:rPr lang="en-US" dirty="0" err="1"/>
              <a:t>npm</a:t>
            </a:r>
            <a:r>
              <a:rPr lang="en-US" dirty="0"/>
              <a:t>/bootstrap@5.3.8/</a:t>
            </a:r>
            <a:r>
              <a:rPr lang="en-US" dirty="0" err="1"/>
              <a:t>dist</a:t>
            </a:r>
            <a:r>
              <a:rPr lang="en-US" dirty="0"/>
              <a:t>/</a:t>
            </a:r>
            <a:r>
              <a:rPr lang="en-US" dirty="0" err="1"/>
              <a:t>js</a:t>
            </a:r>
            <a:r>
              <a:rPr lang="en-US" dirty="0"/>
              <a:t>/bootstrap.bundle.min.js" integrity="sha384-FKyoEForCGlyvwx9Hj09JcYn3nv7wiPVlz7YYwJrWVcXK/BmnVDxM+D2scQbITxI" </a:t>
            </a:r>
            <a:r>
              <a:rPr lang="en-US" dirty="0" err="1"/>
              <a:t>crossorigin</a:t>
            </a:r>
            <a:r>
              <a:rPr lang="en-US" dirty="0"/>
              <a:t>="anonymous"&gt;&lt;/script&gt;</a:t>
            </a:r>
          </a:p>
          <a:p>
            <a:r>
              <a:rPr lang="en-US" dirty="0"/>
              <a:t>  &lt;/body&gt;</a:t>
            </a:r>
          </a:p>
          <a:p>
            <a:r>
              <a:rPr lang="en-US" dirty="0"/>
              <a:t>&lt;/html&gt;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E66D25-E20A-FF77-9A8C-BCBB0A331E9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CD3839-9FE5-42F2-BECC-1535DA6E108D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2645463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098AD8-58FE-A928-0143-5D2343EF45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3710B9-C598-ECAA-32AB-3201B0EEE1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CCB2C0-E0C8-5548-29F5-0532C9A9E3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https://getbootstrap.com/docs/5.3/layout/breakpoints/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2FFF7D-5151-351C-D470-F00697C2A4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CD3839-9FE5-42F2-BECC-1535DA6E108D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067730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78B7B2-FEFA-0C93-6CDD-97FC98FADC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C92AA2-61C1-4E32-6312-AA13960547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849C590-4A72-FA2C-C715-4412D89DB8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https://getbootstrap.com/docs/5.3/layout/containers/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6FFFFF-B80E-9F00-F925-E253EF88D3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CD3839-9FE5-42F2-BECC-1535DA6E108D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5392113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58087A-CC2C-349C-F41E-58ADC14CB0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188EC73-6E91-4C85-BB11-AC85DA1919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71E622-5380-012E-D483-279BCDC16F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https://getbootstrap.com/docs/5.3/layout/containers/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33E461-7BB4-1C5A-6F81-E85ED16D2E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CD3839-9FE5-42F2-BECC-1535DA6E108D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0967021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24E420-C4D2-03DD-2E7B-9C4F108761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68BD2F-6BBF-7DF9-8F87-3FDD407224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5C73CDD-709F-4A6A-90FA-0027BCA970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https://getbootstrap.com/docs/5.3/layout/containers/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20D8FC-F41D-9D7B-A6E1-43525A3D90C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CD3839-9FE5-42F2-BECC-1535DA6E108D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7284367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CCDE7F-DD86-3CB4-C2D2-19E7ACBAF6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1DBFEE5-CFA5-364C-F957-70CA7AAC3A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7EF0BB6-D534-8B3B-9752-4273208D8F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https://getbootstrap.com/docs/5.3/layout/containers/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42AB80-B501-6F2B-20B4-DC7E944FBC1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CD3839-9FE5-42F2-BECC-1535DA6E108D}" type="slidenum">
              <a:rPr lang="en-GB" smtClean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0390150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F551A9-671A-7891-7DB6-124D1CE74A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D1FCE3-358B-A15E-F1CF-44E6C40654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57FD6D6-06DC-5AA7-0BE3-225A3A6F4D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https://medium.com/why-i-chose-to-switch-career-paths-and-pursue/bootstrap-4-grid-system-10565a957020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8799EF-487E-6CE0-DF5A-B305687E9E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CD3839-9FE5-42F2-BECC-1535DA6E108D}" type="slidenum">
              <a:rPr lang="en-GB" smtClean="0"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1641616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A8238E-7139-8C1B-98CA-431593030C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C6A240-FFE8-C3B6-1557-6CA0CCB304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695FED2-CEE7-388D-69E4-E6F2A181B1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https://medium.com/why-i-chose-to-switch-career-paths-and-pursue/bootstrap-4-grid-system-10565a957020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F06C6C-376D-D9E1-80F9-0555EA9BD6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CD3839-9FE5-42F2-BECC-1535DA6E108D}" type="slidenum">
              <a:rPr lang="en-GB" smtClean="0"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693304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2E2F23-C2EC-2BE7-A1D2-569631EA68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F6211E-4D26-AF37-5F85-A25CC9F012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195E1E-B81A-3862-BE0B-5A0AFD0C1B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https://medium.com/why-i-chose-to-switch-career-paths-and-pursue/bootstrap-4-grid-system-10565a957020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8DEBDA-324C-9220-4C96-B458640EAB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CD3839-9FE5-42F2-BECC-1535DA6E108D}" type="slidenum">
              <a:rPr lang="en-GB" smtClean="0"/>
              <a:t>18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5276982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D5B403-609D-A5E8-37A6-D537EC7B6A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517A72B-01A8-4F9C-9E31-0DEA340C89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3055410-C788-86D2-3D66-F776757513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https://medium.com/why-i-chose-to-switch-career-paths-and-pursue/bootstrap-4-grid-system-10565a957020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B61AB8-834C-188C-71C8-8A52BA0DA8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CD3839-9FE5-42F2-BECC-1535DA6E108D}" type="slidenum">
              <a:rPr lang="en-GB" smtClean="0"/>
              <a:t>19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506669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5EB064-89C0-412F-16F9-6B070D92D5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566607-F4F8-99EC-CC1D-252653CEE1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35980F9-EA77-6603-1804-138351C0E8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https://medium.com/why-i-chose-to-switch-career-paths-and-pursue/bootstrap-4-grid-system-10565a957020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B5F96F-DA81-1F67-5952-852F163C3A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CD3839-9FE5-42F2-BECC-1535DA6E108D}" type="slidenum">
              <a:rPr lang="en-GB" smtClean="0"/>
              <a:t>20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8267510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E9AD66-BC0D-AEB6-904B-FACD38AC00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FBE946-DF43-333A-E95D-DE6D5FB9DA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1D32348-8BD7-3A32-48BA-26F879D2E3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https://medium.com/why-i-chose-to-switch-career-paths-and-pursue/bootstrap-4-grid-system-10565a957020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7807D5-6BB2-0F39-03DD-DCF29362C9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CD3839-9FE5-42F2-BECC-1535DA6E108D}" type="slidenum">
              <a:rPr lang="en-GB" smtClean="0"/>
              <a:t>21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6792858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806123-9822-A051-6868-0201B8CDD5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4EA6B0A-48A0-DB36-A0FB-0885C15D1F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E384E17-8428-D113-F02C-CDCB940598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https://getbootstrap.com/docs/5.3/content/typography/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18627D-2AFD-49C4-8C73-E60483D6A8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CD3839-9FE5-42F2-BECC-1535DA6E108D}" type="slidenum">
              <a:rPr lang="en-GB" smtClean="0"/>
              <a:t>22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8480522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B81051-7F52-B2E5-3E81-637773E4A3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83E5296-5ADC-55FA-9E3E-E3FA82D3A0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552D93B-1972-D0D4-5806-0D45F648E0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https://getbootstrap.com/docs/5.3/content/typography/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B797AD-6B67-18D6-D17D-A90C267B58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CD3839-9FE5-42F2-BECC-1535DA6E108D}" type="slidenum">
              <a:rPr lang="en-GB" smtClean="0"/>
              <a:t>23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6035472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39FF36-6CD6-7469-2C4A-C8FF48663C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1B2A7A5-B7F3-F6C7-400C-C90C42F8C5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66B7D22-852E-8C35-B510-21F65729AF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https://getbootstrap.com/docs/5.3/content/tables/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02F0BD-FC53-4046-AAAF-3BE7DDA414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CD3839-9FE5-42F2-BECC-1535DA6E108D}" type="slidenum">
              <a:rPr lang="en-GB" smtClean="0"/>
              <a:t>24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2724154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B91516-AC3F-8E3F-7F97-1C03346BDC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215F339-6B92-E351-77D4-E56FCCFDC4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6D910E-EC87-183A-BC83-A6C0D94ED5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https://getbootstrap.com/docs/5.3/content/tables/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BF6041-C635-88EE-6870-0375AF4490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CD3839-9FE5-42F2-BECC-1535DA6E108D}" type="slidenum">
              <a:rPr lang="en-GB" smtClean="0"/>
              <a:t>25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0641604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0F139D-F590-2C79-F556-AD631C97CD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9FB566C-2A90-CB78-61CA-FB5E65DF21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2AFFCB6-10BB-75C2-9C82-BF70EDE6D1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https://getbootstrap.com/docs/5.3/forms/form-control/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FDC41E-F0DD-F2C9-5932-86FBC4EAD9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CD3839-9FE5-42F2-BECC-1535DA6E108D}" type="slidenum">
              <a:rPr lang="en-GB" smtClean="0"/>
              <a:t>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2467424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EA0A68-B009-0E73-7C05-2C70308C5B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52A06C8-979F-6778-040F-BD9A7EDE7C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1EFB1D6-64AE-E2A3-8C4A-0167FFFC22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https://getbootstrap.com/docs/5.3/forms/form-control/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C5C3B7-5A62-7AD9-04B1-E027672957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CD3839-9FE5-42F2-BECC-1535DA6E108D}" type="slidenum">
              <a:rPr lang="en-GB" smtClean="0"/>
              <a:t>27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9393186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82BB8A-696E-B20C-B727-FD392AB5B4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2558F3F-CA4B-7035-3DD9-6E83DD0859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571378-7645-642A-9C57-E80C64D13F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https://getbootstrap.com/docs/5.3/forms/select/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B1F998-40A6-2F2C-990E-9FABCF4A6A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CD3839-9FE5-42F2-BECC-1535DA6E108D}" type="slidenum">
              <a:rPr lang="en-GB" smtClean="0"/>
              <a:t>28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0577339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80FAA5-242A-7173-05BB-DE603DF1FB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75DA36F-543A-F577-DBBB-D069FA3C59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28EC48-DE8E-CF2D-3F09-2EE82B47ED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https://getbootstrap.com/docs/5.3/forms/checks-radios/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93388A-2EF6-A96A-3D4C-60ACE44F872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CD3839-9FE5-42F2-BECC-1535DA6E108D}" type="slidenum">
              <a:rPr lang="en-GB" smtClean="0"/>
              <a:t>29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5731624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D3151E-0B00-E49F-47F2-0DC609708A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87DE8DD-9743-B73F-3A0D-DC4F49760C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47C160-A692-BEC0-535B-B91F8B26DE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https://getbootstrap.com/docs/5.3/forms/range/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265A6F-3A6A-0FE7-A805-05268A9BE5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CD3839-9FE5-42F2-BECC-1535DA6E108D}" type="slidenum">
              <a:rPr lang="en-GB" smtClean="0"/>
              <a:t>30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0729776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455A85-62C1-FDC4-97FF-9E503C91DC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A74B01B-291F-68EB-238F-6374798923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9FEE7B3-5D7E-EB44-46E0-7D1365975E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https://getbootstrap.com/docs/5.3/forms/input-group/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1FA1FB-2549-85EF-628E-151A727C37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CD3839-9FE5-42F2-BECC-1535DA6E108D}" type="slidenum">
              <a:rPr lang="en-GB" smtClean="0"/>
              <a:t>31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7541650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41CBBA-D145-C555-11A2-F13A3E0C55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DAF71EC-B539-BB40-718B-4ECBF46838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C55F1A4-4EEE-7B07-0B0A-A9AC17BB2C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https://getbootstrap.com/docs/5.3/forms/input-group/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9272FE-958B-7787-35E8-4C923CC247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CD3839-9FE5-42F2-BECC-1535DA6E108D}" type="slidenum">
              <a:rPr lang="en-GB" smtClean="0"/>
              <a:t>32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7523230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2540E4-D241-E6F9-2A4F-13FE4B8B09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DB32BA-4354-BBF4-A0D0-541AF72571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8A5D416-C093-B51A-88C7-4664D4817A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https://getbootstrap.com/docs/5.3/components/card/#about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F91C4D-D5FB-FEE3-0C03-B8B5D78A79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CD3839-9FE5-42F2-BECC-1535DA6E108D}" type="slidenum">
              <a:rPr lang="en-GB" smtClean="0"/>
              <a:t>33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7758287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9F0309-DCDE-9247-2F9D-AA63BBB297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9BD3A01-9ED0-8D1E-2839-12751BA3B2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B380854-EC7F-14A0-3747-779CB98635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https://getbootstrap.com/docs/5.3/components/buttons/#base-class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B7D49F-E104-74DB-2938-F84A949EC8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CD3839-9FE5-42F2-BECC-1535DA6E108D}" type="slidenum">
              <a:rPr lang="en-GB" smtClean="0"/>
              <a:t>34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501124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E40993-B3E1-C75A-8C97-5F19AE4F27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EE30203-073F-FA57-100D-732B4B0D45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FB1459D-4045-DDC9-2FCC-027D661807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https://getbootstrap.com/docs/5.3/components/carousel/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E25C6C-BE2F-6CC0-0A33-DBCCEB4C75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CD3839-9FE5-42F2-BECC-1535DA6E108D}" type="slidenum">
              <a:rPr lang="en-GB" smtClean="0"/>
              <a:t>35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676781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4CE0BC-7BF6-6A54-D2A2-A4A3186B22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CA90664-ABFF-19FC-E76A-6FC04D54EE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470479B-4E80-E72D-8F2A-03C69A28FA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https://getbootstrap.com/docs/5.3/components/carousel/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A32EEB-BB80-052A-413D-C5CD6A3E1E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CD3839-9FE5-42F2-BECC-1535DA6E108D}" type="slidenum">
              <a:rPr lang="en-GB" smtClean="0"/>
              <a:t>36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30588983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BADC39-F061-DD63-6690-F9A4A7691C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B237FAD-2022-E700-C048-6A9C12B95F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9B34E21-837B-C55D-F5D8-F4B66C7243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https://getbootstrap.com/docs/5.3/components/carousel/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BEAD5A-FD0C-66F2-D95A-D2FB8B6574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CD3839-9FE5-42F2-BECC-1535DA6E108D}" type="slidenum">
              <a:rPr lang="en-GB" smtClean="0"/>
              <a:t>37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04336874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107712-417F-39FD-B835-B88BA372FC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A4DE55-1819-6CFE-8F44-D6DA06DE37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AAE92FC-13DE-ACB0-2F43-725C7638F7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https://getbootstrap.com/docs/5.3/components/breadcrumb/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6874D8-1899-2B55-2E0F-4947DC743E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CD3839-9FE5-42F2-BECC-1535DA6E108D}" type="slidenum">
              <a:rPr lang="en-GB" smtClean="0"/>
              <a:t>38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89484752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BDF9A2-5B17-F382-4496-C390AF436F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63CBBE9-281A-11B7-1AB4-98486591F9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A679054-98EB-FD1E-3DFE-59D7604068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https://getbootstrap.com/docs/5.3/components/collapse/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7D746A-E46A-6A6A-F7C0-DC154120F5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CD3839-9FE5-42F2-BECC-1535DA6E108D}" type="slidenum">
              <a:rPr lang="en-GB" smtClean="0"/>
              <a:t>39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60507872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709D0E-F37F-9556-9F3A-58ED7B3DF1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0BE47C-84F7-4ECE-4D2B-B55E95A511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F81AE2-3AAA-878C-7FF9-07A51BDF80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https://getbootstrap.com/docs/5.3/components/collapse/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93CAAB-B4AC-8AEE-1BA3-19297DE31A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CD3839-9FE5-42F2-BECC-1535DA6E108D}" type="slidenum">
              <a:rPr lang="en-GB" smtClean="0"/>
              <a:t>40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48355078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6C7BA8-B01B-1DE8-BB6D-63925A4B10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7553AB3-89F2-8605-669E-831257B6AC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77E794B-A8AF-DE15-8CBD-09DF2B0412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https://getbootstrap.com/docs/5.3/components/list-group/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26D673-9ADA-CC1D-A760-474F63212F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CD3839-9FE5-42F2-BECC-1535DA6E108D}" type="slidenum">
              <a:rPr lang="en-GB" smtClean="0"/>
              <a:t>41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51403672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6086ED-A29E-734B-39C5-28982DEA1D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37B6C4-DB2F-4297-C60F-4283E4F243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ADD260-2266-7C91-7E20-58634ABFDE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https://getbootstrap.com/docs/5.3/components/modal/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86C0E2-251B-E0E3-3AF8-C3D1FDBA7D9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CD3839-9FE5-42F2-BECC-1535DA6E108D}" type="slidenum">
              <a:rPr lang="en-GB" smtClean="0"/>
              <a:t>42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20225720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B11D35-C1BF-8EEC-24D1-426639F88C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CA4779F-11F6-9CAE-6614-AF1D5660F7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35F0921-7B06-1AF8-C2A3-682F8D959C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https://getbootstrap.com/docs/5.3/components/pagination/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0434C6-5A2A-0CB8-B838-E3692F061C9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CD3839-9FE5-42F2-BECC-1535DA6E108D}" type="slidenum">
              <a:rPr lang="en-GB" smtClean="0"/>
              <a:t>43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64822162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BD2875-89D5-2598-7484-8EED96CEBC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BE3F46-59D2-B492-72B3-A8CF34FB2C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A12F765-7E8A-920B-7673-8C01091C98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https://getbootstrap.com/docs/5.3/components/placeholders/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39A0BD-16A4-3C2F-B152-18B7BBCA6A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CD3839-9FE5-42F2-BECC-1535DA6E108D}" type="slidenum">
              <a:rPr lang="en-GB" smtClean="0"/>
              <a:t>44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00505178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CE1E64-3928-0E24-2F3C-D463B26C42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66392B4-D1EE-37CF-AB69-13A5E06007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7F57B9-34A6-87AD-8927-709591EDDF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http://getbootstrap.com/docs/5.3/components/progress/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D69EF6-60D5-F332-D3D6-3A69F08163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CD3839-9FE5-42F2-BECC-1535DA6E108D}" type="slidenum">
              <a:rPr lang="en-GB" smtClean="0"/>
              <a:t>45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29768160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88F2BE-8E94-FA2D-01CE-3CAC0AC46D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ABC9CD8-8900-6656-859B-54D388BD60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C4FECCC-1E72-CB6C-6E4B-6C4FE833DF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https://getbootstrap.com/docs/5.3/components/spinners/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5F8198-D2B8-979C-92E1-E9B5044289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CD3839-9FE5-42F2-BECC-1535DA6E108D}" type="slidenum">
              <a:rPr lang="en-GB" smtClean="0"/>
              <a:t>46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9180504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608669-E9AC-0AD1-5E3C-9953E6AECC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5739C71-0429-DE99-3229-B404C602ED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FDB773-5FEF-5FD8-F23F-779F5B2452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https://getbootstrap.com/docs/5.3/components/spinners/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D0F54D-6D5D-D50D-419F-E32312DA1F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CD3839-9FE5-42F2-BECC-1535DA6E108D}" type="slidenum">
              <a:rPr lang="en-GB" smtClean="0"/>
              <a:t>47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2467133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DE386E-BA18-FD24-AED2-9D0D7D6107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E0B5532-630C-1DDB-7D27-37E11DB6B9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ED593B9-2DB8-671B-49CF-16B7C89842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https://getbootstrap.com/docs/5.3/components/tooltips/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C118F5-9674-0679-31E8-711524BB1A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CD3839-9FE5-42F2-BECC-1535DA6E108D}" type="slidenum">
              <a:rPr lang="en-GB" smtClean="0"/>
              <a:t>48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893436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EB2C1-3CEE-41D9-9027-001A41D0B6A2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C63D1-4BC8-4D7B-B6FE-C4E6B3A818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38737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 advTm="3892">
        <p15:prstTrans prst="drape" invX="1"/>
      </p:transition>
    </mc:Choice>
    <mc:Fallback xmlns="">
      <p:transition spd="slow" advTm="3892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EB2C1-3CEE-41D9-9027-001A41D0B6A2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C63D1-4BC8-4D7B-B6FE-C4E6B3A818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43727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 advTm="3892">
        <p15:prstTrans prst="drape" invX="1"/>
      </p:transition>
    </mc:Choice>
    <mc:Fallback xmlns="">
      <p:transition spd="slow" advTm="3892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EB2C1-3CEE-41D9-9027-001A41D0B6A2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C63D1-4BC8-4D7B-B6FE-C4E6B3A818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825255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 advTm="3892">
        <p15:prstTrans prst="drape" invX="1"/>
      </p:transition>
    </mc:Choice>
    <mc:Fallback xmlns="">
      <p:transition spd="slow" advTm="3892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EB2C1-3CEE-41D9-9027-001A41D0B6A2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C63D1-4BC8-4D7B-B6FE-C4E6B3A818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150960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 advTm="3892">
        <p15:prstTrans prst="drape" invX="1"/>
      </p:transition>
    </mc:Choice>
    <mc:Fallback xmlns="">
      <p:transition spd="slow" advTm="3892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EB2C1-3CEE-41D9-9027-001A41D0B6A2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C63D1-4BC8-4D7B-B6FE-C4E6B3A818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549356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 advTm="3892">
        <p15:prstTrans prst="drape" invX="1"/>
      </p:transition>
    </mc:Choice>
    <mc:Fallback xmlns="">
      <p:transition spd="slow" advTm="3892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EB2C1-3CEE-41D9-9027-001A41D0B6A2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C63D1-4BC8-4D7B-B6FE-C4E6B3A818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773947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 advTm="3892">
        <p15:prstTrans prst="drape" invX="1"/>
      </p:transition>
    </mc:Choice>
    <mc:Fallback xmlns="">
      <p:transition spd="slow" advTm="3892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EB2C1-3CEE-41D9-9027-001A41D0B6A2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C63D1-4BC8-4D7B-B6FE-C4E6B3A818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519105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 advTm="3892">
        <p15:prstTrans prst="drape" invX="1"/>
      </p:transition>
    </mc:Choice>
    <mc:Fallback xmlns="">
      <p:transition spd="slow" advTm="3892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EB2C1-3CEE-41D9-9027-001A41D0B6A2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C63D1-4BC8-4D7B-B6FE-C4E6B3A818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757650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 advTm="3892">
        <p15:prstTrans prst="drape" invX="1"/>
      </p:transition>
    </mc:Choice>
    <mc:Fallback xmlns="">
      <p:transition spd="slow" advTm="3892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C63D1-4BC8-4D7B-B6FE-C4E6B3A818D4}" type="slidenum">
              <a:rPr lang="en-US" smtClean="0"/>
              <a:t>‹#›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EB2C1-3CEE-41D9-9027-001A41D0B6A2}" type="datetimeFigureOut">
              <a:rPr lang="en-US" smtClean="0"/>
              <a:t>2/10/2026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291802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 advTm="3892">
        <p15:prstTrans prst="drape" invX="1"/>
      </p:transition>
    </mc:Choice>
    <mc:Fallback xmlns="">
      <p:transition spd="slow" advTm="3892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EB2C1-3CEE-41D9-9027-001A41D0B6A2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C63D1-4BC8-4D7B-B6FE-C4E6B3A818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601816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 advTm="3892">
        <p15:prstTrans prst="drape" invX="1"/>
      </p:transition>
    </mc:Choice>
    <mc:Fallback xmlns="">
      <p:transition spd="slow" advTm="3892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EB2C1-3CEE-41D9-9027-001A41D0B6A2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C63D1-4BC8-4D7B-B6FE-C4E6B3A818D4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9979888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 advTm="3892">
        <p15:prstTrans prst="drape" invX="1"/>
      </p:transition>
    </mc:Choice>
    <mc:Fallback xmlns="">
      <p:transition spd="slow" advTm="3892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EB2C1-3CEE-41D9-9027-001A41D0B6A2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C63D1-4BC8-4D7B-B6FE-C4E6B3A818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331014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 advTm="3892">
        <p15:prstTrans prst="drape" invX="1"/>
      </p:transition>
    </mc:Choice>
    <mc:Fallback xmlns="">
      <p:transition spd="slow" advTm="3892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EB2C1-3CEE-41D9-9027-001A41D0B6A2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C63D1-4BC8-4D7B-B6FE-C4E6B3A818D4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257855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 advTm="3892">
        <p15:prstTrans prst="drape" invX="1"/>
      </p:transition>
    </mc:Choice>
    <mc:Fallback xmlns="">
      <p:transition spd="slow" advTm="3892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EB2C1-3CEE-41D9-9027-001A41D0B6A2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C63D1-4BC8-4D7B-B6FE-C4E6B3A818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433684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 advTm="3892">
        <p15:prstTrans prst="drape" invX="1"/>
      </p:transition>
    </mc:Choice>
    <mc:Fallback xmlns="">
      <p:transition spd="slow" advTm="3892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EB2C1-3CEE-41D9-9027-001A41D0B6A2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C63D1-4BC8-4D7B-B6FE-C4E6B3A818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121075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 advTm="3892">
        <p15:prstTrans prst="drape" invX="1"/>
      </p:transition>
    </mc:Choice>
    <mc:Fallback xmlns="">
      <p:transition spd="slow" advTm="3892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EB2C1-3CEE-41D9-9027-001A41D0B6A2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C63D1-4BC8-4D7B-B6FE-C4E6B3A818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416525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 advTm="3892">
        <p15:prstTrans prst="drape" invX="1"/>
      </p:transition>
    </mc:Choice>
    <mc:Fallback xmlns="">
      <p:transition spd="slow" advTm="3892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84C05-9696-BEBD-7362-5C88FF3B61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3093AE-3464-57D7-9AC8-8F6D5485A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B3810A-7863-2CAE-A291-9C3FEE189B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71BDA-3A19-4C68-B388-AA927C043E3D}" type="datetimeFigureOut">
              <a:rPr lang="en-GB" smtClean="0"/>
              <a:t>10/02/2026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133BAD-98FC-16EF-B78A-9E15DA1FA5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EFECF4-2B3C-EBF0-7FA7-D5A6371ECB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1724D-5708-428A-A351-EB4628D4172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8011172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 advTm="3892">
        <p15:prstTrans prst="drape" invX="1"/>
      </p:transition>
    </mc:Choice>
    <mc:Fallback xmlns="">
      <p:transition spd="slow" advTm="3892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0CC052-8807-FB2B-F760-A6C34285DD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380031-2C25-A794-9BCB-F84AE6BFB6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AA0056-6F21-78BC-CD0C-D3AE8AB826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71BDA-3A19-4C68-B388-AA927C043E3D}" type="datetimeFigureOut">
              <a:rPr lang="en-GB" smtClean="0"/>
              <a:t>10/02/2026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52762E-1E65-B2E2-5A48-74889369B6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C8A673-FC5C-5DA3-4D90-22D4C6F2D0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1724D-5708-428A-A351-EB4628D4172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410247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 advTm="3892">
        <p15:prstTrans prst="drape" invX="1"/>
      </p:transition>
    </mc:Choice>
    <mc:Fallback xmlns="">
      <p:transition spd="slow" advTm="3892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74A849-60EF-B006-2F22-3985ACD079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30AAD3-850E-5052-F25E-95A8A67ABC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A23601-2075-6ACA-DFCA-5C5BCBAB5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71BDA-3A19-4C68-B388-AA927C043E3D}" type="datetimeFigureOut">
              <a:rPr lang="en-GB" smtClean="0"/>
              <a:t>10/02/2026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73FB7F-AF21-00E7-279A-CA1AEFAD3B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7AF13D-2C0E-64B5-E7A9-6BEF035FEC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1724D-5708-428A-A351-EB4628D4172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779102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 advTm="3892">
        <p15:prstTrans prst="drape" invX="1"/>
      </p:transition>
    </mc:Choice>
    <mc:Fallback xmlns="">
      <p:transition spd="slow" advTm="3892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E44482-9AF1-3A73-6298-00EF41CDC9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646968-9CB3-813E-2692-BA801CEF8A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DA5136-2B4D-73C2-22BD-BB455001FC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A5755A-30CE-7F1C-4683-F507EA77DC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71BDA-3A19-4C68-B388-AA927C043E3D}" type="datetimeFigureOut">
              <a:rPr lang="en-GB" smtClean="0"/>
              <a:t>10/02/2026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D55C21-5BF2-105C-2FEA-07E3F2B8E4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F09443-C309-26E2-C471-5E437CE9F9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1724D-5708-428A-A351-EB4628D4172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9574219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 advTm="3892">
        <p15:prstTrans prst="drape" invX="1"/>
      </p:transition>
    </mc:Choice>
    <mc:Fallback xmlns="">
      <p:transition spd="slow" advTm="3892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ABADD4-18F9-9597-EECE-98C21AB24E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7496A9-65E4-AD8D-EADC-A65B650012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FFC373-4D6F-68D4-0C12-06CE51E8A7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B3735FA-F7D6-278E-9780-8E91FDBB229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9EBC14D-D3FD-1773-5B62-08DF280E9E6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3BBAD2E-E2EE-ECCE-8BA9-9268678222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71BDA-3A19-4C68-B388-AA927C043E3D}" type="datetimeFigureOut">
              <a:rPr lang="en-GB" smtClean="0"/>
              <a:t>10/02/2026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259E8F1-D316-889F-F7FF-B3041B16AD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2EB5863-AA6C-54CA-2ED7-2827A37D5B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1724D-5708-428A-A351-EB4628D4172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2658852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 advTm="3892">
        <p15:prstTrans prst="drape" invX="1"/>
      </p:transition>
    </mc:Choice>
    <mc:Fallback xmlns="">
      <p:transition spd="slow" advTm="3892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82DE7E-CAAE-46DC-EBA7-D376525D0A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D2FC342-6B1E-A899-0AC0-7179CBF15D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71BDA-3A19-4C68-B388-AA927C043E3D}" type="datetimeFigureOut">
              <a:rPr lang="en-GB" smtClean="0"/>
              <a:t>10/02/2026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9CCE001-2DAE-92B0-6625-1190253B3E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CCDCE7-1FEA-AE1D-5A86-3AADEEB956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1724D-5708-428A-A351-EB4628D4172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1597435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 advTm="3892">
        <p15:prstTrans prst="drape" invX="1"/>
      </p:transition>
    </mc:Choice>
    <mc:Fallback xmlns="">
      <p:transition spd="slow" advTm="3892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3B038C8-D53B-A186-1A3B-68343A4DD2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71BDA-3A19-4C68-B388-AA927C043E3D}" type="datetimeFigureOut">
              <a:rPr lang="en-GB" smtClean="0"/>
              <a:t>10/02/2026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5A37522-AF1A-36A1-CDBC-F6CD468A1A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545AA9-91CE-DAD3-1468-1B4D699034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1724D-5708-428A-A351-EB4628D4172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2492645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 advTm="3892">
        <p15:prstTrans prst="drape" invX="1"/>
      </p:transition>
    </mc:Choice>
    <mc:Fallback xmlns="">
      <p:transition spd="slow" advTm="3892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A3D843-EC0F-70ED-0C7F-EA16DB3A31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D13193-D853-04FA-7829-607C85F5E8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C1CC16-0CEC-C434-BB6F-37998454E4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8E8119-876E-0597-A150-EBFEDCBFFC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71BDA-3A19-4C68-B388-AA927C043E3D}" type="datetimeFigureOut">
              <a:rPr lang="en-GB" smtClean="0"/>
              <a:t>10/02/2026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9432E6-8E71-952C-5BD2-A544097FAB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57DBFA-6354-65D6-057D-E4934DBDA9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1724D-5708-428A-A351-EB4628D4172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1636883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 advTm="3892">
        <p15:prstTrans prst="drape" invX="1"/>
      </p:transition>
    </mc:Choice>
    <mc:Fallback xmlns="">
      <p:transition spd="slow" advTm="3892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B47C2D-2AC8-F729-E57E-74AFCC4C58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930F5E9-6925-635A-B995-13375BD1E2C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0E4612-ECC5-387D-290F-B204253EAD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729A5D-A4D7-D0A4-36C4-B6B68D3212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71BDA-3A19-4C68-B388-AA927C043E3D}" type="datetimeFigureOut">
              <a:rPr lang="en-GB" smtClean="0"/>
              <a:t>10/02/2026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9A99D9-F393-52B2-AB41-48305F3B3B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616B71-A785-4927-BC42-CB3A9329C0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1724D-5708-428A-A351-EB4628D4172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6874646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 advTm="3892">
        <p15:prstTrans prst="drape" invX="1"/>
      </p:transition>
    </mc:Choice>
    <mc:Fallback xmlns="">
      <p:transition spd="slow" advTm="3892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D9A1A9-CF48-3810-4950-16842703EF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EC0171-9295-C4A0-3C54-2231615E0F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58C2C7-AD69-814F-1B16-FE4C09FFD7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71BDA-3A19-4C68-B388-AA927C043E3D}" type="datetimeFigureOut">
              <a:rPr lang="en-GB" smtClean="0"/>
              <a:t>10/02/2026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CAA943-52B4-2D49-FBA2-91C0098E11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DC9569-50F4-4F62-A4D4-980C227E0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1724D-5708-428A-A351-EB4628D4172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7991725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 advTm="3892">
        <p15:prstTrans prst="drape" invX="1"/>
      </p:transition>
    </mc:Choice>
    <mc:Fallback xmlns="">
      <p:transition spd="slow" advTm="3892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B9A05D2-C145-3A7C-947C-A4F5C91E601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F23354D-E4E5-A40F-5A6F-8C847C318C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C40079-5E12-3CB4-DF15-D1B1582183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71BDA-3A19-4C68-B388-AA927C043E3D}" type="datetimeFigureOut">
              <a:rPr lang="en-GB" smtClean="0"/>
              <a:t>10/02/2026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D0D9D9-0089-238F-F78A-6FED727C00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165DB6-AF59-30F2-25FF-1534DAFCB3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1724D-5708-428A-A351-EB4628D4172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0001869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 advTm="3892">
        <p15:prstTrans prst="drape" invX="1"/>
      </p:transition>
    </mc:Choice>
    <mc:Fallback xmlns="">
      <p:transition spd="slow" advTm="3892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3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6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9EB2C1-3CEE-41D9-9027-001A41D0B6A2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9DDC63D1-4BC8-4D7B-B6FE-C4E6B3A818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122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2" r:id="rId1"/>
    <p:sldLayoutId id="2147483733" r:id="rId2"/>
    <p:sldLayoutId id="2147483734" r:id="rId3"/>
    <p:sldLayoutId id="2147483735" r:id="rId4"/>
    <p:sldLayoutId id="2147483736" r:id="rId5"/>
    <p:sldLayoutId id="2147483737" r:id="rId6"/>
    <p:sldLayoutId id="2147483738" r:id="rId7"/>
    <p:sldLayoutId id="2147483739" r:id="rId8"/>
    <p:sldLayoutId id="2147483740" r:id="rId9"/>
    <p:sldLayoutId id="2147483741" r:id="rId10"/>
    <p:sldLayoutId id="2147483742" r:id="rId11"/>
    <p:sldLayoutId id="2147483743" r:id="rId12"/>
    <p:sldLayoutId id="2147483744" r:id="rId13"/>
    <p:sldLayoutId id="2147483745" r:id="rId14"/>
    <p:sldLayoutId id="2147483746" r:id="rId15"/>
    <p:sldLayoutId id="2147483747" r:id="rId16"/>
  </p:sldLayoutIdLst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 advTm="3892">
        <p15:prstTrans prst="drape" invX="1"/>
      </p:transition>
    </mc:Choice>
    <mc:Fallback xmlns="">
      <p:transition spd="slow" advTm="3892">
        <p:fade/>
      </p:transition>
    </mc:Fallback>
  </mc:AlternateConten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ABD2985-A48A-4FCE-5D51-E8E176F2C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3AC2E1-540F-5A5B-8259-B51FB6F866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994273-7860-81C7-8174-DE3F24445D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C71BDA-3A19-4C68-B388-AA927C043E3D}" type="datetimeFigureOut">
              <a:rPr lang="en-GB" smtClean="0"/>
              <a:t>10/02/2026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4E18E7-D115-4B1D-1330-0731ABB73F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6B25B6-B513-E9E3-6780-9126B4B0CB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11724D-5708-428A-A351-EB4628D4172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608114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9" r:id="rId1"/>
    <p:sldLayoutId id="2147483750" r:id="rId2"/>
    <p:sldLayoutId id="2147483751" r:id="rId3"/>
    <p:sldLayoutId id="2147483752" r:id="rId4"/>
    <p:sldLayoutId id="2147483753" r:id="rId5"/>
    <p:sldLayoutId id="2147483754" r:id="rId6"/>
    <p:sldLayoutId id="2147483755" r:id="rId7"/>
    <p:sldLayoutId id="2147483756" r:id="rId8"/>
    <p:sldLayoutId id="2147483757" r:id="rId9"/>
    <p:sldLayoutId id="2147483758" r:id="rId10"/>
    <p:sldLayoutId id="2147483759" r:id="rId11"/>
  </p:sldLayoutIdLst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 advTm="3892">
        <p15:prstTrans prst="drape" invX="1"/>
      </p:transition>
    </mc:Choice>
    <mc:Fallback xmlns="">
      <p:transition spd="slow" advTm="3892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getbootstrap.com/docs/5.3/getting-started/introduction/#cdn-links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getbootstrap.com/docs/5.3/layout/containers/#how-they-work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getbootstrap.com/docs/5.3/layout/columns/#margin-utilities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getbootstrap.com/docs/5.3/content/images/#responsive-images" TargetMode="Externa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getbootstrap.com/docs/5.3/forms/form-control/#sizing" TargetMode="Externa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D2179D-C9FD-9934-85FD-F4750B03D8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EAAF27-311B-B92E-D5E4-C312C9D834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35134" y="0"/>
            <a:ext cx="9279144" cy="3330934"/>
          </a:xfrm>
        </p:spPr>
        <p:txBody>
          <a:bodyPr/>
          <a:lstStyle/>
          <a:p>
            <a:pPr algn="ctr"/>
            <a:r>
              <a:rPr lang="ar-EG" sz="8000" dirty="0">
                <a:solidFill>
                  <a:schemeClr val="tx2">
                    <a:lumMod val="75000"/>
                  </a:schemeClr>
                </a:solidFill>
                <a:latin typeface="Antique Olive" panose="020B0603020204030204" pitchFamily="34" charset="0"/>
              </a:rPr>
              <a:t> </a:t>
            </a:r>
            <a:r>
              <a:rPr lang="en-US" sz="8000" dirty="0">
                <a:solidFill>
                  <a:schemeClr val="tx2">
                    <a:lumMod val="75000"/>
                  </a:schemeClr>
                </a:solidFill>
                <a:latin typeface="Antique Olive" panose="020B0603020204030204" pitchFamily="34" charset="0"/>
              </a:rPr>
              <a:t>Bootstrap</a:t>
            </a:r>
          </a:p>
        </p:txBody>
      </p:sp>
    </p:spTree>
    <p:extLst>
      <p:ext uri="{BB962C8B-B14F-4D97-AF65-F5344CB8AC3E}">
        <p14:creationId xmlns:p14="http://schemas.microsoft.com/office/powerpoint/2010/main" val="206359837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 advTm="3892">
        <p15:prstTrans prst="drape" invX="1"/>
      </p:transition>
    </mc:Choice>
    <mc:Fallback xmlns="">
      <p:transition spd="slow" advTm="3892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01028" y="1045239"/>
            <a:ext cx="11589944" cy="2171107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r>
              <a:rPr lang="en-US" sz="2800" dirty="0"/>
              <a:t>Bootstrap is a </a:t>
            </a:r>
            <a:r>
              <a:rPr lang="en-US" sz="2800" b="1" dirty="0"/>
              <a:t>front-end framework</a:t>
            </a:r>
            <a:r>
              <a:rPr lang="en-US" sz="2800" dirty="0"/>
              <a:t> that helps you build websites faster and more consistently.</a:t>
            </a:r>
          </a:p>
          <a:p>
            <a:r>
              <a:rPr lang="en-US" sz="2800" dirty="0"/>
              <a:t>In plain terms: it’s a big toolkit of </a:t>
            </a:r>
            <a:r>
              <a:rPr lang="en-US" sz="2800" b="1" dirty="0"/>
              <a:t>ready-made CSS styles and JavaScript components</a:t>
            </a:r>
            <a:r>
              <a:rPr lang="en-US" sz="2800" dirty="0"/>
              <a:t> so you don’t have to design everything from scratch.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829734" y="121920"/>
            <a:ext cx="8596668" cy="72519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4797425">
              <a:lnSpc>
                <a:spcPct val="100000"/>
              </a:lnSpc>
              <a:spcBef>
                <a:spcPts val="135"/>
              </a:spcBef>
            </a:pPr>
            <a:r>
              <a:rPr lang="en-US" sz="4600" spc="-25" dirty="0">
                <a:solidFill>
                  <a:schemeClr val="tx2"/>
                </a:solidFill>
              </a:rPr>
              <a:t>Bootstrap</a:t>
            </a:r>
            <a:endParaRPr sz="4600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 invX="1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969CA5-5617-6E43-2822-104DA67FE9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247EF646-B538-59D1-E163-68911B0AFA0D}"/>
              </a:ext>
            </a:extLst>
          </p:cNvPr>
          <p:cNvSpPr txBox="1"/>
          <p:nvPr/>
        </p:nvSpPr>
        <p:spPr>
          <a:xfrm>
            <a:off x="301028" y="1045239"/>
            <a:ext cx="11589944" cy="475643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r>
              <a:rPr lang="en-US" sz="2800" b="1" dirty="0"/>
              <a:t>What Bootstrap gives you</a:t>
            </a:r>
          </a:p>
          <a:p>
            <a:r>
              <a:rPr lang="en-US" sz="2800" b="1" dirty="0"/>
              <a:t>Responsive layout system</a:t>
            </a:r>
            <a:br>
              <a:rPr lang="en-US" sz="2800" dirty="0"/>
            </a:br>
            <a:r>
              <a:rPr lang="en-US" sz="2800" dirty="0"/>
              <a:t>A grid that automatically adapts to phones, tablets, and desktops.</a:t>
            </a:r>
          </a:p>
          <a:p>
            <a:r>
              <a:rPr lang="en-US" sz="2800" b="1" dirty="0"/>
              <a:t>Pre-styled components</a:t>
            </a:r>
            <a:br>
              <a:rPr lang="en-US" sz="2800" dirty="0"/>
            </a:br>
            <a:r>
              <a:rPr lang="en-US" sz="2800" dirty="0"/>
              <a:t>Buttons, forms, navbars, modals, alerts, cards, etc.—all styled and ready to use.</a:t>
            </a:r>
          </a:p>
          <a:p>
            <a:r>
              <a:rPr lang="en-US" sz="2800" b="1" dirty="0"/>
              <a:t>Consistent design</a:t>
            </a:r>
            <a:br>
              <a:rPr lang="en-US" sz="2800" dirty="0"/>
            </a:br>
            <a:r>
              <a:rPr lang="en-US" sz="2800" dirty="0"/>
              <a:t>Everything follows the same spacing, typography, and color rules.</a:t>
            </a:r>
          </a:p>
          <a:p>
            <a:r>
              <a:rPr lang="en-US" sz="2800" b="1" dirty="0"/>
              <a:t>Utility classes</a:t>
            </a:r>
            <a:br>
              <a:rPr lang="en-US" sz="2800" dirty="0"/>
            </a:br>
            <a:r>
              <a:rPr lang="en-US" sz="2800" dirty="0"/>
              <a:t>Quick helpers like margins, padding, text alignment, display options (</a:t>
            </a:r>
            <a:r>
              <a:rPr lang="en-US" dirty="0"/>
              <a:t>mt-3</a:t>
            </a:r>
            <a:r>
              <a:rPr lang="en-US" sz="2800" dirty="0"/>
              <a:t>, </a:t>
            </a:r>
            <a:r>
              <a:rPr lang="en-US" dirty="0"/>
              <a:t>text-center</a:t>
            </a:r>
            <a:r>
              <a:rPr lang="en-US" sz="2800" dirty="0"/>
              <a:t>, </a:t>
            </a:r>
            <a:r>
              <a:rPr lang="en-US" dirty="0"/>
              <a:t>d-flex</a:t>
            </a:r>
            <a:r>
              <a:rPr lang="en-US" sz="2800" dirty="0"/>
              <a:t>, etc.).</a:t>
            </a: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25E55EFB-1C61-E360-921B-36B9DF94F9E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29734" y="121920"/>
            <a:ext cx="8596668" cy="72519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4797425">
              <a:lnSpc>
                <a:spcPct val="100000"/>
              </a:lnSpc>
              <a:spcBef>
                <a:spcPts val="135"/>
              </a:spcBef>
            </a:pPr>
            <a:r>
              <a:rPr lang="en-US" sz="4600" spc="-25" dirty="0">
                <a:solidFill>
                  <a:schemeClr val="tx2"/>
                </a:solidFill>
              </a:rPr>
              <a:t>Bootstrap</a:t>
            </a:r>
            <a:endParaRPr sz="46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0387924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 invX="1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C3070F-4CFA-6F3D-44A4-A59BE949A0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31EE8345-6A41-3484-0DE3-3D9EBC870070}"/>
              </a:ext>
            </a:extLst>
          </p:cNvPr>
          <p:cNvSpPr txBox="1"/>
          <p:nvPr/>
        </p:nvSpPr>
        <p:spPr>
          <a:xfrm>
            <a:off x="301028" y="1045239"/>
            <a:ext cx="11589944" cy="2171107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r>
              <a:rPr lang="en-US" sz="2800" b="1" dirty="0"/>
              <a:t>What it’s used for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Rapid prototyping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Admin dashboards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Simple to medium-complexity websites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Projects where consistency matters more than ultra-custom design</a:t>
            </a: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7541290E-E2B4-3E21-09A5-5610C35D2B1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29734" y="121920"/>
            <a:ext cx="8596668" cy="72519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4797425">
              <a:lnSpc>
                <a:spcPct val="100000"/>
              </a:lnSpc>
              <a:spcBef>
                <a:spcPts val="135"/>
              </a:spcBef>
            </a:pPr>
            <a:r>
              <a:rPr lang="en-US" sz="4600" spc="-25" dirty="0">
                <a:solidFill>
                  <a:schemeClr val="tx2"/>
                </a:solidFill>
              </a:rPr>
              <a:t>Bootstrap</a:t>
            </a:r>
            <a:endParaRPr sz="4600" dirty="0">
              <a:solidFill>
                <a:schemeClr val="tx2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3F2DB6D-09FD-E9D1-E03A-3814D4FF94D4}"/>
              </a:ext>
            </a:extLst>
          </p:cNvPr>
          <p:cNvSpPr txBox="1"/>
          <p:nvPr/>
        </p:nvSpPr>
        <p:spPr>
          <a:xfrm>
            <a:off x="560070" y="4044434"/>
            <a:ext cx="61188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https://getbootstrap.com/</a:t>
            </a:r>
          </a:p>
        </p:txBody>
      </p:sp>
    </p:spTree>
    <p:extLst>
      <p:ext uri="{BB962C8B-B14F-4D97-AF65-F5344CB8AC3E}">
        <p14:creationId xmlns:p14="http://schemas.microsoft.com/office/powerpoint/2010/main" val="325010020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 invX="1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0179D0-A853-033E-8C16-3DAFCA9EA7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9946B442-DD87-8D0E-4730-E0D5742C16B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29734" y="121920"/>
            <a:ext cx="8596668" cy="72519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4797425">
              <a:lnSpc>
                <a:spcPct val="100000"/>
              </a:lnSpc>
              <a:spcBef>
                <a:spcPts val="135"/>
              </a:spcBef>
            </a:pPr>
            <a:r>
              <a:rPr lang="en-US" sz="4600" spc="-25" dirty="0">
                <a:solidFill>
                  <a:schemeClr val="tx2"/>
                </a:solidFill>
              </a:rPr>
              <a:t>Bootstrap</a:t>
            </a:r>
            <a:endParaRPr sz="4600" dirty="0">
              <a:solidFill>
                <a:schemeClr val="tx2"/>
              </a:solidFill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1B8D05EB-05A5-4FCC-6302-54AF205356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2246225"/>
              </p:ext>
            </p:extLst>
          </p:nvPr>
        </p:nvGraphicFramePr>
        <p:xfrm>
          <a:off x="829734" y="2703891"/>
          <a:ext cx="9156478" cy="254375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4578239">
                  <a:extLst>
                    <a:ext uri="{9D8B030D-6E8A-4147-A177-3AD203B41FA5}">
                      <a16:colId xmlns:a16="http://schemas.microsoft.com/office/drawing/2014/main" val="3758133068"/>
                    </a:ext>
                  </a:extLst>
                </a:gridCol>
                <a:gridCol w="4578239">
                  <a:extLst>
                    <a:ext uri="{9D8B030D-6E8A-4147-A177-3AD203B41FA5}">
                      <a16:colId xmlns:a16="http://schemas.microsoft.com/office/drawing/2014/main" val="350296962"/>
                    </a:ext>
                  </a:extLst>
                </a:gridCol>
              </a:tblGrid>
              <a:tr h="63593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Bootstrap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Custom CSS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424839724"/>
                  </a:ext>
                </a:extLst>
              </a:tr>
              <a:tr h="63593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Fast setup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Full control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599699540"/>
                  </a:ext>
                </a:extLst>
              </a:tr>
              <a:tr h="63593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</a:rPr>
                        <a:t>Prebuilt components</a:t>
                      </a:r>
                      <a:endParaRPr lang="en-US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Manual styling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4206584170"/>
                  </a:ext>
                </a:extLst>
              </a:tr>
              <a:tr h="63593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Responsive grid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</a:rPr>
                        <a:t>More time</a:t>
                      </a:r>
                      <a:endParaRPr lang="en-US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4087148667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8806B63F-77C7-A166-21F5-F5651276918D}"/>
              </a:ext>
            </a:extLst>
          </p:cNvPr>
          <p:cNvSpPr txBox="1"/>
          <p:nvPr/>
        </p:nvSpPr>
        <p:spPr>
          <a:xfrm>
            <a:off x="1230630" y="1241025"/>
            <a:ext cx="61188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Bootstrap vs Custom CSS</a:t>
            </a:r>
          </a:p>
        </p:txBody>
      </p:sp>
    </p:spTree>
    <p:extLst>
      <p:ext uri="{BB962C8B-B14F-4D97-AF65-F5344CB8AC3E}">
        <p14:creationId xmlns:p14="http://schemas.microsoft.com/office/powerpoint/2010/main" val="172122071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 invX="1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0CE945-B4A1-F7C6-2F1C-9B9992F8CF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626DBBA1-0524-6CB4-1FD2-9AA3645C97D6}"/>
              </a:ext>
            </a:extLst>
          </p:cNvPr>
          <p:cNvSpPr txBox="1"/>
          <p:nvPr/>
        </p:nvSpPr>
        <p:spPr>
          <a:xfrm>
            <a:off x="301028" y="1045239"/>
            <a:ext cx="11589944" cy="847668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r>
              <a:rPr lang="en-US" b="1" dirty="0"/>
              <a:t>Include Bootstrap’s CSS and JS.</a:t>
            </a:r>
          </a:p>
          <a:p>
            <a:r>
              <a:rPr lang="en-US" dirty="0"/>
              <a:t> Place the &lt;link&gt; tag in the &lt;head&gt; for our CSS, and the &lt;script&gt; tag for our JavaScript bundle (including Popper for positioning dropdowns, popovers, and tooltips) before the closing &lt;/body&gt;. Learn more about our </a:t>
            </a:r>
            <a:r>
              <a:rPr lang="en-US" u="sng" dirty="0">
                <a:hlinkClick r:id="rId3"/>
              </a:rPr>
              <a:t>CDN links</a:t>
            </a:r>
            <a:endParaRPr lang="en-US" sz="2800" dirty="0"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6F734CAB-B53F-E785-90DB-2B57CF8B5C2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29734" y="121920"/>
            <a:ext cx="8596668" cy="72519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4797425">
              <a:lnSpc>
                <a:spcPct val="100000"/>
              </a:lnSpc>
              <a:spcBef>
                <a:spcPts val="135"/>
              </a:spcBef>
            </a:pPr>
            <a:r>
              <a:rPr lang="en-US" sz="4600" spc="-25" dirty="0">
                <a:solidFill>
                  <a:schemeClr val="tx2"/>
                </a:solidFill>
              </a:rPr>
              <a:t>Bootstrap</a:t>
            </a:r>
            <a:endParaRPr sz="4600" dirty="0">
              <a:solidFill>
                <a:schemeClr val="tx2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199C41D-E9E8-954B-F6CE-B03060B28D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37821" y="2462024"/>
            <a:ext cx="8152939" cy="3122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882714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 invX="1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93A13F-E6CB-5BD7-905D-6418A84868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8FD0FB44-1A6B-08F3-6AD4-D16F81FC9BD5}"/>
              </a:ext>
            </a:extLst>
          </p:cNvPr>
          <p:cNvSpPr txBox="1"/>
          <p:nvPr/>
        </p:nvSpPr>
        <p:spPr>
          <a:xfrm>
            <a:off x="301028" y="1045239"/>
            <a:ext cx="11589944" cy="724557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r>
              <a:rPr lang="en-US" b="1" dirty="0"/>
              <a:t>Or by download all files from here</a:t>
            </a:r>
          </a:p>
          <a:p>
            <a:r>
              <a:rPr lang="en-US" sz="2800" dirty="0"/>
              <a:t>https://getbootstrap.com/docs/5.3/getting-started/download/</a:t>
            </a: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C302191A-1EF1-7F3D-F820-470CE3F4D80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29734" y="121920"/>
            <a:ext cx="8596668" cy="72519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4797425">
              <a:lnSpc>
                <a:spcPct val="100000"/>
              </a:lnSpc>
              <a:spcBef>
                <a:spcPts val="135"/>
              </a:spcBef>
            </a:pPr>
            <a:r>
              <a:rPr lang="en-US" sz="4600" spc="-25" dirty="0">
                <a:solidFill>
                  <a:schemeClr val="tx2"/>
                </a:solidFill>
              </a:rPr>
              <a:t>Bootstrap</a:t>
            </a:r>
            <a:endParaRPr sz="4600" dirty="0">
              <a:solidFill>
                <a:schemeClr val="tx2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4279C47-1A9D-3DF3-49E4-773E5AFE50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8242" y="2692536"/>
            <a:ext cx="7821116" cy="2600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860245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 invX="1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D2E969-A6F9-741B-8114-EF8ACD216E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0A4003E1-B358-32F8-1200-9B1DD45C5396}"/>
              </a:ext>
            </a:extLst>
          </p:cNvPr>
          <p:cNvSpPr txBox="1"/>
          <p:nvPr/>
        </p:nvSpPr>
        <p:spPr>
          <a:xfrm>
            <a:off x="301028" y="1045239"/>
            <a:ext cx="11589944" cy="724557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r>
              <a:rPr lang="en-US" b="1" dirty="0"/>
              <a:t>To install in node.js </a:t>
            </a:r>
          </a:p>
          <a:p>
            <a:r>
              <a:rPr lang="en-US" sz="2800" dirty="0" err="1"/>
              <a:t>npm</a:t>
            </a:r>
            <a:r>
              <a:rPr lang="en-US" sz="2800" dirty="0"/>
              <a:t> install bootstrap@5.3.8</a:t>
            </a: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032A8512-616D-9340-AEE5-29B39F93E45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29734" y="121920"/>
            <a:ext cx="8596668" cy="72519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4797425">
              <a:lnSpc>
                <a:spcPct val="100000"/>
              </a:lnSpc>
              <a:spcBef>
                <a:spcPts val="135"/>
              </a:spcBef>
            </a:pPr>
            <a:r>
              <a:rPr lang="en-US" sz="4600" spc="-25" dirty="0">
                <a:solidFill>
                  <a:schemeClr val="tx2"/>
                </a:solidFill>
              </a:rPr>
              <a:t>Bootstrap</a:t>
            </a:r>
            <a:endParaRPr sz="4600" dirty="0">
              <a:solidFill>
                <a:schemeClr val="tx2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060E88E-9BAE-B357-C0B7-340A468A50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8577" y="2683886"/>
            <a:ext cx="7514845" cy="3403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806762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 invX="1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AF9C10-18AE-D060-F69D-5FF1A088F9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857D2C87-165D-8DF2-0DEF-9D47E50ECA73}"/>
              </a:ext>
            </a:extLst>
          </p:cNvPr>
          <p:cNvSpPr txBox="1"/>
          <p:nvPr/>
        </p:nvSpPr>
        <p:spPr>
          <a:xfrm>
            <a:off x="301028" y="1045239"/>
            <a:ext cx="11589944" cy="724557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r>
              <a:rPr lang="en-US" b="1" dirty="0"/>
              <a:t>Add in VS Code extension</a:t>
            </a:r>
          </a:p>
          <a:p>
            <a:r>
              <a:rPr lang="en-US" sz="2800" dirty="0"/>
              <a:t> (</a:t>
            </a:r>
            <a:r>
              <a:rPr lang="en-US" dirty="0"/>
              <a:t>IntelliSense </a:t>
            </a:r>
            <a:r>
              <a:rPr lang="en-US" sz="2800" dirty="0"/>
              <a:t>)</a:t>
            </a:r>
            <a:endParaRPr lang="en-US" dirty="0"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50C69674-CBE8-DA6C-4735-A2B60D5BD30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29734" y="121920"/>
            <a:ext cx="8596668" cy="72519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4797425">
              <a:lnSpc>
                <a:spcPct val="100000"/>
              </a:lnSpc>
              <a:spcBef>
                <a:spcPts val="135"/>
              </a:spcBef>
            </a:pPr>
            <a:r>
              <a:rPr lang="en-US" sz="4600" spc="-25" dirty="0">
                <a:solidFill>
                  <a:schemeClr val="tx2"/>
                </a:solidFill>
              </a:rPr>
              <a:t>Bootstrap</a:t>
            </a:r>
            <a:endParaRPr sz="4600" dirty="0">
              <a:solidFill>
                <a:schemeClr val="tx2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BD77413-6763-F5F1-1E66-A0B3A2BDB5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028" y="2093487"/>
            <a:ext cx="4885694" cy="267102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38BCEBB-E523-0929-54CE-F54CDAC10D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18760" y="3494568"/>
            <a:ext cx="6704037" cy="3241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749416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 invX="1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2DE54D-C5D8-F869-FB32-C21CFA87F5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14A37987-1EA9-D63A-159E-963BF7851EAC}"/>
              </a:ext>
            </a:extLst>
          </p:cNvPr>
          <p:cNvSpPr txBox="1"/>
          <p:nvPr/>
        </p:nvSpPr>
        <p:spPr>
          <a:xfrm>
            <a:off x="301028" y="1045239"/>
            <a:ext cx="11589944" cy="57066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r>
              <a:rPr lang="en-US" dirty="0"/>
              <a:t>RTL</a:t>
            </a:r>
          </a:p>
          <a:p>
            <a:r>
              <a:rPr lang="en-US" dirty="0"/>
              <a:t>Learn how to enable support for right-to-left text in Bootstrap across our layout, components, and utilities.</a:t>
            </a: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563B41C1-BE5F-A6C7-58E7-C0E4A0797BC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29734" y="121920"/>
            <a:ext cx="8596668" cy="72519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4797425">
              <a:lnSpc>
                <a:spcPct val="100000"/>
              </a:lnSpc>
              <a:spcBef>
                <a:spcPts val="135"/>
              </a:spcBef>
            </a:pPr>
            <a:r>
              <a:rPr lang="en-US" sz="4600" spc="-25" dirty="0">
                <a:solidFill>
                  <a:schemeClr val="tx2"/>
                </a:solidFill>
              </a:rPr>
              <a:t>Bootstrap</a:t>
            </a:r>
            <a:endParaRPr sz="4600" dirty="0">
              <a:solidFill>
                <a:schemeClr val="tx2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6E77917-3F59-A4D9-1958-A515CAC722B2}"/>
              </a:ext>
            </a:extLst>
          </p:cNvPr>
          <p:cNvSpPr txBox="1"/>
          <p:nvPr/>
        </p:nvSpPr>
        <p:spPr>
          <a:xfrm>
            <a:off x="301028" y="1951672"/>
            <a:ext cx="852297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&lt;link </a:t>
            </a:r>
            <a:r>
              <a:rPr lang="en-US" dirty="0" err="1">
                <a:solidFill>
                  <a:srgbClr val="FF0000"/>
                </a:solidFill>
              </a:rPr>
              <a:t>rel</a:t>
            </a:r>
            <a:r>
              <a:rPr lang="en-US" dirty="0">
                <a:solidFill>
                  <a:srgbClr val="FF0000"/>
                </a:solidFill>
              </a:rPr>
              <a:t>="stylesheet" </a:t>
            </a:r>
            <a:r>
              <a:rPr lang="en-US" dirty="0" err="1">
                <a:solidFill>
                  <a:srgbClr val="FF0000"/>
                </a:solidFill>
              </a:rPr>
              <a:t>href</a:t>
            </a:r>
            <a:r>
              <a:rPr lang="en-US" dirty="0">
                <a:solidFill>
                  <a:srgbClr val="FF0000"/>
                </a:solidFill>
              </a:rPr>
              <a:t>="https://cdn.jsdelivr.net/</a:t>
            </a:r>
            <a:r>
              <a:rPr lang="en-US" dirty="0" err="1">
                <a:solidFill>
                  <a:srgbClr val="FF0000"/>
                </a:solidFill>
              </a:rPr>
              <a:t>npm</a:t>
            </a:r>
            <a:r>
              <a:rPr lang="en-US" dirty="0">
                <a:solidFill>
                  <a:srgbClr val="FF0000"/>
                </a:solidFill>
              </a:rPr>
              <a:t>/bootstrap@5.3.8/</a:t>
            </a:r>
            <a:r>
              <a:rPr lang="en-US" dirty="0" err="1">
                <a:solidFill>
                  <a:srgbClr val="FF0000"/>
                </a:solidFill>
              </a:rPr>
              <a:t>dist</a:t>
            </a:r>
            <a:r>
              <a:rPr lang="en-US" dirty="0">
                <a:solidFill>
                  <a:srgbClr val="FF0000"/>
                </a:solidFill>
              </a:rPr>
              <a:t>/</a:t>
            </a:r>
            <a:r>
              <a:rPr lang="en-US" dirty="0" err="1">
                <a:solidFill>
                  <a:srgbClr val="FF0000"/>
                </a:solidFill>
              </a:rPr>
              <a:t>css</a:t>
            </a:r>
            <a:r>
              <a:rPr lang="en-US" dirty="0">
                <a:solidFill>
                  <a:srgbClr val="FF0000"/>
                </a:solidFill>
              </a:rPr>
              <a:t>/bootstrap.rtl.min.css" integrity="sha384-CfCrinSRH2IR6a4e6fy2q6ioOX7O6Mtm1L9vRvFZ1trBncWmMePhzvafv7oIcWiW" </a:t>
            </a:r>
            <a:r>
              <a:rPr lang="en-US" dirty="0" err="1">
                <a:solidFill>
                  <a:srgbClr val="FF0000"/>
                </a:solidFill>
              </a:rPr>
              <a:t>crossorigin</a:t>
            </a:r>
            <a:r>
              <a:rPr lang="en-US" dirty="0">
                <a:solidFill>
                  <a:srgbClr val="FF0000"/>
                </a:solidFill>
              </a:rPr>
              <a:t>="anonymous"&gt;</a:t>
            </a:r>
          </a:p>
        </p:txBody>
      </p:sp>
    </p:spTree>
    <p:extLst>
      <p:ext uri="{BB962C8B-B14F-4D97-AF65-F5344CB8AC3E}">
        <p14:creationId xmlns:p14="http://schemas.microsoft.com/office/powerpoint/2010/main" val="290614414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 invX="1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17DA79-BB04-D738-786B-540E9E87ED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B6B00283-A5C5-3C05-54AC-3C7DE0340A6E}"/>
              </a:ext>
            </a:extLst>
          </p:cNvPr>
          <p:cNvSpPr txBox="1"/>
          <p:nvPr/>
        </p:nvSpPr>
        <p:spPr>
          <a:xfrm>
            <a:off x="301028" y="1045239"/>
            <a:ext cx="11589944" cy="29367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r>
              <a:rPr lang="en-US" dirty="0"/>
              <a:t>Available breakpoints</a:t>
            </a: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CA7F8540-6A9C-694D-3B28-454A2C55357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29734" y="121920"/>
            <a:ext cx="8596668" cy="72519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4797425">
              <a:lnSpc>
                <a:spcPct val="100000"/>
              </a:lnSpc>
              <a:spcBef>
                <a:spcPts val="135"/>
              </a:spcBef>
            </a:pPr>
            <a:r>
              <a:rPr lang="en-US" sz="4600" spc="-25" dirty="0">
                <a:solidFill>
                  <a:schemeClr val="tx2"/>
                </a:solidFill>
              </a:rPr>
              <a:t>Bootstrap</a:t>
            </a:r>
            <a:endParaRPr sz="4600" dirty="0">
              <a:solidFill>
                <a:schemeClr val="tx2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5EEB27E-B2CD-7F9E-2B6A-8914B488ABD2}"/>
              </a:ext>
            </a:extLst>
          </p:cNvPr>
          <p:cNvSpPr txBox="1"/>
          <p:nvPr/>
        </p:nvSpPr>
        <p:spPr>
          <a:xfrm>
            <a:off x="301028" y="1710035"/>
            <a:ext cx="1144223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0" i="0" dirty="0">
                <a:effectLst/>
                <a:latin typeface="system-ui"/>
              </a:rPr>
              <a:t>Bootstrap includes six default breakpoints, sometimes referred to as </a:t>
            </a:r>
            <a:r>
              <a:rPr lang="en-US" sz="2000" b="0" i="1" dirty="0">
                <a:effectLst/>
                <a:latin typeface="system-ui"/>
              </a:rPr>
              <a:t>grid tiers</a:t>
            </a:r>
            <a:r>
              <a:rPr lang="en-US" sz="2000" b="0" i="0" dirty="0">
                <a:effectLst/>
                <a:latin typeface="system-ui"/>
              </a:rPr>
              <a:t>, for building responsively. These breakpoints can be customized if you’re using our source Sass files.</a:t>
            </a:r>
            <a:endParaRPr lang="en-US" sz="20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689D908-26F0-0BDA-6B14-03ED91BC4D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2061" y="3244027"/>
            <a:ext cx="8002117" cy="2686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431434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 invX="1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22F2A0-2DC5-BDB5-9AE8-95EFB7450C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4DDE8FCA-AC81-2653-31F8-F3AED144E7B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29734" y="121920"/>
            <a:ext cx="8596668" cy="72519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4797425">
              <a:lnSpc>
                <a:spcPct val="100000"/>
              </a:lnSpc>
              <a:spcBef>
                <a:spcPts val="135"/>
              </a:spcBef>
            </a:pPr>
            <a:r>
              <a:rPr lang="en-US" sz="4600" spc="-25" dirty="0">
                <a:solidFill>
                  <a:schemeClr val="tx2"/>
                </a:solidFill>
              </a:rPr>
              <a:t>Bootstrap</a:t>
            </a:r>
            <a:endParaRPr sz="4600" dirty="0">
              <a:solidFill>
                <a:schemeClr val="tx2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ABE5FA7-6F7A-7BD2-FADF-8DFCB6774087}"/>
              </a:ext>
            </a:extLst>
          </p:cNvPr>
          <p:cNvSpPr txBox="1"/>
          <p:nvPr/>
        </p:nvSpPr>
        <p:spPr>
          <a:xfrm>
            <a:off x="192000" y="1122243"/>
            <a:ext cx="11442238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Containers</a:t>
            </a:r>
            <a:endParaRPr lang="en-US" b="1" dirty="0"/>
          </a:p>
          <a:p>
            <a:r>
              <a:rPr lang="en-US" dirty="0"/>
              <a:t>Containers are a fundamental building block of Bootstrap that contain, pad, and align your content within a given device or viewport.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63F7DCA-85C0-D5EA-4910-AC234CFBC096}"/>
              </a:ext>
            </a:extLst>
          </p:cNvPr>
          <p:cNvSpPr txBox="1"/>
          <p:nvPr/>
        </p:nvSpPr>
        <p:spPr>
          <a:xfrm>
            <a:off x="248112" y="2076350"/>
            <a:ext cx="11120928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b="0" i="0" dirty="0">
                <a:effectLst/>
                <a:latin typeface="system-ui"/>
              </a:rPr>
              <a:t>How they work</a:t>
            </a:r>
            <a:r>
              <a:rPr lang="en-US" b="0" i="0" u="none" strike="noStrike" dirty="0">
                <a:effectLst/>
                <a:latin typeface="system-u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 </a:t>
            </a:r>
            <a:endParaRPr lang="en-US" b="0" i="0" dirty="0">
              <a:effectLst/>
              <a:latin typeface="system-ui"/>
            </a:endParaRPr>
          </a:p>
          <a:p>
            <a:pPr algn="l">
              <a:buNone/>
            </a:pPr>
            <a:r>
              <a:rPr lang="en-US" b="0" i="0" dirty="0">
                <a:effectLst/>
                <a:latin typeface="system-ui"/>
              </a:rPr>
              <a:t>Containers are the most basic layout element in Bootstrap and are </a:t>
            </a:r>
            <a:r>
              <a:rPr lang="en-US" b="1" i="0" dirty="0">
                <a:effectLst/>
                <a:latin typeface="system-ui"/>
              </a:rPr>
              <a:t>required when using our default grid system</a:t>
            </a:r>
            <a:r>
              <a:rPr lang="en-US" b="0" i="0" dirty="0">
                <a:effectLst/>
                <a:latin typeface="system-ui"/>
              </a:rPr>
              <a:t>. Containers are used to contain, pad, and (sometimes) center the content within them. While containers </a:t>
            </a:r>
            <a:r>
              <a:rPr lang="en-US" b="0" i="1" dirty="0">
                <a:effectLst/>
                <a:latin typeface="system-ui"/>
              </a:rPr>
              <a:t>can</a:t>
            </a:r>
            <a:r>
              <a:rPr lang="en-US" b="0" i="0" dirty="0">
                <a:effectLst/>
                <a:latin typeface="system-ui"/>
              </a:rPr>
              <a:t> be nested, most layouts do not require a nested container.</a:t>
            </a:r>
          </a:p>
          <a:p>
            <a:pPr algn="l">
              <a:buNone/>
            </a:pPr>
            <a:r>
              <a:rPr lang="en-US" b="0" i="0" dirty="0">
                <a:effectLst/>
                <a:latin typeface="system-ui"/>
              </a:rPr>
              <a:t>Bootstrap comes with three different containers: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SFMono-Regular"/>
              </a:rPr>
              <a:t>.container</a:t>
            </a:r>
            <a:r>
              <a:rPr lang="en-US" b="0" i="0" dirty="0">
                <a:effectLst/>
                <a:latin typeface="system-ui"/>
              </a:rPr>
              <a:t>, which sets a </a:t>
            </a:r>
            <a:r>
              <a:rPr lang="en-US" b="0" i="0" dirty="0">
                <a:effectLst/>
                <a:latin typeface="SFMono-Regular"/>
              </a:rPr>
              <a:t>max-width</a:t>
            </a:r>
            <a:r>
              <a:rPr lang="en-US" b="0" i="0" dirty="0">
                <a:effectLst/>
                <a:latin typeface="system-ui"/>
              </a:rPr>
              <a:t> at each responsive breakpoint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SFMono-Regular"/>
              </a:rPr>
              <a:t>.container-{breakpoint}</a:t>
            </a:r>
            <a:r>
              <a:rPr lang="en-US" b="0" i="0" dirty="0">
                <a:effectLst/>
                <a:latin typeface="system-ui"/>
              </a:rPr>
              <a:t>, which is </a:t>
            </a:r>
            <a:r>
              <a:rPr lang="en-US" b="0" i="0" dirty="0">
                <a:effectLst/>
                <a:latin typeface="SFMono-Regular"/>
              </a:rPr>
              <a:t>width: 100%</a:t>
            </a:r>
            <a:r>
              <a:rPr lang="en-US" b="0" i="0" dirty="0">
                <a:effectLst/>
                <a:latin typeface="system-ui"/>
              </a:rPr>
              <a:t> until the specified breakpoint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SFMono-Regular"/>
              </a:rPr>
              <a:t>.container-fluid</a:t>
            </a:r>
            <a:r>
              <a:rPr lang="en-US" b="0" i="0" dirty="0">
                <a:effectLst/>
                <a:latin typeface="system-ui"/>
              </a:rPr>
              <a:t>, which is </a:t>
            </a:r>
            <a:r>
              <a:rPr lang="en-US" b="0" i="0" dirty="0">
                <a:effectLst/>
                <a:latin typeface="SFMono-Regular"/>
              </a:rPr>
              <a:t>width: 100%</a:t>
            </a:r>
            <a:r>
              <a:rPr lang="en-US" b="0" i="0" dirty="0">
                <a:effectLst/>
                <a:latin typeface="system-ui"/>
              </a:rPr>
              <a:t> at all breakpoints</a:t>
            </a:r>
          </a:p>
          <a:p>
            <a:pPr algn="l">
              <a:buNone/>
            </a:pPr>
            <a:r>
              <a:rPr lang="en-US" b="0" i="0" dirty="0">
                <a:effectLst/>
                <a:latin typeface="system-ui"/>
              </a:rPr>
              <a:t>The table below illustrates how each container’s </a:t>
            </a:r>
            <a:r>
              <a:rPr lang="en-US" b="0" i="0" dirty="0">
                <a:effectLst/>
                <a:latin typeface="SFMono-Regular"/>
              </a:rPr>
              <a:t>max-width</a:t>
            </a:r>
            <a:r>
              <a:rPr lang="en-US" b="0" i="0" dirty="0">
                <a:effectLst/>
                <a:latin typeface="system-ui"/>
              </a:rPr>
              <a:t> compares to the original </a:t>
            </a:r>
            <a:r>
              <a:rPr lang="en-US" b="0" i="0" dirty="0">
                <a:effectLst/>
                <a:latin typeface="SFMono-Regular"/>
              </a:rPr>
              <a:t>.container</a:t>
            </a:r>
            <a:r>
              <a:rPr lang="en-US" b="0" i="0" dirty="0">
                <a:effectLst/>
                <a:latin typeface="system-ui"/>
              </a:rPr>
              <a:t> and </a:t>
            </a:r>
            <a:r>
              <a:rPr lang="en-US" b="0" i="0" dirty="0">
                <a:effectLst/>
                <a:latin typeface="SFMono-Regular"/>
              </a:rPr>
              <a:t>.container-fluid</a:t>
            </a:r>
            <a:r>
              <a:rPr lang="en-US" b="0" i="0" dirty="0">
                <a:effectLst/>
                <a:latin typeface="system-ui"/>
              </a:rPr>
              <a:t> across each breakpoint.</a:t>
            </a:r>
          </a:p>
        </p:txBody>
      </p:sp>
    </p:spTree>
    <p:extLst>
      <p:ext uri="{BB962C8B-B14F-4D97-AF65-F5344CB8AC3E}">
        <p14:creationId xmlns:p14="http://schemas.microsoft.com/office/powerpoint/2010/main" val="344838540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 invX="1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64A49B-E395-E44B-34E7-0FC7D0B8D4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3927A78B-FB36-9BEC-CBC1-D1F66034BCA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29734" y="121920"/>
            <a:ext cx="8596668" cy="72519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4797425">
              <a:lnSpc>
                <a:spcPct val="100000"/>
              </a:lnSpc>
              <a:spcBef>
                <a:spcPts val="135"/>
              </a:spcBef>
            </a:pPr>
            <a:r>
              <a:rPr lang="en-US" sz="4600" spc="-25" dirty="0">
                <a:solidFill>
                  <a:schemeClr val="tx2"/>
                </a:solidFill>
              </a:rPr>
              <a:t>Bootstrap</a:t>
            </a:r>
            <a:endParaRPr sz="4600" dirty="0">
              <a:solidFill>
                <a:schemeClr val="tx2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02BC94C-0C5A-87C1-690D-2D639B09C98E}"/>
              </a:ext>
            </a:extLst>
          </p:cNvPr>
          <p:cNvSpPr txBox="1"/>
          <p:nvPr/>
        </p:nvSpPr>
        <p:spPr>
          <a:xfrm>
            <a:off x="192000" y="1122243"/>
            <a:ext cx="11442238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Containers</a:t>
            </a:r>
            <a:endParaRPr lang="en-US" b="1" dirty="0"/>
          </a:p>
          <a:p>
            <a:r>
              <a:rPr lang="en-US" dirty="0"/>
              <a:t>Containers are a fundamental building block of Bootstrap that contain, pad, and align your content within a given device or viewport.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FBFDE48-054E-3240-FEE3-83E8ACC68F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6796" y="2780131"/>
            <a:ext cx="8078327" cy="3096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403121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 invX="1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7831FE-17A9-28F3-6806-E2E65C596D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85A93807-DF7B-DA94-3B3F-5A9CD458E93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29734" y="121920"/>
            <a:ext cx="8596668" cy="72519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4797425">
              <a:lnSpc>
                <a:spcPct val="100000"/>
              </a:lnSpc>
              <a:spcBef>
                <a:spcPts val="135"/>
              </a:spcBef>
            </a:pPr>
            <a:r>
              <a:rPr lang="en-US" sz="4600" spc="-25" dirty="0">
                <a:solidFill>
                  <a:schemeClr val="tx2"/>
                </a:solidFill>
              </a:rPr>
              <a:t>Bootstrap</a:t>
            </a:r>
            <a:endParaRPr sz="4600" dirty="0">
              <a:solidFill>
                <a:schemeClr val="tx2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C180F9-5FDE-F0FC-218B-743147D73EBD}"/>
              </a:ext>
            </a:extLst>
          </p:cNvPr>
          <p:cNvSpPr txBox="1"/>
          <p:nvPr/>
        </p:nvSpPr>
        <p:spPr>
          <a:xfrm>
            <a:off x="392430" y="847119"/>
            <a:ext cx="1144223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Containers</a:t>
            </a:r>
            <a:endParaRPr lang="en-US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8DC337E-E380-53EF-2058-3127570A0CC2}"/>
              </a:ext>
            </a:extLst>
          </p:cNvPr>
          <p:cNvSpPr txBox="1"/>
          <p:nvPr/>
        </p:nvSpPr>
        <p:spPr>
          <a:xfrm>
            <a:off x="392430" y="1711394"/>
            <a:ext cx="821817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&lt;div class="</a:t>
            </a:r>
            <a:r>
              <a:rPr lang="en-US" dirty="0">
                <a:highlight>
                  <a:srgbClr val="FFFF00"/>
                </a:highlight>
              </a:rPr>
              <a:t>container</a:t>
            </a:r>
            <a:r>
              <a:rPr lang="en-US" dirty="0"/>
              <a:t>"&gt;</a:t>
            </a:r>
          </a:p>
          <a:p>
            <a:r>
              <a:rPr lang="en-US" dirty="0"/>
              <a:t>  &lt;h1&gt;Hello Bootstrap&lt;/h1&gt;</a:t>
            </a:r>
          </a:p>
          <a:p>
            <a:r>
              <a:rPr lang="en-US" dirty="0"/>
              <a:t>  &lt;p&gt;This content is centered and has margins on both sides.&lt;/p&gt;</a:t>
            </a:r>
          </a:p>
          <a:p>
            <a:r>
              <a:rPr lang="en-US" dirty="0"/>
              <a:t>&lt;/div&gt;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AD9BEA4-6C50-BD1F-DB7C-03F33AF3D3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776" y="4418613"/>
            <a:ext cx="11321011" cy="855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87692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 invX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28717B-F251-A21A-B3F7-20336CAEE8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9961A692-B4E0-153C-B59D-A3A8F32FA6A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29734" y="121920"/>
            <a:ext cx="8596668" cy="72519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4797425">
              <a:lnSpc>
                <a:spcPct val="100000"/>
              </a:lnSpc>
              <a:spcBef>
                <a:spcPts val="135"/>
              </a:spcBef>
            </a:pPr>
            <a:r>
              <a:rPr lang="en-US" sz="4600" spc="-25" dirty="0">
                <a:solidFill>
                  <a:schemeClr val="tx2"/>
                </a:solidFill>
              </a:rPr>
              <a:t>Bootstrap</a:t>
            </a:r>
            <a:endParaRPr sz="4600" dirty="0">
              <a:solidFill>
                <a:schemeClr val="tx2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C885DC1-9C01-B05C-2DAD-1C71440AEE27}"/>
              </a:ext>
            </a:extLst>
          </p:cNvPr>
          <p:cNvSpPr txBox="1"/>
          <p:nvPr/>
        </p:nvSpPr>
        <p:spPr>
          <a:xfrm>
            <a:off x="392430" y="847119"/>
            <a:ext cx="1144223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Containers</a:t>
            </a:r>
            <a:endParaRPr lang="en-US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94B04BB-39AA-8B80-F5F0-8738051D265E}"/>
              </a:ext>
            </a:extLst>
          </p:cNvPr>
          <p:cNvSpPr txBox="1"/>
          <p:nvPr/>
        </p:nvSpPr>
        <p:spPr>
          <a:xfrm>
            <a:off x="392430" y="1711394"/>
            <a:ext cx="821817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&lt;div class=</a:t>
            </a:r>
            <a:r>
              <a:rPr lang="en-US" dirty="0">
                <a:highlight>
                  <a:srgbClr val="FFFF00"/>
                </a:highlight>
              </a:rPr>
              <a:t>"container-fluid</a:t>
            </a:r>
            <a:r>
              <a:rPr lang="en-US" dirty="0"/>
              <a:t>"&gt;</a:t>
            </a:r>
          </a:p>
          <a:p>
            <a:r>
              <a:rPr lang="en-US" dirty="0"/>
              <a:t>  &lt;h1&gt;Hello Bootstrap&lt;/h1&gt;</a:t>
            </a:r>
          </a:p>
          <a:p>
            <a:r>
              <a:rPr lang="en-US" dirty="0"/>
              <a:t>  &lt;p&gt;This content is centered and has margins on both sides.&lt;/p&gt;</a:t>
            </a:r>
          </a:p>
          <a:p>
            <a:r>
              <a:rPr lang="en-US" dirty="0"/>
              <a:t>&lt;/div&gt;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C0F2F9B-0D3A-5617-27BF-9EA80DFE75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2430" y="3897523"/>
            <a:ext cx="10903412" cy="1104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321569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 invX="1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BA2850-4B15-FD85-B7D1-513FDCC7E1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C887CCBE-91C2-00CB-DF46-6923E91D186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29734" y="121920"/>
            <a:ext cx="8596668" cy="72519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4797425">
              <a:lnSpc>
                <a:spcPct val="100000"/>
              </a:lnSpc>
              <a:spcBef>
                <a:spcPts val="135"/>
              </a:spcBef>
            </a:pPr>
            <a:r>
              <a:rPr lang="en-US" sz="4600" spc="-25" dirty="0">
                <a:solidFill>
                  <a:schemeClr val="tx2"/>
                </a:solidFill>
              </a:rPr>
              <a:t>Bootstrap</a:t>
            </a:r>
            <a:endParaRPr sz="4600" dirty="0">
              <a:solidFill>
                <a:schemeClr val="tx2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39CF002-2203-EAA6-FF08-BFFECB5366EF}"/>
              </a:ext>
            </a:extLst>
          </p:cNvPr>
          <p:cNvSpPr txBox="1"/>
          <p:nvPr/>
        </p:nvSpPr>
        <p:spPr>
          <a:xfrm>
            <a:off x="392430" y="1171991"/>
            <a:ext cx="10903412" cy="1292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Grid system</a:t>
            </a:r>
          </a:p>
          <a:p>
            <a:r>
              <a:rPr lang="en-US" dirty="0"/>
              <a:t>Use our powerful mobile-first flexbox grid to build layouts of all shapes and sizes thanks to a twelve column system, six default responsive tiers, Sass variables and </a:t>
            </a:r>
            <a:r>
              <a:rPr lang="en-US" dirty="0" err="1"/>
              <a:t>mixins</a:t>
            </a:r>
            <a:r>
              <a:rPr lang="en-US" dirty="0"/>
              <a:t>, and dozens of predefined classes.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D5792D0-25D3-397C-175B-B0F61BC6BE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0635" y="3029670"/>
            <a:ext cx="8993929" cy="2727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674079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 invX="1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012298-12DD-2427-B897-873CEDC3AA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84AA374C-2D3B-0AA3-BF01-86D06D3ACF7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29734" y="121920"/>
            <a:ext cx="8596668" cy="72519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4797425">
              <a:lnSpc>
                <a:spcPct val="100000"/>
              </a:lnSpc>
              <a:spcBef>
                <a:spcPts val="135"/>
              </a:spcBef>
            </a:pPr>
            <a:r>
              <a:rPr lang="en-US" sz="4600" spc="-25" dirty="0">
                <a:solidFill>
                  <a:schemeClr val="tx2"/>
                </a:solidFill>
              </a:rPr>
              <a:t>Bootstrap</a:t>
            </a:r>
            <a:endParaRPr sz="4600" dirty="0">
              <a:solidFill>
                <a:schemeClr val="tx2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65552D1-D5F6-DBB6-98D3-3E6A479DA8E9}"/>
              </a:ext>
            </a:extLst>
          </p:cNvPr>
          <p:cNvSpPr txBox="1"/>
          <p:nvPr/>
        </p:nvSpPr>
        <p:spPr>
          <a:xfrm>
            <a:off x="192000" y="1122243"/>
            <a:ext cx="1144223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Responsive Web Design</a:t>
            </a:r>
          </a:p>
          <a:p>
            <a:r>
              <a:rPr lang="en-US" dirty="0"/>
              <a:t>Responsive web design is the design and development around a user’s behavior and environment based on screen size, platform and orientation. Automatically scaling a site’s content and elements to match the screen size on which it is viewed is increasingly important as more and more people access the web from their cellphone on the go.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4AA532A-D94F-1CAE-C6B1-52097B132C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4509" y="3016338"/>
            <a:ext cx="7473772" cy="364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4297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 invX="1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178492-FA2F-F54C-4682-B787E2F21C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12506328-D8F9-5292-8BDE-AC52FF39FAB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29734" y="121920"/>
            <a:ext cx="8596668" cy="72519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4797425">
              <a:lnSpc>
                <a:spcPct val="100000"/>
              </a:lnSpc>
              <a:spcBef>
                <a:spcPts val="135"/>
              </a:spcBef>
            </a:pPr>
            <a:r>
              <a:rPr lang="en-US" sz="4600" spc="-25" dirty="0">
                <a:solidFill>
                  <a:schemeClr val="tx2"/>
                </a:solidFill>
              </a:rPr>
              <a:t>Bootstrap</a:t>
            </a:r>
            <a:endParaRPr sz="4600" dirty="0">
              <a:solidFill>
                <a:schemeClr val="tx2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F8332D9-8103-5789-1373-7299631F2E7D}"/>
              </a:ext>
            </a:extLst>
          </p:cNvPr>
          <p:cNvSpPr txBox="1"/>
          <p:nvPr/>
        </p:nvSpPr>
        <p:spPr>
          <a:xfrm>
            <a:off x="192000" y="1122243"/>
            <a:ext cx="1144223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Responsive Web Design</a:t>
            </a:r>
          </a:p>
          <a:p>
            <a:r>
              <a:rPr lang="en-US" dirty="0"/>
              <a:t>Responsive web design is the design and development around a user’s behavior and environment based on screen size, platform and orientation. Automatically scaling a site’s content and elements to match the screen size on which it is viewed is increasingly important as more and more people access the web from their cellphone on the go.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358CB94-F5B5-5439-6EC8-70830B1F68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2126" y="2744827"/>
            <a:ext cx="6340394" cy="3612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686547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 invX="1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D0074D-C21F-1D12-7F02-25F4ED1215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3CA381FF-2518-FC49-0A83-058DD5D42A7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29734" y="121920"/>
            <a:ext cx="8596668" cy="72519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4797425">
              <a:lnSpc>
                <a:spcPct val="100000"/>
              </a:lnSpc>
              <a:spcBef>
                <a:spcPts val="135"/>
              </a:spcBef>
            </a:pPr>
            <a:r>
              <a:rPr lang="en-US" sz="4600" spc="-25" dirty="0">
                <a:solidFill>
                  <a:schemeClr val="tx2"/>
                </a:solidFill>
              </a:rPr>
              <a:t>Bootstrap</a:t>
            </a:r>
            <a:endParaRPr sz="4600" dirty="0">
              <a:solidFill>
                <a:schemeClr val="tx2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7ED19B6-242D-F529-1D39-76CD5DA92A04}"/>
              </a:ext>
            </a:extLst>
          </p:cNvPr>
          <p:cNvSpPr txBox="1"/>
          <p:nvPr/>
        </p:nvSpPr>
        <p:spPr>
          <a:xfrm>
            <a:off x="192000" y="1122243"/>
            <a:ext cx="114422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Columns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C6646F8-F20C-BDAA-F818-D3B764DA084B}"/>
              </a:ext>
            </a:extLst>
          </p:cNvPr>
          <p:cNvSpPr txBox="1"/>
          <p:nvPr/>
        </p:nvSpPr>
        <p:spPr>
          <a:xfrm>
            <a:off x="544830" y="1957060"/>
            <a:ext cx="667893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&lt;div class="container text-center"&gt;</a:t>
            </a:r>
          </a:p>
          <a:p>
            <a:r>
              <a:rPr lang="en-US" dirty="0"/>
              <a:t>  &lt;div class="row"&gt;</a:t>
            </a:r>
          </a:p>
          <a:p>
            <a:r>
              <a:rPr lang="en-US" dirty="0"/>
              <a:t>    &lt;div class="col-6 col-sm-3"&gt;.col-6 .col-sm-3&lt;/div&gt;</a:t>
            </a:r>
          </a:p>
          <a:p>
            <a:r>
              <a:rPr lang="en-US" dirty="0"/>
              <a:t>    &lt;div class="col-6 col-sm-3"&gt;.col-6 .col-sm-3&lt;/div&gt;</a:t>
            </a:r>
          </a:p>
          <a:p>
            <a:endParaRPr lang="en-US" dirty="0"/>
          </a:p>
          <a:p>
            <a:r>
              <a:rPr lang="en-US" dirty="0"/>
              <a:t>    &lt;!-- Force next columns to break to new line --&gt;</a:t>
            </a:r>
          </a:p>
          <a:p>
            <a:r>
              <a:rPr lang="en-US" dirty="0"/>
              <a:t>    &lt;div class="w-100"&gt;&lt;/div&gt;</a:t>
            </a:r>
          </a:p>
          <a:p>
            <a:endParaRPr lang="en-US" dirty="0"/>
          </a:p>
          <a:p>
            <a:r>
              <a:rPr lang="en-US" dirty="0"/>
              <a:t>    &lt;div class="col-6 col-sm-3"&gt;.col-6 .col-sm-3&lt;/div&gt;</a:t>
            </a:r>
          </a:p>
          <a:p>
            <a:r>
              <a:rPr lang="en-US" dirty="0"/>
              <a:t>    &lt;div class="col-6 col-sm-3"&gt;.col-6 .col-sm-3&lt;/div&gt;</a:t>
            </a:r>
          </a:p>
          <a:p>
            <a:r>
              <a:rPr lang="en-US" dirty="0"/>
              <a:t>  &lt;/div&gt;</a:t>
            </a:r>
          </a:p>
          <a:p>
            <a:r>
              <a:rPr lang="en-US" dirty="0"/>
              <a:t>&lt;/div&gt;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EB644DC-2565-F1DB-7AF0-873F7F6D53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5030808"/>
            <a:ext cx="4601217" cy="1409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007084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 invX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8440C5-F696-11FD-F884-AEE8E22E35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BA20E70D-6C81-F1C1-EFD8-98419768651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29734" y="121920"/>
            <a:ext cx="8596668" cy="72519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4797425">
              <a:lnSpc>
                <a:spcPct val="100000"/>
              </a:lnSpc>
              <a:spcBef>
                <a:spcPts val="135"/>
              </a:spcBef>
            </a:pPr>
            <a:r>
              <a:rPr lang="en-US" sz="4600" spc="-25" dirty="0">
                <a:solidFill>
                  <a:schemeClr val="tx2"/>
                </a:solidFill>
              </a:rPr>
              <a:t>Bootstrap</a:t>
            </a:r>
            <a:endParaRPr sz="4600" dirty="0">
              <a:solidFill>
                <a:schemeClr val="tx2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BF74D83-CBCF-8243-2BAE-A2026645B37E}"/>
              </a:ext>
            </a:extLst>
          </p:cNvPr>
          <p:cNvSpPr txBox="1"/>
          <p:nvPr/>
        </p:nvSpPr>
        <p:spPr>
          <a:xfrm>
            <a:off x="192000" y="1122243"/>
            <a:ext cx="1144223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Margin utilities</a:t>
            </a:r>
            <a:r>
              <a:rPr lang="en-US" sz="2400" b="1" dirty="0">
                <a:hlinkClick r:id="rId3"/>
              </a:rPr>
              <a:t> </a:t>
            </a:r>
            <a:endParaRPr lang="en-US" sz="2400" b="1" dirty="0"/>
          </a:p>
          <a:p>
            <a:r>
              <a:rPr lang="en-US" dirty="0"/>
              <a:t>With the move to flexbox in v4, you can use margin utilities like .me-auto to force sibling columns away from one another.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A755970-DE90-501F-018D-067AE35064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31119" y="3047850"/>
            <a:ext cx="8311713" cy="2301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754989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 invX="1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00DB61-3073-B87D-3501-7CF74D6BF7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9F24D9A5-E793-9C54-0C7F-9D4C0697C37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29734" y="121920"/>
            <a:ext cx="8596668" cy="72519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4797425">
              <a:lnSpc>
                <a:spcPct val="100000"/>
              </a:lnSpc>
              <a:spcBef>
                <a:spcPts val="135"/>
              </a:spcBef>
            </a:pPr>
            <a:r>
              <a:rPr lang="en-US" sz="4600" spc="-25" dirty="0">
                <a:solidFill>
                  <a:schemeClr val="tx2"/>
                </a:solidFill>
              </a:rPr>
              <a:t>Bootstrap</a:t>
            </a:r>
            <a:endParaRPr sz="4600" dirty="0">
              <a:solidFill>
                <a:schemeClr val="tx2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8517F7-FA00-A774-AB93-85F458A39F1A}"/>
              </a:ext>
            </a:extLst>
          </p:cNvPr>
          <p:cNvSpPr txBox="1"/>
          <p:nvPr/>
        </p:nvSpPr>
        <p:spPr>
          <a:xfrm>
            <a:off x="192000" y="1122243"/>
            <a:ext cx="1144223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Gutters</a:t>
            </a:r>
            <a:endParaRPr lang="en-US" b="1" dirty="0"/>
          </a:p>
          <a:p>
            <a:r>
              <a:rPr lang="en-US" dirty="0"/>
              <a:t>Gutters are the </a:t>
            </a:r>
            <a:r>
              <a:rPr lang="en-US" dirty="0">
                <a:highlight>
                  <a:srgbClr val="FFFF00"/>
                </a:highlight>
              </a:rPr>
              <a:t>padding between </a:t>
            </a:r>
            <a:r>
              <a:rPr lang="en-US" dirty="0"/>
              <a:t>your columns, used to responsively space and align content in the Bootstrap grid system.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C5D13EE-AC3E-9A02-F9FE-87355F6D7E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2061" y="2413030"/>
            <a:ext cx="7795820" cy="3897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867716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 invX="1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25E756-0294-47CA-311B-AA7EF194B2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E03CC87C-60D3-6A41-7B04-36F4FCC5FB2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29734" y="121920"/>
            <a:ext cx="8596668" cy="72519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4797425">
              <a:lnSpc>
                <a:spcPct val="100000"/>
              </a:lnSpc>
              <a:spcBef>
                <a:spcPts val="135"/>
              </a:spcBef>
            </a:pPr>
            <a:r>
              <a:rPr lang="en-US" sz="4600" spc="-25" dirty="0">
                <a:solidFill>
                  <a:schemeClr val="tx2"/>
                </a:solidFill>
              </a:rPr>
              <a:t>Bootstrap</a:t>
            </a:r>
            <a:endParaRPr sz="4600" dirty="0">
              <a:solidFill>
                <a:schemeClr val="tx2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8B85E1A-364D-A664-31DB-9DDCE6AFD2F1}"/>
              </a:ext>
            </a:extLst>
          </p:cNvPr>
          <p:cNvSpPr txBox="1"/>
          <p:nvPr/>
        </p:nvSpPr>
        <p:spPr>
          <a:xfrm>
            <a:off x="192000" y="1122243"/>
            <a:ext cx="1144223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Typography</a:t>
            </a:r>
            <a:endParaRPr lang="en-US" b="1" dirty="0"/>
          </a:p>
          <a:p>
            <a:r>
              <a:rPr lang="en-US" dirty="0"/>
              <a:t>Documentation and examples for Bootstrap typography, including global settings, headings, body text, lists, and more.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96DB9B1-ABEB-0700-AB92-280E034E32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899" y="2291110"/>
            <a:ext cx="6142859" cy="309271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94D5CC6-696E-D2E0-D4C9-07EEC4A008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4779" y="4113883"/>
            <a:ext cx="6283246" cy="2683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78125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 invX="1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3417A7-A1FD-B39B-099B-EE79D6B5D9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12DD54D9-F71D-9BC7-8450-EE4A1C419AB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29734" y="121920"/>
            <a:ext cx="8596668" cy="72519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4797425">
              <a:lnSpc>
                <a:spcPct val="100000"/>
              </a:lnSpc>
              <a:spcBef>
                <a:spcPts val="135"/>
              </a:spcBef>
            </a:pPr>
            <a:r>
              <a:rPr lang="en-US" sz="4600" spc="-25" dirty="0">
                <a:solidFill>
                  <a:schemeClr val="tx2"/>
                </a:solidFill>
              </a:rPr>
              <a:t>Bootstrap</a:t>
            </a:r>
            <a:endParaRPr sz="4600" dirty="0">
              <a:solidFill>
                <a:schemeClr val="tx2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EB61AB-39D0-904C-0CBA-E3016A0CE8D8}"/>
              </a:ext>
            </a:extLst>
          </p:cNvPr>
          <p:cNvSpPr txBox="1"/>
          <p:nvPr/>
        </p:nvSpPr>
        <p:spPr>
          <a:xfrm>
            <a:off x="192000" y="1122243"/>
            <a:ext cx="1144223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Images</a:t>
            </a:r>
          </a:p>
          <a:p>
            <a:r>
              <a:rPr lang="en-US" dirty="0"/>
              <a:t>Documentation and examples for opting images into responsive behavior (so they never become wider than their parent) and add lightweight styles to them—all via classes.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C58B89C-24E4-C0ED-E518-023700B1BBCC}"/>
              </a:ext>
            </a:extLst>
          </p:cNvPr>
          <p:cNvSpPr txBox="1"/>
          <p:nvPr/>
        </p:nvSpPr>
        <p:spPr>
          <a:xfrm>
            <a:off x="192000" y="2413030"/>
            <a:ext cx="1068936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b="0" i="0" dirty="0">
                <a:effectLst/>
                <a:latin typeface="system-ui"/>
              </a:rPr>
              <a:t>Responsive images</a:t>
            </a:r>
            <a:r>
              <a:rPr lang="en-US" b="0" i="0" u="none" strike="noStrike" dirty="0">
                <a:effectLst/>
                <a:latin typeface="system-u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 </a:t>
            </a:r>
            <a:endParaRPr lang="en-US" b="0" i="0" dirty="0">
              <a:effectLst/>
              <a:latin typeface="system-ui"/>
            </a:endParaRPr>
          </a:p>
          <a:p>
            <a:pPr algn="l">
              <a:buNone/>
            </a:pPr>
            <a:r>
              <a:rPr lang="en-US" b="0" i="0" dirty="0">
                <a:effectLst/>
                <a:latin typeface="system-ui"/>
              </a:rPr>
              <a:t>Images in Bootstrap are made responsive with </a:t>
            </a:r>
            <a:r>
              <a:rPr lang="en-US" b="0" i="0" dirty="0">
                <a:effectLst/>
                <a:highlight>
                  <a:srgbClr val="FFFF00"/>
                </a:highlight>
                <a:latin typeface="SFMono-Regular"/>
              </a:rPr>
              <a:t>.</a:t>
            </a:r>
            <a:r>
              <a:rPr lang="en-US" b="0" i="0" dirty="0" err="1">
                <a:effectLst/>
                <a:highlight>
                  <a:srgbClr val="FFFF00"/>
                </a:highlight>
                <a:latin typeface="SFMono-Regular"/>
              </a:rPr>
              <a:t>img</a:t>
            </a:r>
            <a:r>
              <a:rPr lang="en-US" b="0" i="0" dirty="0">
                <a:effectLst/>
                <a:highlight>
                  <a:srgbClr val="FFFF00"/>
                </a:highlight>
                <a:latin typeface="SFMono-Regular"/>
              </a:rPr>
              <a:t>-fluid</a:t>
            </a:r>
            <a:r>
              <a:rPr lang="en-US" b="0" i="0" dirty="0">
                <a:effectLst/>
                <a:latin typeface="system-ui"/>
              </a:rPr>
              <a:t>. This applies </a:t>
            </a:r>
            <a:r>
              <a:rPr lang="en-US" b="0" i="0" dirty="0">
                <a:effectLst/>
                <a:latin typeface="SFMono-Regular"/>
              </a:rPr>
              <a:t>max-width: 100%;</a:t>
            </a:r>
            <a:r>
              <a:rPr lang="en-US" b="0" i="0" dirty="0">
                <a:effectLst/>
                <a:latin typeface="system-ui"/>
              </a:rPr>
              <a:t> and </a:t>
            </a:r>
            <a:r>
              <a:rPr lang="en-US" b="0" i="0" dirty="0">
                <a:effectLst/>
                <a:latin typeface="SFMono-Regular"/>
              </a:rPr>
              <a:t>height: auto;</a:t>
            </a:r>
            <a:r>
              <a:rPr lang="en-US" b="0" i="0" dirty="0">
                <a:effectLst/>
                <a:latin typeface="system-ui"/>
              </a:rPr>
              <a:t> to the image so that it scales with the parent width.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A3D740F-68FA-BF77-3D09-EA635DBD06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66326" y="3984123"/>
            <a:ext cx="7687748" cy="2638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522093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 invX="1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A4EC81-8084-9914-B157-0126ED07CC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A7450C1A-1E66-D92E-D5E8-51A9B8D33DC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29734" y="121920"/>
            <a:ext cx="8596668" cy="72519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4797425">
              <a:lnSpc>
                <a:spcPct val="100000"/>
              </a:lnSpc>
              <a:spcBef>
                <a:spcPts val="135"/>
              </a:spcBef>
            </a:pPr>
            <a:r>
              <a:rPr lang="en-US" sz="4600" spc="-25" dirty="0">
                <a:solidFill>
                  <a:schemeClr val="tx2"/>
                </a:solidFill>
              </a:rPr>
              <a:t>Bootstrap</a:t>
            </a:r>
            <a:endParaRPr sz="4600" dirty="0">
              <a:solidFill>
                <a:schemeClr val="tx2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F0B003D-A1A0-4B10-FEFC-362360F80585}"/>
              </a:ext>
            </a:extLst>
          </p:cNvPr>
          <p:cNvSpPr txBox="1"/>
          <p:nvPr/>
        </p:nvSpPr>
        <p:spPr>
          <a:xfrm>
            <a:off x="192000" y="1122243"/>
            <a:ext cx="1144223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Tables</a:t>
            </a:r>
            <a:endParaRPr lang="en-US" b="1" dirty="0"/>
          </a:p>
          <a:p>
            <a:r>
              <a:rPr lang="en-US" dirty="0"/>
              <a:t>Documentation and examples for opt-in styling of tables (given their prevalent use in JavaScript plugins) with Bootstrap.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206ED95-3C84-447D-C8A5-83DCC02DD79A}"/>
              </a:ext>
            </a:extLst>
          </p:cNvPr>
          <p:cNvSpPr txBox="1"/>
          <p:nvPr/>
        </p:nvSpPr>
        <p:spPr>
          <a:xfrm>
            <a:off x="624840" y="2413030"/>
            <a:ext cx="861441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b="0" i="0" dirty="0">
                <a:effectLst/>
                <a:latin typeface="system-ui"/>
              </a:rPr>
              <a:t>Due to the widespread use of </a:t>
            </a:r>
            <a:r>
              <a:rPr lang="en-US" b="0" i="0" dirty="0">
                <a:effectLst/>
                <a:latin typeface="SFMono-Regular"/>
              </a:rPr>
              <a:t>&lt;table&gt;</a:t>
            </a:r>
            <a:r>
              <a:rPr lang="en-US" b="0" i="0" dirty="0">
                <a:effectLst/>
                <a:latin typeface="system-ui"/>
              </a:rPr>
              <a:t> elements across third-party widgets like calendars and date pickers, Bootstrap’s tables are </a:t>
            </a:r>
            <a:r>
              <a:rPr lang="en-US" b="1" i="0" dirty="0">
                <a:effectLst/>
                <a:latin typeface="system-ui"/>
              </a:rPr>
              <a:t>opt-in</a:t>
            </a:r>
            <a:r>
              <a:rPr lang="en-US" b="0" i="0" dirty="0">
                <a:effectLst/>
                <a:latin typeface="system-ui"/>
              </a:rPr>
              <a:t>. Add the base class </a:t>
            </a:r>
            <a:r>
              <a:rPr lang="en-US" b="0" i="0" dirty="0">
                <a:effectLst/>
                <a:latin typeface="SFMono-Regular"/>
              </a:rPr>
              <a:t>.table</a:t>
            </a:r>
            <a:r>
              <a:rPr lang="en-US" b="0" i="0" dirty="0">
                <a:effectLst/>
                <a:latin typeface="system-ui"/>
              </a:rPr>
              <a:t> to any </a:t>
            </a:r>
            <a:r>
              <a:rPr lang="en-US" b="0" i="0" dirty="0">
                <a:effectLst/>
                <a:latin typeface="SFMono-Regular"/>
              </a:rPr>
              <a:t>&lt;table&gt;</a:t>
            </a:r>
            <a:r>
              <a:rPr lang="en-US" b="0" i="0" dirty="0">
                <a:effectLst/>
                <a:latin typeface="system-ui"/>
              </a:rPr>
              <a:t>, then extend with our optional modifier classes or custom styles. All table styles are not inherited in Bootstrap, meaning any nested tables can be styled independent from the parent.</a:t>
            </a:r>
          </a:p>
          <a:p>
            <a:pPr algn="l">
              <a:buNone/>
            </a:pPr>
            <a:r>
              <a:rPr lang="en-US" b="0" i="0" dirty="0">
                <a:effectLst/>
                <a:latin typeface="system-ui"/>
              </a:rPr>
              <a:t>Using the most basic table markup, here’s how </a:t>
            </a:r>
            <a:r>
              <a:rPr lang="en-US" b="0" i="0" dirty="0">
                <a:effectLst/>
                <a:latin typeface="SFMono-Regular"/>
              </a:rPr>
              <a:t>.table</a:t>
            </a:r>
            <a:r>
              <a:rPr lang="en-US" b="0" i="0" dirty="0">
                <a:effectLst/>
                <a:latin typeface="system-ui"/>
              </a:rPr>
              <a:t>-based tables look in Bootstrap.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AA0340A-4B45-9D1C-28A3-AA2F649F58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4528" y="4442480"/>
            <a:ext cx="7802064" cy="2057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543798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 invX="1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397F7-144E-B27D-EF6C-731B189C91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B98D8839-9E8F-A3B1-1306-FD0B4DA5532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29734" y="121920"/>
            <a:ext cx="8596668" cy="72519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4797425">
              <a:lnSpc>
                <a:spcPct val="100000"/>
              </a:lnSpc>
              <a:spcBef>
                <a:spcPts val="135"/>
              </a:spcBef>
            </a:pPr>
            <a:r>
              <a:rPr lang="en-US" sz="4600" spc="-25" dirty="0">
                <a:solidFill>
                  <a:schemeClr val="tx2"/>
                </a:solidFill>
              </a:rPr>
              <a:t>Bootstrap</a:t>
            </a:r>
            <a:endParaRPr sz="4600" dirty="0">
              <a:solidFill>
                <a:schemeClr val="tx2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F86AA87-CFD5-4FBD-56DC-6BF75EBFC027}"/>
              </a:ext>
            </a:extLst>
          </p:cNvPr>
          <p:cNvSpPr txBox="1"/>
          <p:nvPr/>
        </p:nvSpPr>
        <p:spPr>
          <a:xfrm>
            <a:off x="192000" y="1122243"/>
            <a:ext cx="1144223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Tables</a:t>
            </a:r>
            <a:endParaRPr lang="en-US" b="1" dirty="0"/>
          </a:p>
          <a:p>
            <a:r>
              <a:rPr lang="en-US" dirty="0"/>
              <a:t>Documentation and examples for opt-in styling of tables (given their prevalent use in JavaScript plugins) with Bootstrap.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4DEAB98-05B3-89C5-1A5E-46F9C3C51A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0192" y="2413030"/>
            <a:ext cx="7725853" cy="4134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728462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 invX="1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711A87-81BD-4B87-EE61-B588AB2259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6BE81AEF-2D5A-5C08-858C-D8B33666D9A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29734" y="121920"/>
            <a:ext cx="8596668" cy="72519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4797425">
              <a:lnSpc>
                <a:spcPct val="100000"/>
              </a:lnSpc>
              <a:spcBef>
                <a:spcPts val="135"/>
              </a:spcBef>
            </a:pPr>
            <a:r>
              <a:rPr lang="en-US" sz="4600" spc="-25" dirty="0">
                <a:solidFill>
                  <a:schemeClr val="tx2"/>
                </a:solidFill>
              </a:rPr>
              <a:t>Bootstrap</a:t>
            </a:r>
            <a:endParaRPr sz="4600" dirty="0">
              <a:solidFill>
                <a:schemeClr val="tx2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175D68D-4820-1158-F015-40F4F067DEF2}"/>
              </a:ext>
            </a:extLst>
          </p:cNvPr>
          <p:cNvSpPr txBox="1"/>
          <p:nvPr/>
        </p:nvSpPr>
        <p:spPr>
          <a:xfrm>
            <a:off x="192000" y="1122243"/>
            <a:ext cx="1144223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Form controls</a:t>
            </a:r>
          </a:p>
          <a:p>
            <a:r>
              <a:rPr lang="en-US" dirty="0"/>
              <a:t>Give textual form controls like &lt;input&gt;s and &lt;</a:t>
            </a:r>
            <a:r>
              <a:rPr lang="en-US" dirty="0" err="1"/>
              <a:t>textarea</a:t>
            </a:r>
            <a:r>
              <a:rPr lang="en-US" dirty="0"/>
              <a:t>&gt;s an upgrade with custom styles, sizing, focus states, and more.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616F587-4555-8C85-AE8B-D85D73A326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2573" y="2563001"/>
            <a:ext cx="7906853" cy="2524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742323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 invX="1"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954E4E-5673-F0DA-FFFA-E8E45DECF4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7E1A1DFA-3C6C-F3AD-34D0-F8E1BF3254F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29734" y="121920"/>
            <a:ext cx="8596668" cy="72519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4797425">
              <a:lnSpc>
                <a:spcPct val="100000"/>
              </a:lnSpc>
              <a:spcBef>
                <a:spcPts val="135"/>
              </a:spcBef>
            </a:pPr>
            <a:r>
              <a:rPr lang="en-US" sz="4600" spc="-25" dirty="0">
                <a:solidFill>
                  <a:schemeClr val="tx2"/>
                </a:solidFill>
              </a:rPr>
              <a:t>Bootstrap</a:t>
            </a:r>
            <a:endParaRPr sz="4600" dirty="0">
              <a:solidFill>
                <a:schemeClr val="tx2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6FEBEB0-45E7-01AB-1901-A2C79B1010F3}"/>
              </a:ext>
            </a:extLst>
          </p:cNvPr>
          <p:cNvSpPr txBox="1"/>
          <p:nvPr/>
        </p:nvSpPr>
        <p:spPr>
          <a:xfrm>
            <a:off x="192000" y="1122243"/>
            <a:ext cx="11442238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Sizing</a:t>
            </a:r>
            <a:r>
              <a:rPr lang="en-US" dirty="0">
                <a:hlinkClick r:id="rId3"/>
              </a:rPr>
              <a:t> </a:t>
            </a:r>
            <a:endParaRPr lang="en-US" dirty="0"/>
          </a:p>
          <a:p>
            <a:r>
              <a:rPr lang="en-US" dirty="0"/>
              <a:t>Set heights using classes like .form-control-lg and .form-control-sm.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3003DB6-6992-EDCE-7056-7F3CAF7540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3481" y="3061222"/>
            <a:ext cx="8429818" cy="1800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832664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 invX="1"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4FF69D-A600-9B93-1A1B-00008F2A85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889E7DB0-C4A1-5864-B250-95FCAD4AADC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29734" y="121920"/>
            <a:ext cx="8596668" cy="72519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4797425">
              <a:lnSpc>
                <a:spcPct val="100000"/>
              </a:lnSpc>
              <a:spcBef>
                <a:spcPts val="135"/>
              </a:spcBef>
            </a:pPr>
            <a:r>
              <a:rPr lang="en-US" sz="4600" spc="-25" dirty="0">
                <a:solidFill>
                  <a:schemeClr val="tx2"/>
                </a:solidFill>
              </a:rPr>
              <a:t>Bootstrap</a:t>
            </a:r>
            <a:endParaRPr sz="4600" dirty="0">
              <a:solidFill>
                <a:schemeClr val="tx2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7D49573-3228-9C2D-C58F-279B9941B7B1}"/>
              </a:ext>
            </a:extLst>
          </p:cNvPr>
          <p:cNvSpPr txBox="1"/>
          <p:nvPr/>
        </p:nvSpPr>
        <p:spPr>
          <a:xfrm>
            <a:off x="192000" y="1122243"/>
            <a:ext cx="11442238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Select</a:t>
            </a:r>
            <a:endParaRPr lang="en-US" b="1" dirty="0"/>
          </a:p>
          <a:p>
            <a:r>
              <a:rPr lang="en-US" dirty="0"/>
              <a:t>Customize the native &lt;select&gt;s with custom CSS that changes the element’s initial appearance.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B0884E8-6390-C1B4-1664-14F2F22681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7297" y="2385728"/>
            <a:ext cx="8011643" cy="4067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334575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 invX="1"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DC42DF-6B4B-783C-1DAC-282772A5DC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111940F3-7CA0-7431-79E5-E2C81430C54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29734" y="121920"/>
            <a:ext cx="8596668" cy="72519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4797425">
              <a:lnSpc>
                <a:spcPct val="100000"/>
              </a:lnSpc>
              <a:spcBef>
                <a:spcPts val="135"/>
              </a:spcBef>
            </a:pPr>
            <a:r>
              <a:rPr lang="en-US" sz="4600" spc="-25" dirty="0">
                <a:solidFill>
                  <a:schemeClr val="tx2"/>
                </a:solidFill>
              </a:rPr>
              <a:t>Bootstrap</a:t>
            </a:r>
            <a:endParaRPr sz="4600" dirty="0">
              <a:solidFill>
                <a:schemeClr val="tx2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56A0409-2006-1C9D-DC8E-6AFB69078B86}"/>
              </a:ext>
            </a:extLst>
          </p:cNvPr>
          <p:cNvSpPr txBox="1"/>
          <p:nvPr/>
        </p:nvSpPr>
        <p:spPr>
          <a:xfrm>
            <a:off x="192000" y="1122243"/>
            <a:ext cx="11442238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Checks and radios</a:t>
            </a:r>
          </a:p>
          <a:p>
            <a:r>
              <a:rPr lang="en-US" dirty="0"/>
              <a:t>Create consistent cross-browser and cross-device checkboxes and radios with our completely rewritten checks component.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123B976-F205-D7D7-12C8-B1492761BA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81454" y="2351474"/>
            <a:ext cx="5994573" cy="383099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200EC70-AA3C-8978-B781-4488BB0ADE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28774" y="2993126"/>
            <a:ext cx="6563226" cy="3742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624163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 invX="1"/>
      </p:transition>
    </mc:Choice>
    <mc:Fallback xmlns=""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147A69-DCBB-696C-62EB-ED59940411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D43A15CB-A911-1406-570F-4A61E7DBCA4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29734" y="121920"/>
            <a:ext cx="8596668" cy="72519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4797425">
              <a:lnSpc>
                <a:spcPct val="100000"/>
              </a:lnSpc>
              <a:spcBef>
                <a:spcPts val="135"/>
              </a:spcBef>
            </a:pPr>
            <a:r>
              <a:rPr lang="en-US" sz="4600" spc="-25" dirty="0">
                <a:solidFill>
                  <a:schemeClr val="tx2"/>
                </a:solidFill>
              </a:rPr>
              <a:t>Bootstrap</a:t>
            </a:r>
            <a:endParaRPr sz="4600" dirty="0">
              <a:solidFill>
                <a:schemeClr val="tx2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CB46AAD-D2E8-12FF-7E9B-69698A00763B}"/>
              </a:ext>
            </a:extLst>
          </p:cNvPr>
          <p:cNvSpPr txBox="1"/>
          <p:nvPr/>
        </p:nvSpPr>
        <p:spPr>
          <a:xfrm>
            <a:off x="192000" y="1122243"/>
            <a:ext cx="11442238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Range</a:t>
            </a:r>
            <a:endParaRPr lang="en-US" b="1" dirty="0"/>
          </a:p>
          <a:p>
            <a:r>
              <a:rPr lang="en-US" dirty="0"/>
              <a:t>Use our custom range inputs for consistent cross-browser styling and built-in customization.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392DCA0-759B-B0BF-0756-0DBC297F3D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5415" y="2295367"/>
            <a:ext cx="8021169" cy="2267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327008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 invX="1"/>
      </p:transition>
    </mc:Choice>
    <mc:Fallback xmlns=""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E7DE27-86FA-B322-DD3A-C6122F2B3B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76FA3240-B8AF-060A-23D0-002CE0983C7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29734" y="121920"/>
            <a:ext cx="8596668" cy="72519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4797425">
              <a:lnSpc>
                <a:spcPct val="100000"/>
              </a:lnSpc>
              <a:spcBef>
                <a:spcPts val="135"/>
              </a:spcBef>
            </a:pPr>
            <a:r>
              <a:rPr lang="en-US" sz="4600" spc="-25" dirty="0">
                <a:solidFill>
                  <a:schemeClr val="tx2"/>
                </a:solidFill>
              </a:rPr>
              <a:t>Bootstrap</a:t>
            </a:r>
            <a:endParaRPr sz="4600" dirty="0">
              <a:solidFill>
                <a:schemeClr val="tx2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E758AAA-4A77-C977-D718-CEE57187C49F}"/>
              </a:ext>
            </a:extLst>
          </p:cNvPr>
          <p:cNvSpPr txBox="1"/>
          <p:nvPr/>
        </p:nvSpPr>
        <p:spPr>
          <a:xfrm>
            <a:off x="192000" y="1122243"/>
            <a:ext cx="11442238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Input group</a:t>
            </a:r>
          </a:p>
          <a:p>
            <a:r>
              <a:rPr lang="en-US" dirty="0"/>
              <a:t>Easily extend form controls by adding text, buttons, or button groups on either side of textual inputs, custom selects, and custom file inputs.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47AA213-7905-9EA5-62DC-93AAA0D918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99757" y="2506331"/>
            <a:ext cx="7592485" cy="3229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763062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 invX="1"/>
      </p:transition>
    </mc:Choice>
    <mc:Fallback xmlns=""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404F22-5937-4DF8-B85A-CF530DE285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71FCF727-D726-03AE-42E1-15C1CDAFB0D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29734" y="121920"/>
            <a:ext cx="8596668" cy="72519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4797425">
              <a:lnSpc>
                <a:spcPct val="100000"/>
              </a:lnSpc>
              <a:spcBef>
                <a:spcPts val="135"/>
              </a:spcBef>
            </a:pPr>
            <a:r>
              <a:rPr lang="en-US" sz="4600" spc="-25" dirty="0">
                <a:solidFill>
                  <a:schemeClr val="tx2"/>
                </a:solidFill>
              </a:rPr>
              <a:t>Bootstrap</a:t>
            </a:r>
            <a:endParaRPr sz="4600" dirty="0">
              <a:solidFill>
                <a:schemeClr val="tx2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C4CE1D3-7038-CA39-0445-5229591EC761}"/>
              </a:ext>
            </a:extLst>
          </p:cNvPr>
          <p:cNvSpPr txBox="1"/>
          <p:nvPr/>
        </p:nvSpPr>
        <p:spPr>
          <a:xfrm>
            <a:off x="192000" y="1122243"/>
            <a:ext cx="1144223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Navbar</a:t>
            </a:r>
            <a:endParaRPr lang="en-US" dirty="0"/>
          </a:p>
          <a:p>
            <a:pPr lvl="1"/>
            <a:r>
              <a:rPr lang="en-US" b="1" dirty="0"/>
              <a:t>Use:</a:t>
            </a:r>
            <a:r>
              <a:rPr lang="en-US" dirty="0"/>
              <a:t> Site navigation</a:t>
            </a:r>
          </a:p>
          <a:p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097DD51-95ED-9B28-62DB-5B33073F8F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3312" y="3109634"/>
            <a:ext cx="6570747" cy="1546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746950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 invX="1"/>
      </p:transition>
    </mc:Choice>
    <mc:Fallback xmlns=""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2947BB-017D-C806-E47F-1657ECFFEB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9E2886BA-27B8-5A0D-3EF1-1C66B0D4A32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29734" y="121920"/>
            <a:ext cx="8596668" cy="72519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4797425">
              <a:lnSpc>
                <a:spcPct val="100000"/>
              </a:lnSpc>
              <a:spcBef>
                <a:spcPts val="135"/>
              </a:spcBef>
            </a:pPr>
            <a:r>
              <a:rPr lang="en-US" sz="4600" spc="-25" dirty="0">
                <a:solidFill>
                  <a:schemeClr val="tx2"/>
                </a:solidFill>
              </a:rPr>
              <a:t>Bootstrap</a:t>
            </a:r>
            <a:endParaRPr sz="4600" dirty="0">
              <a:solidFill>
                <a:schemeClr val="tx2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DAEA61B-3A91-B87F-B838-1130D3EF9439}"/>
              </a:ext>
            </a:extLst>
          </p:cNvPr>
          <p:cNvSpPr txBox="1"/>
          <p:nvPr/>
        </p:nvSpPr>
        <p:spPr>
          <a:xfrm>
            <a:off x="192000" y="1122243"/>
            <a:ext cx="11442238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Cards</a:t>
            </a:r>
            <a:endParaRPr lang="en-US" b="1" dirty="0"/>
          </a:p>
          <a:p>
            <a:r>
              <a:rPr lang="en-US" dirty="0"/>
              <a:t>Bootstrap’s cards provide a flexible and extensible content container with multiple variants and options.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A1E5957-B005-BD76-D890-D6167DCC76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0640" y="2296211"/>
            <a:ext cx="3972479" cy="382005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1524E1D-8A25-0E26-D8AE-A86FF61692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8883" y="3949198"/>
            <a:ext cx="3829584" cy="2095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56134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 invX="1"/>
      </p:transition>
    </mc:Choice>
    <mc:Fallback xmlns="">
      <p:transition spd="slow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B48479-90FB-DB55-4B5A-A784B7E67C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1E756B95-BDC2-6B27-0E82-C6EB9F8F918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29734" y="121920"/>
            <a:ext cx="8596668" cy="72519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4797425">
              <a:lnSpc>
                <a:spcPct val="100000"/>
              </a:lnSpc>
              <a:spcBef>
                <a:spcPts val="135"/>
              </a:spcBef>
            </a:pPr>
            <a:r>
              <a:rPr lang="en-US" sz="4600" spc="-25" dirty="0">
                <a:solidFill>
                  <a:schemeClr val="tx2"/>
                </a:solidFill>
              </a:rPr>
              <a:t>Bootstrap</a:t>
            </a:r>
            <a:endParaRPr sz="4600" dirty="0">
              <a:solidFill>
                <a:schemeClr val="tx2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D32EF6A-8324-5267-AF1E-BE5E39B3F330}"/>
              </a:ext>
            </a:extLst>
          </p:cNvPr>
          <p:cNvSpPr txBox="1"/>
          <p:nvPr/>
        </p:nvSpPr>
        <p:spPr>
          <a:xfrm>
            <a:off x="192000" y="1122243"/>
            <a:ext cx="1144223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Buttons</a:t>
            </a:r>
            <a:endParaRPr lang="en-US" b="1" dirty="0"/>
          </a:p>
          <a:p>
            <a:r>
              <a:rPr lang="en-US" dirty="0"/>
              <a:t>Use Bootstrap’s custom button styles for actions in forms, dialogs, and more with support for multiple sizes, states, and more.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B253D32-248B-D8A1-BEBB-B44028B186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2556" y="2353910"/>
            <a:ext cx="7716327" cy="3381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827810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 invX="1"/>
      </p:transition>
    </mc:Choice>
    <mc:Fallback xmlns=""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54D781-C79C-1FB5-74DB-B91FAC81A9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EA7E899E-7E6F-92AA-30E6-CBBA5E0A131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29734" y="121920"/>
            <a:ext cx="8596668" cy="72519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4797425">
              <a:lnSpc>
                <a:spcPct val="100000"/>
              </a:lnSpc>
              <a:spcBef>
                <a:spcPts val="135"/>
              </a:spcBef>
            </a:pPr>
            <a:r>
              <a:rPr lang="en-US" sz="4600" spc="-25" dirty="0">
                <a:solidFill>
                  <a:schemeClr val="tx2"/>
                </a:solidFill>
              </a:rPr>
              <a:t>Bootstrap</a:t>
            </a:r>
            <a:endParaRPr sz="4600" dirty="0">
              <a:solidFill>
                <a:schemeClr val="tx2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C345512-277D-6459-B3B5-64DA6D07C274}"/>
              </a:ext>
            </a:extLst>
          </p:cNvPr>
          <p:cNvSpPr txBox="1"/>
          <p:nvPr/>
        </p:nvSpPr>
        <p:spPr>
          <a:xfrm>
            <a:off x="192000" y="1122243"/>
            <a:ext cx="11442238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Carousel</a:t>
            </a:r>
            <a:endParaRPr lang="en-US" b="1" dirty="0"/>
          </a:p>
          <a:p>
            <a:r>
              <a:rPr lang="en-US" dirty="0"/>
              <a:t>A slideshow component for cycling through elements—images or slides of text—like a carousel.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596B943-2C17-6130-0EA7-A361963878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0662" y="2136031"/>
            <a:ext cx="6895698" cy="4235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884052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 invX="1"/>
      </p:transition>
    </mc:Choice>
    <mc:Fallback xmlns="">
      <p:transition spd="slow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753CC3-0229-E3E1-DCF1-22803DEF58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4285A213-2543-F4BB-19F1-0ED1F78738E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29734" y="121920"/>
            <a:ext cx="8596668" cy="72519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4797425">
              <a:lnSpc>
                <a:spcPct val="100000"/>
              </a:lnSpc>
              <a:spcBef>
                <a:spcPts val="135"/>
              </a:spcBef>
            </a:pPr>
            <a:r>
              <a:rPr lang="en-US" sz="4600" spc="-25" dirty="0">
                <a:solidFill>
                  <a:schemeClr val="tx2"/>
                </a:solidFill>
              </a:rPr>
              <a:t>Bootstrap</a:t>
            </a:r>
            <a:endParaRPr sz="4600" dirty="0">
              <a:solidFill>
                <a:schemeClr val="tx2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0CD698C-52DB-E0D0-FEE5-A7C1964D781C}"/>
              </a:ext>
            </a:extLst>
          </p:cNvPr>
          <p:cNvSpPr txBox="1"/>
          <p:nvPr/>
        </p:nvSpPr>
        <p:spPr>
          <a:xfrm>
            <a:off x="192000" y="1122243"/>
            <a:ext cx="1144223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Alerts</a:t>
            </a:r>
            <a:endParaRPr lang="en-US" b="1" dirty="0"/>
          </a:p>
          <a:p>
            <a:r>
              <a:rPr lang="en-US" dirty="0"/>
              <a:t>Provide contextual feedback messages for typical user actions with the handful of available and flexible alert messages.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44B98C2-D5B9-52B5-41D8-6CA6576007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3561" y="2056730"/>
            <a:ext cx="6960439" cy="4480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096508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 invX="1"/>
      </p:transition>
    </mc:Choice>
    <mc:Fallback xmlns="">
      <p:transition spd="slow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F87EF2-350D-C909-8C86-B379389C55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6FFD8213-51BE-BBC1-7519-6239AF56B7D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29734" y="121920"/>
            <a:ext cx="8596668" cy="72519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4797425">
              <a:lnSpc>
                <a:spcPct val="100000"/>
              </a:lnSpc>
              <a:spcBef>
                <a:spcPts val="135"/>
              </a:spcBef>
            </a:pPr>
            <a:r>
              <a:rPr lang="en-US" sz="4600" spc="-25" dirty="0">
                <a:solidFill>
                  <a:schemeClr val="tx2"/>
                </a:solidFill>
              </a:rPr>
              <a:t>Bootstrap</a:t>
            </a:r>
            <a:endParaRPr sz="4600" dirty="0">
              <a:solidFill>
                <a:schemeClr val="tx2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D02BABB-CFF2-52B0-C6F3-BD4FCEFA2D44}"/>
              </a:ext>
            </a:extLst>
          </p:cNvPr>
          <p:cNvSpPr txBox="1"/>
          <p:nvPr/>
        </p:nvSpPr>
        <p:spPr>
          <a:xfrm>
            <a:off x="192000" y="1122243"/>
            <a:ext cx="11442238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Badges</a:t>
            </a:r>
            <a:endParaRPr lang="en-US" b="1" dirty="0"/>
          </a:p>
          <a:p>
            <a:r>
              <a:rPr lang="en-US" dirty="0"/>
              <a:t>Documentation and examples for badges, our small count and labeling component.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46D9252-40D6-AE55-824A-918528A761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5088" y="2544437"/>
            <a:ext cx="6716062" cy="3191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974714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 invX="1"/>
      </p:transition>
    </mc:Choice>
    <mc:Fallback xmlns="">
      <p:transition spd="slow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8CE831-E7BE-02AE-4C3D-A556E433D2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7DCE0E47-F286-3313-04DF-40B88B658BC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29734" y="121920"/>
            <a:ext cx="8596668" cy="72519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4797425">
              <a:lnSpc>
                <a:spcPct val="100000"/>
              </a:lnSpc>
              <a:spcBef>
                <a:spcPts val="135"/>
              </a:spcBef>
            </a:pPr>
            <a:r>
              <a:rPr lang="en-US" sz="4600" spc="-25" dirty="0">
                <a:solidFill>
                  <a:schemeClr val="tx2"/>
                </a:solidFill>
              </a:rPr>
              <a:t>Bootstrap</a:t>
            </a:r>
            <a:endParaRPr sz="4600" dirty="0">
              <a:solidFill>
                <a:schemeClr val="tx2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9A4EE5A-EE93-972C-F52E-F63A5EF99954}"/>
              </a:ext>
            </a:extLst>
          </p:cNvPr>
          <p:cNvSpPr txBox="1"/>
          <p:nvPr/>
        </p:nvSpPr>
        <p:spPr>
          <a:xfrm>
            <a:off x="192000" y="1122243"/>
            <a:ext cx="1144223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Breadcrumb</a:t>
            </a:r>
            <a:endParaRPr lang="en-US" b="1" dirty="0"/>
          </a:p>
          <a:p>
            <a:r>
              <a:rPr lang="en-US" dirty="0"/>
              <a:t>Indicate the current page’s location within a navigational hierarchy that automatically adds separators via CSS.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BC9D9CE-C6D1-28A0-27C3-8F7E4F072B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4179" y="2007548"/>
            <a:ext cx="6563641" cy="4610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399109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 invX="1"/>
      </p:transition>
    </mc:Choice>
    <mc:Fallback xmlns="">
      <p:transition spd="slow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8854C3-6033-76A8-3FE3-8BEBE68AB1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DB33DE57-92B2-BB54-129C-76184A57FC9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29734" y="121920"/>
            <a:ext cx="8596668" cy="72519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4797425">
              <a:lnSpc>
                <a:spcPct val="100000"/>
              </a:lnSpc>
              <a:spcBef>
                <a:spcPts val="135"/>
              </a:spcBef>
            </a:pPr>
            <a:r>
              <a:rPr lang="en-US" sz="4600" spc="-25" dirty="0">
                <a:solidFill>
                  <a:schemeClr val="tx2"/>
                </a:solidFill>
              </a:rPr>
              <a:t>Bootstrap</a:t>
            </a:r>
            <a:endParaRPr sz="4600" dirty="0">
              <a:solidFill>
                <a:schemeClr val="tx2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B816164-609B-9FAE-AADF-556B78C021F9}"/>
              </a:ext>
            </a:extLst>
          </p:cNvPr>
          <p:cNvSpPr txBox="1"/>
          <p:nvPr/>
        </p:nvSpPr>
        <p:spPr>
          <a:xfrm>
            <a:off x="192000" y="1122243"/>
            <a:ext cx="11442238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Collapse</a:t>
            </a:r>
            <a:endParaRPr lang="en-US" dirty="0"/>
          </a:p>
          <a:p>
            <a:r>
              <a:rPr lang="en-US" dirty="0"/>
              <a:t>Toggle the visibility of content across your project with a few classes and our JavaScript plugins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DBB10F8-0097-C304-92FF-9A0EAEFD81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5889" y="2136031"/>
            <a:ext cx="8040222" cy="4143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433275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 invX="1"/>
      </p:transition>
    </mc:Choice>
    <mc:Fallback xmlns="">
      <p:transition spd="slow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792835-A1D5-1572-3BB0-6A9BE41E2D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6EDBCEA1-9FF7-6DB9-04E3-29BB5D5CC90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29734" y="121920"/>
            <a:ext cx="8596668" cy="72519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4797425">
              <a:lnSpc>
                <a:spcPct val="100000"/>
              </a:lnSpc>
              <a:spcBef>
                <a:spcPts val="135"/>
              </a:spcBef>
            </a:pPr>
            <a:r>
              <a:rPr lang="en-US" sz="4600" spc="-25" dirty="0">
                <a:solidFill>
                  <a:schemeClr val="tx2"/>
                </a:solidFill>
              </a:rPr>
              <a:t>Bootstrap</a:t>
            </a:r>
            <a:endParaRPr sz="4600" dirty="0">
              <a:solidFill>
                <a:schemeClr val="tx2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2433D8A-8B45-F874-62D2-2F30C95B2716}"/>
              </a:ext>
            </a:extLst>
          </p:cNvPr>
          <p:cNvSpPr txBox="1"/>
          <p:nvPr/>
        </p:nvSpPr>
        <p:spPr>
          <a:xfrm>
            <a:off x="192000" y="1122243"/>
            <a:ext cx="11442238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Dropdowns</a:t>
            </a:r>
            <a:endParaRPr lang="en-US" b="1" dirty="0"/>
          </a:p>
          <a:p>
            <a:r>
              <a:rPr lang="en-US" dirty="0"/>
              <a:t>Toggle contextual overlays for displaying lists of links and more with the Bootstrap dropdown plugin.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3D1300C-28FA-0AA7-E418-58570BE8B2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1573" y="2296810"/>
            <a:ext cx="8268854" cy="4439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608417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 invX="1"/>
      </p:transition>
    </mc:Choice>
    <mc:Fallback xmlns="">
      <p:transition spd="slow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CE5314-1B4B-B939-BD45-07E92248E8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83AAE735-5F54-AE51-B229-B7B2832C4A0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29734" y="121920"/>
            <a:ext cx="8596668" cy="72519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4797425">
              <a:lnSpc>
                <a:spcPct val="100000"/>
              </a:lnSpc>
              <a:spcBef>
                <a:spcPts val="135"/>
              </a:spcBef>
            </a:pPr>
            <a:r>
              <a:rPr lang="en-US" sz="4600" spc="-25" dirty="0">
                <a:solidFill>
                  <a:schemeClr val="tx2"/>
                </a:solidFill>
              </a:rPr>
              <a:t>Bootstrap</a:t>
            </a:r>
            <a:endParaRPr sz="4600" dirty="0">
              <a:solidFill>
                <a:schemeClr val="tx2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A112FDD-0957-9AD5-3048-6B1269E5F91E}"/>
              </a:ext>
            </a:extLst>
          </p:cNvPr>
          <p:cNvSpPr txBox="1"/>
          <p:nvPr/>
        </p:nvSpPr>
        <p:spPr>
          <a:xfrm>
            <a:off x="192000" y="1122243"/>
            <a:ext cx="1144223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List group</a:t>
            </a:r>
          </a:p>
          <a:p>
            <a:r>
              <a:rPr lang="en-US" dirty="0"/>
              <a:t>List groups are a flexible and powerful component for displaying a series of content. Modify and extend them to support just about any content within.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694B4C3-068A-E519-E94B-C785DF2D6A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8654" y="2815438"/>
            <a:ext cx="5881914" cy="2488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60903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 invX="1"/>
      </p:transition>
    </mc:Choice>
    <mc:Fallback xmlns="">
      <p:transition spd="slow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905346-8D88-97F2-5792-0CE4CE2FDA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8B7B7151-56BA-25EA-5618-B306F576D64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29734" y="121920"/>
            <a:ext cx="8596668" cy="72519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4797425">
              <a:lnSpc>
                <a:spcPct val="100000"/>
              </a:lnSpc>
              <a:spcBef>
                <a:spcPts val="135"/>
              </a:spcBef>
            </a:pPr>
            <a:r>
              <a:rPr lang="en-US" sz="4600" spc="-25" dirty="0">
                <a:solidFill>
                  <a:schemeClr val="tx2"/>
                </a:solidFill>
              </a:rPr>
              <a:t>Bootstrap</a:t>
            </a:r>
            <a:endParaRPr sz="4600" dirty="0">
              <a:solidFill>
                <a:schemeClr val="tx2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3114A49-CA3C-5640-9885-79B2D49F3A29}"/>
              </a:ext>
            </a:extLst>
          </p:cNvPr>
          <p:cNvSpPr txBox="1"/>
          <p:nvPr/>
        </p:nvSpPr>
        <p:spPr>
          <a:xfrm>
            <a:off x="192000" y="1122243"/>
            <a:ext cx="1144223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Modal</a:t>
            </a:r>
            <a:endParaRPr lang="en-US" b="1" dirty="0"/>
          </a:p>
          <a:p>
            <a:r>
              <a:rPr lang="en-US" dirty="0"/>
              <a:t>Use Bootstrap’s JavaScript modal plugin to add dialogs to your site for lightboxes, user notifications, or completely custom content.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ACAF29F-331A-3476-7046-183E2BFD9A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7554" y="2840173"/>
            <a:ext cx="5915851" cy="2610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638269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 invX="1"/>
      </p:transition>
    </mc:Choice>
    <mc:Fallback xmlns="">
      <p:transition spd="slow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70647F-C9FD-92FE-1944-C359F2D960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C3FC4059-8B2A-BB0F-7F84-BB5271878DE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29734" y="121920"/>
            <a:ext cx="8596668" cy="72519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4797425">
              <a:lnSpc>
                <a:spcPct val="100000"/>
              </a:lnSpc>
              <a:spcBef>
                <a:spcPts val="135"/>
              </a:spcBef>
            </a:pPr>
            <a:r>
              <a:rPr lang="en-US" sz="4600" spc="-25" dirty="0">
                <a:solidFill>
                  <a:schemeClr val="tx2"/>
                </a:solidFill>
              </a:rPr>
              <a:t>Bootstrap</a:t>
            </a:r>
            <a:endParaRPr sz="4600" dirty="0">
              <a:solidFill>
                <a:schemeClr val="tx2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6A5336F-2100-FF42-D334-1D5CB08F92B2}"/>
              </a:ext>
            </a:extLst>
          </p:cNvPr>
          <p:cNvSpPr txBox="1"/>
          <p:nvPr/>
        </p:nvSpPr>
        <p:spPr>
          <a:xfrm>
            <a:off x="192000" y="1122243"/>
            <a:ext cx="1144223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Pagination</a:t>
            </a:r>
            <a:endParaRPr lang="en-US" b="1" dirty="0"/>
          </a:p>
          <a:p>
            <a:r>
              <a:rPr lang="en-US" dirty="0"/>
              <a:t>Documentation and examples for showing pagination to indicate a series of related content exists across multiple pages.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E78AD38-2850-C7F2-EAFB-19F2CB8807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4941" y="2668279"/>
            <a:ext cx="8002117" cy="3067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246740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 invX="1"/>
      </p:transition>
    </mc:Choice>
    <mc:Fallback xmlns="">
      <p:transition spd="slow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7BD45B-F317-EBA7-B692-D6A31F8203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DE3924D4-4CC1-F8D9-0A2A-25E6B3F9E00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29734" y="121920"/>
            <a:ext cx="8596668" cy="72519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4797425">
              <a:lnSpc>
                <a:spcPct val="100000"/>
              </a:lnSpc>
              <a:spcBef>
                <a:spcPts val="135"/>
              </a:spcBef>
            </a:pPr>
            <a:r>
              <a:rPr lang="en-US" sz="4600" spc="-25" dirty="0">
                <a:solidFill>
                  <a:schemeClr val="tx2"/>
                </a:solidFill>
              </a:rPr>
              <a:t>Bootstrap</a:t>
            </a:r>
            <a:endParaRPr sz="4600" dirty="0">
              <a:solidFill>
                <a:schemeClr val="tx2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5D5ED23-D97B-DBE0-8E2F-786AB117777D}"/>
              </a:ext>
            </a:extLst>
          </p:cNvPr>
          <p:cNvSpPr txBox="1"/>
          <p:nvPr/>
        </p:nvSpPr>
        <p:spPr>
          <a:xfrm>
            <a:off x="192000" y="1122243"/>
            <a:ext cx="1144223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Placeholders</a:t>
            </a:r>
            <a:endParaRPr lang="en-US" b="1" dirty="0"/>
          </a:p>
          <a:p>
            <a:r>
              <a:rPr lang="en-US" dirty="0"/>
              <a:t>Use loading placeholders (skeleton loaders) for your components or pages to indicate something may still be loading.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79AEA6A-5B15-FB5B-79D4-4A86A360AD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9820" y="2137906"/>
            <a:ext cx="6801799" cy="3753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437439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 invX="1"/>
      </p:transition>
    </mc:Choice>
    <mc:Fallback xmlns="">
      <p:transition spd="slow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C00746-7D90-697F-D830-B27C4726A9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D29C6392-D4FC-7804-4A72-F45F7103BC7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29734" y="121920"/>
            <a:ext cx="8596668" cy="72519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4797425">
              <a:lnSpc>
                <a:spcPct val="100000"/>
              </a:lnSpc>
              <a:spcBef>
                <a:spcPts val="135"/>
              </a:spcBef>
            </a:pPr>
            <a:r>
              <a:rPr lang="en-US" sz="4600" spc="-25" dirty="0">
                <a:solidFill>
                  <a:schemeClr val="tx2"/>
                </a:solidFill>
              </a:rPr>
              <a:t>Bootstrap</a:t>
            </a:r>
            <a:endParaRPr sz="4600" dirty="0">
              <a:solidFill>
                <a:schemeClr val="tx2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CFECCF2-FC26-6DEC-0390-DEB410AF70B2}"/>
              </a:ext>
            </a:extLst>
          </p:cNvPr>
          <p:cNvSpPr txBox="1"/>
          <p:nvPr/>
        </p:nvSpPr>
        <p:spPr>
          <a:xfrm>
            <a:off x="192000" y="1122243"/>
            <a:ext cx="1144223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Progress</a:t>
            </a:r>
            <a:endParaRPr lang="en-US" b="1" dirty="0"/>
          </a:p>
          <a:p>
            <a:r>
              <a:rPr lang="en-US" dirty="0"/>
              <a:t>Documentation and examples for using Bootstrap custom progress bars featuring support for stacked bars, animated backgrounds, and text labels.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C0ED9DE-815C-7CFB-8179-3074FCE285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2329" y="3063808"/>
            <a:ext cx="8987341" cy="2241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058802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 invX="1"/>
      </p:transition>
    </mc:Choice>
    <mc:Fallback xmlns="">
      <p:transition spd="slow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942349-BD37-3A3B-6EDF-DE0E7BF036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1D7C2BCA-12C8-004C-7FF6-61E39F47234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29734" y="121920"/>
            <a:ext cx="8596668" cy="72519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4797425">
              <a:lnSpc>
                <a:spcPct val="100000"/>
              </a:lnSpc>
              <a:spcBef>
                <a:spcPts val="135"/>
              </a:spcBef>
            </a:pPr>
            <a:r>
              <a:rPr lang="en-US" sz="4600" spc="-25" dirty="0">
                <a:solidFill>
                  <a:schemeClr val="tx2"/>
                </a:solidFill>
              </a:rPr>
              <a:t>Bootstrap</a:t>
            </a:r>
            <a:endParaRPr sz="4600" dirty="0">
              <a:solidFill>
                <a:schemeClr val="tx2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BD737F1-238E-D786-F8B1-3D89FF713C9A}"/>
              </a:ext>
            </a:extLst>
          </p:cNvPr>
          <p:cNvSpPr txBox="1"/>
          <p:nvPr/>
        </p:nvSpPr>
        <p:spPr>
          <a:xfrm>
            <a:off x="192000" y="1122243"/>
            <a:ext cx="1144223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Spinners</a:t>
            </a:r>
            <a:endParaRPr lang="en-US" b="1" dirty="0"/>
          </a:p>
          <a:p>
            <a:r>
              <a:rPr lang="en-US" dirty="0"/>
              <a:t>Indicate the loading state of a component or page with Bootstrap spinners, built entirely with HTML, CSS, and no JavaScript.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78041FD-FC5F-00A6-E319-17B8D91B8C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3508" y="3005954"/>
            <a:ext cx="8798570" cy="2175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183225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 invX="1"/>
      </p:transition>
    </mc:Choice>
    <mc:Fallback xmlns="">
      <p:transition spd="slow"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7F273C-D6A9-1ECA-FA60-4E9FA8617E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7F9957D1-FCE7-E786-7B77-B68E74CA47B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29734" y="121920"/>
            <a:ext cx="8596668" cy="72519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4797425">
              <a:lnSpc>
                <a:spcPct val="100000"/>
              </a:lnSpc>
              <a:spcBef>
                <a:spcPts val="135"/>
              </a:spcBef>
            </a:pPr>
            <a:r>
              <a:rPr lang="en-US" sz="4600" spc="-25" dirty="0">
                <a:solidFill>
                  <a:schemeClr val="tx2"/>
                </a:solidFill>
              </a:rPr>
              <a:t>Bootstrap</a:t>
            </a:r>
            <a:endParaRPr sz="4600" dirty="0">
              <a:solidFill>
                <a:schemeClr val="tx2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79E5847-9F0C-B331-7479-9B5361EE1D12}"/>
              </a:ext>
            </a:extLst>
          </p:cNvPr>
          <p:cNvSpPr txBox="1"/>
          <p:nvPr/>
        </p:nvSpPr>
        <p:spPr>
          <a:xfrm>
            <a:off x="192000" y="1122243"/>
            <a:ext cx="11442238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Toasts</a:t>
            </a:r>
            <a:endParaRPr lang="en-US" b="1" dirty="0"/>
          </a:p>
          <a:p>
            <a:r>
              <a:rPr lang="en-US" dirty="0"/>
              <a:t>Push notifications to your visitors with a toast, a lightweight and easily customizable alert message.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E76A02F-6850-F698-2247-7316D229F2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9916" y="3004993"/>
            <a:ext cx="6392167" cy="2067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622953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 invX="1"/>
      </p:transition>
    </mc:Choice>
    <mc:Fallback xmlns="">
      <p:transition spd="slow"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A639A9-AB1B-3772-A5D9-D041D6331F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217616BA-2418-1E8D-D6A2-D2DCF79B99A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29734" y="121920"/>
            <a:ext cx="8596668" cy="72519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4797425">
              <a:lnSpc>
                <a:spcPct val="100000"/>
              </a:lnSpc>
              <a:spcBef>
                <a:spcPts val="135"/>
              </a:spcBef>
            </a:pPr>
            <a:r>
              <a:rPr lang="en-US" sz="4600" spc="-25" dirty="0">
                <a:solidFill>
                  <a:schemeClr val="tx2"/>
                </a:solidFill>
              </a:rPr>
              <a:t>Bootstrap</a:t>
            </a:r>
            <a:endParaRPr sz="4600" dirty="0">
              <a:solidFill>
                <a:schemeClr val="tx2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37D7987-5BD7-7372-09C1-2B1B1001B670}"/>
              </a:ext>
            </a:extLst>
          </p:cNvPr>
          <p:cNvSpPr txBox="1"/>
          <p:nvPr/>
        </p:nvSpPr>
        <p:spPr>
          <a:xfrm>
            <a:off x="192000" y="1122243"/>
            <a:ext cx="1144223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Tooltips</a:t>
            </a:r>
            <a:endParaRPr lang="en-US" b="1" dirty="0"/>
          </a:p>
          <a:p>
            <a:r>
              <a:rPr lang="en-US" dirty="0"/>
              <a:t>Documentation and examples for adding custom Bootstrap tooltips with CSS and JavaScript using CSS3 for animations and data-bs-attributes for local title storage.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DF9ABB3-89DC-B236-C169-7FD318DEA9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3020" y="3037353"/>
            <a:ext cx="8125959" cy="2429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183120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 invX="1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Facet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1401</TotalTime>
  <Words>2975</Words>
  <Application>Microsoft Office PowerPoint</Application>
  <PresentationFormat>Widescreen</PresentationFormat>
  <Paragraphs>332</Paragraphs>
  <Slides>48</Slides>
  <Notes>44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48</vt:i4>
      </vt:variant>
    </vt:vector>
  </HeadingPairs>
  <TitlesOfParts>
    <vt:vector size="58" baseType="lpstr">
      <vt:lpstr>Antique Olive</vt:lpstr>
      <vt:lpstr>Arial</vt:lpstr>
      <vt:lpstr>Calibri</vt:lpstr>
      <vt:lpstr>Calibri Light</vt:lpstr>
      <vt:lpstr>SFMono-Regular</vt:lpstr>
      <vt:lpstr>system-ui</vt:lpstr>
      <vt:lpstr>Trebuchet MS</vt:lpstr>
      <vt:lpstr>Wingdings 3</vt:lpstr>
      <vt:lpstr>Facet</vt:lpstr>
      <vt:lpstr>Custom Design</vt:lpstr>
      <vt:lpstr> Bootstrap</vt:lpstr>
      <vt:lpstr>Bootstrap</vt:lpstr>
      <vt:lpstr>Bootstrap</vt:lpstr>
      <vt:lpstr>Bootstrap</vt:lpstr>
      <vt:lpstr>Bootstrap</vt:lpstr>
      <vt:lpstr>Bootstrap</vt:lpstr>
      <vt:lpstr>Bootstrap</vt:lpstr>
      <vt:lpstr>Bootstrap</vt:lpstr>
      <vt:lpstr>Bootstrap</vt:lpstr>
      <vt:lpstr>Bootstrap</vt:lpstr>
      <vt:lpstr>Bootstrap</vt:lpstr>
      <vt:lpstr>Bootstrap</vt:lpstr>
      <vt:lpstr>Bootstrap</vt:lpstr>
      <vt:lpstr>Bootstrap</vt:lpstr>
      <vt:lpstr>Bootstrap</vt:lpstr>
      <vt:lpstr>Bootstrap</vt:lpstr>
      <vt:lpstr>Bootstrap</vt:lpstr>
      <vt:lpstr>Bootstrap</vt:lpstr>
      <vt:lpstr>Bootstrap</vt:lpstr>
      <vt:lpstr>Bootstrap</vt:lpstr>
      <vt:lpstr>Bootstrap</vt:lpstr>
      <vt:lpstr>Bootstrap</vt:lpstr>
      <vt:lpstr>Bootstrap</vt:lpstr>
      <vt:lpstr>Bootstrap</vt:lpstr>
      <vt:lpstr>Bootstrap</vt:lpstr>
      <vt:lpstr>Bootstrap</vt:lpstr>
      <vt:lpstr>Bootstrap</vt:lpstr>
      <vt:lpstr>Bootstrap</vt:lpstr>
      <vt:lpstr>Bootstrap</vt:lpstr>
      <vt:lpstr>Bootstrap</vt:lpstr>
      <vt:lpstr>Bootstrap</vt:lpstr>
      <vt:lpstr>Bootstrap</vt:lpstr>
      <vt:lpstr>Bootstrap</vt:lpstr>
      <vt:lpstr>Bootstrap</vt:lpstr>
      <vt:lpstr>Bootstrap</vt:lpstr>
      <vt:lpstr>Bootstrap</vt:lpstr>
      <vt:lpstr>Bootstrap</vt:lpstr>
      <vt:lpstr>Bootstrap</vt:lpstr>
      <vt:lpstr>Bootstrap</vt:lpstr>
      <vt:lpstr>Bootstrap</vt:lpstr>
      <vt:lpstr>Bootstrap</vt:lpstr>
      <vt:lpstr>Bootstrap</vt:lpstr>
      <vt:lpstr>Bootstrap</vt:lpstr>
      <vt:lpstr>Bootstrap</vt:lpstr>
      <vt:lpstr>Bootstrap</vt:lpstr>
      <vt:lpstr>Bootstrap</vt:lpstr>
      <vt:lpstr>Bootstrap</vt:lpstr>
      <vt:lpstr>Bootstrap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Petra</dc:creator>
  <cp:lastModifiedBy>dell</cp:lastModifiedBy>
  <cp:revision>639</cp:revision>
  <dcterms:created xsi:type="dcterms:W3CDTF">2026-01-26T08:52:25Z</dcterms:created>
  <dcterms:modified xsi:type="dcterms:W3CDTF">2026-02-10T21:49:17Z</dcterms:modified>
</cp:coreProperties>
</file>